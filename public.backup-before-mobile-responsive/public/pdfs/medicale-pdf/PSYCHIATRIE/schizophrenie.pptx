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6"/>
  </p:notesMasterIdLst>
  <p:sldIdLst>
    <p:sldId id="256" r:id="rId2"/>
    <p:sldId id="295" r:id="rId3"/>
    <p:sldId id="257" r:id="rId4"/>
    <p:sldId id="258" r:id="rId5"/>
    <p:sldId id="259" r:id="rId6"/>
    <p:sldId id="292" r:id="rId7"/>
    <p:sldId id="293" r:id="rId8"/>
    <p:sldId id="294" r:id="rId9"/>
    <p:sldId id="261" r:id="rId10"/>
    <p:sldId id="296" r:id="rId11"/>
    <p:sldId id="263" r:id="rId12"/>
    <p:sldId id="264" r:id="rId13"/>
    <p:sldId id="265" r:id="rId14"/>
    <p:sldId id="267" r:id="rId15"/>
    <p:sldId id="269" r:id="rId16"/>
    <p:sldId id="271" r:id="rId17"/>
    <p:sldId id="272" r:id="rId18"/>
    <p:sldId id="274" r:id="rId19"/>
    <p:sldId id="275" r:id="rId20"/>
    <p:sldId id="276" r:id="rId21"/>
    <p:sldId id="277" r:id="rId22"/>
    <p:sldId id="278" r:id="rId23"/>
    <p:sldId id="279" r:id="rId24"/>
    <p:sldId id="280" r:id="rId25"/>
    <p:sldId id="297" r:id="rId26"/>
    <p:sldId id="282" r:id="rId27"/>
    <p:sldId id="283" r:id="rId28"/>
    <p:sldId id="284" r:id="rId29"/>
    <p:sldId id="285" r:id="rId30"/>
    <p:sldId id="287" r:id="rId31"/>
    <p:sldId id="288" r:id="rId32"/>
    <p:sldId id="289" r:id="rId33"/>
    <p:sldId id="290" r:id="rId34"/>
    <p:sldId id="291" r:id="rId3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BB4D53-A27D-413E-92F3-8E7439E3EB32}"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fr-FR"/>
        </a:p>
      </dgm:t>
    </dgm:pt>
    <dgm:pt modelId="{C866C79D-2573-4E4B-96AC-7EEA77718BAC}">
      <dgm:prSet/>
      <dgm:spPr/>
      <dgm:t>
        <a:bodyPr/>
        <a:lstStyle/>
        <a:p>
          <a:pPr rtl="0"/>
          <a:r>
            <a:rPr lang="fr-FR" b="1" dirty="0" smtClean="0"/>
            <a:t>PSYCHOSE</a:t>
          </a:r>
          <a:endParaRPr lang="fr-FR" dirty="0"/>
        </a:p>
      </dgm:t>
    </dgm:pt>
    <dgm:pt modelId="{851E070D-6794-4686-9236-176A4581E3E5}" type="parTrans" cxnId="{95117F36-0252-47D8-B6F7-8D8DE0EE3948}">
      <dgm:prSet/>
      <dgm:spPr/>
      <dgm:t>
        <a:bodyPr/>
        <a:lstStyle/>
        <a:p>
          <a:endParaRPr lang="fr-FR"/>
        </a:p>
      </dgm:t>
    </dgm:pt>
    <dgm:pt modelId="{FFE75312-3021-4586-A645-D73807915D7C}" type="sibTrans" cxnId="{95117F36-0252-47D8-B6F7-8D8DE0EE3948}">
      <dgm:prSet/>
      <dgm:spPr/>
      <dgm:t>
        <a:bodyPr/>
        <a:lstStyle/>
        <a:p>
          <a:endParaRPr lang="fr-FR"/>
        </a:p>
      </dgm:t>
    </dgm:pt>
    <dgm:pt modelId="{01E72484-DA69-4BA4-97F7-72461010DF61}">
      <dgm:prSet/>
      <dgm:spPr/>
      <dgm:t>
        <a:bodyPr/>
        <a:lstStyle/>
        <a:p>
          <a:pPr rtl="0"/>
          <a:r>
            <a:rPr lang="fr-FR" b="1" dirty="0" smtClean="0"/>
            <a:t>CHRONIQUE</a:t>
          </a:r>
          <a:endParaRPr lang="fr-FR" dirty="0"/>
        </a:p>
      </dgm:t>
    </dgm:pt>
    <dgm:pt modelId="{396FC400-5069-4DA2-85D0-86F7AAACE37C}" type="parTrans" cxnId="{9B741CED-D3DD-4AF5-AF1A-B1F6C6AEA38C}">
      <dgm:prSet/>
      <dgm:spPr/>
      <dgm:t>
        <a:bodyPr/>
        <a:lstStyle/>
        <a:p>
          <a:endParaRPr lang="fr-FR"/>
        </a:p>
      </dgm:t>
    </dgm:pt>
    <dgm:pt modelId="{3B99C06C-E68E-4730-BB54-D2289124E98C}" type="sibTrans" cxnId="{9B741CED-D3DD-4AF5-AF1A-B1F6C6AEA38C}">
      <dgm:prSet/>
      <dgm:spPr/>
      <dgm:t>
        <a:bodyPr/>
        <a:lstStyle/>
        <a:p>
          <a:endParaRPr lang="fr-FR"/>
        </a:p>
      </dgm:t>
    </dgm:pt>
    <dgm:pt modelId="{79A8B80E-B5EB-48C9-89BC-F728336999DE}">
      <dgm:prSet/>
      <dgm:spPr/>
      <dgm:t>
        <a:bodyPr/>
        <a:lstStyle/>
        <a:p>
          <a:pPr rtl="0"/>
          <a:r>
            <a:rPr lang="fr-FR" b="1" dirty="0" smtClean="0"/>
            <a:t>DISSOCIATIVE </a:t>
          </a:r>
          <a:endParaRPr lang="fr-FR" b="1" dirty="0"/>
        </a:p>
      </dgm:t>
    </dgm:pt>
    <dgm:pt modelId="{01A31F15-1F07-497F-952A-DDA08C5D7187}" type="parTrans" cxnId="{57442971-C680-48B3-AB78-34CED519AA20}">
      <dgm:prSet/>
      <dgm:spPr/>
      <dgm:t>
        <a:bodyPr/>
        <a:lstStyle/>
        <a:p>
          <a:endParaRPr lang="fr-FR"/>
        </a:p>
      </dgm:t>
    </dgm:pt>
    <dgm:pt modelId="{AC8DD436-8076-4D30-9549-1BD54D2C8747}" type="sibTrans" cxnId="{57442971-C680-48B3-AB78-34CED519AA20}">
      <dgm:prSet/>
      <dgm:spPr/>
      <dgm:t>
        <a:bodyPr/>
        <a:lstStyle/>
        <a:p>
          <a:endParaRPr lang="fr-FR"/>
        </a:p>
      </dgm:t>
    </dgm:pt>
    <dgm:pt modelId="{4C55C353-37B1-42A7-A600-12E340DE07B9}" type="pres">
      <dgm:prSet presAssocID="{06BB4D53-A27D-413E-92F3-8E7439E3EB32}" presName="linear" presStyleCnt="0">
        <dgm:presLayoutVars>
          <dgm:animLvl val="lvl"/>
          <dgm:resizeHandles val="exact"/>
        </dgm:presLayoutVars>
      </dgm:prSet>
      <dgm:spPr/>
      <dgm:t>
        <a:bodyPr/>
        <a:lstStyle/>
        <a:p>
          <a:endParaRPr lang="fr-FR"/>
        </a:p>
      </dgm:t>
    </dgm:pt>
    <dgm:pt modelId="{4094BCE7-0F84-4349-A8B8-B18016B0B033}" type="pres">
      <dgm:prSet presAssocID="{C866C79D-2573-4E4B-96AC-7EEA77718BAC}" presName="parentText" presStyleLbl="node1" presStyleIdx="0" presStyleCnt="3">
        <dgm:presLayoutVars>
          <dgm:chMax val="0"/>
          <dgm:bulletEnabled val="1"/>
        </dgm:presLayoutVars>
      </dgm:prSet>
      <dgm:spPr/>
      <dgm:t>
        <a:bodyPr/>
        <a:lstStyle/>
        <a:p>
          <a:endParaRPr lang="fr-FR"/>
        </a:p>
      </dgm:t>
    </dgm:pt>
    <dgm:pt modelId="{187DB077-5DDB-499E-8CDD-54B65615FEA7}" type="pres">
      <dgm:prSet presAssocID="{FFE75312-3021-4586-A645-D73807915D7C}" presName="spacer" presStyleCnt="0"/>
      <dgm:spPr/>
    </dgm:pt>
    <dgm:pt modelId="{27279444-FDD5-4635-809E-C138EE8FC0C6}" type="pres">
      <dgm:prSet presAssocID="{01E72484-DA69-4BA4-97F7-72461010DF61}" presName="parentText" presStyleLbl="node1" presStyleIdx="1" presStyleCnt="3">
        <dgm:presLayoutVars>
          <dgm:chMax val="0"/>
          <dgm:bulletEnabled val="1"/>
        </dgm:presLayoutVars>
      </dgm:prSet>
      <dgm:spPr/>
      <dgm:t>
        <a:bodyPr/>
        <a:lstStyle/>
        <a:p>
          <a:endParaRPr lang="fr-FR"/>
        </a:p>
      </dgm:t>
    </dgm:pt>
    <dgm:pt modelId="{98969725-36CE-4B62-B414-F1C267C37CEE}" type="pres">
      <dgm:prSet presAssocID="{3B99C06C-E68E-4730-BB54-D2289124E98C}" presName="spacer" presStyleCnt="0"/>
      <dgm:spPr/>
    </dgm:pt>
    <dgm:pt modelId="{27CA3D83-BFE0-48EC-BD6E-C7C37A783994}" type="pres">
      <dgm:prSet presAssocID="{79A8B80E-B5EB-48C9-89BC-F728336999DE}" presName="parentText" presStyleLbl="node1" presStyleIdx="2" presStyleCnt="3">
        <dgm:presLayoutVars>
          <dgm:chMax val="0"/>
          <dgm:bulletEnabled val="1"/>
        </dgm:presLayoutVars>
      </dgm:prSet>
      <dgm:spPr/>
      <dgm:t>
        <a:bodyPr/>
        <a:lstStyle/>
        <a:p>
          <a:endParaRPr lang="fr-FR"/>
        </a:p>
      </dgm:t>
    </dgm:pt>
  </dgm:ptLst>
  <dgm:cxnLst>
    <dgm:cxn modelId="{57442971-C680-48B3-AB78-34CED519AA20}" srcId="{06BB4D53-A27D-413E-92F3-8E7439E3EB32}" destId="{79A8B80E-B5EB-48C9-89BC-F728336999DE}" srcOrd="2" destOrd="0" parTransId="{01A31F15-1F07-497F-952A-DDA08C5D7187}" sibTransId="{AC8DD436-8076-4D30-9549-1BD54D2C8747}"/>
    <dgm:cxn modelId="{4E48FF1B-4DEC-4837-8F12-8C1B0DA0ACAC}" type="presOf" srcId="{C866C79D-2573-4E4B-96AC-7EEA77718BAC}" destId="{4094BCE7-0F84-4349-A8B8-B18016B0B033}" srcOrd="0" destOrd="0" presId="urn:microsoft.com/office/officeart/2005/8/layout/vList2"/>
    <dgm:cxn modelId="{9B741CED-D3DD-4AF5-AF1A-B1F6C6AEA38C}" srcId="{06BB4D53-A27D-413E-92F3-8E7439E3EB32}" destId="{01E72484-DA69-4BA4-97F7-72461010DF61}" srcOrd="1" destOrd="0" parTransId="{396FC400-5069-4DA2-85D0-86F7AAACE37C}" sibTransId="{3B99C06C-E68E-4730-BB54-D2289124E98C}"/>
    <dgm:cxn modelId="{D16425E7-FBDE-42EC-AAB4-69AA2D192A21}" type="presOf" srcId="{79A8B80E-B5EB-48C9-89BC-F728336999DE}" destId="{27CA3D83-BFE0-48EC-BD6E-C7C37A783994}" srcOrd="0" destOrd="0" presId="urn:microsoft.com/office/officeart/2005/8/layout/vList2"/>
    <dgm:cxn modelId="{95117F36-0252-47D8-B6F7-8D8DE0EE3948}" srcId="{06BB4D53-A27D-413E-92F3-8E7439E3EB32}" destId="{C866C79D-2573-4E4B-96AC-7EEA77718BAC}" srcOrd="0" destOrd="0" parTransId="{851E070D-6794-4686-9236-176A4581E3E5}" sibTransId="{FFE75312-3021-4586-A645-D73807915D7C}"/>
    <dgm:cxn modelId="{33F0DABE-2D12-4B98-A78B-EBCFC743C8FE}" type="presOf" srcId="{06BB4D53-A27D-413E-92F3-8E7439E3EB32}" destId="{4C55C353-37B1-42A7-A600-12E340DE07B9}" srcOrd="0" destOrd="0" presId="urn:microsoft.com/office/officeart/2005/8/layout/vList2"/>
    <dgm:cxn modelId="{49FBB810-EB08-4B87-AD85-3EF5EBBD9B68}" type="presOf" srcId="{01E72484-DA69-4BA4-97F7-72461010DF61}" destId="{27279444-FDD5-4635-809E-C138EE8FC0C6}" srcOrd="0" destOrd="0" presId="urn:microsoft.com/office/officeart/2005/8/layout/vList2"/>
    <dgm:cxn modelId="{4803289B-639B-446E-A728-CCCA087C09AA}" type="presParOf" srcId="{4C55C353-37B1-42A7-A600-12E340DE07B9}" destId="{4094BCE7-0F84-4349-A8B8-B18016B0B033}" srcOrd="0" destOrd="0" presId="urn:microsoft.com/office/officeart/2005/8/layout/vList2"/>
    <dgm:cxn modelId="{2F8D417B-300B-4A7F-A110-9152E8AD939A}" type="presParOf" srcId="{4C55C353-37B1-42A7-A600-12E340DE07B9}" destId="{187DB077-5DDB-499E-8CDD-54B65615FEA7}" srcOrd="1" destOrd="0" presId="urn:microsoft.com/office/officeart/2005/8/layout/vList2"/>
    <dgm:cxn modelId="{772680C0-DEA1-41DA-A424-62D4FC3B6750}" type="presParOf" srcId="{4C55C353-37B1-42A7-A600-12E340DE07B9}" destId="{27279444-FDD5-4635-809E-C138EE8FC0C6}" srcOrd="2" destOrd="0" presId="urn:microsoft.com/office/officeart/2005/8/layout/vList2"/>
    <dgm:cxn modelId="{AB610D2E-B75A-4B6B-A582-4787832A1853}" type="presParOf" srcId="{4C55C353-37B1-42A7-A600-12E340DE07B9}" destId="{98969725-36CE-4B62-B414-F1C267C37CEE}" srcOrd="3" destOrd="0" presId="urn:microsoft.com/office/officeart/2005/8/layout/vList2"/>
    <dgm:cxn modelId="{D46BABE0-349D-41BA-BFCA-8B7CD4513B79}" type="presParOf" srcId="{4C55C353-37B1-42A7-A600-12E340DE07B9}" destId="{27CA3D83-BFE0-48EC-BD6E-C7C37A783994}" srcOrd="4" destOrd="0" presId="urn:microsoft.com/office/officeart/2005/8/layout/vList2"/>
  </dgm:cxnLst>
  <dgm:bg/>
  <dgm:whole/>
</dgm:dataModel>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C1D7D8-401A-4837-8921-2C43B556F996}" type="datetimeFigureOut">
              <a:rPr lang="fr-FR" smtClean="0"/>
              <a:pPr/>
              <a:t>22/11/2022</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C5808E-14BC-49B4-B013-9EC33AF947D0}"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96C5808E-14BC-49B4-B013-9EC33AF947D0}" type="slidenum">
              <a:rPr lang="fr-FR" smtClean="0"/>
              <a:pPr/>
              <a:t>5</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FEF66554-F227-4A57-B494-452557F4BEBA}"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EF66554-F227-4A57-B494-452557F4BEBA}"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FEF66554-F227-4A57-B494-452557F4BEBA}"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EF66554-F227-4A57-B494-452557F4BEBA}"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FEF66554-F227-4A57-B494-452557F4BEBA}"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FEF66554-F227-4A57-B494-452557F4BEBA}"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FEF66554-F227-4A57-B494-452557F4BEBA}"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EF66554-F227-4A57-B494-452557F4BEBA}"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FEF66554-F227-4A57-B494-452557F4BEBA}"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smtClean="0"/>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EF66554-F227-4A57-B494-452557F4BEBA}"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C5ADC09-26AC-4A4F-8E71-D304A827F5D6}" type="datetimeFigureOut">
              <a:rPr lang="fr-FR" smtClean="0"/>
              <a:pPr/>
              <a:t>22/11/2022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EF66554-F227-4A57-B494-452557F4BEBA}"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9C5ADC09-26AC-4A4F-8E71-D304A827F5D6}" type="datetimeFigureOut">
              <a:rPr lang="fr-FR" smtClean="0"/>
              <a:pPr/>
              <a:t>22/11/2022</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EF66554-F227-4A57-B494-452557F4BEBA}"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psychomedia.qc.ca/lexique/definition/hallucination" TargetMode="External"/><Relationship Id="rId2" Type="http://schemas.openxmlformats.org/officeDocument/2006/relationships/hyperlink" Target="http://www.psychomedia.qc.ca/lexique/definition/idee-delirante" TargetMode="External"/><Relationship Id="rId1" Type="http://schemas.openxmlformats.org/officeDocument/2006/relationships/slideLayout" Target="../slideLayouts/slideLayout2.xml"/><Relationship Id="rId6" Type="http://schemas.openxmlformats.org/officeDocument/2006/relationships/hyperlink" Target="http://www.psychomedia.qc.ca/lexique/definition/avolition" TargetMode="External"/><Relationship Id="rId5" Type="http://schemas.openxmlformats.org/officeDocument/2006/relationships/hyperlink" Target="http://www.psychomedia.qc.ca/lexique/definition/symptome-negatif" TargetMode="External"/><Relationship Id="rId4" Type="http://schemas.openxmlformats.org/officeDocument/2006/relationships/hyperlink" Target="http://www.psychomedia.qc.ca/lexique/definition/catatonie"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www.psychomedia.qc.ca/lexique/definition/phase-prodromiqu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psychomedia.qc.ca/lexique/definition/depression-majeure" TargetMode="External"/><Relationship Id="rId2" Type="http://schemas.openxmlformats.org/officeDocument/2006/relationships/hyperlink" Target="http://www.psychomedia.qc.ca/lexique/definition/trouble-schizo-affectif" TargetMode="External"/><Relationship Id="rId1" Type="http://schemas.openxmlformats.org/officeDocument/2006/relationships/slideLayout" Target="../slideLayouts/slideLayout2.xml"/><Relationship Id="rId4" Type="http://schemas.openxmlformats.org/officeDocument/2006/relationships/hyperlink" Target="http://www.psychomedia.qc.ca/lexique/definition/trouble-bipolaire-ou-cyclothymique-maniaco-depress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r>
              <a:rPr lang="fr-FR" dirty="0" err="1" smtClean="0">
                <a:solidFill>
                  <a:schemeClr val="tx1">
                    <a:lumMod val="75000"/>
                    <a:lumOff val="25000"/>
                  </a:schemeClr>
                </a:solidFill>
              </a:rPr>
              <a:t>Dr.Guennoun</a:t>
            </a:r>
            <a:r>
              <a:rPr lang="fr-FR" dirty="0" smtClean="0">
                <a:solidFill>
                  <a:schemeClr val="tx1">
                    <a:lumMod val="75000"/>
                    <a:lumOff val="25000"/>
                  </a:schemeClr>
                </a:solidFill>
              </a:rPr>
              <a:t> </a:t>
            </a:r>
            <a:r>
              <a:rPr lang="fr-FR" dirty="0" err="1" smtClean="0">
                <a:solidFill>
                  <a:schemeClr val="tx1">
                    <a:lumMod val="75000"/>
                    <a:lumOff val="25000"/>
                  </a:schemeClr>
                </a:solidFill>
              </a:rPr>
              <a:t>Radjâa</a:t>
            </a:r>
            <a:endParaRPr lang="fr-FR" dirty="0">
              <a:solidFill>
                <a:schemeClr val="tx1">
                  <a:lumMod val="75000"/>
                  <a:lumOff val="25000"/>
                </a:schemeClr>
              </a:solidFill>
            </a:endParaRPr>
          </a:p>
        </p:txBody>
      </p:sp>
      <p:sp>
        <p:nvSpPr>
          <p:cNvPr id="2" name="Titre 1"/>
          <p:cNvSpPr>
            <a:spLocks noGrp="1"/>
          </p:cNvSpPr>
          <p:nvPr>
            <p:ph type="ctrTitle"/>
          </p:nvPr>
        </p:nvSpPr>
        <p:spPr/>
        <p:txBody>
          <a:bodyPr>
            <a:normAutofit/>
          </a:bodyPr>
          <a:lstStyle/>
          <a:p>
            <a:r>
              <a:rPr lang="fr-FR" sz="6000" dirty="0" smtClean="0"/>
              <a:t>SCHIZOPHRENIE</a:t>
            </a:r>
            <a:endParaRPr lang="fr-FR" sz="6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endParaRPr lang="fr-FR" dirty="0"/>
          </a:p>
        </p:txBody>
      </p:sp>
      <p:sp>
        <p:nvSpPr>
          <p:cNvPr id="4" name="Rectangle 3"/>
          <p:cNvSpPr/>
          <p:nvPr/>
        </p:nvSpPr>
        <p:spPr>
          <a:xfrm>
            <a:off x="1142976" y="2357430"/>
            <a:ext cx="1785950" cy="9286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Pychoses</a:t>
            </a:r>
            <a:r>
              <a:rPr lang="fr-FR" dirty="0" smtClean="0"/>
              <a:t> chroniques</a:t>
            </a:r>
            <a:endParaRPr lang="fr-FR" dirty="0"/>
          </a:p>
        </p:txBody>
      </p:sp>
      <p:cxnSp>
        <p:nvCxnSpPr>
          <p:cNvPr id="6" name="Connecteur droit avec flèche 5"/>
          <p:cNvCxnSpPr/>
          <p:nvPr/>
        </p:nvCxnSpPr>
        <p:spPr>
          <a:xfrm flipV="1">
            <a:off x="3214678" y="1928802"/>
            <a:ext cx="1000132" cy="500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a:endCxn id="10" idx="1"/>
          </p:cNvCxnSpPr>
          <p:nvPr/>
        </p:nvCxnSpPr>
        <p:spPr>
          <a:xfrm>
            <a:off x="2928926" y="3357562"/>
            <a:ext cx="1571636" cy="500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214810" y="1714488"/>
            <a:ext cx="1500198" cy="9286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schizophrenie</a:t>
            </a:r>
            <a:endParaRPr lang="fr-FR" dirty="0"/>
          </a:p>
        </p:txBody>
      </p:sp>
      <p:sp>
        <p:nvSpPr>
          <p:cNvPr id="10" name="Rectangle 9"/>
          <p:cNvSpPr/>
          <p:nvPr/>
        </p:nvSpPr>
        <p:spPr>
          <a:xfrm>
            <a:off x="4500562" y="3357562"/>
            <a:ext cx="1428760" cy="10001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Troubles </a:t>
            </a:r>
            <a:r>
              <a:rPr lang="fr-FR" dirty="0" err="1" smtClean="0"/>
              <a:t>delirants</a:t>
            </a:r>
            <a:r>
              <a:rPr lang="fr-FR" dirty="0" smtClean="0"/>
              <a:t> persistants</a:t>
            </a:r>
            <a:endParaRPr lang="fr-FR" dirty="0"/>
          </a:p>
        </p:txBody>
      </p:sp>
      <p:cxnSp>
        <p:nvCxnSpPr>
          <p:cNvPr id="15" name="Connecteur droit avec flèche 14"/>
          <p:cNvCxnSpPr/>
          <p:nvPr/>
        </p:nvCxnSpPr>
        <p:spPr>
          <a:xfrm rot="5400000" flipH="1" flipV="1">
            <a:off x="5857884" y="2643182"/>
            <a:ext cx="785818"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a:stCxn id="10" idx="3"/>
          </p:cNvCxnSpPr>
          <p:nvPr/>
        </p:nvCxnSpPr>
        <p:spPr>
          <a:xfrm flipV="1">
            <a:off x="5929322" y="3786190"/>
            <a:ext cx="928694"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a:off x="5929322" y="4357694"/>
            <a:ext cx="928694" cy="500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6858016" y="1785926"/>
            <a:ext cx="1714512" cy="785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smtClean="0"/>
              <a:t>paraoia</a:t>
            </a:r>
            <a:endParaRPr lang="fr-FR" dirty="0"/>
          </a:p>
        </p:txBody>
      </p:sp>
      <p:sp>
        <p:nvSpPr>
          <p:cNvPr id="21" name="Rectangle 20"/>
          <p:cNvSpPr/>
          <p:nvPr/>
        </p:nvSpPr>
        <p:spPr>
          <a:xfrm>
            <a:off x="6858016" y="2857496"/>
            <a:ext cx="1714512" cy="9286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PHC</a:t>
            </a:r>
            <a:endParaRPr lang="fr-FR" dirty="0"/>
          </a:p>
        </p:txBody>
      </p:sp>
      <p:sp>
        <p:nvSpPr>
          <p:cNvPr id="22" name="Rectangle 21"/>
          <p:cNvSpPr/>
          <p:nvPr/>
        </p:nvSpPr>
        <p:spPr>
          <a:xfrm>
            <a:off x="6858016" y="4286256"/>
            <a:ext cx="1714512" cy="8572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PARAPHRENIE</a:t>
            </a:r>
            <a:endParaRPr lang="fr-F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Définition de la schizophrénie</a:t>
            </a:r>
            <a:endParaRPr lang="fr-FR"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sp>
        <p:nvSpPr>
          <p:cNvPr id="3" name="Espace réservé du contenu 2"/>
          <p:cNvSpPr>
            <a:spLocks noGrp="1"/>
          </p:cNvSpPr>
          <p:nvPr>
            <p:ph sz="quarter" idx="1"/>
          </p:nvPr>
        </p:nvSpPr>
        <p:spPr>
          <a:xfrm>
            <a:off x="914400" y="1928802"/>
            <a:ext cx="7772400" cy="4090998"/>
          </a:xfrm>
        </p:spPr>
        <p:txBody>
          <a:bodyPr>
            <a:normAutofit/>
          </a:bodyPr>
          <a:lstStyle/>
          <a:p>
            <a:pPr algn="just"/>
            <a:r>
              <a:rPr lang="fr-FR" sz="2800" b="1" dirty="0" smtClean="0">
                <a:solidFill>
                  <a:schemeClr val="tx1"/>
                </a:solidFill>
              </a:rPr>
              <a:t>Le terme de </a:t>
            </a:r>
            <a:r>
              <a:rPr lang="fr-FR" sz="2800" b="1" dirty="0" smtClean="0">
                <a:solidFill>
                  <a:schemeClr val="tx1">
                    <a:lumMod val="75000"/>
                    <a:lumOff val="25000"/>
                  </a:schemeClr>
                </a:solidFill>
              </a:rPr>
              <a:t>« schizophrénie » </a:t>
            </a:r>
            <a:r>
              <a:rPr lang="fr-FR" sz="2800" b="1" dirty="0" smtClean="0">
                <a:solidFill>
                  <a:schemeClr val="tx1"/>
                </a:solidFill>
              </a:rPr>
              <a:t>provient du grec (</a:t>
            </a:r>
            <a:r>
              <a:rPr lang="fr-FR" sz="2800" b="1" dirty="0" err="1" smtClean="0">
                <a:solidFill>
                  <a:schemeClr val="tx1"/>
                </a:solidFill>
              </a:rPr>
              <a:t>schizein</a:t>
            </a:r>
            <a:r>
              <a:rPr lang="fr-FR" sz="2800" b="1" dirty="0" smtClean="0">
                <a:solidFill>
                  <a:schemeClr val="tx1"/>
                </a:solidFill>
              </a:rPr>
              <a:t>), signifiant </a:t>
            </a:r>
            <a:r>
              <a:rPr lang="fr-FR" sz="2800" b="1" dirty="0" smtClean="0">
                <a:solidFill>
                  <a:srgbClr val="FF0000"/>
                </a:solidFill>
              </a:rPr>
              <a:t>fractionnement</a:t>
            </a:r>
            <a:r>
              <a:rPr lang="fr-FR" sz="2800" b="1" dirty="0" smtClean="0">
                <a:solidFill>
                  <a:schemeClr val="tx1"/>
                </a:solidFill>
              </a:rPr>
              <a:t>, et (</a:t>
            </a:r>
            <a:r>
              <a:rPr lang="fr-FR" sz="2800" b="1" dirty="0" err="1" smtClean="0">
                <a:solidFill>
                  <a:schemeClr val="tx1"/>
                </a:solidFill>
              </a:rPr>
              <a:t>phrèn</a:t>
            </a:r>
            <a:r>
              <a:rPr lang="fr-FR" sz="2800" b="1" dirty="0" smtClean="0">
                <a:solidFill>
                  <a:schemeClr val="tx1"/>
                </a:solidFill>
              </a:rPr>
              <a:t>), désignant l’</a:t>
            </a:r>
            <a:r>
              <a:rPr lang="fr-FR" sz="2800" b="1" dirty="0" smtClean="0">
                <a:solidFill>
                  <a:srgbClr val="FF0000"/>
                </a:solidFill>
              </a:rPr>
              <a:t>esprit</a:t>
            </a:r>
            <a:r>
              <a:rPr lang="fr-FR" sz="2800" b="1" dirty="0" smtClean="0">
                <a:solidFill>
                  <a:schemeClr val="tx1"/>
                </a:solidFill>
              </a:rPr>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7158" y="285728"/>
            <a:ext cx="8229600" cy="1571612"/>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b="1" dirty="0" smtClean="0">
                <a:solidFill>
                  <a:srgbClr val="002060"/>
                </a:solidFill>
              </a:rPr>
              <a:t>Définition de la schizophrénie</a:t>
            </a:r>
            <a:br>
              <a:rPr lang="fr-FR" b="1" dirty="0" smtClean="0">
                <a:solidFill>
                  <a:srgbClr val="002060"/>
                </a:solidFill>
              </a:rPr>
            </a:br>
            <a:endParaRPr lang="fr-FR" b="1" dirty="0">
              <a:solidFill>
                <a:srgbClr val="002060"/>
              </a:solidFill>
            </a:endParaRPr>
          </a:p>
        </p:txBody>
      </p:sp>
      <p:graphicFrame>
        <p:nvGraphicFramePr>
          <p:cNvPr id="4" name="Espace réservé du contenu 3"/>
          <p:cNvGraphicFramePr>
            <a:graphicFrameLocks noGrp="1"/>
          </p:cNvGraphicFramePr>
          <p:nvPr>
            <p:ph sz="quarter" idx="1"/>
          </p:nvPr>
        </p:nvGraphicFramePr>
        <p:xfrm>
          <a:off x="457200" y="2111714"/>
          <a:ext cx="8229600" cy="43891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4094BCE7-0F84-4349-A8B8-B18016B0B033}"/>
                                            </p:graphicEl>
                                          </p:spTgt>
                                        </p:tgtEl>
                                        <p:attrNameLst>
                                          <p:attrName>style.visibility</p:attrName>
                                        </p:attrNameLst>
                                      </p:cBhvr>
                                      <p:to>
                                        <p:strVal val="visible"/>
                                      </p:to>
                                    </p:set>
                                    <p:anim calcmode="lin" valueType="num">
                                      <p:cBhvr additive="base">
                                        <p:cTn id="7" dur="500" fill="hold"/>
                                        <p:tgtEl>
                                          <p:spTgt spid="4">
                                            <p:graphicEl>
                                              <a:dgm id="{4094BCE7-0F84-4349-A8B8-B18016B0B03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4094BCE7-0F84-4349-A8B8-B18016B0B033}"/>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27279444-FDD5-4635-809E-C138EE8FC0C6}"/>
                                            </p:graphicEl>
                                          </p:spTgt>
                                        </p:tgtEl>
                                        <p:attrNameLst>
                                          <p:attrName>style.visibility</p:attrName>
                                        </p:attrNameLst>
                                      </p:cBhvr>
                                      <p:to>
                                        <p:strVal val="visible"/>
                                      </p:to>
                                    </p:set>
                                    <p:anim calcmode="lin" valueType="num">
                                      <p:cBhvr additive="base">
                                        <p:cTn id="13" dur="500" fill="hold"/>
                                        <p:tgtEl>
                                          <p:spTgt spid="4">
                                            <p:graphicEl>
                                              <a:dgm id="{27279444-FDD5-4635-809E-C138EE8FC0C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27279444-FDD5-4635-809E-C138EE8FC0C6}"/>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27CA3D83-BFE0-48EC-BD6E-C7C37A783994}"/>
                                            </p:graphicEl>
                                          </p:spTgt>
                                        </p:tgtEl>
                                        <p:attrNameLst>
                                          <p:attrName>style.visibility</p:attrName>
                                        </p:attrNameLst>
                                      </p:cBhvr>
                                      <p:to>
                                        <p:strVal val="visible"/>
                                      </p:to>
                                    </p:set>
                                    <p:anim calcmode="lin" valueType="num">
                                      <p:cBhvr additive="base">
                                        <p:cTn id="19" dur="500" fill="hold"/>
                                        <p:tgtEl>
                                          <p:spTgt spid="4">
                                            <p:graphicEl>
                                              <a:dgm id="{27CA3D83-BFE0-48EC-BD6E-C7C37A783994}"/>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27CA3D83-BFE0-48EC-BD6E-C7C37A78399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sz="quarter" idx="1"/>
          </p:nvPr>
        </p:nvSpPr>
        <p:spPr/>
        <p:txBody>
          <a:bodyPr>
            <a:normAutofit/>
          </a:bodyPr>
          <a:lstStyle/>
          <a:p>
            <a:r>
              <a:rPr lang="fr-FR" sz="3200" b="1" dirty="0" smtClean="0"/>
              <a:t>Maladie fréquente: </a:t>
            </a:r>
            <a:r>
              <a:rPr lang="fr-FR" sz="3200" b="1" dirty="0" smtClean="0">
                <a:solidFill>
                  <a:srgbClr val="0070C0"/>
                </a:solidFill>
              </a:rPr>
              <a:t>1% de la population</a:t>
            </a:r>
          </a:p>
          <a:p>
            <a:r>
              <a:rPr lang="fr-FR" sz="3200" b="1" dirty="0" smtClean="0"/>
              <a:t>Touchant l’adulte jeune	: Pic d’incidence entre </a:t>
            </a:r>
            <a:r>
              <a:rPr lang="fr-FR" sz="3200" b="1" dirty="0" smtClean="0">
                <a:solidFill>
                  <a:srgbClr val="0070C0"/>
                </a:solidFill>
              </a:rPr>
              <a:t>18 et 25 ans</a:t>
            </a:r>
            <a:r>
              <a:rPr lang="fr-FR" sz="3200" b="1" dirty="0" smtClean="0"/>
              <a:t>.</a:t>
            </a:r>
          </a:p>
          <a:p>
            <a:r>
              <a:rPr lang="fr-FR" sz="3200" b="1" dirty="0" err="1" smtClean="0">
                <a:solidFill>
                  <a:srgbClr val="0070C0"/>
                </a:solidFill>
              </a:rPr>
              <a:t>Sex</a:t>
            </a:r>
            <a:r>
              <a:rPr lang="fr-FR" sz="3200" b="1" dirty="0" smtClean="0">
                <a:solidFill>
                  <a:srgbClr val="0070C0"/>
                </a:solidFill>
              </a:rPr>
              <a:t> Ratio=1</a:t>
            </a:r>
          </a:p>
          <a:p>
            <a:r>
              <a:rPr lang="fr-FR" sz="3200" b="1" dirty="0" smtClean="0"/>
              <a:t>Anomalies pré morbides: </a:t>
            </a:r>
            <a:r>
              <a:rPr lang="fr-FR" sz="3200" b="1" dirty="0" smtClean="0">
                <a:solidFill>
                  <a:srgbClr val="0070C0"/>
                </a:solidFill>
              </a:rPr>
              <a:t>personnalité schizoïde, </a:t>
            </a:r>
            <a:r>
              <a:rPr lang="fr-FR" sz="3200" b="1" dirty="0" err="1" smtClean="0">
                <a:solidFill>
                  <a:srgbClr val="0070C0"/>
                </a:solidFill>
              </a:rPr>
              <a:t>schizotypique</a:t>
            </a:r>
            <a:r>
              <a:rPr lang="fr-FR" sz="3200" b="1" dirty="0" smtClean="0">
                <a:solidFill>
                  <a:srgbClr val="0070C0"/>
                </a:solidFill>
              </a:rPr>
              <a:t>.</a:t>
            </a:r>
            <a:endParaRPr lang="fr-FR" sz="3200" b="1" dirty="0">
              <a:solidFill>
                <a:srgbClr val="0070C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les critères diagnostiques du DSM-5.</a:t>
            </a:r>
            <a:br>
              <a:rPr lang="fr-FR" dirty="0" smtClean="0"/>
            </a:br>
            <a:endParaRPr lang="fr-FR" dirty="0"/>
          </a:p>
        </p:txBody>
      </p:sp>
      <p:sp>
        <p:nvSpPr>
          <p:cNvPr id="3" name="Espace réservé du contenu 2"/>
          <p:cNvSpPr>
            <a:spLocks noGrp="1"/>
          </p:cNvSpPr>
          <p:nvPr>
            <p:ph sz="quarter" idx="1"/>
          </p:nvPr>
        </p:nvSpPr>
        <p:spPr>
          <a:xfrm>
            <a:off x="357158" y="1357298"/>
            <a:ext cx="8329642" cy="5143536"/>
          </a:xfrm>
        </p:spPr>
        <p:txBody>
          <a:bodyPr>
            <a:normAutofit fontScale="92500" lnSpcReduction="10000"/>
          </a:bodyPr>
          <a:lstStyle/>
          <a:p>
            <a:r>
              <a:rPr lang="fr-FR" dirty="0" smtClean="0"/>
              <a:t>A/ Deux (ou plus) parmi les symptômes suivants, chacun devant être présent dans une proportion significative de temps au cours d’une période d’un mois (ou moins en cas de traitement efficace). Au moins l’un des symptômes (1), (2) ou (3) doit être présent :</a:t>
            </a:r>
          </a:p>
          <a:p>
            <a:pPr lvl="1"/>
            <a:r>
              <a:rPr lang="fr-FR" dirty="0" smtClean="0">
                <a:hlinkClick r:id="rId2" tooltip="Définition"/>
              </a:rPr>
              <a:t>idées délirantes</a:t>
            </a:r>
            <a:r>
              <a:rPr lang="fr-FR" dirty="0" smtClean="0"/>
              <a:t> ;</a:t>
            </a:r>
          </a:p>
          <a:p>
            <a:pPr lvl="1"/>
            <a:r>
              <a:rPr lang="fr-FR" dirty="0" smtClean="0">
                <a:hlinkClick r:id="rId3" tooltip="Définition"/>
              </a:rPr>
              <a:t>hallucinations</a:t>
            </a:r>
            <a:r>
              <a:rPr lang="fr-FR" dirty="0" smtClean="0"/>
              <a:t> ;</a:t>
            </a:r>
          </a:p>
          <a:p>
            <a:pPr lvl="1"/>
            <a:r>
              <a:rPr lang="fr-FR" dirty="0" smtClean="0"/>
              <a:t>discours désorganisé (p. ex., incohérences ou déraillements fréquents) ;</a:t>
            </a:r>
          </a:p>
          <a:p>
            <a:pPr lvl="1"/>
            <a:r>
              <a:rPr lang="fr-FR" dirty="0" smtClean="0"/>
              <a:t>comportement grossièrement désorganisé ou </a:t>
            </a:r>
            <a:r>
              <a:rPr lang="fr-FR" dirty="0" smtClean="0">
                <a:hlinkClick r:id="rId4" tooltip="Définition"/>
              </a:rPr>
              <a:t>catatonique</a:t>
            </a:r>
            <a:r>
              <a:rPr lang="fr-FR" dirty="0" smtClean="0"/>
              <a:t> ;</a:t>
            </a:r>
          </a:p>
          <a:p>
            <a:pPr lvl="1"/>
            <a:r>
              <a:rPr lang="fr-FR" dirty="0" smtClean="0">
                <a:hlinkClick r:id="rId5" tooltip="Définition"/>
              </a:rPr>
              <a:t>symptômes négatifs</a:t>
            </a:r>
            <a:r>
              <a:rPr lang="fr-FR" dirty="0" smtClean="0"/>
              <a:t> (</a:t>
            </a:r>
            <a:r>
              <a:rPr lang="fr-FR" dirty="0" smtClean="0">
                <a:hlinkClick r:id="rId6" tooltip="Définition"/>
              </a:rPr>
              <a:t>aboulie</a:t>
            </a:r>
            <a:r>
              <a:rPr lang="fr-FR" dirty="0" smtClean="0"/>
              <a:t> ou diminution de l'expression émotionnelle).</a:t>
            </a:r>
          </a:p>
          <a:p>
            <a:r>
              <a:rPr lang="fr-FR" dirty="0" smtClean="0"/>
              <a:t>B/Durant une proportion significative de temps depuis le début du trouble, le niveau de fonctionnement dans un domaine majeur tel que </a:t>
            </a:r>
            <a:r>
              <a:rPr lang="fr-FR" b="1" dirty="0" smtClean="0"/>
              <a:t>le travail</a:t>
            </a:r>
            <a:r>
              <a:rPr lang="fr-FR" dirty="0" smtClean="0"/>
              <a:t>, </a:t>
            </a:r>
            <a:r>
              <a:rPr lang="fr-FR" b="1" dirty="0" smtClean="0"/>
              <a:t>les relations interpersonnelles </a:t>
            </a:r>
            <a:r>
              <a:rPr lang="fr-FR" dirty="0" smtClean="0"/>
              <a:t>ou </a:t>
            </a:r>
            <a:r>
              <a:rPr lang="fr-FR" b="1" dirty="0" smtClean="0"/>
              <a:t>l’hygiène personnelle </a:t>
            </a:r>
            <a:r>
              <a:rPr lang="fr-FR" dirty="0" smtClean="0"/>
              <a:t>est passé d’une façon marquée en dessous du niveau atteint avant le début du trouble .</a:t>
            </a:r>
          </a:p>
          <a:p>
            <a:endParaRPr lang="fr-F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normAutofit/>
          </a:bodyPr>
          <a:lstStyle/>
          <a:p>
            <a:r>
              <a:rPr lang="fr-FR" dirty="0" smtClean="0"/>
              <a:t>C/Des signes continus du trouble persistent depuis </a:t>
            </a:r>
            <a:r>
              <a:rPr lang="fr-FR" b="1" dirty="0" smtClean="0"/>
              <a:t>au moins 6 mois</a:t>
            </a:r>
            <a:r>
              <a:rPr lang="fr-FR" dirty="0" smtClean="0"/>
              <a:t>. Pendant cette période de 6 mois les symptômes répondant au critère A  doivent avoir été présents pendant au moins un mois (ou moins en cas de traitement efficace) ; dans le même laps de temps des symptômes </a:t>
            </a:r>
            <a:r>
              <a:rPr lang="fr-FR" dirty="0" smtClean="0">
                <a:hlinkClick r:id="rId2" tooltip="Définition"/>
              </a:rPr>
              <a:t>prodromiques</a:t>
            </a:r>
            <a:r>
              <a:rPr lang="fr-FR" dirty="0" smtClean="0"/>
              <a:t> ou résiduels peuvent également se rencontrer. Pendant ces périodes prodromiques ou résiduelles, les signes du trouble peuvent ne se manifester que par des symptômes négatifs, ou par deux ou plus des symptômes listés dans le critère A présents sous une forme atténuée .</a:t>
            </a:r>
          </a:p>
          <a:p>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smtClean="0"/>
              <a:t>D/Le </a:t>
            </a:r>
            <a:r>
              <a:rPr lang="fr-FR" dirty="0" smtClean="0">
                <a:hlinkClick r:id="rId2" tooltip="Définition"/>
              </a:rPr>
              <a:t>trouble schizo-affectif</a:t>
            </a:r>
            <a:r>
              <a:rPr lang="fr-FR" dirty="0" smtClean="0"/>
              <a:t>, ou </a:t>
            </a:r>
            <a:r>
              <a:rPr lang="fr-FR" dirty="0" smtClean="0">
                <a:hlinkClick r:id="rId3" tooltip="Définition"/>
              </a:rPr>
              <a:t>dépressif</a:t>
            </a:r>
            <a:r>
              <a:rPr lang="fr-FR" dirty="0" smtClean="0"/>
              <a:t>, ou un </a:t>
            </a:r>
            <a:r>
              <a:rPr lang="fr-FR" dirty="0" smtClean="0">
                <a:hlinkClick r:id="rId4" tooltip="Définition"/>
              </a:rPr>
              <a:t>trouble bipolaire</a:t>
            </a:r>
            <a:r>
              <a:rPr lang="fr-FR" dirty="0" smtClean="0"/>
              <a:t>, avec </a:t>
            </a:r>
            <a:r>
              <a:rPr lang="fr-FR" i="1" dirty="0" smtClean="0"/>
              <a:t>manifestations psychotiques</a:t>
            </a:r>
            <a:r>
              <a:rPr lang="fr-FR" dirty="0" smtClean="0"/>
              <a:t> ont été exclus</a:t>
            </a:r>
          </a:p>
          <a:p>
            <a:r>
              <a:rPr lang="fr-FR" dirty="0" smtClean="0"/>
              <a:t>E/Le trouble n’est pas imputable aux effets physiologiques d’une substance ou à une autre pathologie médicale</a:t>
            </a:r>
            <a:endParaRPr lang="fr-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533400" y="1785926"/>
            <a:ext cx="7851648" cy="182880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fr-FR" sz="6000" dirty="0" err="1" smtClean="0">
                <a:solidFill>
                  <a:srgbClr val="FFFF00"/>
                </a:solidFill>
              </a:rPr>
              <a:t>Etiopathogénie</a:t>
            </a:r>
            <a:r>
              <a:rPr lang="fr-FR" sz="6000" dirty="0" smtClean="0">
                <a:solidFill>
                  <a:srgbClr val="FFFF00"/>
                </a:solidFill>
              </a:rPr>
              <a:t> de la schizophrénie</a:t>
            </a:r>
            <a:endParaRPr lang="fr-FR" sz="6000" dirty="0">
              <a:solidFill>
                <a:srgbClr val="FFFF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pPr>
              <a:buNone/>
            </a:pPr>
            <a:r>
              <a:rPr lang="fr-FR" sz="4800" b="1" dirty="0" smtClean="0"/>
              <a:t>Inconnu à ce jour</a:t>
            </a:r>
          </a:p>
          <a:p>
            <a:pPr>
              <a:buNone/>
            </a:pPr>
            <a:r>
              <a:rPr lang="fr-FR" sz="4800" b="1" dirty="0" smtClean="0"/>
              <a:t> </a:t>
            </a:r>
          </a:p>
          <a:p>
            <a:pPr marL="514350" indent="-514350">
              <a:buNone/>
            </a:pPr>
            <a:r>
              <a:rPr lang="fr-FR" sz="4800" b="1" dirty="0" smtClean="0"/>
              <a:t>Probablement</a:t>
            </a:r>
          </a:p>
          <a:p>
            <a:pPr marL="514350" indent="-514350">
              <a:buNone/>
            </a:pPr>
            <a:r>
              <a:rPr lang="fr-FR" sz="4800" b="1" dirty="0" smtClean="0"/>
              <a:t>             multifactorielle  </a:t>
            </a:r>
          </a:p>
          <a:p>
            <a:pPr marL="514350" indent="-514350">
              <a:buNone/>
            </a:pPr>
            <a:endParaRPr lang="fr-FR"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28612"/>
            <a:ext cx="8229600" cy="1000124"/>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Génétique </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lstStyle/>
          <a:p>
            <a:pPr lvl="0"/>
            <a:r>
              <a:rPr lang="fr-FR" sz="2800" b="1" dirty="0" smtClean="0"/>
              <a:t>La fréquence de la schizophrénie dans la population générale est de 1%</a:t>
            </a:r>
          </a:p>
          <a:p>
            <a:pPr lvl="0"/>
            <a:r>
              <a:rPr lang="fr-FR" sz="2800" b="1" dirty="0" smtClean="0"/>
              <a:t>Si un des deux parents est schizophrène le risque augmente à 10%</a:t>
            </a:r>
          </a:p>
          <a:p>
            <a:pPr lvl="0"/>
            <a:r>
              <a:rPr lang="fr-FR" sz="2800" b="1" dirty="0" smtClean="0"/>
              <a:t>Si les deux parents sont schizophrènes le risque augmente à 40%</a:t>
            </a:r>
          </a:p>
          <a:p>
            <a:pPr lvl="0"/>
            <a:r>
              <a:rPr lang="fr-FR" sz="2800" b="1" dirty="0" smtClean="0"/>
              <a:t>Si un frère est schizophrène le risque est de 10%</a:t>
            </a:r>
          </a:p>
          <a:p>
            <a:pPr lvl="0"/>
            <a:r>
              <a:rPr lang="fr-FR" sz="2800" b="1" dirty="0" smtClean="0"/>
              <a:t>Chez les vrais jumeaux le risque est de 50%</a:t>
            </a:r>
          </a:p>
          <a:p>
            <a:endParaRPr lang="fr-F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28612"/>
            <a:ext cx="8229600" cy="1000124"/>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Génétique </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lstStyle/>
          <a:p>
            <a:pPr lvl="0" algn="just"/>
            <a:r>
              <a:rPr lang="fr-FR" sz="4000" b="1" dirty="0" smtClean="0"/>
              <a:t>Mode de transmission n’est pas mendélien.</a:t>
            </a:r>
          </a:p>
          <a:p>
            <a:pPr lvl="0" algn="just"/>
            <a:r>
              <a:rPr lang="fr-FR" sz="4000" b="1" dirty="0" smtClean="0"/>
              <a:t>Transmission multifactoriel à seuil (implication de  plusieurs  gènes et une composante environnementale) . </a:t>
            </a:r>
          </a:p>
          <a:p>
            <a:endParaRPr lang="fr-F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Neurobiologie </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lnSpcReduction="10000"/>
          </a:bodyPr>
          <a:lstStyle/>
          <a:p>
            <a:pPr algn="just"/>
            <a:r>
              <a:rPr lang="fr-FR" sz="3200" b="1" dirty="0" smtClean="0">
                <a:solidFill>
                  <a:schemeClr val="accent1">
                    <a:lumMod val="75000"/>
                  </a:schemeClr>
                </a:solidFill>
              </a:rPr>
              <a:t>Théorie dopaminergique </a:t>
            </a:r>
            <a:r>
              <a:rPr lang="fr-FR" b="1" dirty="0" smtClean="0">
                <a:solidFill>
                  <a:schemeClr val="accent1">
                    <a:lumMod val="75000"/>
                  </a:schemeClr>
                </a:solidFill>
              </a:rPr>
              <a:t>:</a:t>
            </a:r>
            <a:r>
              <a:rPr lang="fr-FR" sz="3200" b="1" dirty="0" smtClean="0">
                <a:solidFill>
                  <a:schemeClr val="accent1">
                    <a:lumMod val="75000"/>
                  </a:schemeClr>
                </a:solidFill>
              </a:rPr>
              <a:t>Déséquilibre</a:t>
            </a:r>
            <a:r>
              <a:rPr lang="fr-FR" sz="3200" b="1" dirty="0" smtClean="0"/>
              <a:t> à l’intérieur des systèmes dopaminergiques.</a:t>
            </a:r>
          </a:p>
          <a:p>
            <a:pPr algn="just"/>
            <a:r>
              <a:rPr lang="fr-FR" sz="3200" b="1" dirty="0" smtClean="0">
                <a:solidFill>
                  <a:srgbClr val="FF0000"/>
                </a:solidFill>
              </a:rPr>
              <a:t>Augmentation</a:t>
            </a:r>
            <a:r>
              <a:rPr lang="fr-FR" sz="3200" b="1" dirty="0" smtClean="0"/>
              <a:t> de la libération de la dopamine dans les région </a:t>
            </a:r>
            <a:r>
              <a:rPr lang="fr-FR" sz="3200" b="1" dirty="0" smtClean="0">
                <a:solidFill>
                  <a:srgbClr val="FF0000"/>
                </a:solidFill>
              </a:rPr>
              <a:t>limbiques sous corticale</a:t>
            </a:r>
            <a:r>
              <a:rPr lang="fr-FR" sz="3200" b="1" dirty="0" smtClean="0"/>
              <a:t> à l’origine des </a:t>
            </a:r>
            <a:r>
              <a:rPr lang="fr-FR" sz="3200" b="1" dirty="0" smtClean="0">
                <a:solidFill>
                  <a:srgbClr val="FF0000"/>
                </a:solidFill>
              </a:rPr>
              <a:t>symptômes positifs</a:t>
            </a:r>
            <a:r>
              <a:rPr lang="fr-FR" sz="3200" b="1" dirty="0" smtClean="0"/>
              <a:t>.</a:t>
            </a:r>
          </a:p>
          <a:p>
            <a:pPr algn="just"/>
            <a:r>
              <a:rPr lang="fr-FR" sz="3200" b="1" dirty="0" smtClean="0">
                <a:solidFill>
                  <a:schemeClr val="accent4">
                    <a:lumMod val="50000"/>
                  </a:schemeClr>
                </a:solidFill>
              </a:rPr>
              <a:t>Réduction</a:t>
            </a:r>
            <a:r>
              <a:rPr lang="fr-FR" sz="3200" b="1" dirty="0" smtClean="0"/>
              <a:t> de la libération de la dopamine dans les régions </a:t>
            </a:r>
            <a:r>
              <a:rPr lang="fr-FR" sz="3200" b="1" dirty="0" smtClean="0">
                <a:solidFill>
                  <a:schemeClr val="accent4">
                    <a:lumMod val="50000"/>
                  </a:schemeClr>
                </a:solidFill>
              </a:rPr>
              <a:t>corticales préfrontales</a:t>
            </a:r>
            <a:r>
              <a:rPr lang="fr-FR" sz="3200" b="1" dirty="0" smtClean="0"/>
              <a:t> à l’origines des </a:t>
            </a:r>
            <a:r>
              <a:rPr lang="fr-FR" sz="3200" b="1" dirty="0" smtClean="0">
                <a:solidFill>
                  <a:schemeClr val="accent4">
                    <a:lumMod val="50000"/>
                  </a:schemeClr>
                </a:solidFill>
              </a:rPr>
              <a:t>symptômes négatifs</a:t>
            </a:r>
            <a:r>
              <a:rPr lang="fr-FR" sz="3200" b="1" dirty="0" smtClean="0"/>
              <a:t>.</a:t>
            </a:r>
            <a:endParaRPr lang="fr-FR" sz="3200" b="1"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Psychanalyse </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lstStyle/>
          <a:p>
            <a:pPr lvl="0"/>
            <a:r>
              <a:rPr lang="fr-FR" sz="4000" b="1" dirty="0" smtClean="0"/>
              <a:t>Problème de communications au sein de la famille.</a:t>
            </a:r>
          </a:p>
          <a:p>
            <a:pPr lvl="0"/>
            <a:r>
              <a:rPr lang="fr-FR" sz="4000" b="1" dirty="0" smtClean="0"/>
              <a:t>Père qui est absent ou effacé</a:t>
            </a:r>
          </a:p>
          <a:p>
            <a:pPr lvl="0"/>
            <a:r>
              <a:rPr lang="fr-FR" sz="4000" b="1" dirty="0" smtClean="0"/>
              <a:t>Une mère dominatrice, agressive ou au contraire hyper protectrice.</a:t>
            </a:r>
          </a:p>
          <a:p>
            <a:endParaRPr lang="fr-F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Facteur socioculturels </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a:bodyPr>
          <a:lstStyle/>
          <a:p>
            <a:r>
              <a:rPr lang="fr-FR" sz="7200" dirty="0" smtClean="0"/>
              <a:t>Facteurs de stress.</a:t>
            </a:r>
          </a:p>
          <a:p>
            <a:r>
              <a:rPr lang="fr-FR" sz="7200" dirty="0" smtClean="0"/>
              <a:t>Événements traumatisants.</a:t>
            </a:r>
            <a:endParaRPr lang="fr-FR" sz="7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down)">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533400" y="1371600"/>
            <a:ext cx="7851648" cy="2557466"/>
          </a:xfrm>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fr-FR" sz="7200" dirty="0" smtClean="0">
                <a:solidFill>
                  <a:srgbClr val="FFFF00"/>
                </a:solidFill>
              </a:rPr>
              <a:t>Clinique de la schizophrénie</a:t>
            </a:r>
            <a:endParaRPr lang="fr-FR" sz="7200" dirty="0">
              <a:solidFill>
                <a:srgbClr val="FFFF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28604"/>
            <a:ext cx="8229600" cy="1143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b="1" dirty="0" smtClean="0">
                <a:solidFill>
                  <a:srgbClr val="002060"/>
                </a:solidFill>
              </a:rPr>
              <a:t>Clinique de la schizophrénie</a:t>
            </a:r>
            <a:endParaRPr lang="fr-FR" b="1" dirty="0">
              <a:solidFill>
                <a:srgbClr val="002060"/>
              </a:solidFill>
            </a:endParaRPr>
          </a:p>
        </p:txBody>
      </p:sp>
      <p:sp>
        <p:nvSpPr>
          <p:cNvPr id="3" name="Espace réservé du contenu 2"/>
          <p:cNvSpPr>
            <a:spLocks noGrp="1"/>
          </p:cNvSpPr>
          <p:nvPr>
            <p:ph sz="quarter" idx="1"/>
          </p:nvPr>
        </p:nvSpPr>
        <p:spPr>
          <a:xfrm>
            <a:off x="457200" y="2149794"/>
            <a:ext cx="8229600" cy="4136726"/>
          </a:xfrm>
        </p:spPr>
        <p:style>
          <a:lnRef idx="2">
            <a:schemeClr val="accent3"/>
          </a:lnRef>
          <a:fillRef idx="1">
            <a:schemeClr val="lt1"/>
          </a:fillRef>
          <a:effectRef idx="0">
            <a:schemeClr val="accent3"/>
          </a:effectRef>
          <a:fontRef idx="minor">
            <a:schemeClr val="dk1"/>
          </a:fontRef>
        </p:style>
        <p:txBody>
          <a:bodyPr/>
          <a:lstStyle/>
          <a:p>
            <a:pPr>
              <a:buNone/>
            </a:pPr>
            <a:r>
              <a:rPr lang="fr-FR" sz="3200" dirty="0" smtClean="0"/>
              <a:t>La clinique de la schizophrénie comprend:</a:t>
            </a:r>
          </a:p>
          <a:p>
            <a:pPr>
              <a:buNone/>
            </a:pPr>
            <a:endParaRPr lang="fr-FR" sz="3200" b="1" dirty="0" smtClean="0"/>
          </a:p>
          <a:p>
            <a:pPr marL="780030" lvl="0" indent="-514350">
              <a:buFont typeface="+mj-lt"/>
              <a:buAutoNum type="arabicPeriod"/>
            </a:pPr>
            <a:r>
              <a:rPr lang="fr-FR" sz="3200" b="1" dirty="0" smtClean="0">
                <a:solidFill>
                  <a:srgbClr val="002060"/>
                </a:solidFill>
              </a:rPr>
              <a:t>Un syndrome dissociatif</a:t>
            </a:r>
          </a:p>
          <a:p>
            <a:pPr marL="780030" lvl="0" indent="-514350">
              <a:buFont typeface="+mj-lt"/>
              <a:buAutoNum type="arabicPeriod"/>
            </a:pPr>
            <a:r>
              <a:rPr lang="fr-FR" sz="3200" b="1" dirty="0" smtClean="0">
                <a:solidFill>
                  <a:srgbClr val="002060"/>
                </a:solidFill>
              </a:rPr>
              <a:t>Un syndrome délirant</a:t>
            </a:r>
          </a:p>
          <a:p>
            <a:pPr marL="780030" lvl="0" indent="-514350">
              <a:buFont typeface="+mj-lt"/>
              <a:buAutoNum type="arabicPeriod"/>
            </a:pPr>
            <a:r>
              <a:rPr lang="fr-FR" sz="3200" b="1" dirty="0" smtClean="0">
                <a:solidFill>
                  <a:srgbClr val="002060"/>
                </a:solidFill>
              </a:rPr>
              <a:t>Un syndrome autistique</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sz="4000" b="1" dirty="0" smtClean="0">
                <a:solidFill>
                  <a:srgbClr val="002060"/>
                </a:solidFill>
              </a:rPr>
              <a:t>1- Le syndrome dissociatif</a:t>
            </a:r>
            <a:endParaRPr lang="fr-FR" sz="4000"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a:bodyPr>
          <a:lstStyle/>
          <a:p>
            <a:pPr marL="0">
              <a:buNone/>
            </a:pPr>
            <a:r>
              <a:rPr lang="fr-FR" b="1" dirty="0" smtClean="0"/>
              <a:t>Dysfonctionnement brutal ou progressif de la vie psychique qui donne au comportement du sujet une tonalité étrange, bizarre </a:t>
            </a:r>
            <a:r>
              <a:rPr lang="fr-FR" b="1" dirty="0" smtClean="0">
                <a:solidFill>
                  <a:srgbClr val="FF0000"/>
                </a:solidFill>
              </a:rPr>
              <a:t>(discordance) </a:t>
            </a:r>
            <a:r>
              <a:rPr lang="fr-FR" b="1" dirty="0" smtClean="0"/>
              <a:t>, on distingue :</a:t>
            </a:r>
          </a:p>
          <a:p>
            <a:pPr marL="514350" lvl="0" indent="-514350">
              <a:buFont typeface="+mj-lt"/>
              <a:buAutoNum type="alphaUcPeriod"/>
            </a:pPr>
            <a:r>
              <a:rPr lang="fr-FR" b="1" dirty="0" smtClean="0"/>
              <a:t>Le syndrome dissociative au niveau de </a:t>
            </a:r>
            <a:r>
              <a:rPr lang="fr-FR" b="1" dirty="0" smtClean="0">
                <a:solidFill>
                  <a:srgbClr val="0070C0"/>
                </a:solidFill>
              </a:rPr>
              <a:t>la sphère intellectuel</a:t>
            </a:r>
          </a:p>
          <a:p>
            <a:pPr marL="514350" lvl="0" indent="-514350">
              <a:buFont typeface="+mj-lt"/>
              <a:buAutoNum type="alphaUcPeriod"/>
            </a:pPr>
            <a:r>
              <a:rPr lang="fr-FR" b="1" dirty="0" smtClean="0"/>
              <a:t>Le syndrome dissociatif au niveau de </a:t>
            </a:r>
            <a:r>
              <a:rPr lang="fr-FR" b="1" dirty="0" smtClean="0">
                <a:solidFill>
                  <a:srgbClr val="0070C0"/>
                </a:solidFill>
              </a:rPr>
              <a:t>la sphère affective</a:t>
            </a:r>
          </a:p>
          <a:p>
            <a:pPr marL="514350" lvl="0" indent="-514350">
              <a:buFont typeface="+mj-lt"/>
              <a:buAutoNum type="alphaUcPeriod"/>
            </a:pPr>
            <a:r>
              <a:rPr lang="fr-FR" b="1" dirty="0" smtClean="0"/>
              <a:t>Le syndrome dissociative au niveau de </a:t>
            </a:r>
            <a:r>
              <a:rPr lang="fr-FR" b="1" dirty="0" smtClean="0">
                <a:solidFill>
                  <a:srgbClr val="0070C0"/>
                </a:solidFill>
              </a:rPr>
              <a:t>la sphère motrice</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down)">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sz="3200" b="1" dirty="0" smtClean="0">
                <a:solidFill>
                  <a:srgbClr val="002060"/>
                </a:solidFill>
              </a:rPr>
              <a:t>A- Dissociation au niveau de la sphère intellectuelle</a:t>
            </a:r>
            <a:endParaRPr lang="fr-FR" sz="3200" b="1" dirty="0">
              <a:solidFill>
                <a:srgbClr val="002060"/>
              </a:solidFill>
            </a:endParaRPr>
          </a:p>
        </p:txBody>
      </p:sp>
      <p:sp>
        <p:nvSpPr>
          <p:cNvPr id="3" name="Espace réservé du contenu 2"/>
          <p:cNvSpPr>
            <a:spLocks noGrp="1"/>
          </p:cNvSpPr>
          <p:nvPr>
            <p:ph sz="quarter" idx="1"/>
          </p:nvPr>
        </p:nvSpPr>
        <p:spPr>
          <a:xfrm>
            <a:off x="457200" y="1785926"/>
            <a:ext cx="8229600" cy="4538674"/>
          </a:xfrm>
        </p:spPr>
        <p:style>
          <a:lnRef idx="2">
            <a:schemeClr val="accent3"/>
          </a:lnRef>
          <a:fillRef idx="1">
            <a:schemeClr val="lt1"/>
          </a:fillRef>
          <a:effectRef idx="0">
            <a:schemeClr val="accent3"/>
          </a:effectRef>
          <a:fontRef idx="minor">
            <a:schemeClr val="dk1"/>
          </a:fontRef>
        </p:style>
        <p:txBody>
          <a:bodyPr>
            <a:normAutofit/>
          </a:bodyPr>
          <a:lstStyle/>
          <a:p>
            <a:pPr algn="ctr">
              <a:buNone/>
            </a:pPr>
            <a:r>
              <a:rPr lang="fr-FR" b="1" u="sng" dirty="0" smtClean="0">
                <a:solidFill>
                  <a:srgbClr val="FF0000"/>
                </a:solidFill>
              </a:rPr>
              <a:t>Troubles du contenu de la pensée</a:t>
            </a:r>
          </a:p>
          <a:p>
            <a:pPr lvl="0" algn="just"/>
            <a:r>
              <a:rPr lang="fr-FR" b="1" dirty="0" smtClean="0">
                <a:solidFill>
                  <a:srgbClr val="0070C0"/>
                </a:solidFill>
              </a:rPr>
              <a:t>Appauvrissement des idées.</a:t>
            </a:r>
          </a:p>
          <a:p>
            <a:pPr lvl="0" algn="just"/>
            <a:r>
              <a:rPr lang="fr-FR" b="1" dirty="0" smtClean="0">
                <a:solidFill>
                  <a:srgbClr val="0070C0"/>
                </a:solidFill>
              </a:rPr>
              <a:t>Altération du système logique </a:t>
            </a:r>
            <a:r>
              <a:rPr lang="fr-FR" b="1" dirty="0" smtClean="0"/>
              <a:t>(propos hermétiques, parfois incompréhensibles, illogiques ; explications pseudo-logiques : </a:t>
            </a:r>
            <a:r>
              <a:rPr lang="fr-FR" b="1" dirty="0" smtClean="0">
                <a:solidFill>
                  <a:srgbClr val="FF0000"/>
                </a:solidFill>
              </a:rPr>
              <a:t>rationalisme morbide </a:t>
            </a:r>
            <a:r>
              <a:rPr lang="fr-FR" b="1" dirty="0" smtClean="0"/>
              <a:t>; pensée abstraite, floue).</a:t>
            </a:r>
          </a:p>
          <a:p>
            <a:pPr lvl="0" algn="just"/>
            <a:r>
              <a:rPr lang="fr-FR" b="1" dirty="0" smtClean="0">
                <a:solidFill>
                  <a:srgbClr val="0070C0"/>
                </a:solidFill>
              </a:rPr>
              <a:t>Altération des capacités d'abstraction </a:t>
            </a:r>
            <a:r>
              <a:rPr lang="fr-FR" b="1" dirty="0" smtClean="0"/>
              <a:t>(difficultés à expliquer des proverbes, interprétation des propos au premier degré).</a:t>
            </a:r>
          </a:p>
          <a:p>
            <a:pPr algn="ctr">
              <a:buNone/>
            </a:pPr>
            <a:endParaRPr lang="fr-FR" b="1" dirty="0" smtClean="0">
              <a:solidFill>
                <a:srgbClr val="FF0000"/>
              </a:solidFill>
            </a:endParaRPr>
          </a:p>
          <a:p>
            <a:pPr algn="ctr">
              <a:buNone/>
            </a:pPr>
            <a:endParaRPr lang="fr-FR" b="1" dirty="0">
              <a:solidFill>
                <a:srgbClr val="FF0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857256"/>
          </a:xfrm>
        </p:spPr>
        <p:style>
          <a:lnRef idx="1">
            <a:schemeClr val="accent3"/>
          </a:lnRef>
          <a:fillRef idx="2">
            <a:schemeClr val="accent3"/>
          </a:fillRef>
          <a:effectRef idx="1">
            <a:schemeClr val="accent3"/>
          </a:effectRef>
          <a:fontRef idx="minor">
            <a:schemeClr val="dk1"/>
          </a:fontRef>
        </p:style>
        <p:txBody>
          <a:bodyPr>
            <a:normAutofit fontScale="90000"/>
          </a:bodyPr>
          <a:lstStyle/>
          <a:p>
            <a:pPr algn="ctr"/>
            <a:r>
              <a:rPr lang="fr-FR" sz="3200" b="1" dirty="0" smtClean="0">
                <a:solidFill>
                  <a:srgbClr val="002060"/>
                </a:solidFill>
              </a:rPr>
              <a:t>A- Dissociation au niveau de la sphère intellectuelle</a:t>
            </a:r>
            <a:endParaRPr lang="fr-FR" sz="3200" b="1" dirty="0">
              <a:solidFill>
                <a:srgbClr val="002060"/>
              </a:solidFill>
            </a:endParaRPr>
          </a:p>
        </p:txBody>
      </p:sp>
      <p:sp>
        <p:nvSpPr>
          <p:cNvPr id="3" name="Espace réservé du contenu 2"/>
          <p:cNvSpPr>
            <a:spLocks noGrp="1"/>
          </p:cNvSpPr>
          <p:nvPr>
            <p:ph sz="quarter" idx="1"/>
          </p:nvPr>
        </p:nvSpPr>
        <p:spPr>
          <a:xfrm>
            <a:off x="457200" y="1785926"/>
            <a:ext cx="8229600" cy="4538674"/>
          </a:xfrm>
        </p:spPr>
        <p:style>
          <a:lnRef idx="2">
            <a:schemeClr val="accent3"/>
          </a:lnRef>
          <a:fillRef idx="1">
            <a:schemeClr val="lt1"/>
          </a:fillRef>
          <a:effectRef idx="0">
            <a:schemeClr val="accent3"/>
          </a:effectRef>
          <a:fontRef idx="minor">
            <a:schemeClr val="dk1"/>
          </a:fontRef>
        </p:style>
        <p:txBody>
          <a:bodyPr>
            <a:normAutofit/>
          </a:bodyPr>
          <a:lstStyle/>
          <a:p>
            <a:pPr algn="ctr">
              <a:buNone/>
            </a:pPr>
            <a:r>
              <a:rPr lang="fr-FR" b="1" u="sng" dirty="0" smtClean="0">
                <a:solidFill>
                  <a:srgbClr val="FF0000"/>
                </a:solidFill>
              </a:rPr>
              <a:t>Troubles du cours de la pensée</a:t>
            </a:r>
          </a:p>
          <a:p>
            <a:pPr lvl="0"/>
            <a:r>
              <a:rPr lang="fr-FR" b="1" dirty="0" smtClean="0">
                <a:solidFill>
                  <a:schemeClr val="accent1">
                    <a:lumMod val="75000"/>
                  </a:schemeClr>
                </a:solidFill>
              </a:rPr>
              <a:t>Barrages : </a:t>
            </a:r>
            <a:r>
              <a:rPr lang="fr-FR" b="1" dirty="0" smtClean="0"/>
              <a:t>interruption brutale au milieu d'une phrase (quelques secondes) et le sujet va repartir.</a:t>
            </a:r>
          </a:p>
          <a:p>
            <a:pPr lvl="0"/>
            <a:r>
              <a:rPr lang="fr-FR" b="1" dirty="0" smtClean="0">
                <a:solidFill>
                  <a:schemeClr val="accent1">
                    <a:lumMod val="75000"/>
                  </a:schemeClr>
                </a:solidFill>
              </a:rPr>
              <a:t>"Fading mental" : </a:t>
            </a:r>
            <a:r>
              <a:rPr lang="fr-FR" b="1" dirty="0" smtClean="0"/>
              <a:t>équivalant à minima (moins intense) du barrage, se traduisant par un ralentissement du débit verbal et du son puis cela repart (la pensée se ralentit).</a:t>
            </a:r>
          </a:p>
          <a:p>
            <a:pPr lvl="0"/>
            <a:r>
              <a:rPr lang="fr-FR" b="1" dirty="0" smtClean="0"/>
              <a:t>Il y a un </a:t>
            </a:r>
            <a:r>
              <a:rPr lang="fr-FR" b="1" dirty="0" smtClean="0">
                <a:solidFill>
                  <a:schemeClr val="accent1">
                    <a:lumMod val="75000"/>
                  </a:schemeClr>
                </a:solidFill>
              </a:rPr>
              <a:t>trouble des associations </a:t>
            </a:r>
            <a:r>
              <a:rPr lang="fr-FR" b="1" dirty="0" smtClean="0"/>
              <a:t>(le patient a du mal à passer d'une idée à l'autre). Il a une impression d'appauvrissement ou de pseudo-débilité.</a:t>
            </a:r>
          </a:p>
          <a:p>
            <a:pPr algn="ctr">
              <a:buNone/>
            </a:pPr>
            <a:endParaRPr lang="fr-FR" b="1" dirty="0">
              <a:solidFill>
                <a:srgbClr val="FF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sz="3200" b="1" dirty="0" smtClean="0">
                <a:solidFill>
                  <a:srgbClr val="002060"/>
                </a:solidFill>
              </a:rPr>
              <a:t>A- Dissociation au niveau de la sphère intellectuelle</a:t>
            </a:r>
            <a:endParaRPr lang="fr-FR" sz="3200" b="1" dirty="0">
              <a:solidFill>
                <a:srgbClr val="002060"/>
              </a:solidFill>
            </a:endParaRPr>
          </a:p>
        </p:txBody>
      </p:sp>
      <p:sp>
        <p:nvSpPr>
          <p:cNvPr id="3" name="Espace réservé du contenu 2"/>
          <p:cNvSpPr>
            <a:spLocks noGrp="1"/>
          </p:cNvSpPr>
          <p:nvPr>
            <p:ph sz="quarter" idx="1"/>
          </p:nvPr>
        </p:nvSpPr>
        <p:spPr>
          <a:xfrm>
            <a:off x="457200" y="1785926"/>
            <a:ext cx="8229600" cy="4538674"/>
          </a:xfrm>
        </p:spPr>
        <p:style>
          <a:lnRef idx="2">
            <a:schemeClr val="accent3"/>
          </a:lnRef>
          <a:fillRef idx="1">
            <a:schemeClr val="lt1"/>
          </a:fillRef>
          <a:effectRef idx="0">
            <a:schemeClr val="accent3"/>
          </a:effectRef>
          <a:fontRef idx="minor">
            <a:schemeClr val="dk1"/>
          </a:fontRef>
        </p:style>
        <p:txBody>
          <a:bodyPr>
            <a:normAutofit/>
          </a:bodyPr>
          <a:lstStyle/>
          <a:p>
            <a:pPr algn="ctr">
              <a:buNone/>
            </a:pPr>
            <a:r>
              <a:rPr lang="fr-FR" sz="4400" b="1" u="sng" dirty="0" smtClean="0">
                <a:solidFill>
                  <a:srgbClr val="FF0000"/>
                </a:solidFill>
              </a:rPr>
              <a:t>Troubles du langage</a:t>
            </a:r>
          </a:p>
          <a:p>
            <a:pPr lvl="0"/>
            <a:r>
              <a:rPr lang="fr-FR" sz="4000" b="1" dirty="0" smtClean="0"/>
              <a:t>Maniérisme.</a:t>
            </a:r>
          </a:p>
          <a:p>
            <a:pPr lvl="0"/>
            <a:r>
              <a:rPr lang="fr-FR" sz="4000" b="1" dirty="0" smtClean="0"/>
              <a:t>Invention de mots (néologismes).</a:t>
            </a:r>
          </a:p>
          <a:p>
            <a:pPr lvl="0"/>
            <a:r>
              <a:rPr lang="fr-FR" sz="4000" b="1" dirty="0" smtClean="0"/>
              <a:t>Usage de mots inappropriés au contexte (paralogisme).</a:t>
            </a:r>
          </a:p>
          <a:p>
            <a:pPr>
              <a:buNone/>
            </a:pPr>
            <a:endParaRPr lang="fr-FR" b="1" dirty="0" smtClean="0">
              <a:solidFill>
                <a:srgbClr val="FF0000"/>
              </a:solidFill>
            </a:endParaRPr>
          </a:p>
          <a:p>
            <a:pPr algn="ctr">
              <a:buNone/>
            </a:pPr>
            <a:endParaRPr lang="fr-FR" b="1" dirty="0">
              <a:solidFill>
                <a:srgbClr val="FF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418484"/>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b="1" dirty="0" smtClean="0">
                <a:solidFill>
                  <a:srgbClr val="002060"/>
                </a:solidFill>
              </a:rPr>
              <a:t>B- Dissociation au niveau de la sphère affective</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lstStyle/>
          <a:p>
            <a:pPr lvl="0"/>
            <a:r>
              <a:rPr lang="fr-FR" sz="3200" b="1" dirty="0" smtClean="0">
                <a:solidFill>
                  <a:srgbClr val="0070C0"/>
                </a:solidFill>
              </a:rPr>
              <a:t>Ambivalence: </a:t>
            </a:r>
            <a:r>
              <a:rPr lang="fr-FR" sz="3200" b="1" dirty="0" smtClean="0"/>
              <a:t>coexistence simultanée de sentiments contraires.</a:t>
            </a:r>
          </a:p>
          <a:p>
            <a:pPr lvl="0"/>
            <a:r>
              <a:rPr lang="fr-FR" sz="3200" b="1" dirty="0" smtClean="0">
                <a:solidFill>
                  <a:srgbClr val="0070C0"/>
                </a:solidFill>
              </a:rPr>
              <a:t>Émoussement affectif: </a:t>
            </a:r>
            <a:r>
              <a:rPr lang="fr-FR" sz="3200" b="1" dirty="0" smtClean="0"/>
              <a:t>froideur du contact, indifférence, insensibilité aux réactions d'autrui</a:t>
            </a:r>
          </a:p>
          <a:p>
            <a:pPr lvl="0"/>
            <a:r>
              <a:rPr lang="fr-FR" sz="3200" b="1" dirty="0" smtClean="0">
                <a:solidFill>
                  <a:srgbClr val="0070C0"/>
                </a:solidFill>
              </a:rPr>
              <a:t>Perte de l'élan vital : </a:t>
            </a:r>
            <a:r>
              <a:rPr lang="fr-FR" sz="3200" b="1" dirty="0" smtClean="0"/>
              <a:t>désintérêt, inertie, perte de la motivation (athymhormie).</a:t>
            </a:r>
          </a:p>
          <a:p>
            <a:endParaRPr lang="fr-FR"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2- Le syndrome délirant</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a:bodyPr>
          <a:lstStyle/>
          <a:p>
            <a:pPr lvl="0" algn="just"/>
            <a:r>
              <a:rPr lang="fr-FR" sz="2800" b="1" dirty="0" smtClean="0"/>
              <a:t>Le délire dans la schizophrénie est un </a:t>
            </a:r>
            <a:r>
              <a:rPr lang="fr-FR" sz="2800" b="1" dirty="0" smtClean="0">
                <a:solidFill>
                  <a:srgbClr val="FF0000"/>
                </a:solidFill>
              </a:rPr>
              <a:t>délire paranoïde</a:t>
            </a:r>
            <a:r>
              <a:rPr lang="fr-FR" sz="2800" b="1" dirty="0"/>
              <a:t> </a:t>
            </a:r>
            <a:r>
              <a:rPr lang="fr-FR" sz="2800" b="1" dirty="0" smtClean="0"/>
              <a:t>: </a:t>
            </a:r>
            <a:r>
              <a:rPr lang="fr-FR" sz="2800" b="1" dirty="0" smtClean="0">
                <a:solidFill>
                  <a:srgbClr val="0070C0"/>
                </a:solidFill>
              </a:rPr>
              <a:t>polymorphe</a:t>
            </a:r>
            <a:r>
              <a:rPr lang="fr-FR" sz="2800" b="1" dirty="0" smtClean="0"/>
              <a:t>; plusieurs thèmes et plusieurs  mécanismes, délire </a:t>
            </a:r>
            <a:r>
              <a:rPr lang="fr-FR" sz="2800" b="1" dirty="0" smtClean="0">
                <a:solidFill>
                  <a:srgbClr val="0070C0"/>
                </a:solidFill>
              </a:rPr>
              <a:t>non (ou mal) systématisé (structuré),  incohérent, flou, bizarre.</a:t>
            </a:r>
          </a:p>
          <a:p>
            <a:pPr lvl="0" algn="just"/>
            <a:r>
              <a:rPr lang="fr-FR" sz="2800" b="1" dirty="0">
                <a:solidFill>
                  <a:srgbClr val="0070C0"/>
                </a:solidFill>
              </a:rPr>
              <a:t>Automatisme mental: </a:t>
            </a:r>
            <a:r>
              <a:rPr lang="fr-FR" sz="2800" b="1" dirty="0">
                <a:solidFill>
                  <a:schemeClr val="tx1"/>
                </a:solidFill>
              </a:rPr>
              <a:t>ensemble d'hallucinations dans lesquelles une personne est persuadée que quelqu'un ou quelque chose s'est emparé de sa conscience ou guide ses actes.</a:t>
            </a:r>
            <a:endParaRPr lang="fr-FR" sz="2800" b="1" dirty="0" smtClean="0">
              <a:solidFill>
                <a:schemeClr val="tx1"/>
              </a:solidFill>
            </a:endParaRPr>
          </a:p>
          <a:p>
            <a:endParaRPr lang="fr-F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57166"/>
            <a:ext cx="8229600" cy="1143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b="1" dirty="0" smtClean="0">
                <a:solidFill>
                  <a:srgbClr val="002060"/>
                </a:solidFill>
              </a:rPr>
              <a:t>3- Syndrome autistique</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fontScale="92500" lnSpcReduction="20000"/>
          </a:bodyPr>
          <a:lstStyle/>
          <a:p>
            <a:pPr>
              <a:buNone/>
            </a:pPr>
            <a:r>
              <a:rPr lang="fr-FR" sz="3200" b="1" dirty="0" smtClean="0"/>
              <a:t>Repli sur soi se manifestant par :</a:t>
            </a:r>
          </a:p>
          <a:p>
            <a:pPr marL="540000" lvl="0">
              <a:buFont typeface="Wingdings" pitchFamily="2" charset="2"/>
              <a:buChar char="Ø"/>
            </a:pPr>
            <a:r>
              <a:rPr lang="fr-FR" sz="3200" b="1" dirty="0" smtClean="0"/>
              <a:t>un retrait social actif: isolement social, apragmatisme conduisant parfois à l'incurie (le sujet ne se lave plus, ne mange plus …)</a:t>
            </a:r>
          </a:p>
          <a:p>
            <a:pPr marL="540000" lvl="0">
              <a:buFont typeface="Wingdings" pitchFamily="2" charset="2"/>
              <a:buChar char="Ø"/>
            </a:pPr>
            <a:r>
              <a:rPr lang="fr-FR" sz="3200" b="1" dirty="0"/>
              <a:t>perte de contact avec la réalité, vie imaginaire</a:t>
            </a:r>
            <a:endParaRPr lang="fr-FR" sz="3200" b="1" dirty="0" smtClean="0"/>
          </a:p>
          <a:p>
            <a:pPr marL="540000" lvl="0">
              <a:buFont typeface="Wingdings" pitchFamily="2" charset="2"/>
              <a:buChar char="Ø"/>
            </a:pPr>
            <a:r>
              <a:rPr lang="fr-FR" sz="3200" b="1" dirty="0" smtClean="0"/>
              <a:t>le sujet est lointain, distant, son regard est ailleurs.</a:t>
            </a:r>
          </a:p>
          <a:p>
            <a:pPr marL="540000" lvl="0">
              <a:buFont typeface="Wingdings" pitchFamily="2" charset="2"/>
              <a:buChar char="Ø"/>
            </a:pPr>
            <a:r>
              <a:rPr lang="fr-FR" sz="3200" b="1" dirty="0" smtClean="0"/>
              <a:t>une pensée secrète, illogique, non subordonnée au principe de réalité </a:t>
            </a:r>
          </a:p>
          <a:p>
            <a:endParaRPr lang="fr-F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400" b="1" dirty="0" smtClean="0"/>
              <a:t> </a:t>
            </a:r>
            <a:r>
              <a:rPr lang="fr-FR" sz="4400" b="1" dirty="0" smtClean="0"/>
              <a:t>   FOEMES CLINIQUES </a:t>
            </a:r>
            <a:endParaRPr lang="fr-FR" sz="4400" b="1" dirty="0"/>
          </a:p>
        </p:txBody>
      </p:sp>
      <p:sp>
        <p:nvSpPr>
          <p:cNvPr id="3" name="Espace réservé du contenu 2"/>
          <p:cNvSpPr>
            <a:spLocks noGrp="1"/>
          </p:cNvSpPr>
          <p:nvPr>
            <p:ph sz="quarter" idx="1"/>
          </p:nvPr>
        </p:nvSpPr>
        <p:spPr/>
        <p:txBody>
          <a:bodyPr>
            <a:normAutofit fontScale="85000" lnSpcReduction="20000"/>
          </a:bodyPr>
          <a:lstStyle/>
          <a:p>
            <a:r>
              <a:rPr lang="fr-FR" sz="4000" dirty="0" err="1" smtClean="0"/>
              <a:t>Schizophrenie</a:t>
            </a:r>
            <a:r>
              <a:rPr lang="fr-FR" sz="4000" dirty="0" smtClean="0"/>
              <a:t> </a:t>
            </a:r>
            <a:r>
              <a:rPr lang="fr-FR" sz="4000" dirty="0" err="1" smtClean="0"/>
              <a:t>paranoide</a:t>
            </a:r>
            <a:r>
              <a:rPr lang="fr-FR" sz="4000" dirty="0" smtClean="0"/>
              <a:t> où prédomine le délire </a:t>
            </a:r>
            <a:r>
              <a:rPr lang="fr-FR" sz="4000" dirty="0" err="1" smtClean="0"/>
              <a:t>paranoide</a:t>
            </a:r>
            <a:r>
              <a:rPr lang="fr-FR" sz="4000" dirty="0" smtClean="0"/>
              <a:t>.</a:t>
            </a:r>
          </a:p>
          <a:p>
            <a:r>
              <a:rPr lang="fr-FR" sz="4000" dirty="0" err="1" smtClean="0"/>
              <a:t>Sx</a:t>
            </a:r>
            <a:r>
              <a:rPr lang="fr-FR" sz="4000" dirty="0" smtClean="0"/>
              <a:t> hébéphrénique où prédomine le </a:t>
            </a:r>
            <a:r>
              <a:rPr lang="fr-FR" sz="4000" dirty="0" err="1" smtClean="0"/>
              <a:t>sd</a:t>
            </a:r>
            <a:r>
              <a:rPr lang="fr-FR" sz="4000" dirty="0" smtClean="0"/>
              <a:t> dissociatif .</a:t>
            </a:r>
          </a:p>
          <a:p>
            <a:r>
              <a:rPr lang="fr-FR" sz="4000" dirty="0" err="1" smtClean="0"/>
              <a:t>Sx</a:t>
            </a:r>
            <a:r>
              <a:rPr lang="fr-FR" sz="4000" dirty="0" smtClean="0"/>
              <a:t> </a:t>
            </a:r>
            <a:r>
              <a:rPr lang="fr-FR" sz="4000" dirty="0" err="1" smtClean="0"/>
              <a:t>indiférenciée</a:t>
            </a:r>
            <a:r>
              <a:rPr lang="fr-FR" sz="4000" dirty="0" smtClean="0"/>
              <a:t> : les deux axes sont présents. </a:t>
            </a:r>
          </a:p>
          <a:p>
            <a:r>
              <a:rPr lang="fr-FR" sz="4000" dirty="0" err="1" smtClean="0"/>
              <a:t>Sx</a:t>
            </a:r>
            <a:r>
              <a:rPr lang="fr-FR" sz="4000" dirty="0" smtClean="0"/>
              <a:t> catatonique .</a:t>
            </a:r>
          </a:p>
          <a:p>
            <a:r>
              <a:rPr lang="fr-FR" sz="4000" dirty="0" err="1" smtClean="0"/>
              <a:t>Heboidophrénie</a:t>
            </a:r>
            <a:r>
              <a:rPr lang="fr-FR" sz="4000" dirty="0" smtClean="0"/>
              <a:t>  </a:t>
            </a:r>
          </a:p>
          <a:p>
            <a:r>
              <a:rPr lang="fr-FR" sz="4000" dirty="0" err="1" smtClean="0"/>
              <a:t>Sx</a:t>
            </a:r>
            <a:r>
              <a:rPr lang="fr-FR" sz="4000" dirty="0" smtClean="0"/>
              <a:t> </a:t>
            </a:r>
            <a:r>
              <a:rPr lang="fr-FR" sz="4000" dirty="0" err="1" smtClean="0"/>
              <a:t>pseudonévrotique</a:t>
            </a:r>
            <a:endParaRPr lang="fr-FR" sz="4000" dirty="0" smtClean="0"/>
          </a:p>
          <a:p>
            <a:r>
              <a:rPr lang="fr-FR" sz="4000" dirty="0" err="1" smtClean="0"/>
              <a:t>Sx</a:t>
            </a:r>
            <a:r>
              <a:rPr lang="fr-FR" sz="4000" smtClean="0"/>
              <a:t> résiduelle . </a:t>
            </a:r>
            <a:endParaRPr lang="fr-FR" sz="4000" dirty="0" smtClean="0"/>
          </a:p>
          <a:p>
            <a:endParaRPr lang="fr-F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b="1" dirty="0" smtClean="0">
                <a:solidFill>
                  <a:srgbClr val="002060"/>
                </a:solidFill>
              </a:rPr>
              <a:t>Évolution de la schizophrénie</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lnSpcReduction="10000"/>
          </a:bodyPr>
          <a:lstStyle/>
          <a:p>
            <a:pPr lvl="0" algn="just"/>
            <a:r>
              <a:rPr lang="fr-FR" b="1" dirty="0" smtClean="0"/>
              <a:t>Il s'agit d'une maladie chronique grave dont les symptômes s'améliorent généralement avec le traitement mais dont le risque de rechute reste élevé</a:t>
            </a:r>
            <a:endParaRPr lang="fr-FR" dirty="0" smtClean="0"/>
          </a:p>
          <a:p>
            <a:pPr lvl="0" algn="just"/>
            <a:r>
              <a:rPr lang="fr-FR" b="1" dirty="0" smtClean="0"/>
              <a:t>Une rémission complète voire définitive des symptômes (environ 20 % des cas).</a:t>
            </a:r>
            <a:endParaRPr lang="fr-FR" dirty="0" smtClean="0"/>
          </a:p>
          <a:p>
            <a:pPr lvl="0" algn="just"/>
            <a:r>
              <a:rPr lang="fr-FR" b="1" dirty="0" smtClean="0"/>
              <a:t>L'évolution peut également être plus défavorable, avec dans environ 20 % des cas, un tableau de schizophrénie déficitaire caractérisée par un émoussement affectif au premier plan, un retrait social et une mauvaise réponse au traitement neuroleptique.</a:t>
            </a:r>
            <a:endParaRPr lang="fr-FR" dirty="0" smtClean="0"/>
          </a:p>
          <a:p>
            <a:endParaRPr lang="fr-F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347046"/>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b="1" dirty="0" smtClean="0">
                <a:solidFill>
                  <a:srgbClr val="002060"/>
                </a:solidFill>
              </a:rPr>
              <a:t>Complications de la schizophrénie</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lstStyle/>
          <a:p>
            <a:pPr lvl="0"/>
            <a:r>
              <a:rPr lang="fr-FR" sz="4400" b="1" dirty="0" smtClean="0"/>
              <a:t>Dépressions</a:t>
            </a:r>
          </a:p>
          <a:p>
            <a:pPr lvl="0"/>
            <a:r>
              <a:rPr lang="fr-FR" sz="4400" b="1" dirty="0" smtClean="0"/>
              <a:t>Suicide</a:t>
            </a:r>
          </a:p>
          <a:p>
            <a:pPr lvl="0"/>
            <a:r>
              <a:rPr lang="fr-FR" sz="4400" b="1" dirty="0" smtClean="0"/>
              <a:t>Conduites toxicomaniaques</a:t>
            </a:r>
          </a:p>
          <a:p>
            <a:pPr lvl="0"/>
            <a:r>
              <a:rPr lang="fr-FR" sz="4400" b="1" dirty="0" smtClean="0"/>
              <a:t>Actes médico-légaux</a:t>
            </a:r>
          </a:p>
          <a:p>
            <a:endParaRPr lang="fr-F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28604"/>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Prise en charge</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a:bodyPr>
          <a:lstStyle/>
          <a:p>
            <a:pPr>
              <a:lnSpc>
                <a:spcPct val="90000"/>
              </a:lnSpc>
            </a:pPr>
            <a:r>
              <a:rPr lang="fr-FR" sz="6000" b="1" dirty="0" smtClean="0"/>
              <a:t>Hospitalisation.</a:t>
            </a:r>
          </a:p>
          <a:p>
            <a:pPr>
              <a:lnSpc>
                <a:spcPct val="90000"/>
              </a:lnSpc>
            </a:pPr>
            <a:r>
              <a:rPr lang="fr-FR" sz="6000" b="1" dirty="0" smtClean="0"/>
              <a:t>Pharmacologique.</a:t>
            </a:r>
          </a:p>
          <a:p>
            <a:pPr>
              <a:lnSpc>
                <a:spcPct val="90000"/>
              </a:lnSpc>
            </a:pPr>
            <a:r>
              <a:rPr lang="fr-FR" sz="6000" b="1" dirty="0" smtClean="0"/>
              <a:t>ECT.</a:t>
            </a:r>
          </a:p>
          <a:p>
            <a:pPr>
              <a:lnSpc>
                <a:spcPct val="90000"/>
              </a:lnSpc>
            </a:pPr>
            <a:r>
              <a:rPr lang="fr-FR" sz="6000" b="1" dirty="0" smtClean="0"/>
              <a:t>Psychologique.</a:t>
            </a:r>
          </a:p>
          <a:p>
            <a:pPr>
              <a:lnSpc>
                <a:spcPct val="90000"/>
              </a:lnSpc>
            </a:pPr>
            <a:r>
              <a:rPr lang="fr-FR" sz="6000" b="1" dirty="0" smtClean="0"/>
              <a:t>Sociale.</a:t>
            </a:r>
          </a:p>
          <a:p>
            <a:endParaRPr lang="fr-F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57166"/>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Hospitalisation</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lstStyle/>
          <a:p>
            <a:r>
              <a:rPr lang="fr-FR" sz="2800" b="1" dirty="0" smtClean="0"/>
              <a:t>Évaluation initiale lors du premier épisode psychotique et faciliter la mise en route du traitement.</a:t>
            </a:r>
          </a:p>
          <a:p>
            <a:r>
              <a:rPr lang="fr-FR" sz="2800" b="1" dirty="0" smtClean="0"/>
              <a:t> Lors des phases aiguës  ou en cas de risque suicidaire.</a:t>
            </a:r>
          </a:p>
          <a:p>
            <a:r>
              <a:rPr lang="fr-FR" sz="2800" b="1" dirty="0" smtClean="0"/>
              <a:t>Refus de traitement.</a:t>
            </a:r>
          </a:p>
          <a:p>
            <a:r>
              <a:rPr lang="fr-FR" sz="2800" b="1" dirty="0" smtClean="0"/>
              <a:t>Potentiel de dangerosité.</a:t>
            </a:r>
          </a:p>
          <a:p>
            <a:r>
              <a:rPr lang="fr-FR" sz="2800" b="1" dirty="0" smtClean="0"/>
              <a:t>À la demande du patient, d’un tiers ou hospitalisation d'office.</a:t>
            </a:r>
          </a:p>
          <a:p>
            <a:endParaRPr lang="fr-FR" dirty="0" smtClean="0"/>
          </a:p>
          <a:p>
            <a:endParaRPr lang="fr-FR" dirty="0" smtClean="0"/>
          </a:p>
          <a:p>
            <a:endParaRPr lang="fr-FR" dirty="0" smtClean="0"/>
          </a:p>
          <a:p>
            <a:endParaRPr lang="fr-F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Pharmacologique</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lstStyle/>
          <a:p>
            <a:r>
              <a:rPr lang="fr-FR" sz="4800" b="1" dirty="0" smtClean="0">
                <a:solidFill>
                  <a:srgbClr val="FF0000"/>
                </a:solidFill>
              </a:rPr>
              <a:t>Les neuroleptiques (dispositif central du traitement).</a:t>
            </a:r>
          </a:p>
          <a:p>
            <a:r>
              <a:rPr lang="fr-FR" sz="4800" dirty="0" smtClean="0"/>
              <a:t>Les antidépresseurs.</a:t>
            </a:r>
          </a:p>
          <a:p>
            <a:r>
              <a:rPr lang="fr-FR" sz="4800" dirty="0" smtClean="0"/>
              <a:t>Les </a:t>
            </a:r>
            <a:r>
              <a:rPr lang="fr-FR" sz="4800" dirty="0" err="1" smtClean="0"/>
              <a:t>thymorégulateurs</a:t>
            </a:r>
            <a:r>
              <a:rPr lang="fr-FR" sz="4800" dirty="0" smtClean="0"/>
              <a:t>.</a:t>
            </a:r>
          </a:p>
          <a:p>
            <a:endParaRPr lang="fr-F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28612"/>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Les neuroleptiques</a:t>
            </a:r>
            <a:endParaRPr lang="fr-FR" b="1" dirty="0">
              <a:solidFill>
                <a:srgbClr val="002060"/>
              </a:solidFill>
            </a:endParaRPr>
          </a:p>
        </p:txBody>
      </p:sp>
      <p:sp>
        <p:nvSpPr>
          <p:cNvPr id="3" name="Espace réservé du contenu 2"/>
          <p:cNvSpPr>
            <a:spLocks noGrp="1"/>
          </p:cNvSpPr>
          <p:nvPr>
            <p:ph sz="quarter" idx="1"/>
          </p:nvPr>
        </p:nvSpPr>
        <p:spPr>
          <a:xfrm>
            <a:off x="428596" y="2285992"/>
            <a:ext cx="8229600" cy="3960492"/>
          </a:xfrm>
        </p:spPr>
        <p:style>
          <a:lnRef idx="2">
            <a:schemeClr val="accent3"/>
          </a:lnRef>
          <a:fillRef idx="1">
            <a:schemeClr val="lt1"/>
          </a:fillRef>
          <a:effectRef idx="0">
            <a:schemeClr val="accent3"/>
          </a:effectRef>
          <a:fontRef idx="minor">
            <a:schemeClr val="dk1"/>
          </a:fontRef>
        </p:style>
        <p:txBody>
          <a:bodyPr>
            <a:normAutofit/>
          </a:bodyPr>
          <a:lstStyle/>
          <a:p>
            <a:pPr algn="just"/>
            <a:r>
              <a:rPr lang="fr-FR" sz="4000" b="1" dirty="0" smtClean="0"/>
              <a:t>Les neuroleptiques agissent principalement en </a:t>
            </a:r>
            <a:r>
              <a:rPr lang="fr-FR" sz="4000" b="1" dirty="0" smtClean="0">
                <a:solidFill>
                  <a:srgbClr val="FF0000"/>
                </a:solidFill>
              </a:rPr>
              <a:t>bloquant la transmission synaptique des neurones dopaminergiques.</a:t>
            </a:r>
          </a:p>
          <a:p>
            <a:pPr algn="just"/>
            <a:r>
              <a:rPr lang="fr-FR" sz="4000" b="1" dirty="0" smtClean="0">
                <a:solidFill>
                  <a:schemeClr val="accent2">
                    <a:lumMod val="75000"/>
                  </a:schemeClr>
                </a:solidFill>
              </a:rPr>
              <a:t>Antagonistes dopaminergiques</a:t>
            </a:r>
            <a:endParaRPr lang="fr-FR" sz="4000" b="1" dirty="0">
              <a:solidFill>
                <a:schemeClr val="accent2">
                  <a:lumMod val="75000"/>
                </a:schemeClr>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14298"/>
            <a:ext cx="8229600" cy="1357314"/>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fr-FR" b="1" dirty="0" smtClean="0">
                <a:solidFill>
                  <a:srgbClr val="002060"/>
                </a:solidFill>
              </a:rPr>
              <a:t>Antipsychotiques</a:t>
            </a:r>
            <a:br>
              <a:rPr lang="fr-FR" b="1" dirty="0" smtClean="0">
                <a:solidFill>
                  <a:srgbClr val="002060"/>
                </a:solidFill>
              </a:rPr>
            </a:br>
            <a:r>
              <a:rPr lang="fr-FR" b="1" dirty="0" smtClean="0">
                <a:solidFill>
                  <a:srgbClr val="002060"/>
                </a:solidFill>
              </a:rPr>
              <a:t>Neuroleptiques 2</a:t>
            </a:r>
            <a:r>
              <a:rPr lang="fr-FR" b="1" baseline="30000" dirty="0" smtClean="0">
                <a:solidFill>
                  <a:srgbClr val="002060"/>
                </a:solidFill>
              </a:rPr>
              <a:t>e</a:t>
            </a:r>
            <a:r>
              <a:rPr lang="fr-FR" b="1" dirty="0" smtClean="0">
                <a:solidFill>
                  <a:srgbClr val="002060"/>
                </a:solidFill>
              </a:rPr>
              <a:t> G</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Autofit/>
          </a:bodyPr>
          <a:lstStyle/>
          <a:p>
            <a:pPr algn="just"/>
            <a:r>
              <a:rPr lang="fr-FR" sz="2800" b="1" dirty="0" smtClean="0"/>
              <a:t>Antagonistes à la </a:t>
            </a:r>
            <a:r>
              <a:rPr lang="fr-FR" sz="2800" b="1" dirty="0" smtClean="0">
                <a:solidFill>
                  <a:srgbClr val="FF0000"/>
                </a:solidFill>
              </a:rPr>
              <a:t>dopamine</a:t>
            </a:r>
            <a:r>
              <a:rPr lang="fr-FR" sz="2800" b="1" dirty="0" smtClean="0"/>
              <a:t> et à la </a:t>
            </a:r>
            <a:r>
              <a:rPr lang="fr-FR" sz="2800" b="1" dirty="0" smtClean="0">
                <a:solidFill>
                  <a:srgbClr val="FF0000"/>
                </a:solidFill>
              </a:rPr>
              <a:t>sérotonine.</a:t>
            </a:r>
          </a:p>
          <a:p>
            <a:pPr algn="just"/>
            <a:r>
              <a:rPr lang="fr-FR" sz="2800" b="1" dirty="0" smtClean="0"/>
              <a:t>Au niveau méso-limbique, ils bloquent les </a:t>
            </a:r>
            <a:r>
              <a:rPr lang="fr-FR" sz="2800" b="1" dirty="0" smtClean="0">
                <a:solidFill>
                  <a:srgbClr val="FF0000"/>
                </a:solidFill>
              </a:rPr>
              <a:t>récepteurs D2 </a:t>
            </a:r>
            <a:r>
              <a:rPr lang="fr-FR" sz="2800" b="1" dirty="0" smtClean="0"/>
              <a:t>(à dopamine, il y a donc une diminution des syndromes positifs). </a:t>
            </a:r>
          </a:p>
          <a:p>
            <a:pPr algn="just"/>
            <a:r>
              <a:rPr lang="fr-FR" sz="2800" b="1" dirty="0" smtClean="0"/>
              <a:t>Au niveau méso-cortical, ils empêchent la sérotonine de se lier au </a:t>
            </a:r>
            <a:r>
              <a:rPr lang="fr-FR" sz="2800" b="1" dirty="0" smtClean="0">
                <a:solidFill>
                  <a:srgbClr val="FF0000"/>
                </a:solidFill>
              </a:rPr>
              <a:t>récepteur 5HT2A</a:t>
            </a:r>
            <a:r>
              <a:rPr lang="fr-FR" sz="2800" b="1" dirty="0" smtClean="0"/>
              <a:t>, ce qui déclenche la production de dopamine (déficiente à ce niveau).</a:t>
            </a:r>
          </a:p>
          <a:p>
            <a:pPr algn="just"/>
            <a:r>
              <a:rPr lang="fr-FR" sz="2800" b="1" dirty="0" smtClean="0"/>
              <a:t>Moins d'effets secondaires.</a:t>
            </a:r>
            <a:endParaRPr lang="fr-FR" sz="2800" b="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57166"/>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Psychologique</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a:bodyPr>
          <a:lstStyle/>
          <a:p>
            <a:pPr lvl="1">
              <a:lnSpc>
                <a:spcPct val="90000"/>
              </a:lnSpc>
            </a:pPr>
            <a:r>
              <a:rPr lang="fr-FR" sz="5400" dirty="0" smtClean="0"/>
              <a:t>Psychothérapie de soutien</a:t>
            </a:r>
          </a:p>
          <a:p>
            <a:pPr lvl="1">
              <a:lnSpc>
                <a:spcPct val="90000"/>
              </a:lnSpc>
            </a:pPr>
            <a:r>
              <a:rPr lang="fr-FR" sz="5400" dirty="0" smtClean="0"/>
              <a:t>Psychoéducation</a:t>
            </a:r>
          </a:p>
          <a:p>
            <a:pPr lvl="1">
              <a:lnSpc>
                <a:spcPct val="90000"/>
              </a:lnSpc>
            </a:pPr>
            <a:r>
              <a:rPr lang="fr-FR" sz="5400" dirty="0" smtClean="0"/>
              <a:t>Thérapie familiale</a:t>
            </a:r>
            <a:endParaRPr lang="fr-F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5728"/>
            <a:ext cx="8229600" cy="1143000"/>
          </a:xfrm>
        </p:spPr>
        <p:style>
          <a:lnRef idx="1">
            <a:schemeClr val="accent3"/>
          </a:lnRef>
          <a:fillRef idx="2">
            <a:schemeClr val="accent3"/>
          </a:fillRef>
          <a:effectRef idx="1">
            <a:schemeClr val="accent3"/>
          </a:effectRef>
          <a:fontRef idx="minor">
            <a:schemeClr val="dk1"/>
          </a:fontRef>
        </p:style>
        <p:txBody>
          <a:bodyPr/>
          <a:lstStyle/>
          <a:p>
            <a:pPr algn="ctr"/>
            <a:r>
              <a:rPr lang="fr-FR" b="1" dirty="0" smtClean="0">
                <a:solidFill>
                  <a:srgbClr val="002060"/>
                </a:solidFill>
              </a:rPr>
              <a:t>Social</a:t>
            </a:r>
            <a:endParaRPr lang="fr-FR" b="1" dirty="0">
              <a:solidFill>
                <a:srgbClr val="002060"/>
              </a:solidFill>
            </a:endParaRPr>
          </a:p>
        </p:txBody>
      </p:sp>
      <p:sp>
        <p:nvSpPr>
          <p:cNvPr id="3" name="Espace réservé du contenu 2"/>
          <p:cNvSpPr>
            <a:spLocks noGrp="1"/>
          </p:cNvSpPr>
          <p:nvPr>
            <p:ph sz="quarter" idx="1"/>
          </p:nvPr>
        </p:nvSpPr>
        <p:spPr/>
        <p:style>
          <a:lnRef idx="2">
            <a:schemeClr val="accent3"/>
          </a:lnRef>
          <a:fillRef idx="1">
            <a:schemeClr val="lt1"/>
          </a:fillRef>
          <a:effectRef idx="0">
            <a:schemeClr val="accent3"/>
          </a:effectRef>
          <a:fontRef idx="minor">
            <a:schemeClr val="dk1"/>
          </a:fontRef>
        </p:style>
        <p:txBody>
          <a:bodyPr>
            <a:normAutofit/>
          </a:bodyPr>
          <a:lstStyle/>
          <a:p>
            <a:pPr lvl="1"/>
            <a:r>
              <a:rPr lang="fr-FR" sz="3600" b="1" dirty="0" smtClean="0"/>
              <a:t>Réinsertion, réhabilitation</a:t>
            </a:r>
          </a:p>
          <a:p>
            <a:pPr lvl="1"/>
            <a:r>
              <a:rPr lang="fr-FR" sz="3600" b="1" dirty="0" smtClean="0"/>
              <a:t>Resocialisation scolaire, professionnelle</a:t>
            </a:r>
          </a:p>
          <a:p>
            <a:pPr lvl="1"/>
            <a:r>
              <a:rPr lang="fr-FR" sz="3600" b="1" dirty="0" smtClean="0"/>
              <a:t>Assistance sociale:</a:t>
            </a:r>
          </a:p>
          <a:p>
            <a:pPr lvl="2"/>
            <a:r>
              <a:rPr lang="fr-FR" sz="3600" b="1" dirty="0" smtClean="0"/>
              <a:t>Assurance.</a:t>
            </a:r>
          </a:p>
          <a:p>
            <a:pPr lvl="2"/>
            <a:r>
              <a:rPr lang="fr-FR" sz="3600" b="1" dirty="0" smtClean="0"/>
              <a:t>Protection des biens</a:t>
            </a:r>
          </a:p>
          <a:p>
            <a:pPr lvl="2">
              <a:buNone/>
            </a:pPr>
            <a:endParaRPr lang="fr-FR" sz="3600" b="1" dirty="0" smtClean="0"/>
          </a:p>
          <a:p>
            <a:endParaRPr lang="fr-FR"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1074</TotalTime>
  <Words>1063</Words>
  <Application>Microsoft Office PowerPoint</Application>
  <PresentationFormat>Affichage à l'écran (4:3)</PresentationFormat>
  <Paragraphs>148</Paragraphs>
  <Slides>34</Slides>
  <Notes>1</Notes>
  <HiddenSlides>0</HiddenSlides>
  <MMClips>0</MMClips>
  <ScaleCrop>false</ScaleCrop>
  <HeadingPairs>
    <vt:vector size="4" baseType="variant">
      <vt:variant>
        <vt:lpstr>Thème</vt:lpstr>
      </vt:variant>
      <vt:variant>
        <vt:i4>1</vt:i4>
      </vt:variant>
      <vt:variant>
        <vt:lpstr>Titres des diapositives</vt:lpstr>
      </vt:variant>
      <vt:variant>
        <vt:i4>34</vt:i4>
      </vt:variant>
    </vt:vector>
  </HeadingPairs>
  <TitlesOfParts>
    <vt:vector size="35" baseType="lpstr">
      <vt:lpstr>Capitaux</vt:lpstr>
      <vt:lpstr>SCHIZOPHRENIE</vt:lpstr>
      <vt:lpstr>Diapositive 2</vt:lpstr>
      <vt:lpstr>Définition de la schizophrénie</vt:lpstr>
      <vt:lpstr>Définition de la schizophrénie </vt:lpstr>
      <vt:lpstr>Diapositive 5</vt:lpstr>
      <vt:lpstr>les critères diagnostiques du DSM-5. </vt:lpstr>
      <vt:lpstr>Diapositive 7</vt:lpstr>
      <vt:lpstr>Diapositive 8</vt:lpstr>
      <vt:lpstr>Etiopathogénie de la schizophrénie</vt:lpstr>
      <vt:lpstr>Diapositive 10</vt:lpstr>
      <vt:lpstr>Génétique </vt:lpstr>
      <vt:lpstr>Génétique </vt:lpstr>
      <vt:lpstr>Neurobiologie </vt:lpstr>
      <vt:lpstr>Psychanalyse </vt:lpstr>
      <vt:lpstr>Facteur socioculturels </vt:lpstr>
      <vt:lpstr>Clinique de la schizophrénie</vt:lpstr>
      <vt:lpstr>Clinique de la schizophrénie</vt:lpstr>
      <vt:lpstr>1- Le syndrome dissociatif</vt:lpstr>
      <vt:lpstr>A- Dissociation au niveau de la sphère intellectuelle</vt:lpstr>
      <vt:lpstr>A- Dissociation au niveau de la sphère intellectuelle</vt:lpstr>
      <vt:lpstr>A- Dissociation au niveau de la sphère intellectuelle</vt:lpstr>
      <vt:lpstr>B- Dissociation au niveau de la sphère affective</vt:lpstr>
      <vt:lpstr>2- Le syndrome délirant</vt:lpstr>
      <vt:lpstr>3- Syndrome autistique</vt:lpstr>
      <vt:lpstr>    FOEMES CLINIQUES </vt:lpstr>
      <vt:lpstr>Évolution de la schizophrénie</vt:lpstr>
      <vt:lpstr>Complications de la schizophrénie</vt:lpstr>
      <vt:lpstr>Prise en charge</vt:lpstr>
      <vt:lpstr>Hospitalisation</vt:lpstr>
      <vt:lpstr>Pharmacologique</vt:lpstr>
      <vt:lpstr>Les neuroleptiques</vt:lpstr>
      <vt:lpstr>Antipsychotiques Neuroleptiques 2e G</vt:lpstr>
      <vt:lpstr>Psychologique</vt:lpstr>
      <vt:lpstr>Social</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RCS</dc:creator>
  <cp:lastModifiedBy>RCS</cp:lastModifiedBy>
  <cp:revision>55</cp:revision>
  <dcterms:created xsi:type="dcterms:W3CDTF">2017-09-07T11:47:34Z</dcterms:created>
  <dcterms:modified xsi:type="dcterms:W3CDTF">2022-11-22T13:44:53Z</dcterms:modified>
</cp:coreProperties>
</file>