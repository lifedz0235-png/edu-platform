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71" r:id="rId8"/>
    <p:sldId id="263" r:id="rId9"/>
    <p:sldId id="273" r:id="rId10"/>
    <p:sldId id="264" r:id="rId11"/>
    <p:sldId id="272" r:id="rId12"/>
    <p:sldId id="265" r:id="rId13"/>
    <p:sldId id="266" r:id="rId14"/>
    <p:sldId id="267" r:id="rId15"/>
    <p:sldId id="268" r:id="rId16"/>
    <p:sldId id="269" r:id="rId17"/>
    <p:sldId id="270" r:id="rId1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2">
        <a:schemeClr val="bg2"/>
      </p:bgRef>
    </p:bg>
    <p:spTree>
      <p:nvGrpSpPr>
        <p:cNvPr id="1" name=""/>
        <p:cNvGrpSpPr/>
        <p:nvPr/>
      </p:nvGrpSpPr>
      <p:grpSpPr>
        <a:xfrm>
          <a:off x="0" y="0"/>
          <a:ext cx="0" cy="0"/>
          <a:chOff x="0" y="0"/>
          <a:chExt cx="0" cy="0"/>
        </a:xfrm>
      </p:grpSpPr>
      <p:sp>
        <p:nvSpPr>
          <p:cNvPr id="9" name="Titr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Cliquez pour modifier le style du titre</a:t>
            </a:r>
            <a:endParaRPr kumimoji="0" lang="en-US"/>
          </a:p>
        </p:txBody>
      </p:sp>
      <p:sp>
        <p:nvSpPr>
          <p:cNvPr id="17" name="Sous-titr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30" name="Espace réservé de la date 29"/>
          <p:cNvSpPr>
            <a:spLocks noGrp="1"/>
          </p:cNvSpPr>
          <p:nvPr>
            <p:ph type="dt" sz="half" idx="10"/>
          </p:nvPr>
        </p:nvSpPr>
        <p:spPr/>
        <p:txBody>
          <a:bodyPr/>
          <a:lstStyle/>
          <a:p>
            <a:fld id="{EB534B0D-8C94-42E8-8B87-D4E4EA867753}" type="datetimeFigureOut">
              <a:rPr lang="fr-FR" smtClean="0"/>
              <a:t>08/09/2017</a:t>
            </a:fld>
            <a:endParaRPr lang="fr-FR"/>
          </a:p>
        </p:txBody>
      </p:sp>
      <p:sp>
        <p:nvSpPr>
          <p:cNvPr id="19" name="Espace réservé du pied de page 18"/>
          <p:cNvSpPr>
            <a:spLocks noGrp="1"/>
          </p:cNvSpPr>
          <p:nvPr>
            <p:ph type="ftr" sz="quarter" idx="11"/>
          </p:nvPr>
        </p:nvSpPr>
        <p:spPr/>
        <p:txBody>
          <a:bodyPr/>
          <a:lstStyle/>
          <a:p>
            <a:endParaRPr lang="fr-FR"/>
          </a:p>
        </p:txBody>
      </p:sp>
      <p:sp>
        <p:nvSpPr>
          <p:cNvPr id="27" name="Espace réservé du numéro de diapositive 26"/>
          <p:cNvSpPr>
            <a:spLocks noGrp="1"/>
          </p:cNvSpPr>
          <p:nvPr>
            <p:ph type="sldNum" sz="quarter" idx="12"/>
          </p:nvPr>
        </p:nvSpPr>
        <p:spPr/>
        <p:txBody>
          <a:bodyPr/>
          <a:lstStyle/>
          <a:p>
            <a:fld id="{D6F6073B-AD6C-44AB-A733-645CBB1BB702}" type="slidenum">
              <a:rPr lang="fr-FR" smtClean="0"/>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B534B0D-8C94-42E8-8B87-D4E4EA867753}" type="datetimeFigureOut">
              <a:rPr lang="fr-FR" smtClean="0"/>
              <a:t>08/09/2017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EB534B0D-8C94-42E8-8B87-D4E4EA867753}" type="datetimeFigureOut">
              <a:rPr lang="fr-FR" smtClean="0"/>
              <a:t>08/09/2017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F6073B-AD6C-44AB-A733-645CBB1BB702}" type="slidenum">
              <a:rPr lang="fr-FR" smtClean="0"/>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229600" cy="1143000"/>
          </a:xfrm>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EB534B0D-8C94-42E8-8B87-D4E4EA867753}" type="datetimeFigureOut">
              <a:rPr lang="fr-FR" smtClean="0"/>
              <a:t>08/09/2017</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229600" cy="1143000"/>
          </a:xfrm>
        </p:spPr>
        <p:txBody>
          <a:bodyPr tIns="45720" anchor="b"/>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EB534B0D-8C94-42E8-8B87-D4E4EA867753}" type="datetimeFigureOut">
              <a:rPr lang="fr-FR" smtClean="0"/>
              <a:t>08/09/2017</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EB534B0D-8C94-42E8-8B87-D4E4EA867753}" type="datetimeFigureOut">
              <a:rPr lang="fr-FR" smtClean="0"/>
              <a:t>08/09/2017</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B534B0D-8C94-42E8-8B87-D4E4EA867753}" type="datetimeFigureOut">
              <a:rPr lang="fr-FR" smtClean="0"/>
              <a:t>08/09/2017</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EB534B0D-8C94-42E8-8B87-D4E4EA867753}" type="datetimeFigureOut">
              <a:rPr lang="fr-FR" smtClean="0"/>
              <a:t>08/09/2017</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Rogner et arrondir un rectangle à un seul coin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Triangle rect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r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EB534B0D-8C94-42E8-8B87-D4E4EA867753}" type="datetimeFigureOut">
              <a:rPr lang="fr-FR" smtClean="0"/>
              <a:t>08/09/2017</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a:xfrm>
            <a:off x="8077200" y="6356350"/>
            <a:ext cx="609600" cy="365125"/>
          </a:xfrm>
        </p:spPr>
        <p:txBody>
          <a:bodyPr/>
          <a:lstStyle/>
          <a:p>
            <a:fld id="{D6F6073B-AD6C-44AB-A733-645CBB1BB702}" type="slidenum">
              <a:rPr lang="fr-FR" smtClean="0"/>
              <a:t>‹N°›</a:t>
            </a:fld>
            <a:endParaRPr lang="fr-FR"/>
          </a:p>
        </p:txBody>
      </p:sp>
      <p:sp>
        <p:nvSpPr>
          <p:cNvPr id="3" name="Espace réservé pour une image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fr-FR" smtClean="0"/>
              <a:t>Cliquez sur l'icône pour ajouter une image</a:t>
            </a:r>
            <a:endParaRPr kumimoji="0" lang="en-US" dirty="0"/>
          </a:p>
        </p:txBody>
      </p:sp>
      <p:sp>
        <p:nvSpPr>
          <p:cNvPr id="10" name="Forme libre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orme libre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B534B0D-8C94-42E8-8B87-D4E4EA867753}" type="datetimeFigureOut">
              <a:rPr lang="fr-FR" smtClean="0"/>
              <a:t>08/09/2017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914401"/>
            <a:ext cx="2057400" cy="5211763"/>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914401"/>
            <a:ext cx="6019800" cy="5211763"/>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B534B0D-8C94-42E8-8B87-D4E4EA867753}" type="datetimeFigureOut">
              <a:rPr lang="fr-FR" smtClean="0"/>
              <a:t>08/09/2017</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6F6073B-AD6C-44AB-A733-645CBB1BB702}"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orme libre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orme libre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Espace réservé du titre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fr-FR" smtClean="0"/>
              <a:t>Cliquez pour modifier le style du titre</a:t>
            </a:r>
            <a:endParaRPr kumimoji="0" lang="en-US"/>
          </a:p>
        </p:txBody>
      </p:sp>
      <p:sp>
        <p:nvSpPr>
          <p:cNvPr id="30" name="Espace réservé du texte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Espace réservé de la date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B534B0D-8C94-42E8-8B87-D4E4EA867753}" type="datetimeFigureOut">
              <a:rPr lang="fr-FR" smtClean="0"/>
              <a:t>08/09/2017</a:t>
            </a:fld>
            <a:endParaRPr lang="fr-FR"/>
          </a:p>
        </p:txBody>
      </p:sp>
      <p:sp>
        <p:nvSpPr>
          <p:cNvPr id="22" name="Espace réservé du pied de page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fr-FR"/>
          </a:p>
        </p:txBody>
      </p:sp>
      <p:sp>
        <p:nvSpPr>
          <p:cNvPr id="18" name="Espace réservé du numéro de diapositive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6F6073B-AD6C-44AB-A733-645CBB1BB702}" type="slidenum">
              <a:rPr lang="fr-FR" smtClean="0"/>
              <a:t>‹N°›</a:t>
            </a:fld>
            <a:endParaRPr lang="fr-FR"/>
          </a:p>
        </p:txBody>
      </p:sp>
      <p:grpSp>
        <p:nvGrpSpPr>
          <p:cNvPr id="2" name="Groupe 1"/>
          <p:cNvGrpSpPr/>
          <p:nvPr/>
        </p:nvGrpSpPr>
        <p:grpSpPr>
          <a:xfrm>
            <a:off x="-19017" y="202408"/>
            <a:ext cx="9180548" cy="649224"/>
            <a:chOff x="-19045" y="216550"/>
            <a:chExt cx="9180548" cy="649224"/>
          </a:xfrm>
        </p:grpSpPr>
        <p:sp>
          <p:nvSpPr>
            <p:cNvPr id="12" name="Forme libre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orme libre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Délire Paranoïaque </a:t>
            </a:r>
            <a:endParaRPr lang="fr-FR" dirty="0"/>
          </a:p>
        </p:txBody>
      </p:sp>
      <p:sp>
        <p:nvSpPr>
          <p:cNvPr id="3" name="Sous-titre 2"/>
          <p:cNvSpPr>
            <a:spLocks noGrp="1"/>
          </p:cNvSpPr>
          <p:nvPr>
            <p:ph type="subTitle" idx="1"/>
          </p:nvPr>
        </p:nvSpPr>
        <p:spPr/>
        <p:txBody>
          <a:bodyPr/>
          <a:lstStyle/>
          <a:p>
            <a:r>
              <a:rPr lang="fr-FR" dirty="0" smtClean="0"/>
              <a:t>Dr. GUENNOUN</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 </a:t>
            </a:r>
            <a:endParaRPr lang="fr-FR" dirty="0"/>
          </a:p>
        </p:txBody>
      </p:sp>
      <p:sp>
        <p:nvSpPr>
          <p:cNvPr id="3" name="Espace réservé du contenu 2"/>
          <p:cNvSpPr>
            <a:spLocks noGrp="1"/>
          </p:cNvSpPr>
          <p:nvPr>
            <p:ph idx="1"/>
          </p:nvPr>
        </p:nvSpPr>
        <p:spPr/>
        <p:txBody>
          <a:bodyPr/>
          <a:lstStyle/>
          <a:p>
            <a:pPr>
              <a:buNone/>
            </a:pPr>
            <a:r>
              <a:rPr lang="fr-FR" dirty="0" smtClean="0"/>
              <a:t>Le délire paranoïaque est un trouble délirant chronique, de</a:t>
            </a:r>
            <a:r>
              <a:rPr lang="fr-FR" b="1" dirty="0" smtClean="0">
                <a:solidFill>
                  <a:srgbClr val="FF0000"/>
                </a:solidFill>
              </a:rPr>
              <a:t> mécanisme interprétatif et systématisé</a:t>
            </a:r>
            <a:r>
              <a:rPr lang="fr-FR" dirty="0" smtClean="0"/>
              <a:t>. La systématisation du délire lui confère un caractère extrêmement cohérent qui, associé à la conviction absolue et inébranlable du patient, peut entraîner</a:t>
            </a:r>
          </a:p>
          <a:p>
            <a:pPr>
              <a:buNone/>
            </a:pPr>
            <a:r>
              <a:rPr lang="fr-FR" dirty="0" smtClean="0"/>
              <a:t>l'adhésion de tiers.</a:t>
            </a:r>
            <a:endParaRPr lang="fr-FR"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Clinique</a:t>
            </a:r>
            <a:endParaRPr lang="fr-FR" dirty="0"/>
          </a:p>
        </p:txBody>
      </p:sp>
      <p:sp>
        <p:nvSpPr>
          <p:cNvPr id="3" name="Espace réservé du contenu 2"/>
          <p:cNvSpPr>
            <a:spLocks noGrp="1"/>
          </p:cNvSpPr>
          <p:nvPr>
            <p:ph idx="1"/>
          </p:nvPr>
        </p:nvSpPr>
        <p:spPr/>
        <p:txBody>
          <a:bodyPr>
            <a:normAutofit/>
          </a:bodyPr>
          <a:lstStyle/>
          <a:p>
            <a:pPr>
              <a:buFont typeface="Wingdings" pitchFamily="2" charset="2"/>
              <a:buChar char="ü"/>
            </a:pPr>
            <a:r>
              <a:rPr lang="fr-FR" dirty="0" smtClean="0"/>
              <a:t> </a:t>
            </a:r>
            <a:r>
              <a:rPr lang="fr-FR" b="1" dirty="0" smtClean="0"/>
              <a:t>Début tardif </a:t>
            </a:r>
            <a:r>
              <a:rPr lang="fr-FR" dirty="0" smtClean="0"/>
              <a:t>vers 40 ans, peut être aigu ou subaigu </a:t>
            </a:r>
          </a:p>
          <a:p>
            <a:pPr>
              <a:buFont typeface="Wingdings" pitchFamily="2" charset="2"/>
              <a:buChar char="ü"/>
            </a:pPr>
            <a:r>
              <a:rPr lang="fr-FR" dirty="0" smtClean="0"/>
              <a:t>Plus fréquemment insidieux avec des idées délirantes .</a:t>
            </a:r>
          </a:p>
          <a:p>
            <a:pPr>
              <a:buFont typeface="Wingdings" pitchFamily="2" charset="2"/>
              <a:buChar char="ü"/>
            </a:pPr>
            <a:r>
              <a:rPr lang="fr-FR" dirty="0" smtClean="0"/>
              <a:t> Trois groupes:</a:t>
            </a:r>
          </a:p>
          <a:p>
            <a:r>
              <a:rPr lang="fr-FR" dirty="0" smtClean="0"/>
              <a:t>    Délires d’interprétation de Sérieux et </a:t>
            </a:r>
            <a:r>
              <a:rPr lang="fr-FR" dirty="0" err="1" smtClean="0"/>
              <a:t>Capgras</a:t>
            </a:r>
            <a:r>
              <a:rPr lang="fr-FR" dirty="0" smtClean="0"/>
              <a:t>.</a:t>
            </a:r>
          </a:p>
          <a:p>
            <a:r>
              <a:rPr lang="fr-FR" dirty="0" smtClean="0"/>
              <a:t>  Délires passionnels</a:t>
            </a:r>
          </a:p>
          <a:p>
            <a:r>
              <a:rPr lang="fr-FR" dirty="0" smtClean="0"/>
              <a:t>   Délires de relation Kretschmer.</a:t>
            </a:r>
            <a:endParaRPr lang="en-US" dirty="0" smtClean="0"/>
          </a:p>
          <a:p>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buNone/>
            </a:pPr>
            <a:r>
              <a:rPr lang="fr-FR" dirty="0" smtClean="0"/>
              <a:t>Il se développe plus volontiers chez des patients présentant un trouble de personnalité pré morbide de type paranoïaque dont les principaux traits sont représentés par:</a:t>
            </a:r>
          </a:p>
          <a:p>
            <a:r>
              <a:rPr lang="fr-FR" dirty="0" smtClean="0"/>
              <a:t>l'hypertrophie du moi</a:t>
            </a:r>
          </a:p>
          <a:p>
            <a:r>
              <a:rPr lang="fr-FR" dirty="0" smtClean="0"/>
              <a:t>la fausseté du jugement.</a:t>
            </a:r>
          </a:p>
          <a:p>
            <a:r>
              <a:rPr lang="fr-FR" dirty="0" smtClean="0"/>
              <a:t>la méfiance.</a:t>
            </a:r>
          </a:p>
          <a:p>
            <a:r>
              <a:rPr lang="fr-FR" dirty="0" smtClean="0"/>
              <a:t>la psychorigidité et l'orgueil</a:t>
            </a:r>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00034" y="357166"/>
            <a:ext cx="6858080" cy="1214446"/>
          </a:xfrm>
        </p:spPr>
        <p:txBody>
          <a:bodyPr>
            <a:normAutofit fontScale="90000"/>
          </a:bodyPr>
          <a:lstStyle/>
          <a:p>
            <a:r>
              <a:rPr lang="fr-FR" b="1" dirty="0" smtClean="0">
                <a:latin typeface="Calibri" pitchFamily="34" charset="0"/>
                <a:cs typeface="Calibri" pitchFamily="34" charset="0"/>
              </a:rPr>
              <a:t>1/Le délire d’interprétation de    Sérieux   </a:t>
            </a:r>
            <a:r>
              <a:rPr lang="fr-FR" sz="4900" b="1" dirty="0" smtClean="0">
                <a:latin typeface="Calibri" pitchFamily="34" charset="0"/>
                <a:cs typeface="Calibri" pitchFamily="34" charset="0"/>
              </a:rPr>
              <a:t>et </a:t>
            </a:r>
            <a:r>
              <a:rPr lang="fr-FR" sz="4900" b="1" dirty="0" err="1" smtClean="0">
                <a:latin typeface="Calibri" pitchFamily="34" charset="0"/>
                <a:cs typeface="Calibri" pitchFamily="34" charset="0"/>
              </a:rPr>
              <a:t>Capgras</a:t>
            </a:r>
            <a:endParaRPr lang="fr-FR" b="1" dirty="0"/>
          </a:p>
        </p:txBody>
      </p:sp>
      <p:sp>
        <p:nvSpPr>
          <p:cNvPr id="3" name="Espace réservé du contenu 2"/>
          <p:cNvSpPr>
            <a:spLocks noGrp="1"/>
          </p:cNvSpPr>
          <p:nvPr>
            <p:ph idx="1"/>
          </p:nvPr>
        </p:nvSpPr>
        <p:spPr/>
        <p:txBody>
          <a:bodyPr>
            <a:normAutofit/>
          </a:bodyPr>
          <a:lstStyle/>
          <a:p>
            <a:pPr>
              <a:buNone/>
            </a:pPr>
            <a:endParaRPr lang="fr-FR" dirty="0" smtClean="0"/>
          </a:p>
          <a:p>
            <a:pPr>
              <a:buNone/>
            </a:pPr>
            <a:r>
              <a:rPr lang="fr-FR" dirty="0" smtClean="0"/>
              <a:t>Les interprétations délirantes sont nombreuses , Il n’y a plus de hasard dans la vie du sujet</a:t>
            </a:r>
          </a:p>
          <a:p>
            <a:pPr>
              <a:buNone/>
            </a:pPr>
            <a:r>
              <a:rPr lang="fr-FR" dirty="0" smtClean="0"/>
              <a:t>La structure  est dite </a:t>
            </a:r>
            <a:r>
              <a:rPr lang="fr-FR" dirty="0" smtClean="0">
                <a:solidFill>
                  <a:srgbClr val="FF0000"/>
                </a:solidFill>
              </a:rPr>
              <a:t>« en réseau » </a:t>
            </a:r>
            <a:r>
              <a:rPr lang="fr-FR" dirty="0" smtClean="0"/>
              <a:t>puisque tous les domaines de la vie du sujet sont envahis par les idées délirantes.</a:t>
            </a:r>
          </a:p>
          <a:p>
            <a:pPr>
              <a:buNone/>
            </a:pPr>
            <a:r>
              <a:rPr lang="fr-FR" dirty="0" smtClean="0"/>
              <a:t>Les thématiques les plus régulièrement rencontrées sont celles de </a:t>
            </a:r>
            <a:r>
              <a:rPr lang="fr-FR" b="1" dirty="0" smtClean="0">
                <a:solidFill>
                  <a:srgbClr val="FF0000"/>
                </a:solidFill>
              </a:rPr>
              <a:t>persécution et de préjudice.</a:t>
            </a:r>
          </a:p>
          <a:p>
            <a:endParaRPr lang="fr-F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latin typeface="Brush Script MT" pitchFamily="66" charset="0"/>
              </a:rPr>
              <a:t> </a:t>
            </a:r>
            <a:r>
              <a:rPr lang="fr-FR" b="1" i="1" dirty="0" smtClean="0">
                <a:latin typeface="Brush Script MT" pitchFamily="66" charset="0"/>
              </a:rPr>
              <a:t>  2/</a:t>
            </a:r>
            <a:r>
              <a:rPr lang="fr-FR" b="1" i="1" dirty="0" smtClean="0">
                <a:latin typeface="Brush Script MT" pitchFamily="66" charset="0"/>
              </a:rPr>
              <a:t> </a:t>
            </a:r>
            <a:r>
              <a:rPr lang="fr-FR" b="1" i="1" dirty="0" smtClean="0">
                <a:latin typeface="Calibri" pitchFamily="34" charset="0"/>
                <a:cs typeface="Calibri" pitchFamily="34" charset="0"/>
              </a:rPr>
              <a:t>Les délires passionnels</a:t>
            </a:r>
            <a:endParaRPr lang="fr-FR" dirty="0"/>
          </a:p>
        </p:txBody>
      </p:sp>
      <p:sp>
        <p:nvSpPr>
          <p:cNvPr id="3" name="Espace réservé du contenu 2"/>
          <p:cNvSpPr>
            <a:spLocks noGrp="1"/>
          </p:cNvSpPr>
          <p:nvPr>
            <p:ph idx="1"/>
          </p:nvPr>
        </p:nvSpPr>
        <p:spPr/>
        <p:txBody>
          <a:bodyPr>
            <a:normAutofit/>
          </a:bodyPr>
          <a:lstStyle/>
          <a:p>
            <a:r>
              <a:rPr lang="fr-FR" dirty="0" smtClean="0"/>
              <a:t>Les délires passionnels regroupent</a:t>
            </a:r>
            <a:r>
              <a:rPr lang="fr-FR" b="1" dirty="0" smtClean="0"/>
              <a:t> l'érotomanie, les délires de jalousie et les délires de revendication</a:t>
            </a:r>
            <a:r>
              <a:rPr lang="fr-FR" dirty="0" smtClean="0"/>
              <a:t>.</a:t>
            </a:r>
          </a:p>
          <a:p>
            <a:r>
              <a:rPr lang="fr-FR" dirty="0" smtClean="0"/>
              <a:t> </a:t>
            </a:r>
          </a:p>
          <a:p>
            <a:r>
              <a:rPr lang="fr-FR" dirty="0" smtClean="0"/>
              <a:t> Ils comportent en général</a:t>
            </a:r>
            <a:r>
              <a:rPr lang="fr-FR" b="1" dirty="0" smtClean="0"/>
              <a:t> une forte participation affectiv</a:t>
            </a:r>
            <a:r>
              <a:rPr lang="fr-FR" dirty="0" smtClean="0"/>
              <a:t>e pouvant être à l'origine de passages à l'acte.</a:t>
            </a:r>
          </a:p>
          <a:p>
            <a:r>
              <a:rPr lang="fr-FR" dirty="0" smtClean="0"/>
              <a:t> </a:t>
            </a:r>
          </a:p>
          <a:p>
            <a:r>
              <a:rPr lang="fr-FR" dirty="0" smtClean="0"/>
              <a:t>Les délires passionnels ont une construction dite "</a:t>
            </a:r>
            <a:r>
              <a:rPr lang="fr-FR" b="1" dirty="0" smtClean="0">
                <a:solidFill>
                  <a:srgbClr val="FF0000"/>
                </a:solidFill>
              </a:rPr>
              <a:t>en secteur«  </a:t>
            </a:r>
            <a:r>
              <a:rPr lang="fr-FR" dirty="0" smtClean="0"/>
              <a:t>ils restent centrées sur l’objet et la thématique quasi unique du délire.</a:t>
            </a:r>
          </a:p>
          <a:p>
            <a:pPr>
              <a:buNone/>
            </a:pPr>
            <a:endParaRPr lang="fr-FR" dirty="0" smtClean="0"/>
          </a:p>
          <a:p>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a:t>
            </a:r>
            <a:r>
              <a:rPr lang="fr-FR" b="1" dirty="0" smtClean="0"/>
              <a:t> Erotomanie </a:t>
            </a:r>
            <a:endParaRPr lang="fr-FR" b="1" dirty="0"/>
          </a:p>
        </p:txBody>
      </p:sp>
      <p:pic>
        <p:nvPicPr>
          <p:cNvPr id="4" name="Espace réservé du contenu 3" descr="photo erotomanie.jpg"/>
          <p:cNvPicPr>
            <a:picLocks noGrp="1" noChangeAspect="1"/>
          </p:cNvPicPr>
          <p:nvPr>
            <p:ph idx="1"/>
          </p:nvPr>
        </p:nvPicPr>
        <p:blipFill>
          <a:blip r:embed="rId2"/>
          <a:stretch>
            <a:fillRect/>
          </a:stretch>
        </p:blipFill>
        <p:spPr>
          <a:xfrm>
            <a:off x="1071538" y="2928934"/>
            <a:ext cx="6572296" cy="3353606"/>
          </a:xfr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654032"/>
          </a:xfrm>
        </p:spPr>
        <p:txBody>
          <a:bodyPr>
            <a:normAutofit fontScale="90000"/>
          </a:bodyPr>
          <a:lstStyle/>
          <a:p>
            <a:r>
              <a:rPr lang="fr-FR" dirty="0" smtClean="0"/>
              <a:t>Erotomanie </a:t>
            </a:r>
            <a:endParaRPr lang="fr-FR" dirty="0"/>
          </a:p>
        </p:txBody>
      </p:sp>
      <p:sp>
        <p:nvSpPr>
          <p:cNvPr id="3" name="Espace réservé du contenu 2"/>
          <p:cNvSpPr>
            <a:spLocks noGrp="1"/>
          </p:cNvSpPr>
          <p:nvPr>
            <p:ph idx="1"/>
          </p:nvPr>
        </p:nvSpPr>
        <p:spPr/>
        <p:txBody>
          <a:bodyPr/>
          <a:lstStyle/>
          <a:p>
            <a:endParaRPr lang="fr-FR" dirty="0"/>
          </a:p>
        </p:txBody>
      </p:sp>
      <p:sp>
        <p:nvSpPr>
          <p:cNvPr id="4" name="Rectangle 3"/>
          <p:cNvSpPr/>
          <p:nvPr/>
        </p:nvSpPr>
        <p:spPr>
          <a:xfrm>
            <a:off x="500034" y="1357298"/>
            <a:ext cx="8143932" cy="4832092"/>
          </a:xfrm>
          <a:prstGeom prst="rect">
            <a:avLst/>
          </a:prstGeom>
        </p:spPr>
        <p:txBody>
          <a:bodyPr wrap="square">
            <a:spAutoFit/>
          </a:bodyPr>
          <a:lstStyle/>
          <a:p>
            <a:pPr algn="just"/>
            <a:r>
              <a:rPr lang="fr-FR" sz="2800" dirty="0" smtClean="0"/>
              <a:t>Le délire érotomaniaque touche plus fréquemment les </a:t>
            </a:r>
            <a:r>
              <a:rPr lang="fr-FR" sz="2800" dirty="0" smtClean="0">
                <a:solidFill>
                  <a:srgbClr val="FF0000"/>
                </a:solidFill>
              </a:rPr>
              <a:t>femmes.</a:t>
            </a:r>
          </a:p>
          <a:p>
            <a:pPr algn="just"/>
            <a:r>
              <a:rPr lang="fr-FR" sz="2800" dirty="0" smtClean="0"/>
              <a:t>C’est </a:t>
            </a:r>
            <a:r>
              <a:rPr lang="fr-FR" sz="2800" dirty="0" smtClean="0">
                <a:solidFill>
                  <a:srgbClr val="FF0000"/>
                </a:solidFill>
              </a:rPr>
              <a:t>l'illusion délirante d'être aimé</a:t>
            </a:r>
          </a:p>
          <a:p>
            <a:pPr algn="just"/>
            <a:r>
              <a:rPr lang="fr-FR" sz="2800" dirty="0" smtClean="0"/>
              <a:t>L’objet de l’érotomanie tient souvent une </a:t>
            </a:r>
            <a:r>
              <a:rPr lang="fr-FR" sz="2800" dirty="0" smtClean="0">
                <a:solidFill>
                  <a:srgbClr val="FF0000"/>
                </a:solidFill>
              </a:rPr>
              <a:t>position sociale élevée</a:t>
            </a:r>
            <a:r>
              <a:rPr lang="fr-FR" sz="2800" dirty="0" smtClean="0"/>
              <a:t> et enviée (directeur, enseignant, médecins…).</a:t>
            </a:r>
          </a:p>
          <a:p>
            <a:pPr algn="just"/>
            <a:r>
              <a:rPr lang="fr-FR" sz="2800" dirty="0" smtClean="0"/>
              <a:t>Le sujet pose comme postulat initial qu’il </a:t>
            </a:r>
            <a:r>
              <a:rPr lang="fr-FR" sz="2800" dirty="0" smtClean="0">
                <a:solidFill>
                  <a:srgbClr val="FF0000"/>
                </a:solidFill>
              </a:rPr>
              <a:t>aime et qu’il est aimé</a:t>
            </a:r>
            <a:r>
              <a:rPr lang="fr-FR" sz="2800" dirty="0" smtClean="0"/>
              <a:t>, la pensée va évoluer selon </a:t>
            </a:r>
            <a:r>
              <a:rPr lang="fr-FR" sz="2800" dirty="0" smtClean="0">
                <a:solidFill>
                  <a:srgbClr val="FF0000"/>
                </a:solidFill>
              </a:rPr>
              <a:t>3 phases</a:t>
            </a:r>
            <a:r>
              <a:rPr lang="fr-FR" sz="2800" dirty="0" smtClean="0"/>
              <a:t> : l’</a:t>
            </a:r>
            <a:r>
              <a:rPr lang="fr-FR" sz="2800" dirty="0" smtClean="0">
                <a:solidFill>
                  <a:schemeClr val="accent1">
                    <a:lumMod val="75000"/>
                  </a:schemeClr>
                </a:solidFill>
              </a:rPr>
              <a:t>espoir </a:t>
            </a:r>
            <a:r>
              <a:rPr lang="fr-FR" sz="2800" dirty="0" smtClean="0"/>
              <a:t>et la réussite de cet amour, le </a:t>
            </a:r>
            <a:r>
              <a:rPr lang="fr-FR" sz="2800" dirty="0" smtClean="0">
                <a:solidFill>
                  <a:schemeClr val="accent1">
                    <a:lumMod val="75000"/>
                  </a:schemeClr>
                </a:solidFill>
              </a:rPr>
              <a:t>dépit</a:t>
            </a:r>
            <a:r>
              <a:rPr lang="fr-FR" sz="2800" dirty="0" smtClean="0"/>
              <a:t> de cet amour et enfin </a:t>
            </a:r>
            <a:r>
              <a:rPr lang="fr-FR" sz="2800" dirty="0" smtClean="0">
                <a:solidFill>
                  <a:schemeClr val="accent1">
                    <a:lumMod val="75000"/>
                  </a:schemeClr>
                </a:solidFill>
              </a:rPr>
              <a:t>la haine et la rancune </a:t>
            </a:r>
            <a:r>
              <a:rPr lang="fr-FR" sz="2800" dirty="0" smtClean="0"/>
              <a:t>avec son risque de passage a l’acte</a:t>
            </a:r>
            <a:endParaRPr lang="fr-FR" sz="28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Délire de jalousie </a:t>
            </a:r>
            <a:endParaRPr lang="fr-FR" dirty="0"/>
          </a:p>
        </p:txBody>
      </p:sp>
      <p:pic>
        <p:nvPicPr>
          <p:cNvPr id="4" name="Espace réservé du contenu 3" descr="photo jalousie.jpg"/>
          <p:cNvPicPr>
            <a:picLocks noGrp="1" noChangeAspect="1"/>
          </p:cNvPicPr>
          <p:nvPr>
            <p:ph idx="1"/>
          </p:nvPr>
        </p:nvPicPr>
        <p:blipFill>
          <a:blip r:embed="rId2"/>
          <a:stretch>
            <a:fillRect/>
          </a:stretch>
        </p:blipFill>
        <p:spPr>
          <a:xfrm>
            <a:off x="1214414" y="2143116"/>
            <a:ext cx="6357982" cy="4143404"/>
          </a:xfr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Délire de jalousie </a:t>
            </a:r>
            <a:endParaRPr lang="fr-FR" dirty="0"/>
          </a:p>
        </p:txBody>
      </p:sp>
      <p:sp>
        <p:nvSpPr>
          <p:cNvPr id="3" name="Espace réservé du contenu 2"/>
          <p:cNvSpPr>
            <a:spLocks noGrp="1"/>
          </p:cNvSpPr>
          <p:nvPr>
            <p:ph idx="1"/>
          </p:nvPr>
        </p:nvSpPr>
        <p:spPr/>
        <p:txBody>
          <a:bodyPr>
            <a:normAutofit/>
          </a:bodyPr>
          <a:lstStyle/>
          <a:p>
            <a:r>
              <a:rPr lang="fr-FR" dirty="0" smtClean="0"/>
              <a:t>Le délire de jalousie touche essentiellement des hommes.</a:t>
            </a:r>
          </a:p>
          <a:p>
            <a:endParaRPr lang="fr-FR" dirty="0" smtClean="0"/>
          </a:p>
          <a:p>
            <a:r>
              <a:rPr lang="fr-FR" dirty="0" smtClean="0"/>
              <a:t> Il s’installe le plus souvent de façon insidieuse et va se nourrir et se développer aux dépens d’évènements anodins qui feront l’objet d’interprétations délirantes</a:t>
            </a:r>
          </a:p>
          <a:p>
            <a:r>
              <a:rPr lang="fr-FR" dirty="0" smtClean="0"/>
              <a:t>.</a:t>
            </a:r>
          </a:p>
          <a:p>
            <a:r>
              <a:rPr lang="fr-FR" dirty="0" smtClean="0"/>
              <a:t>Il s’associe à un alcoolisme chronique qui peut dans certains cas favoriser la survenue d'un passage à l'acte.</a:t>
            </a:r>
            <a:endParaRPr lang="fr-FR"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Délire de revendication</a:t>
            </a:r>
            <a:endParaRPr lang="fr-FR" dirty="0"/>
          </a:p>
        </p:txBody>
      </p:sp>
      <p:pic>
        <p:nvPicPr>
          <p:cNvPr id="4" name="Espace réservé du contenu 3" descr="photo revendication.jpg"/>
          <p:cNvPicPr>
            <a:picLocks noGrp="1" noChangeAspect="1"/>
          </p:cNvPicPr>
          <p:nvPr>
            <p:ph idx="1"/>
          </p:nvPr>
        </p:nvPicPr>
        <p:blipFill>
          <a:blip r:embed="rId2"/>
          <a:stretch>
            <a:fillRect/>
          </a:stretch>
        </p:blipFill>
        <p:spPr>
          <a:xfrm>
            <a:off x="1785918" y="2357430"/>
            <a:ext cx="5072098" cy="4071966"/>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Délire de revendication </a:t>
            </a:r>
            <a:endParaRPr lang="fr-FR" dirty="0"/>
          </a:p>
        </p:txBody>
      </p:sp>
      <p:sp>
        <p:nvSpPr>
          <p:cNvPr id="3" name="Espace réservé du contenu 2"/>
          <p:cNvSpPr>
            <a:spLocks noGrp="1"/>
          </p:cNvSpPr>
          <p:nvPr>
            <p:ph idx="1"/>
          </p:nvPr>
        </p:nvSpPr>
        <p:spPr>
          <a:xfrm>
            <a:off x="457200" y="1857364"/>
            <a:ext cx="8229600" cy="4786346"/>
          </a:xfrm>
        </p:spPr>
        <p:txBody>
          <a:bodyPr>
            <a:normAutofit lnSpcReduction="10000"/>
          </a:bodyPr>
          <a:lstStyle/>
          <a:p>
            <a:pPr>
              <a:buNone/>
            </a:pPr>
            <a:r>
              <a:rPr lang="fr-FR" dirty="0" smtClean="0"/>
              <a:t> Regroupe :</a:t>
            </a:r>
          </a:p>
          <a:p>
            <a:r>
              <a:rPr lang="fr-FR" b="1" dirty="0" smtClean="0"/>
              <a:t>les inventeurs méconnus </a:t>
            </a:r>
            <a:r>
              <a:rPr lang="fr-FR" dirty="0" smtClean="0"/>
              <a:t>qui cherchent à obtenir la reconnaissance que la société leur refuse,</a:t>
            </a:r>
          </a:p>
          <a:p>
            <a:r>
              <a:rPr lang="fr-FR" dirty="0" smtClean="0"/>
              <a:t>- les « </a:t>
            </a:r>
            <a:r>
              <a:rPr lang="fr-FR" b="1" dirty="0" smtClean="0"/>
              <a:t>quérulents processifs » </a:t>
            </a:r>
            <a:r>
              <a:rPr lang="fr-FR" dirty="0" smtClean="0"/>
              <a:t>qui multiplient les procédures judiciaires,</a:t>
            </a:r>
          </a:p>
          <a:p>
            <a:r>
              <a:rPr lang="fr-FR" dirty="0" smtClean="0"/>
              <a:t>- les </a:t>
            </a:r>
            <a:r>
              <a:rPr lang="fr-FR" b="1" dirty="0" smtClean="0"/>
              <a:t>« idéalistes passionnés » </a:t>
            </a:r>
            <a:r>
              <a:rPr lang="fr-FR" dirty="0" smtClean="0"/>
              <a:t>qui cherchent à transmettre leurs convictions et se présentent comme défenseurs d'une idéologie qu'ils veulent imposer à tous Le délire de filiation:  le sujet est persuadé qu'il est issu d'une famille remarquable</a:t>
            </a:r>
          </a:p>
          <a:p>
            <a:r>
              <a:rPr lang="fr-FR" b="1" dirty="0" smtClean="0"/>
              <a:t>Hypochondrie</a:t>
            </a:r>
            <a:r>
              <a:rPr lang="fr-FR" dirty="0" smtClean="0"/>
              <a:t>: le sujet est persuadé du mauvais fonctionnement de son corps. </a:t>
            </a:r>
          </a:p>
          <a:p>
            <a:endParaRPr lang="fr-FR"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3/Les délires de relation des sensitifs de Kretschmer</a:t>
            </a:r>
            <a:endParaRPr lang="fr-FR" dirty="0"/>
          </a:p>
        </p:txBody>
      </p:sp>
      <p:sp>
        <p:nvSpPr>
          <p:cNvPr id="3" name="Espace réservé du contenu 2"/>
          <p:cNvSpPr>
            <a:spLocks noGrp="1"/>
          </p:cNvSpPr>
          <p:nvPr>
            <p:ph idx="1"/>
          </p:nvPr>
        </p:nvSpPr>
        <p:spPr/>
        <p:txBody>
          <a:bodyPr/>
          <a:lstStyle/>
          <a:p>
            <a:r>
              <a:rPr lang="fr-FR" dirty="0"/>
              <a:t>Il survient chez des gens </a:t>
            </a:r>
            <a:r>
              <a:rPr lang="fr-FR" dirty="0">
                <a:solidFill>
                  <a:srgbClr val="FF0000"/>
                </a:solidFill>
              </a:rPr>
              <a:t>hyper émotifs</a:t>
            </a:r>
            <a:r>
              <a:rPr lang="fr-FR" dirty="0"/>
              <a:t>, </a:t>
            </a:r>
            <a:r>
              <a:rPr lang="fr-FR" dirty="0">
                <a:solidFill>
                  <a:srgbClr val="FF0000"/>
                </a:solidFill>
              </a:rPr>
              <a:t>timides</a:t>
            </a:r>
            <a:r>
              <a:rPr lang="fr-FR" dirty="0"/>
              <a:t> et </a:t>
            </a:r>
            <a:r>
              <a:rPr lang="fr-FR" dirty="0">
                <a:solidFill>
                  <a:srgbClr val="FF0000"/>
                </a:solidFill>
              </a:rPr>
              <a:t>sensitifs</a:t>
            </a:r>
            <a:r>
              <a:rPr lang="fr-FR" dirty="0"/>
              <a:t>.</a:t>
            </a:r>
          </a:p>
          <a:p>
            <a:r>
              <a:rPr lang="fr-FR" dirty="0"/>
              <a:t>Le malade se sent </a:t>
            </a:r>
            <a:r>
              <a:rPr lang="fr-FR" dirty="0">
                <a:solidFill>
                  <a:srgbClr val="FF0000"/>
                </a:solidFill>
              </a:rPr>
              <a:t>deviné</a:t>
            </a:r>
            <a:r>
              <a:rPr lang="fr-FR" dirty="0"/>
              <a:t>, </a:t>
            </a:r>
            <a:r>
              <a:rPr lang="fr-FR" dirty="0">
                <a:solidFill>
                  <a:srgbClr val="FF0000"/>
                </a:solidFill>
              </a:rPr>
              <a:t>jugé</a:t>
            </a:r>
            <a:r>
              <a:rPr lang="fr-FR" dirty="0"/>
              <a:t>, </a:t>
            </a:r>
            <a:r>
              <a:rPr lang="fr-FR" dirty="0">
                <a:solidFill>
                  <a:srgbClr val="FF0000"/>
                </a:solidFill>
              </a:rPr>
              <a:t>dénoncé</a:t>
            </a:r>
            <a:r>
              <a:rPr lang="fr-FR" dirty="0"/>
              <a:t>, et ceci malgré les </a:t>
            </a:r>
            <a:r>
              <a:rPr lang="fr-FR" dirty="0">
                <a:solidFill>
                  <a:srgbClr val="FF0000"/>
                </a:solidFill>
              </a:rPr>
              <a:t>haute exigences éthiques</a:t>
            </a:r>
            <a:r>
              <a:rPr lang="fr-FR" dirty="0"/>
              <a:t>.</a:t>
            </a:r>
          </a:p>
          <a:p>
            <a:r>
              <a:rPr lang="fr-FR" dirty="0"/>
              <a:t>Les thématiques les plus fréquemment rencontrées sont celles de </a:t>
            </a:r>
            <a:r>
              <a:rPr lang="fr-FR" dirty="0">
                <a:solidFill>
                  <a:srgbClr val="FF0000"/>
                </a:solidFill>
              </a:rPr>
              <a:t>persécution</a:t>
            </a:r>
            <a:r>
              <a:rPr lang="fr-FR" dirty="0"/>
              <a:t>, de </a:t>
            </a:r>
            <a:r>
              <a:rPr lang="fr-FR" dirty="0">
                <a:solidFill>
                  <a:srgbClr val="FF0000"/>
                </a:solidFill>
              </a:rPr>
              <a:t>préjudice</a:t>
            </a:r>
            <a:r>
              <a:rPr lang="fr-FR" dirty="0"/>
              <a:t>, de </a:t>
            </a:r>
            <a:r>
              <a:rPr lang="fr-FR" dirty="0">
                <a:solidFill>
                  <a:srgbClr val="FF0000"/>
                </a:solidFill>
              </a:rPr>
              <a:t>mépris</a:t>
            </a:r>
            <a:r>
              <a:rPr lang="fr-FR" dirty="0"/>
              <a:t> ou </a:t>
            </a:r>
            <a:r>
              <a:rPr lang="fr-FR" dirty="0">
                <a:solidFill>
                  <a:srgbClr val="FF0000"/>
                </a:solidFill>
              </a:rPr>
              <a:t>d’atteinte des valeurs morales.</a:t>
            </a:r>
            <a:endParaRPr lang="fr-FR"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Prise en charge </a:t>
            </a:r>
            <a:endParaRPr lang="fr-FR" dirty="0"/>
          </a:p>
        </p:txBody>
      </p:sp>
      <p:sp>
        <p:nvSpPr>
          <p:cNvPr id="3" name="Espace réservé du contenu 2"/>
          <p:cNvSpPr>
            <a:spLocks noGrp="1"/>
          </p:cNvSpPr>
          <p:nvPr>
            <p:ph idx="1"/>
          </p:nvPr>
        </p:nvSpPr>
        <p:spPr/>
        <p:txBody>
          <a:bodyPr/>
          <a:lstStyle/>
          <a:p>
            <a:r>
              <a:rPr lang="fr-FR" dirty="0" smtClean="0"/>
              <a:t>Il n’est pas aisé de traiter un patient atteint d’un délire paranoïaque. </a:t>
            </a:r>
          </a:p>
          <a:p>
            <a:r>
              <a:rPr lang="fr-FR" dirty="0" smtClean="0"/>
              <a:t>Ces organisations délirantes font rarement l’objet de remise en question par le sujet qui en souffre et il va falloir savoir amener un patient, qui ne se considère pas comme malade mais plus comme victime, à accepter des soins.</a:t>
            </a:r>
            <a:endParaRPr lang="fr-FR"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1/Hospitalisation </a:t>
            </a:r>
            <a:endParaRPr lang="fr-FR" dirty="0"/>
          </a:p>
        </p:txBody>
      </p:sp>
      <p:sp>
        <p:nvSpPr>
          <p:cNvPr id="3" name="Espace réservé du contenu 2"/>
          <p:cNvSpPr>
            <a:spLocks noGrp="1"/>
          </p:cNvSpPr>
          <p:nvPr>
            <p:ph idx="1"/>
          </p:nvPr>
        </p:nvSpPr>
        <p:spPr/>
        <p:txBody>
          <a:bodyPr/>
          <a:lstStyle/>
          <a:p>
            <a:r>
              <a:rPr lang="fr-FR" dirty="0"/>
              <a:t>Les </a:t>
            </a:r>
            <a:r>
              <a:rPr lang="fr-FR" dirty="0">
                <a:solidFill>
                  <a:srgbClr val="FF0000"/>
                </a:solidFill>
              </a:rPr>
              <a:t>soins ambulatoires </a:t>
            </a:r>
            <a:r>
              <a:rPr lang="fr-FR" dirty="0"/>
              <a:t>étant à privilégier au maximum</a:t>
            </a:r>
          </a:p>
          <a:p>
            <a:r>
              <a:rPr lang="fr-FR" dirty="0"/>
              <a:t>L’</a:t>
            </a:r>
            <a:r>
              <a:rPr lang="fr-FR" dirty="0">
                <a:solidFill>
                  <a:srgbClr val="FF0000"/>
                </a:solidFill>
              </a:rPr>
              <a:t>hospitalisation </a:t>
            </a:r>
            <a:r>
              <a:rPr lang="fr-FR" dirty="0"/>
              <a:t>est indiquée :</a:t>
            </a:r>
          </a:p>
          <a:p>
            <a:pPr marL="540000" lvl="0">
              <a:buFont typeface="Wingdings" pitchFamily="2" charset="2"/>
              <a:buChar char="Ø"/>
            </a:pPr>
            <a:r>
              <a:rPr lang="fr-FR" dirty="0"/>
              <a:t>Lors d’une </a:t>
            </a:r>
            <a:r>
              <a:rPr lang="fr-FR" dirty="0">
                <a:solidFill>
                  <a:schemeClr val="accent1">
                    <a:lumMod val="75000"/>
                  </a:schemeClr>
                </a:solidFill>
              </a:rPr>
              <a:t>exacerbation anxieuse </a:t>
            </a:r>
            <a:r>
              <a:rPr lang="fr-FR" dirty="0"/>
              <a:t>ou d’une </a:t>
            </a:r>
            <a:r>
              <a:rPr lang="fr-FR" dirty="0">
                <a:solidFill>
                  <a:schemeClr val="accent1">
                    <a:lumMod val="75000"/>
                  </a:schemeClr>
                </a:solidFill>
              </a:rPr>
              <a:t>décompensation dépressive</a:t>
            </a:r>
            <a:r>
              <a:rPr lang="fr-FR" dirty="0"/>
              <a:t>.</a:t>
            </a:r>
          </a:p>
          <a:p>
            <a:pPr marL="540000" lvl="0">
              <a:buFont typeface="Wingdings" pitchFamily="2" charset="2"/>
              <a:buChar char="Ø"/>
            </a:pPr>
            <a:r>
              <a:rPr lang="fr-FR" dirty="0"/>
              <a:t>Lorsque </a:t>
            </a:r>
            <a:r>
              <a:rPr lang="fr-FR" dirty="0">
                <a:solidFill>
                  <a:srgbClr val="FF0000"/>
                </a:solidFill>
              </a:rPr>
              <a:t>la dangerosité </a:t>
            </a:r>
            <a:r>
              <a:rPr lang="fr-FR" dirty="0"/>
              <a:t>du patient est importante.</a:t>
            </a:r>
          </a:p>
          <a:p>
            <a:endParaRPr lang="fr-F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2/</a:t>
            </a:r>
            <a:r>
              <a:rPr lang="fr-FR" dirty="0" err="1" smtClean="0"/>
              <a:t>Chimiotherapie</a:t>
            </a:r>
            <a:r>
              <a:rPr lang="fr-FR" dirty="0" smtClean="0"/>
              <a:t> </a:t>
            </a:r>
            <a:endParaRPr lang="fr-FR" dirty="0"/>
          </a:p>
        </p:txBody>
      </p:sp>
      <p:sp>
        <p:nvSpPr>
          <p:cNvPr id="3" name="Espace réservé du contenu 2"/>
          <p:cNvSpPr>
            <a:spLocks noGrp="1"/>
          </p:cNvSpPr>
          <p:nvPr>
            <p:ph idx="1"/>
          </p:nvPr>
        </p:nvSpPr>
        <p:spPr/>
        <p:txBody>
          <a:bodyPr>
            <a:normAutofit/>
          </a:bodyPr>
          <a:lstStyle/>
          <a:p>
            <a:r>
              <a:rPr lang="fr-FR" dirty="0" smtClean="0"/>
              <a:t>Les traitements pharmacologiques reposent </a:t>
            </a:r>
            <a:r>
              <a:rPr lang="fr-FR" dirty="0" smtClean="0">
                <a:solidFill>
                  <a:srgbClr val="FF0000"/>
                </a:solidFill>
              </a:rPr>
              <a:t>essentiellement</a:t>
            </a:r>
            <a:r>
              <a:rPr lang="fr-FR" dirty="0" smtClean="0"/>
              <a:t>, comme dans toutes les pathologies délirantes, sur l’utilisation des </a:t>
            </a:r>
            <a:r>
              <a:rPr lang="fr-FR" dirty="0" smtClean="0">
                <a:solidFill>
                  <a:srgbClr val="FF0000"/>
                </a:solidFill>
              </a:rPr>
              <a:t>neuroleptiques</a:t>
            </a:r>
            <a:r>
              <a:rPr lang="fr-FR" dirty="0" smtClean="0"/>
              <a:t>.</a:t>
            </a:r>
          </a:p>
          <a:p>
            <a:r>
              <a:rPr lang="fr-FR" dirty="0" smtClean="0"/>
              <a:t>Les </a:t>
            </a:r>
            <a:r>
              <a:rPr lang="fr-FR" dirty="0" smtClean="0">
                <a:solidFill>
                  <a:srgbClr val="FF0000"/>
                </a:solidFill>
              </a:rPr>
              <a:t>antidépresseurs </a:t>
            </a:r>
            <a:r>
              <a:rPr lang="fr-FR" dirty="0" smtClean="0"/>
              <a:t>peuvent être indiqués en cas de décompensation </a:t>
            </a:r>
            <a:r>
              <a:rPr lang="fr-FR" dirty="0" smtClean="0">
                <a:solidFill>
                  <a:srgbClr val="FF0000"/>
                </a:solidFill>
              </a:rPr>
              <a:t>dépressive</a:t>
            </a:r>
          </a:p>
          <a:p>
            <a:r>
              <a:rPr lang="fr-FR" dirty="0" smtClean="0"/>
              <a:t>Les </a:t>
            </a:r>
            <a:r>
              <a:rPr lang="fr-FR" dirty="0" smtClean="0">
                <a:solidFill>
                  <a:srgbClr val="FF0000"/>
                </a:solidFill>
              </a:rPr>
              <a:t>benzodiazépines</a:t>
            </a:r>
            <a:r>
              <a:rPr lang="fr-FR" dirty="0" smtClean="0"/>
              <a:t> trouvent leur indication dans les traitements d’appoint et de courte durée en cas </a:t>
            </a:r>
            <a:r>
              <a:rPr lang="fr-FR" dirty="0" smtClean="0">
                <a:solidFill>
                  <a:srgbClr val="FF0000"/>
                </a:solidFill>
              </a:rPr>
              <a:t>d’anxiété importante</a:t>
            </a:r>
            <a:endParaRPr lang="fr-FR" dirty="0" smtClean="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psychotherapies</a:t>
            </a:r>
            <a:endParaRPr lang="fr-FR" dirty="0"/>
          </a:p>
        </p:txBody>
      </p:sp>
      <p:sp>
        <p:nvSpPr>
          <p:cNvPr id="3" name="Espace réservé du contenu 2"/>
          <p:cNvSpPr>
            <a:spLocks noGrp="1"/>
          </p:cNvSpPr>
          <p:nvPr>
            <p:ph idx="1"/>
          </p:nvPr>
        </p:nvSpPr>
        <p:spPr/>
        <p:txBody>
          <a:bodyPr/>
          <a:lstStyle/>
          <a:p>
            <a:r>
              <a:rPr lang="fr-FR" dirty="0"/>
              <a:t>Face à un patient souffrant de délire paranoïaque, il est conseillé au médecin de savoir </a:t>
            </a:r>
            <a:r>
              <a:rPr lang="fr-FR" dirty="0">
                <a:solidFill>
                  <a:srgbClr val="FF0000"/>
                </a:solidFill>
              </a:rPr>
              <a:t>garder des distances </a:t>
            </a:r>
            <a:r>
              <a:rPr lang="fr-FR" dirty="0"/>
              <a:t>et de faire preuve d’</a:t>
            </a:r>
            <a:r>
              <a:rPr lang="fr-FR" dirty="0">
                <a:solidFill>
                  <a:srgbClr val="FF0000"/>
                </a:solidFill>
              </a:rPr>
              <a:t>honnêteté</a:t>
            </a:r>
            <a:r>
              <a:rPr lang="fr-FR" dirty="0"/>
              <a:t> dans les soins proposés afin d’établir un </a:t>
            </a:r>
            <a:r>
              <a:rPr lang="fr-FR" dirty="0">
                <a:solidFill>
                  <a:srgbClr val="FF0000"/>
                </a:solidFill>
              </a:rPr>
              <a:t>climat de confiance</a:t>
            </a:r>
            <a:r>
              <a:rPr lang="fr-FR" dirty="0"/>
              <a:t>, préalable indispensable à l’acceptation d’un traitement.</a:t>
            </a:r>
          </a:p>
          <a:p>
            <a:endParaRPr lang="fr-F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ébit">
  <a:themeElements>
    <a:clrScheme name="Débit">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Débit">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Débit">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527</TotalTime>
  <Words>683</Words>
  <Application>Microsoft Office PowerPoint</Application>
  <PresentationFormat>Affichage à l'écran (4:3)</PresentationFormat>
  <Paragraphs>66</Paragraphs>
  <Slides>17</Slides>
  <Notes>0</Notes>
  <HiddenSlides>0</HiddenSlides>
  <MMClips>0</MMClips>
  <ScaleCrop>false</ScaleCrop>
  <HeadingPairs>
    <vt:vector size="4" baseType="variant">
      <vt:variant>
        <vt:lpstr>Thème</vt:lpstr>
      </vt:variant>
      <vt:variant>
        <vt:i4>1</vt:i4>
      </vt:variant>
      <vt:variant>
        <vt:lpstr>Titres des diapositives</vt:lpstr>
      </vt:variant>
      <vt:variant>
        <vt:i4>17</vt:i4>
      </vt:variant>
    </vt:vector>
  </HeadingPairs>
  <TitlesOfParts>
    <vt:vector size="18" baseType="lpstr">
      <vt:lpstr>Débit</vt:lpstr>
      <vt:lpstr>Délire Paranoïaque </vt:lpstr>
      <vt:lpstr>Définition </vt:lpstr>
      <vt:lpstr>Clinique</vt:lpstr>
      <vt:lpstr>Diapositive 4</vt:lpstr>
      <vt:lpstr>1/Le délire d’interprétation de    Sérieux   et Capgras</vt:lpstr>
      <vt:lpstr>   2/ Les délires passionnels</vt:lpstr>
      <vt:lpstr>            Erotomanie </vt:lpstr>
      <vt:lpstr>Erotomanie </vt:lpstr>
      <vt:lpstr>           Délire de jalousie </vt:lpstr>
      <vt:lpstr>Délire de jalousie </vt:lpstr>
      <vt:lpstr>Délire de revendication</vt:lpstr>
      <vt:lpstr>Délire de revendication </vt:lpstr>
      <vt:lpstr>3/Les délires de relation des sensitifs de Kretschmer</vt:lpstr>
      <vt:lpstr>Prise en charge </vt:lpstr>
      <vt:lpstr>1/Hospitalisation </vt:lpstr>
      <vt:lpstr>2/Chimiotherapie </vt:lpstr>
      <vt:lpstr>psychotherapies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Délire Paranoïaque</dc:title>
  <dc:creator>RCS</dc:creator>
  <cp:lastModifiedBy>RCS</cp:lastModifiedBy>
  <cp:revision>13</cp:revision>
  <dcterms:created xsi:type="dcterms:W3CDTF">2017-09-08T21:46:50Z</dcterms:created>
  <dcterms:modified xsi:type="dcterms:W3CDTF">2017-09-09T06:34:20Z</dcterms:modified>
</cp:coreProperties>
</file>