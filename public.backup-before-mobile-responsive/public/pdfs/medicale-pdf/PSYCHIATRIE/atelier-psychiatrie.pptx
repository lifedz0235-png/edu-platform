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CE21BE-2DA7-4CD2-A6B9-01F37817EE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E784DD-9581-4600-855B-211CFC4815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C6A03F1-3C1B-470F-B744-C4E3A0578F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0E78FB-C432-4DA8-B426-393F1C005B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7755A26-EDCB-4DA4-A76E-D237590193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03BE5F6-8A34-4B18-9988-3DB1608126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9A090E-EC44-4F46-9738-DB754322BB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2CF20BD-64B4-406B-8FF4-AC8788720D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EED2600-1DE4-47BE-AD5F-6394CDCBAA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282AF0F-53C3-4EF5-82F9-E75B05AC8F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9199194-E164-4BD8-8341-BE95B2DD7F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</a:t>
            </a: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7CED1D-FF05-4B58-A36E-F12DDBC4A3AC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4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E5C964-91D1-42DD-9771-B71BBC6AE50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4D584A-CB44-4975-A719-57790B0B1A97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A80D75-409C-45A2-BE22-B53EFE728BE8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4000" spc="-1" strike="noStrike" cap="all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Cliquez pour modifier les styles du texte du masque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1B17D0-205F-4272-8251-F0829AF0F9E9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9C71CD-C806-4FEB-935C-6B00F57D7C31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A063EB-3029-42F7-8199-2A88A9DD2CA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CCD8A3-3B49-4BAE-8C1E-D215AD81462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6CC912-308A-4430-8399-6757598EF304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066D00-966B-48EF-8618-64079CDD5EC9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371EA4-DB9B-4E3A-8702-16A2DCD720C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0233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QCM</a:t>
            </a:r>
            <a:br>
              <a:rPr sz="4400"/>
            </a:b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PSYCHIATRIE</a:t>
            </a:r>
            <a:br>
              <a:rPr sz="4400"/>
            </a:b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Dr Guennoun </a:t>
            </a:r>
            <a:br>
              <a:rPr sz="4400"/>
            </a:br>
            <a:br>
              <a:rPr sz="4400"/>
            </a:b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867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Madame F , 40an , amenée aux urgences pour des idéation suicidaire .Elle présente un mal être profond ; elle se sent découragée, incapable de remplir les taches de son travail .Malgré les bilans normaux, elle souffre de trouble digestif difficile à décrire, elle ne peut pas s’alimenter, avec un amaigrissement important .Elle se réveille à 2 h du matin ; ces jours là , elle est convaincue qu’elle à un cancer, puisque son estomac ne digère plus rien et que sa maladie est incurable.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Au fond , elle souhaite rejoindre son mari , décédé il y a 4 ans 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1/Quels sont les éléments sémiologiques de cette observation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a/insomnie matinale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b/syndrome confusionnel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c/syndrome de cotard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c/automatisme mental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e/ralentissement psychomoteur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2/Quel est votre diagnostic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a/dépression masquée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b/trouble somatoforme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c/dépression mélancolique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d/bouffée délirante aigue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e/schizophrénie désorganisée 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3/Le risque suicidaire est élevé etant donnéec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a/le réveil à 2 h du matin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b/l’isolement affectif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c/l’age de la patiente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d/les idées d’incurabilté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e/la douleur morale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4/Quel est le trt de choix chez cette patiente durant les deux premieres semaines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a/cure de perfusion de clomipramine (anafranil)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b/benzodiazepines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c/ISRS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d/antipsychotiques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e/thymorégulateurs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5/Quels sont les risques à craindre chez cette patiente durant les deux premières semaines?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a/risque suicidaire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b/virage de lhumeur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c/levée dinhibition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d/hypotension arterielle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Déshydratation 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Corrigé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1/ a c e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2/c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3/abde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4/a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5/abcde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1- Un trouble schizophréniforme : (Cocher la ou 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Evolue toujours vers une schizophrénie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Régresse parfois vers un trouble psychotique bref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S’accompagne d’un bon insight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Ne s’accompagne pas d’un bon insight.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Est déclenché par les antipsychotiques atypiques.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2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2/Aripiprazole (Abilify®) est: (Cocher la ou 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Un antipsychotique de première génération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Un antipsychotique de deuxième génération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Recommandé en 1 ère intention dans le traitement de la schizophrénie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Recommandé en 2 ème intention dans le traitement de la schizophrénie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Indiqué en cas de résistance aux antipsychotiques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3- Les critères diagnostiques de la schizophrénie comportent :(Cocher la ou les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Un syndrome négatif fait d’aboulie et d’incurie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Un syndrome positif fait d’idées délirantes et/ou d’hallucinations.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Une capacité à construire un comportement et/ou un discours adapté ou cohérent.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Une évolution clinique depuis au moins 3 mois.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Une absence de répercussions fonctionnelles sociales ou professionnelles depuis le début des troubles.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242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4/Les recommandations internationales imposent, en cas de prescription des antipsychotiques atypiques ou de 2 ème génération, le dépistage systématique et régulier : (cocher la ou 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Des facteurs de risque cardiovasculaires.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D’une perte de poids.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Des anomalies métaboliques.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Des anomalies digestives.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Des phénomènes hallucinatoires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 lnSpcReduction="2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5/Le syndrome positif du critère A de la schizophrénie comporte : (cocher la ou les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Des idées délirantes bien structurées.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Une perception sans objet à percevoir.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Une perception erronée d’un objet réel.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Des idées délirantes non structurées.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Un déficit de la volonté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6- Un délire persistant est un délire dont l’évolution : (cochez la ou les réponses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Est déficitaire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Est supérieure à un mois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Se fait sur un mode flou et mal systématisé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Se fait en secteur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Se fait en réseau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7/Historiquement, Les délires chroniques paranoïaques comportent : (cochez la ou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Les délires d’imagination (paraphrénie)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Les délires d’interprétation (Folie raisonnante)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La psychose hallucinatoire chronique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Les délires passionnels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Les délires de relation des sensitifs de «Kretschmer »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743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8/. M. Karim est atteint d’un trouble délirant de type jalousie (psychose chronique paranoïaque). Il a tué sa femme parce qu’il est convaincu par mécanisme interprétatif qu’elle le trompait avec son voisin (cochez la ou les réponses justes) :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L’acte commis n’a rien à voir avec sa maladie ;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M. Karim est responsable de ses actes selon l’article 47 du code pénal ;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M. Karim n’est pas responsable de ses actes selon l’article 47 du code pénal ;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Il nécessite un internement judiciaire en psychiatrie selon l’article 21 du code pénal ;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Il va être puni par la loi et incarcéré en prison.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9/- Le délire persistant : (cochez la ou 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Est un délire non plausible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Fait suite à un déficit cognitif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Est un délire non bizarre.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S’accompagne d’une catatonie.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Est associé à un bon insight.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10/- Ces affirmations s’appliquent à un épisode dépressif caractérisé : (cochez la ou les réponses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La triade clinique comporte : humeur dépressive/émoussement affectif/anorexie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Chez le sujet âgé, il est le principal diagnostic différentiel de démence.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Le sexe féminin et l’isolement social en sont des facteurs de risque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Les Neuroleptiques sédatifs en sont le traitement de choix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Les idées délirantes de possession dominent le tableau.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9052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11- Le syndrome confusionnel chez le sujet âgé se caractérise par: (cochez la ou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Un début le plus souvent brutal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Une inversion du cycle éveil/sommeil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Un état général rapidement altéré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Un onirisme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La présence de troubles mnésiques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12- Les neuroleptiques :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Sont utilisés chez les psychotiques uniquement en extrahospitalier.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Peuvent provoquer un syndrome malin.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Sont aussi appelés antipsychotiques.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Sont les principaux médicaments des troubles anxieux.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Permettent l’abrasion du délire et d’hallucination.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13- Parmi les indications des antipsychotiques :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Les algies intenses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La schizophrénie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Les troubles obsessionnels compulsifs (TOC) résistants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Les insomnies résistantes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Les épilepsies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366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14- La clozapine :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Est un antipsychotique de première génération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Est un antipsychotique de deuxième génération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Sa prescription ne nécessite pas de précaution particulière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Est indiquée dans les schizophrénies résistantes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Une surveillance rigoureuse de la NFS est nécessaire.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15/L’hospitalisation du patient schizophrène en milieu psychiatrique, est indiquée : (cochez la ou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En première intention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Devant un tableau délirant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En cas de troubles du comportement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En cas troubles cognitifs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En cas de tentative de suicide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2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16/ La capacité à entreprendre des actions chez le patient schizophrène est une faculté psychique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dont la disparition fait partie : (cocher la ou les réponses justes)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D’une dissociation comportementale.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D’une dissociation émotionnelle.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D’une hallucination acoustico-verbale.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Des symptômes négatifs de la schizophrénie.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D’un déficit de l’activité pragmatique.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17/. Les neuroleptiques :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Font partis de la famille des psychotropes.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Peuvent provoquer un syndrome malin.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Aussi appelé Antipsychotiques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Peuvent être prescrit dans les insomnies résistantes.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Permettent l’abrasion du délire et d’hallucination.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4371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Corrigé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1/D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2/bc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3/ab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4/Ac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5/bd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6/b/d/e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7/bde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8/cd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9/c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10/bc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11/abcde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12/bce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13/abcd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14/bde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15/ce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16/de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17/abcde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3415"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785880"/>
            <a:ext cx="8229240" cy="53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9369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Mlle B., 18 ans, se présente aux urgences accompagnée de sa mère car elle « n’arrive plus à aller aulycée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Il n’y a pas d’antécédents psychiatriques ni familiaux connus. Elle ne prend aucun traitement.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Son visage est peu expressif, elle met plusieurs secondes à répondre à vos questions. Voici un extrait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des propos qu’elle tient :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« Je suis très fatiguée, ça dure depuis un mois, je ne sais pas... je n’arrive plus à aller en cours, je suis nulle. [...] A cause de moi, toute ma famille est triste, je leur fais vivre un calvaire. J’en ai marre,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j’aimerais que tout cela se finisse [...] plus rien ne me fait plaisir, je ne dors plus, je ne mange plus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Sa mère est très inquiète : « Certes, elle était un peu moins dynamique et sortait moins depuis un mois. Mais depuis 2 semaines, elle s’est effondrée !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Vous recherchez des idées suicidaires : la patiente vous confie avoir le projet de mourir demain par pendaison « si ça ne s’arrête pas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La patiente est consciente des troubles, en demande de soins et de protection, et prête à suivre la prise en charge que vous proposez.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Question 1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Quels symptômes retrouvez-vous dans cet énoncé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hypomimie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ralentissement psychomoteur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idées culpabilité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anhédonie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dévalorisation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 : A. B. C. D. 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2. Quel(s) diagnostic(s) évoquez-vous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Crise suicidaire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épisode dépressif caractérisé d’intensité légère à modérée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épisode dépressif caractérisé d’intensité modérée à sévère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trouble anxieux généralisé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état de stress post-traumatique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867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 : A. C.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Crise suicidaire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La crise suicidaire est un état temporaire et réversible au cours duquel le suicide apparaît comme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l’unique solution permettant de sortir de l’état de crise traversé.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épisode dépressif caractérisé d’intensité modérée à sévère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Il y a des symptômes dépressifs intenses, une grande détresse psychique et un projet suicidaire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imminent.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Quelle prise en charge médicamenteuse aux urgences pouvez-vous proposer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antipsychotiques sédatifs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inhibiteurs sélectifs de la recapture de la sérotonine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inhibiteurs sélectifs de la recapture de la sérotonine et de la noradrénaline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benzodiazépines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Oxazépam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2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 : A. D. 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Les antipsychotiques sédatifs et les benzodiazépines sont les deux familles d’anxiolytiques prescrits aux urgences à visée anxiolytique et sédative en cas d’agitation, anxiété intense, risque suicidaire élevé.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Le traitement antidépresseur est un traitement de fond qui n’est pas prescrit aux urgences mais une fois le patient hospitalisé.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242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Vous hospitalisez la patiente. Quelle sera la prise en charge en hospitalisation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prévention du risque suicidaire avec surveillance chaque heure, jour et nuit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retrait de tous les cordons, lacets, ceinture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traitement antidépresseur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les antidépresseurs tricycliques peuvent être prescrits en première intention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les ISRS peuvent etre prescrits en premiere intention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 : A. B. C. 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L’épisode dépressif s’amende et la patiente sort de l’hôpital avec un traitement antidépresseur et un suivi psychiatrique.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Quatre mois après cet épisode, Mlle B. revient aux urgences psychiatriques : elle a appelé son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psychiatre car elle avait à nouveau des idées suicidaires et celui-ci l’a adressé aux urgences.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95" lnSpcReduction="10000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L’épisode actuel dure depuis 1 semaine et s’est brutalement aggravé depuis 48h. La patiente est très anxieuse, parle très lentement. Par moments, elle s’arrête de parler au milieu d’une phrase et reste silencieuse plusieurs secondes. A d’autres moments, son volume de parole diminue progressivement jusqu’à être inaudible.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Elle est orientée dans le temps et l’espace mais son discours est souvent incohérent : « je veux que vous m’aidiez et que vous me sauviez avec vos médicaments... , les psychiatres ça ne sert à rien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« Je me sens très mal, mon corps est téléguidé... arrêtez, taisez-vous ! vous me faites mal à la tête !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vous m’envoyez des ondes, je les entends comme un grille-pain. 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Votre visage se déforme, je le vois tout vert.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 la fin de l’entretien, elle vous serre poliment la main puis vous tire la langue et vous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explique en souriant « c’est parce que vous êtes méchant ».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Quel(s) élément(s) sémiologique(s) retrouvez-vous dans cet énoncé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barrage et fading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automatisme mental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désorganisation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ambivalence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discordance idéo-affective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 : A. B. C. D. 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Que est (sont) votre (vos) diagnostic(s)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épisode dépressif caractérisé d’intensité sévère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épisode dépressif caractérisé avec caractéristiques psychotiques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mélancolie délirante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épisode psychotique aigu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schizophrénie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 juste : D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Il existe un épisode aigu évoluant depuis moins d’un mois, avec idées délirantes, hallucinations et désorganisation au premier plan.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On fait donc le diagnostic d’épisode psychotique aigu.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Quel(s) traitement(s) la patiente recevra-t-elle probablement ?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A. traitement symptomatique par benzodiazépine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B. traitement symptomatique par antipsychotique sédatif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C. traitement de fond par antipsychotique de première génération, Halopéridol par exemple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D. traitement de fond par antipsychotique de deuxième génération, Risperidone par exemple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E. traitement de fond par antipsychotique atypique, Quétiapine par exemple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Réponses justes : A. B. D. E.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1896</TotalTime>
  <Application>LibreOffice/24.2.7.2$Linux_X86_64 LibreOffice_project/420$Build-2</Application>
  <AppVersion>15.0000</AppVersion>
  <Words>1750</Words>
  <Paragraphs>254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2022-11-20T18:01:55Z</dcterms:created>
  <dc:creator>RCS</dc:creator>
  <dc:description/>
  <dc:language>fr-FR</dc:language>
  <cp:lastModifiedBy/>
  <dcterms:modified xsi:type="dcterms:W3CDTF">2026-04-15T08:46:57Z</dcterms:modified>
  <cp:revision>37</cp:revision>
  <dc:subject/>
  <dc:title>QCM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Affichage à l'écran (4:3)</vt:lpwstr>
  </property>
  <property fmtid="{D5CDD505-2E9C-101B-9397-08002B2CF9AE}" pid="3" name="Slides">
    <vt:i4>45</vt:i4>
  </property>
</Properties>
</file>