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3"/>
  </p:handoutMasterIdLst>
  <p:sldIdLst>
    <p:sldId id="256" r:id="rId2"/>
    <p:sldId id="323" r:id="rId3"/>
    <p:sldId id="321" r:id="rId4"/>
    <p:sldId id="349" r:id="rId5"/>
    <p:sldId id="320" r:id="rId6"/>
    <p:sldId id="338" r:id="rId7"/>
    <p:sldId id="284" r:id="rId8"/>
    <p:sldId id="306" r:id="rId9"/>
    <p:sldId id="285" r:id="rId10"/>
    <p:sldId id="289" r:id="rId11"/>
    <p:sldId id="287" r:id="rId12"/>
    <p:sldId id="310" r:id="rId13"/>
    <p:sldId id="346" r:id="rId14"/>
    <p:sldId id="315" r:id="rId15"/>
    <p:sldId id="282" r:id="rId16"/>
    <p:sldId id="303" r:id="rId17"/>
    <p:sldId id="290" r:id="rId18"/>
    <p:sldId id="304" r:id="rId19"/>
    <p:sldId id="305" r:id="rId20"/>
    <p:sldId id="311" r:id="rId21"/>
    <p:sldId id="314" r:id="rId22"/>
    <p:sldId id="316" r:id="rId23"/>
    <p:sldId id="312" r:id="rId24"/>
    <p:sldId id="280" r:id="rId25"/>
    <p:sldId id="302" r:id="rId26"/>
    <p:sldId id="313" r:id="rId27"/>
    <p:sldId id="317" r:id="rId28"/>
    <p:sldId id="340" r:id="rId29"/>
    <p:sldId id="335" r:id="rId30"/>
    <p:sldId id="293" r:id="rId31"/>
    <p:sldId id="348" r:id="rId32"/>
    <p:sldId id="279" r:id="rId33"/>
    <p:sldId id="286" r:id="rId34"/>
    <p:sldId id="294" r:id="rId35"/>
    <p:sldId id="291" r:id="rId36"/>
    <p:sldId id="283" r:id="rId37"/>
    <p:sldId id="295" r:id="rId38"/>
    <p:sldId id="277" r:id="rId39"/>
    <p:sldId id="272" r:id="rId40"/>
    <p:sldId id="278" r:id="rId41"/>
    <p:sldId id="270" r:id="rId42"/>
    <p:sldId id="271" r:id="rId43"/>
    <p:sldId id="292" r:id="rId44"/>
    <p:sldId id="296" r:id="rId45"/>
    <p:sldId id="297" r:id="rId46"/>
    <p:sldId id="298" r:id="rId47"/>
    <p:sldId id="299" r:id="rId48"/>
    <p:sldId id="300" r:id="rId49"/>
    <p:sldId id="301" r:id="rId50"/>
    <p:sldId id="307" r:id="rId51"/>
    <p:sldId id="308" r:id="rId52"/>
    <p:sldId id="309" r:id="rId53"/>
    <p:sldId id="347" r:id="rId54"/>
    <p:sldId id="318" r:id="rId55"/>
    <p:sldId id="319" r:id="rId56"/>
    <p:sldId id="322" r:id="rId57"/>
    <p:sldId id="324" r:id="rId58"/>
    <p:sldId id="325" r:id="rId59"/>
    <p:sldId id="326" r:id="rId60"/>
    <p:sldId id="342" r:id="rId61"/>
    <p:sldId id="343" r:id="rId62"/>
    <p:sldId id="336" r:id="rId63"/>
    <p:sldId id="350" r:id="rId64"/>
    <p:sldId id="327" r:id="rId65"/>
    <p:sldId id="281" r:id="rId66"/>
    <p:sldId id="265" r:id="rId67"/>
    <p:sldId id="268" r:id="rId68"/>
    <p:sldId id="261" r:id="rId69"/>
    <p:sldId id="267" r:id="rId70"/>
    <p:sldId id="262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7" r:id="rId79"/>
    <p:sldId id="341" r:id="rId80"/>
    <p:sldId id="344" r:id="rId81"/>
    <p:sldId id="345" r:id="rId82"/>
  </p:sldIdLst>
  <p:sldSz cx="9144000" cy="6858000" type="screen4x3"/>
  <p:notesSz cx="9923463" cy="67976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BA523B-2F43-4E27-A083-FBAD65483112}" type="doc">
      <dgm:prSet loTypeId="urn:microsoft.com/office/officeart/2005/8/layout/vList2" loCatId="list" qsTypeId="urn:microsoft.com/office/officeart/2005/8/quickstyle/3d2" qsCatId="3D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90743100-60EF-4B57-8AF3-A2233B2E4B0B}">
      <dgm:prSet/>
      <dgm:spPr/>
      <dgm:t>
        <a:bodyPr/>
        <a:lstStyle/>
        <a:p>
          <a:pPr rtl="0"/>
          <a:r>
            <a:rPr lang="fr-FR" dirty="0" smtClean="0"/>
            <a:t>Les lividités cadavériques sont dues : R Juste </a:t>
          </a:r>
          <a:br>
            <a:rPr lang="fr-FR" dirty="0" smtClean="0"/>
          </a:br>
          <a:endParaRPr lang="fr-FR" dirty="0"/>
        </a:p>
      </dgm:t>
    </dgm:pt>
    <dgm:pt modelId="{43480E10-6E11-46E3-9024-070708F7B9EE}" type="parTrans" cxnId="{B48E7581-8A75-4E7B-B0C6-598E3E414F3A}">
      <dgm:prSet/>
      <dgm:spPr/>
      <dgm:t>
        <a:bodyPr/>
        <a:lstStyle/>
        <a:p>
          <a:endParaRPr lang="fr-FR"/>
        </a:p>
      </dgm:t>
    </dgm:pt>
    <dgm:pt modelId="{7E5A2C78-1C77-43B4-941C-4D2E4AE11BAC}" type="sibTrans" cxnId="{B48E7581-8A75-4E7B-B0C6-598E3E414F3A}">
      <dgm:prSet/>
      <dgm:spPr/>
      <dgm:t>
        <a:bodyPr/>
        <a:lstStyle/>
        <a:p>
          <a:endParaRPr lang="fr-FR"/>
        </a:p>
      </dgm:t>
    </dgm:pt>
    <dgm:pt modelId="{47699C62-FC0B-47E5-BC4A-E4495DC50C16}" type="pres">
      <dgm:prSet presAssocID="{B9BA523B-2F43-4E27-A083-FBAD6548311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B56CB62-E752-45A4-8D4A-787EDF625430}" type="pres">
      <dgm:prSet presAssocID="{90743100-60EF-4B57-8AF3-A2233B2E4B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13ED3AF-06FE-47CE-BF8D-669DE6C556E4}" type="presOf" srcId="{B9BA523B-2F43-4E27-A083-FBAD65483112}" destId="{47699C62-FC0B-47E5-BC4A-E4495DC50C16}" srcOrd="0" destOrd="0" presId="urn:microsoft.com/office/officeart/2005/8/layout/vList2"/>
    <dgm:cxn modelId="{B48E7581-8A75-4E7B-B0C6-598E3E414F3A}" srcId="{B9BA523B-2F43-4E27-A083-FBAD65483112}" destId="{90743100-60EF-4B57-8AF3-A2233B2E4B0B}" srcOrd="0" destOrd="0" parTransId="{43480E10-6E11-46E3-9024-070708F7B9EE}" sibTransId="{7E5A2C78-1C77-43B4-941C-4D2E4AE11BAC}"/>
    <dgm:cxn modelId="{345FE8D0-DEBF-40BD-96EF-821AE83D614F}" type="presOf" srcId="{90743100-60EF-4B57-8AF3-A2233B2E4B0B}" destId="{6B56CB62-E752-45A4-8D4A-787EDF625430}" srcOrd="0" destOrd="0" presId="urn:microsoft.com/office/officeart/2005/8/layout/vList2"/>
    <dgm:cxn modelId="{CCFAF058-845F-45C3-B1B6-026960D1D2FD}" type="presParOf" srcId="{47699C62-FC0B-47E5-BC4A-E4495DC50C16}" destId="{6B56CB62-E752-45A4-8D4A-787EDF625430}" srcOrd="0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AA28F0-41D0-41E1-962D-F5C110512870}" type="doc">
      <dgm:prSet loTypeId="urn:microsoft.com/office/officeart/2005/8/layout/vList2" loCatId="list" qsTypeId="urn:microsoft.com/office/officeart/2005/8/quickstyle/3d2" qsCatId="3D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0BBBD006-628A-44B4-B611-C615B4BF1007}">
      <dgm:prSet phldrT="[Texte]"/>
      <dgm:spPr/>
      <dgm:t>
        <a:bodyPr/>
        <a:lstStyle/>
        <a:p>
          <a:r>
            <a:rPr lang="fr-FR" dirty="0" smtClean="0"/>
            <a:t>Le secret médical</a:t>
          </a:r>
          <a:endParaRPr lang="fr-FR" dirty="0"/>
        </a:p>
      </dgm:t>
    </dgm:pt>
    <dgm:pt modelId="{DF33A9AD-111A-4024-9C1D-32664FE69255}" type="parTrans" cxnId="{7794BB2F-E5C5-4899-AD90-300CD0AC93F9}">
      <dgm:prSet/>
      <dgm:spPr/>
      <dgm:t>
        <a:bodyPr/>
        <a:lstStyle/>
        <a:p>
          <a:endParaRPr lang="fr-FR"/>
        </a:p>
      </dgm:t>
    </dgm:pt>
    <dgm:pt modelId="{3C71B391-1A9D-429C-950A-329EBB925DE3}" type="sibTrans" cxnId="{7794BB2F-E5C5-4899-AD90-300CD0AC93F9}">
      <dgm:prSet/>
      <dgm:spPr/>
      <dgm:t>
        <a:bodyPr/>
        <a:lstStyle/>
        <a:p>
          <a:endParaRPr lang="fr-FR"/>
        </a:p>
      </dgm:t>
    </dgm:pt>
    <dgm:pt modelId="{1CA31DED-9EF2-4546-AA79-69771F213048}">
      <dgm:prSet phldrT="[Texte]" phldr="1"/>
      <dgm:spPr/>
      <dgm:t>
        <a:bodyPr/>
        <a:lstStyle/>
        <a:p>
          <a:endParaRPr lang="fr-FR"/>
        </a:p>
      </dgm:t>
    </dgm:pt>
    <dgm:pt modelId="{483C7552-3454-432A-A2EE-CEE7F91EBFBC}" type="parTrans" cxnId="{22777201-4DFE-43D2-8E13-A48E8698B22D}">
      <dgm:prSet/>
      <dgm:spPr/>
      <dgm:t>
        <a:bodyPr/>
        <a:lstStyle/>
        <a:p>
          <a:endParaRPr lang="fr-FR"/>
        </a:p>
      </dgm:t>
    </dgm:pt>
    <dgm:pt modelId="{87CF0571-10C4-4FC5-82F9-4F1F076AB50A}" type="sibTrans" cxnId="{22777201-4DFE-43D2-8E13-A48E8698B22D}">
      <dgm:prSet/>
      <dgm:spPr/>
      <dgm:t>
        <a:bodyPr/>
        <a:lstStyle/>
        <a:p>
          <a:endParaRPr lang="fr-FR"/>
        </a:p>
      </dgm:t>
    </dgm:pt>
    <dgm:pt modelId="{76F4ABD4-E6A8-46A9-9F87-4B20ECFB161B}" type="pres">
      <dgm:prSet presAssocID="{AFAA28F0-41D0-41E1-962D-F5C11051287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D487B8A-AE93-4E85-9E47-66947AD64AFF}" type="pres">
      <dgm:prSet presAssocID="{0BBBD006-628A-44B4-B611-C615B4BF1007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95A6C32-C7BA-4735-8C65-700018B71F76}" type="pres">
      <dgm:prSet presAssocID="{0BBBD006-628A-44B4-B611-C615B4BF1007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EEF3BC0-2199-4C77-A120-84795FF5CBEC}" type="presOf" srcId="{0BBBD006-628A-44B4-B611-C615B4BF1007}" destId="{2D487B8A-AE93-4E85-9E47-66947AD64AFF}" srcOrd="0" destOrd="0" presId="urn:microsoft.com/office/officeart/2005/8/layout/vList2"/>
    <dgm:cxn modelId="{26705A5C-64F9-44F6-9523-EFC5D87BC621}" type="presOf" srcId="{1CA31DED-9EF2-4546-AA79-69771F213048}" destId="{295A6C32-C7BA-4735-8C65-700018B71F76}" srcOrd="0" destOrd="0" presId="urn:microsoft.com/office/officeart/2005/8/layout/vList2"/>
    <dgm:cxn modelId="{22777201-4DFE-43D2-8E13-A48E8698B22D}" srcId="{0BBBD006-628A-44B4-B611-C615B4BF1007}" destId="{1CA31DED-9EF2-4546-AA79-69771F213048}" srcOrd="0" destOrd="0" parTransId="{483C7552-3454-432A-A2EE-CEE7F91EBFBC}" sibTransId="{87CF0571-10C4-4FC5-82F9-4F1F076AB50A}"/>
    <dgm:cxn modelId="{D6F425DF-6769-4BA3-B82B-C2DA9E2AA14A}" type="presOf" srcId="{AFAA28F0-41D0-41E1-962D-F5C110512870}" destId="{76F4ABD4-E6A8-46A9-9F87-4B20ECFB161B}" srcOrd="0" destOrd="0" presId="urn:microsoft.com/office/officeart/2005/8/layout/vList2"/>
    <dgm:cxn modelId="{7794BB2F-E5C5-4899-AD90-300CD0AC93F9}" srcId="{AFAA28F0-41D0-41E1-962D-F5C110512870}" destId="{0BBBD006-628A-44B4-B611-C615B4BF1007}" srcOrd="0" destOrd="0" parTransId="{DF33A9AD-111A-4024-9C1D-32664FE69255}" sibTransId="{3C71B391-1A9D-429C-950A-329EBB925DE3}"/>
    <dgm:cxn modelId="{045DBAE0-4CDC-447F-B394-5C795B458CF2}" type="presParOf" srcId="{76F4ABD4-E6A8-46A9-9F87-4B20ECFB161B}" destId="{2D487B8A-AE93-4E85-9E47-66947AD64AFF}" srcOrd="0" destOrd="0" presId="urn:microsoft.com/office/officeart/2005/8/layout/vList2"/>
    <dgm:cxn modelId="{8A78D3B7-852B-4826-BD94-14F3689550BB}" type="presParOf" srcId="{76F4ABD4-E6A8-46A9-9F87-4B20ECFB161B}" destId="{295A6C32-C7BA-4735-8C65-700018B71F76}" srcOrd="1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B56CB62-E752-45A4-8D4A-787EDF625430}">
      <dsp:nvSpPr>
        <dsp:cNvPr id="0" name=""/>
        <dsp:cNvSpPr/>
      </dsp:nvSpPr>
      <dsp:spPr>
        <a:xfrm>
          <a:off x="0" y="14580"/>
          <a:ext cx="8229600" cy="111384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800" kern="1200" dirty="0" smtClean="0"/>
            <a:t>Les lividités cadavériques sont dues : R Juste </a:t>
          </a:r>
          <a:br>
            <a:rPr lang="fr-FR" sz="2800" kern="1200" dirty="0" smtClean="0"/>
          </a:br>
          <a:endParaRPr lang="fr-FR" sz="2800" kern="1200" dirty="0"/>
        </a:p>
      </dsp:txBody>
      <dsp:txXfrm>
        <a:off x="0" y="14580"/>
        <a:ext cx="8229600" cy="111384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D487B8A-AE93-4E85-9E47-66947AD64AFF}">
      <dsp:nvSpPr>
        <dsp:cNvPr id="0" name=""/>
        <dsp:cNvSpPr/>
      </dsp:nvSpPr>
      <dsp:spPr>
        <a:xfrm>
          <a:off x="0" y="945268"/>
          <a:ext cx="8229600" cy="155902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6500" kern="1200" dirty="0" smtClean="0"/>
            <a:t>Le secret médical</a:t>
          </a:r>
          <a:endParaRPr lang="fr-FR" sz="6500" kern="1200" dirty="0"/>
        </a:p>
      </dsp:txBody>
      <dsp:txXfrm>
        <a:off x="0" y="945268"/>
        <a:ext cx="8229600" cy="1559025"/>
      </dsp:txXfrm>
    </dsp:sp>
    <dsp:sp modelId="{295A6C32-C7BA-4735-8C65-700018B71F76}">
      <dsp:nvSpPr>
        <dsp:cNvPr id="0" name=""/>
        <dsp:cNvSpPr/>
      </dsp:nvSpPr>
      <dsp:spPr>
        <a:xfrm>
          <a:off x="0" y="2504294"/>
          <a:ext cx="822960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82550" rIns="462280" bIns="825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fr-FR" sz="5100" kern="1200"/>
        </a:p>
      </dsp:txBody>
      <dsp:txXfrm>
        <a:off x="0" y="2504294"/>
        <a:ext cx="8229600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620999" y="0"/>
            <a:ext cx="4300167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1AF10-6227-4D69-90E0-AA74CF4BCB74}" type="datetimeFigureOut">
              <a:rPr lang="fr-FR" smtClean="0"/>
              <a:t>17/08/2024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0167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620999" y="6456612"/>
            <a:ext cx="4300167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AC606-CDED-4FE3-AFE6-E8211A41AE39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2F17-AE95-44AC-95B6-38D007280B4C}" type="datetimeFigureOut">
              <a:rPr lang="fr-FR" smtClean="0"/>
              <a:pPr/>
              <a:t>17/08/2024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71E5-0A62-4621-B7AD-4B69F5410F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2F17-AE95-44AC-95B6-38D007280B4C}" type="datetimeFigureOut">
              <a:rPr lang="fr-FR" smtClean="0"/>
              <a:pPr/>
              <a:t>17/08/2024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71E5-0A62-4621-B7AD-4B69F5410F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2F17-AE95-44AC-95B6-38D007280B4C}" type="datetimeFigureOut">
              <a:rPr lang="fr-FR" smtClean="0"/>
              <a:pPr/>
              <a:t>17/08/2024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71E5-0A62-4621-B7AD-4B69F5410F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2F17-AE95-44AC-95B6-38D007280B4C}" type="datetimeFigureOut">
              <a:rPr lang="fr-FR" smtClean="0"/>
              <a:pPr/>
              <a:t>17/08/2024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71E5-0A62-4621-B7AD-4B69F5410F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2F17-AE95-44AC-95B6-38D007280B4C}" type="datetimeFigureOut">
              <a:rPr lang="fr-FR" smtClean="0"/>
              <a:pPr/>
              <a:t>17/08/2024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71E5-0A62-4621-B7AD-4B69F5410F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2F17-AE95-44AC-95B6-38D007280B4C}" type="datetimeFigureOut">
              <a:rPr lang="fr-FR" smtClean="0"/>
              <a:pPr/>
              <a:t>17/08/2024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71E5-0A62-4621-B7AD-4B69F5410F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2F17-AE95-44AC-95B6-38D007280B4C}" type="datetimeFigureOut">
              <a:rPr lang="fr-FR" smtClean="0"/>
              <a:pPr/>
              <a:t>17/08/2024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71E5-0A62-4621-B7AD-4B69F5410F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2F17-AE95-44AC-95B6-38D007280B4C}" type="datetimeFigureOut">
              <a:rPr lang="fr-FR" smtClean="0"/>
              <a:pPr/>
              <a:t>17/08/2024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71E5-0A62-4621-B7AD-4B69F5410F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2F17-AE95-44AC-95B6-38D007280B4C}" type="datetimeFigureOut">
              <a:rPr lang="fr-FR" smtClean="0"/>
              <a:pPr/>
              <a:t>17/08/2024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71E5-0A62-4621-B7AD-4B69F5410F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2F17-AE95-44AC-95B6-38D007280B4C}" type="datetimeFigureOut">
              <a:rPr lang="fr-FR" smtClean="0"/>
              <a:pPr/>
              <a:t>17/08/2024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71E5-0A62-4621-B7AD-4B69F5410F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2F17-AE95-44AC-95B6-38D007280B4C}" type="datetimeFigureOut">
              <a:rPr lang="fr-FR" smtClean="0"/>
              <a:pPr/>
              <a:t>17/08/2024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71E5-0A62-4621-B7AD-4B69F5410F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42F17-AE95-44AC-95B6-38D007280B4C}" type="datetimeFigureOut">
              <a:rPr lang="fr-FR" smtClean="0"/>
              <a:pPr/>
              <a:t>17/08/2024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B71E5-0A62-4621-B7AD-4B69F5410F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Illustration QCM et QCS</a:t>
            </a:r>
            <a:br>
              <a:rPr lang="fr-FR" dirty="0" smtClean="0"/>
            </a:br>
            <a:r>
              <a:rPr lang="fr-FR" dirty="0" smtClean="0"/>
              <a:t>Diagnostic de la mort</a:t>
            </a:r>
            <a:br>
              <a:rPr lang="fr-FR" dirty="0" smtClean="0"/>
            </a:br>
            <a:r>
              <a:rPr lang="fr-FR" dirty="0" smtClean="0"/>
              <a:t>Secret médical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Dr M.SOUAG</a:t>
            </a:r>
          </a:p>
          <a:p>
            <a:r>
              <a:rPr lang="fr-FR" dirty="0" smtClean="0"/>
              <a:t>Service de médecine légale</a:t>
            </a:r>
          </a:p>
          <a:p>
            <a:r>
              <a:rPr lang="fr-FR" dirty="0" smtClean="0"/>
              <a:t>CHU Oran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/>
              <a:t>La  mort est : réponse fausse </a:t>
            </a: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Apparente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Absolue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relative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Cérébrale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somatique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/>
              <a:t>La mort absolue : réponse fausse </a:t>
            </a: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fait suite à la mort relative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lésions tissulaires sont réversibles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constante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rigidité cadavérique peut déjà commencer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n’est pas accessible à la réanimation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La mort apparente (réponse fausse) :</a:t>
            </a:r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dirty="0" smtClean="0">
                <a:latin typeface="Times New Roman" pitchFamily="18" charset="0"/>
                <a:cs typeface="Times New Roman" pitchFamily="18" charset="0"/>
              </a:rPr>
            </a:b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accessible à la réanimation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Se caractérise par un arrêt cardiaque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Se caractérise par un arrêt respiratoire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Se caractérise par une résolution musculaire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considérée comme une syncope prolongée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/>
              <a:t>La  mort relative : réponse fausse </a:t>
            </a: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précède la mort absolue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nécessite une réanimation immédiate et adaptée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suit la mort apparente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retour à la vie est possible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disparition de la circulation est brève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>Parmi les propositions concernant les lividités cadavériques quelle est la plus exacte ?</a:t>
            </a:r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fr-FR" b="1" dirty="0" smtClean="0"/>
              <a:t>Leur coloration peut varier en fonction de la nature du décès</a:t>
            </a:r>
            <a:endParaRPr lang="fr-FR" dirty="0" smtClean="0"/>
          </a:p>
          <a:p>
            <a:pPr lvl="1"/>
            <a:r>
              <a:rPr lang="fr-FR" dirty="0" smtClean="0"/>
              <a:t>elles ne disparaissent pas à la vitro pression</a:t>
            </a:r>
          </a:p>
          <a:p>
            <a:pPr lvl="1"/>
            <a:r>
              <a:rPr lang="fr-FR" dirty="0" smtClean="0"/>
              <a:t>elles sont  dues à l’extravasation du sang</a:t>
            </a:r>
          </a:p>
          <a:p>
            <a:pPr lvl="1"/>
            <a:r>
              <a:rPr lang="fr-FR" dirty="0" smtClean="0"/>
              <a:t>signent le début de la putréfaction</a:t>
            </a:r>
          </a:p>
          <a:p>
            <a:pPr lvl="1"/>
            <a:r>
              <a:rPr lang="fr-FR" dirty="0" smtClean="0"/>
              <a:t>leur couleur permet de dater la mort</a:t>
            </a:r>
          </a:p>
          <a:p>
            <a:r>
              <a:rPr lang="fr-FR" dirty="0" smtClean="0"/>
              <a:t> </a:t>
            </a:r>
          </a:p>
          <a:p>
            <a:r>
              <a:rPr lang="fr-FR" dirty="0" smtClean="0"/>
              <a:t> 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>les facteurs qui influencent le refroidissement cadavérique sont : cocher la ou les réponses fausses :</a:t>
            </a:r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l’état hygrométrique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température  du corps au cours du décès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climatisation des lieux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mobilisation du cadavre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nombre d’effets vestimentaires portés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Le refroidissement : réponse fausse 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</a:t>
            </a:r>
            <a:r>
              <a:rPr lang="fr-FR" dirty="0"/>
              <a:t>un signe positif de la mort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tardif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accéléré par l’obésité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peut servir à la datation de la mort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en équilibre avec la température ambiante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b="1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Parmi les propositions suivantes concernant les signes tardifs de la mort, laquelle ou les quelles sont fausses :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dirty="0" smtClean="0">
                <a:latin typeface="Times New Roman" pitchFamily="18" charset="0"/>
                <a:cs typeface="Times New Roman" pitchFamily="18" charset="0"/>
              </a:rPr>
            </a:b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lividités cadavériques disparaissent à la vitro pression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rigidités se fixent et se rompent dans un même ordre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refroidissement cadavérique dépend du degré hygrométrique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tache verte abdominale est le signe le plus certain de la mort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tache noire sclérale apparait au niveau de l’angle interne de l’œil </a:t>
            </a:r>
          </a:p>
          <a:p>
            <a:pPr lvl="0"/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lvl="0" indent="-514350">
              <a:buNone/>
            </a:pPr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Parmi les trois aspects de la mort, laquelle ou lesquelles de ces propositions est ou sont justes :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dirty="0" smtClean="0"/>
              <a:t>La mort apparente est caractérisée par un arrêt respiratoire et une faible activité cardiaque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mort relative est caractérisée par une suspension incomplète et prolongée de la circulation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mort relative et la mort apparente sont accessibles à la réanimation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mort absolue est une mort intermédiaire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mort apparente est caractérisée par une syncope prolongée et une respiration paradoxale</a:t>
            </a:r>
          </a:p>
          <a:p>
            <a:pPr lvl="0"/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Quelle est ou quels parmi ces paramètres, celle ou ceux qui permettent de dater la mort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cytologie du LCR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dosage du sodium dans l’humeur vitrée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phénomènes cadavériques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L’entomologie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dosage du potassium dans le LCR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Les facteurs qui influencent le refroidissement cadavérique sont : réponse fausse :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l’environnement </a:t>
            </a:r>
            <a:r>
              <a:rPr lang="fr-FR" dirty="0"/>
              <a:t>externe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température  du corps au cours du décès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l’obésité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nombre d’effets vestimentaires portés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mobilisation </a:t>
            </a:r>
            <a:r>
              <a:rPr lang="fr-FR" dirty="0"/>
              <a:t>du cadavre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b="1" i="1" u="sng" dirty="0" smtClean="0">
                <a:latin typeface="Times New Roman" pitchFamily="18" charset="0"/>
                <a:cs typeface="Times New Roman" pitchFamily="18" charset="0"/>
              </a:rPr>
              <a:t>les lividités cadavériques</a:t>
            </a:r>
            <a:r>
              <a:rPr lang="fr-FR" sz="3600" b="1" i="1" dirty="0" smtClean="0">
                <a:latin typeface="Times New Roman" pitchFamily="18" charset="0"/>
                <a:cs typeface="Times New Roman" pitchFamily="18" charset="0"/>
              </a:rPr>
              <a:t> :</a:t>
            </a:r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dirty="0" smtClean="0">
                <a:latin typeface="Times New Roman" pitchFamily="18" charset="0"/>
                <a:cs typeface="Times New Roman" pitchFamily="18" charset="0"/>
              </a:rPr>
            </a:b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a)- sont toujours de couleur rose bleuté.</a:t>
            </a:r>
          </a:p>
          <a:p>
            <a:r>
              <a:rPr lang="fr-FR" dirty="0" smtClean="0"/>
              <a:t>b)- sont immuables  à la 12</a:t>
            </a:r>
            <a:r>
              <a:rPr lang="fr-FR" baseline="30000" dirty="0" smtClean="0"/>
              <a:t>ème</a:t>
            </a:r>
            <a:r>
              <a:rPr lang="fr-FR" dirty="0" smtClean="0"/>
              <a:t> heure.</a:t>
            </a:r>
          </a:p>
          <a:p>
            <a:r>
              <a:rPr lang="fr-FR" dirty="0" smtClean="0"/>
              <a:t>c)- peuvent  être antérieures et /ou postérieures. </a:t>
            </a:r>
          </a:p>
          <a:p>
            <a:r>
              <a:rPr lang="fr-FR" dirty="0" smtClean="0"/>
              <a:t>d)- sont maximales à la 30</a:t>
            </a:r>
            <a:r>
              <a:rPr lang="fr-FR" baseline="30000" dirty="0" smtClean="0"/>
              <a:t>ème</a:t>
            </a:r>
            <a:r>
              <a:rPr lang="fr-FR" dirty="0" smtClean="0"/>
              <a:t> heure.</a:t>
            </a:r>
          </a:p>
          <a:p>
            <a:r>
              <a:rPr lang="fr-FR" dirty="0" smtClean="0"/>
              <a:t>e)- ne dépendent pas de la position du corps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La  rigidité cadavérique : réponse fausse 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sert pour la datation de la mort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elle disparaît avec l’installation de la  putréfaction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elle atteint tous les muscles lisses ou striés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atteint son maximum entre 06 et 12 heures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se reconstitue si rompue après 12 heures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>la tâche verte abdominale est : cocher la ou les  réponses fausses</a:t>
            </a:r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1560" y="1772816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signe tardif  de la mort.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des éléments permettant d’approcher la date de la mort.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élément permettant le diagnostic de la cause de la mort.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signe positif de la mort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élément permettant de dire qu’un cadavre à été manipulé.</a:t>
            </a:r>
          </a:p>
          <a:p>
            <a:endParaRPr lang="fr-FR" dirty="0" smtClean="0"/>
          </a:p>
          <a:p>
            <a:pPr>
              <a:buNone/>
            </a:pPr>
            <a:r>
              <a:rPr lang="fr-FR" b="1" dirty="0" smtClean="0"/>
              <a:t> 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b="1" dirty="0" smtClean="0"/>
              <a:t>Les  signes positifs de la mort sont : réponse fausse </a:t>
            </a:r>
            <a:br>
              <a:rPr lang="fr-FR" sz="3200" b="1" dirty="0" smtClean="0"/>
            </a:b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absolus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tardifs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attestés par l’auscultation cardio-respiratoire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des indicateurs pour la datation de la mort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des signes de certitude de la mort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>Quelles sont les réponses fausses dans ces signes positifs de la mort :</a:t>
            </a:r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rigidités cadavériques se fixent puis  se rompent.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lividités restent inchangées, dans le cas d’une manipulation avant la 30</a:t>
            </a:r>
            <a:r>
              <a:rPr lang="fr-FR" baseline="30000" dirty="0" smtClean="0"/>
              <a:t>ème</a:t>
            </a:r>
            <a:r>
              <a:rPr lang="fr-FR" dirty="0" smtClean="0"/>
              <a:t> heure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tâche verte abdominale est le signe le plus certain de la mort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déshydratation est dominée par les signes oculaires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refroidissement est fonction de l’état hygrométrique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Les signes positifs de la mort sont :  réponse fausse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Sont des signes négatifs de la vie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attestés par la prise de la température rectale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attestés par l’examen des téguments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influencés par les facteurs climatiques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des éléments de datation de la mort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Parmi les signes positifs de la mort on trouve : réponse fausse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refroidissement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rigidité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</a:t>
            </a:r>
            <a:r>
              <a:rPr lang="fr-FR" dirty="0" smtClean="0"/>
              <a:t>blancheur cireuse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tâche verte abdominale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les signes oculaires de la déshydratation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La rigidité cadavérique est d’installation :  réponse fausse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progressive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descendante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Au début au niveau du maxillaire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descendante lors de sa rupture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ascendante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La rigidité cadavérique : réponse fausse 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d’installation progressive et descendante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responsable de l’attitude en flexion de toutes les articulations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Disparait de façon progressive et descendante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responsable de l’éjaculation post-mortem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en rapport avec la disparition progressive du stock d’ATP</a:t>
            </a:r>
          </a:p>
          <a:p>
            <a:r>
              <a:rPr lang="fr-FR" dirty="0" smtClean="0"/>
              <a:t>      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Les  lividités cadavériques : réponse juste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sont de couleur rose foncée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Sont d’apparition brutale   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sont immobiles 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sont immuable après 12 heures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peuvent servir pour le diagnostic étiologique de la mort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Les lividités cadavériques sont absentes  : réponse fausse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Dans les </a:t>
            </a:r>
            <a:r>
              <a:rPr lang="fr-FR" dirty="0"/>
              <a:t>zones d’appui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Dans les </a:t>
            </a:r>
            <a:r>
              <a:rPr lang="fr-FR" dirty="0"/>
              <a:t>zones comprimées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En cas d’hémorragie importante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Lors de la vitro pression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mobilisation </a:t>
            </a:r>
            <a:r>
              <a:rPr lang="fr-FR" dirty="0"/>
              <a:t>du corps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e 3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A. A la décantation intra vasculaire du sang sous l’effet de la pesanteur</a:t>
            </a:r>
          </a:p>
          <a:p>
            <a:pPr>
              <a:buNone/>
            </a:pPr>
            <a:r>
              <a:rPr lang="fr-FR" dirty="0" smtClean="0"/>
              <a:t> B. A l’extravasation sanguine sous l’effet de la pesanteur </a:t>
            </a:r>
          </a:p>
          <a:p>
            <a:pPr>
              <a:buNone/>
            </a:pPr>
            <a:r>
              <a:rPr lang="fr-FR" dirty="0" smtClean="0"/>
              <a:t>C. A la circulation posthume </a:t>
            </a:r>
          </a:p>
          <a:p>
            <a:pPr>
              <a:buNone/>
            </a:pPr>
            <a:r>
              <a:rPr lang="fr-FR" dirty="0" smtClean="0"/>
              <a:t>D. A la dégradation de l’hémoglobine </a:t>
            </a:r>
          </a:p>
          <a:p>
            <a:pPr>
              <a:buNone/>
            </a:pPr>
            <a:r>
              <a:rPr lang="fr-FR" dirty="0" smtClean="0"/>
              <a:t>E. A la cyanose.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Les lividités cadavériques sont dues à : réponse juste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l’extravasation </a:t>
            </a:r>
            <a:r>
              <a:rPr lang="fr-FR" dirty="0"/>
              <a:t>sanguine sous l’effet de la pesanteur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/>
              <a:t>circulation posthume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/>
              <a:t>dégradation d’hémoglobine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/>
              <a:t>cyanose.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/>
              <a:t>L’absence d’ATP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Les  lividités cadavériques : réponse juste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un phénomène vital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d’apparition maximale après 08 heures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immuables après 30 heures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Dépendent du taux d’ATP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persistent à la vitro pression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Les lividités cadavériques : réponse juste</a:t>
            </a:r>
            <a:br>
              <a:rPr lang="fr-FR" sz="3200" b="1" dirty="0" smtClean="0"/>
            </a:b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sont de couleur rose foncée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apparition brutale     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posent un problème de diagnostic différentiel avec les ecchymoses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sont volatiles après 12 heures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sont mobiles après la 30 heure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>La présence de lividités antérieures et postérieures, indiquent une manipulation de cadavre : la réponse juste</a:t>
            </a:r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Après la 30</a:t>
            </a:r>
            <a:r>
              <a:rPr lang="fr-FR" baseline="30000" dirty="0" smtClean="0"/>
              <a:t>ème</a:t>
            </a:r>
            <a:r>
              <a:rPr lang="fr-FR" dirty="0" smtClean="0"/>
              <a:t> heure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Entre la 6</a:t>
            </a:r>
            <a:r>
              <a:rPr lang="fr-FR" baseline="30000" dirty="0" smtClean="0"/>
              <a:t>ème</a:t>
            </a:r>
            <a:r>
              <a:rPr lang="fr-FR" dirty="0" smtClean="0"/>
              <a:t> et la 30</a:t>
            </a:r>
            <a:r>
              <a:rPr lang="fr-FR" baseline="30000" dirty="0" smtClean="0"/>
              <a:t>ème</a:t>
            </a:r>
            <a:r>
              <a:rPr lang="fr-FR" dirty="0" smtClean="0"/>
              <a:t> heure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Après 48 heures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Après 36 heures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Entre 36 et  48 heures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>la tâche verte abdominale est : cocher la réponse juste</a:t>
            </a:r>
            <a:br>
              <a:rPr lang="fr-FR" sz="3600" dirty="0" smtClean="0">
                <a:latin typeface="Times New Roman" pitchFamily="18" charset="0"/>
                <a:cs typeface="Times New Roman" pitchFamily="18" charset="0"/>
              </a:rPr>
            </a:b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fr-FR" dirty="0" smtClean="0"/>
              <a:t>Un signe précoce de la mort.</a:t>
            </a:r>
          </a:p>
          <a:p>
            <a:pPr lvl="0"/>
            <a:r>
              <a:rPr lang="fr-FR" dirty="0" smtClean="0"/>
              <a:t>Un des éléments permettant d’approcher la date de la mort.</a:t>
            </a:r>
          </a:p>
          <a:p>
            <a:pPr lvl="0"/>
            <a:r>
              <a:rPr lang="fr-FR" dirty="0" smtClean="0"/>
              <a:t>Un élément permettant le diagnostic de la cause de la mort.</a:t>
            </a:r>
          </a:p>
          <a:p>
            <a:pPr lvl="0"/>
            <a:r>
              <a:rPr lang="fr-FR" dirty="0" smtClean="0"/>
              <a:t>Un élément permettant de dire qu’un cadavre à été manipulé.</a:t>
            </a:r>
          </a:p>
          <a:p>
            <a:pPr lvl="0"/>
            <a:r>
              <a:rPr lang="fr-FR" dirty="0" smtClean="0"/>
              <a:t>Un signe négatif de la vie</a:t>
            </a:r>
          </a:p>
          <a:p>
            <a:pPr>
              <a:buNone/>
            </a:pPr>
            <a:r>
              <a:rPr lang="fr-FR" dirty="0" smtClean="0"/>
              <a:t> </a:t>
            </a:r>
          </a:p>
          <a:p>
            <a:pPr>
              <a:buNone/>
            </a:pPr>
            <a:r>
              <a:rPr lang="fr-FR" dirty="0" smtClean="0"/>
              <a:t> 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la tâche verte abdominale est : cocher la réponse juste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</a:t>
            </a:r>
            <a:r>
              <a:rPr lang="fr-FR" dirty="0"/>
              <a:t>signe précoce de la mort.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des éléments permettant d’approcher la date de la mort.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élément permettant le diagnostic de la cause de la mort.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élément permettant de dire qu’un cadavre à été manipulé.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signe négatif de la vie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i="1" u="sng" dirty="0" smtClean="0"/>
              <a:t/>
            </a:r>
            <a:br>
              <a:rPr lang="fr-FR" b="1" i="1" u="sng" dirty="0" smtClean="0"/>
            </a:br>
            <a:r>
              <a:rPr lang="fr-FR" sz="4000" b="1" u="sng" dirty="0" smtClean="0">
                <a:latin typeface="Times New Roman" pitchFamily="18" charset="0"/>
                <a:cs typeface="Times New Roman" pitchFamily="18" charset="0"/>
              </a:rPr>
              <a:t>la tache verte abdominale</a:t>
            </a:r>
            <a:r>
              <a:rPr lang="fr-FR" sz="4000" b="1" dirty="0" smtClean="0">
                <a:latin typeface="Times New Roman" pitchFamily="18" charset="0"/>
                <a:cs typeface="Times New Roman" pitchFamily="18" charset="0"/>
              </a:rPr>
              <a:t> : la ou les RJ</a:t>
            </a:r>
            <a:r>
              <a:rPr lang="fr-FR" sz="4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4000" dirty="0" smtClean="0">
                <a:latin typeface="Times New Roman" pitchFamily="18" charset="0"/>
                <a:cs typeface="Times New Roman" pitchFamily="18" charset="0"/>
              </a:rPr>
            </a:br>
            <a:endParaRPr lang="fr-F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a)- apparaît précocement en été. 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b)- débute au niveau de la fosse iliaque gauche.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c)- peut ne pas exister même tardivement.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d)- apparaît à la 6</a:t>
            </a:r>
            <a:r>
              <a:rPr lang="fr-FR" baseline="30000" dirty="0" smtClean="0">
                <a:latin typeface="Times New Roman" pitchFamily="18" charset="0"/>
                <a:cs typeface="Times New Roman" pitchFamily="18" charset="0"/>
              </a:rPr>
              <a:t>ème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heure.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e)-est un signe de putréfaction débutante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 smtClean="0"/>
              <a:t>Le diagnostic  le plus tardif de la mort repose sur : Cocher la réponse juste </a:t>
            </a:r>
            <a:br>
              <a:rPr lang="fr-FR" sz="3600" dirty="0" smtClean="0"/>
            </a:b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A. Un tracé plat iso électrique à l’ECG, après massage cardiaque </a:t>
            </a:r>
          </a:p>
          <a:p>
            <a:pPr>
              <a:buNone/>
            </a:pPr>
            <a:r>
              <a:rPr lang="fr-FR" dirty="0" smtClean="0"/>
              <a:t>B. Les lividités cadavériques </a:t>
            </a:r>
          </a:p>
          <a:p>
            <a:pPr>
              <a:buNone/>
            </a:pPr>
            <a:r>
              <a:rPr lang="fr-FR" dirty="0" smtClean="0"/>
              <a:t>C. La rigidité cadavérique </a:t>
            </a:r>
          </a:p>
          <a:p>
            <a:pPr>
              <a:buNone/>
            </a:pPr>
            <a:r>
              <a:rPr lang="fr-FR" dirty="0" smtClean="0"/>
              <a:t>D. La perte complète de la conscience avec conservation d’une vie végétative </a:t>
            </a:r>
          </a:p>
          <a:p>
            <a:pPr>
              <a:buNone/>
            </a:pPr>
            <a:r>
              <a:rPr lang="fr-FR" dirty="0" smtClean="0"/>
              <a:t>E. La tâche verte abdominale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sz="2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800" b="1" dirty="0" smtClean="0">
                <a:latin typeface="Times New Roman" pitchFamily="18" charset="0"/>
                <a:cs typeface="Times New Roman" pitchFamily="18" charset="0"/>
              </a:rPr>
              <a:t>Quel est ou quels sont  parmi les examens complémentaires celui ou ceux qui posent le diagnostic de la mort encéphalique :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800" dirty="0" smtClean="0">
                <a:latin typeface="Times New Roman" pitchFamily="18" charset="0"/>
                <a:cs typeface="Times New Roman" pitchFamily="18" charset="0"/>
              </a:rPr>
            </a:b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ECG et un EEG plats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Deux EEG nuls à 04 heures d’intervalle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Trois EEG nuls à 04 heures d’intervalle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angiographie cérébrale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EEG et un ECG plats à 04 heures d’intervalle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Un  sujet en coma dépassé :  réponse juste 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fr-FR" dirty="0" smtClean="0"/>
              <a:t>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Garde </a:t>
            </a:r>
            <a:r>
              <a:rPr lang="fr-FR" dirty="0"/>
              <a:t>une survie des fonctions cérébrales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un sujet décédé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Peut avoir une réponse réflexe aux stimuli très violents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Peut repasser en coma prolongé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Peut avoir une activité cardiaque spontanée</a:t>
            </a:r>
          </a:p>
          <a:p>
            <a:pPr>
              <a:buNone/>
            </a:pPr>
            <a:r>
              <a:rPr lang="fr-FR" dirty="0"/>
              <a:t> 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2400" dirty="0" smtClean="0"/>
              <a:t> Parmi les signes suivants, quel est celui qui est  obligatoirement présent pour qu’un sujet puisse être déclaré en coma dépassé :  réponse juste</a:t>
            </a:r>
            <a:br>
              <a:rPr lang="fr-FR" sz="2400" dirty="0" smtClean="0"/>
            </a:br>
            <a:endParaRPr lang="fr-FR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Rigidité </a:t>
            </a:r>
            <a:r>
              <a:rPr lang="fr-FR" dirty="0"/>
              <a:t>cadavérique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 de la fonction cardiaque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02 EEG nuls, </a:t>
            </a:r>
            <a:r>
              <a:rPr lang="fr-FR" dirty="0" err="1"/>
              <a:t>aréactifs</a:t>
            </a:r>
            <a:r>
              <a:rPr lang="fr-FR" dirty="0"/>
              <a:t> (pendant 30 mn espacés de 4h)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Lividités cadavériques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02 ECG nuls après 10mn de massage cardiaque</a:t>
            </a:r>
          </a:p>
          <a:p>
            <a:r>
              <a:rPr lang="fr-FR" dirty="0"/>
              <a:t>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>un sujet en coma dépassé : cocher la ou les réponses justes </a:t>
            </a:r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fr-FR" dirty="0" smtClean="0"/>
              <a:t>A- Garde une survie des fonctions cérébrales </a:t>
            </a:r>
          </a:p>
          <a:p>
            <a:pPr lvl="0">
              <a:buNone/>
            </a:pPr>
            <a:r>
              <a:rPr lang="fr-FR" dirty="0" smtClean="0"/>
              <a:t>B- Peut faire l’objet de prélèvements d’organes </a:t>
            </a:r>
          </a:p>
          <a:p>
            <a:pPr lvl="0">
              <a:buNone/>
            </a:pPr>
            <a:r>
              <a:rPr lang="fr-FR" dirty="0" smtClean="0"/>
              <a:t>C- Peut repasser en coma prolongé</a:t>
            </a:r>
          </a:p>
          <a:p>
            <a:pPr lvl="0">
              <a:buNone/>
            </a:pPr>
            <a:r>
              <a:rPr lang="fr-FR" dirty="0" smtClean="0"/>
              <a:t>D- Peut spontanément respirer</a:t>
            </a:r>
          </a:p>
          <a:p>
            <a:pPr lvl="0">
              <a:buNone/>
            </a:pPr>
            <a:r>
              <a:rPr lang="fr-FR" dirty="0" smtClean="0"/>
              <a:t>E- Est une personne décédée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Un  sujet en coma dépassé :  réponse juste </a:t>
            </a:r>
            <a:br>
              <a:rPr lang="fr-FR" sz="3200" b="1" dirty="0" smtClean="0"/>
            </a:b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Garde </a:t>
            </a:r>
            <a:r>
              <a:rPr lang="fr-FR" dirty="0"/>
              <a:t>une survie des fonctions cérébrales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Peut être l’objet de prélèvements d’organes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Peut avoir une réponse réflexe aux stimuli très violents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Peut repasser en coma prolongé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Peut spontanément respirer 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Vous êtes appelé à constater le décès d'un homme âgé de 85 ans, à son domicile. II était alité depuis 6 mois à cause d'une fracture complexe du bassin survenue suite à un accident de la voie publique. </a:t>
            </a:r>
            <a:br>
              <a:rPr lang="fr-FR" sz="2400" dirty="0" smtClean="0">
                <a:latin typeface="Times New Roman" pitchFamily="18" charset="0"/>
                <a:cs typeface="Times New Roman" pitchFamily="18" charset="0"/>
              </a:rPr>
            </a:b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Quelle est votre première démarche ?</a:t>
            </a:r>
          </a:p>
          <a:p>
            <a:pPr>
              <a:buNone/>
            </a:pPr>
            <a:r>
              <a:rPr lang="fr-FR" dirty="0" smtClean="0"/>
              <a:t>A. Etablir le certificat de décès »</a:t>
            </a:r>
          </a:p>
          <a:p>
            <a:pPr>
              <a:buNone/>
            </a:pPr>
            <a:r>
              <a:rPr lang="fr-FR" dirty="0" smtClean="0"/>
              <a:t>B. Interdire I' accès à la chambre </a:t>
            </a:r>
          </a:p>
          <a:p>
            <a:pPr>
              <a:buNone/>
            </a:pPr>
            <a:r>
              <a:rPr lang="fr-FR" dirty="0" smtClean="0"/>
              <a:t>C. Appeler les autorités judiciaires </a:t>
            </a:r>
          </a:p>
          <a:p>
            <a:pPr>
              <a:buNone/>
            </a:pPr>
            <a:r>
              <a:rPr lang="fr-FR" dirty="0" smtClean="0"/>
              <a:t>D. Autoriser la toilette mortuaire </a:t>
            </a:r>
          </a:p>
          <a:p>
            <a:pPr>
              <a:buNone/>
            </a:pPr>
            <a:r>
              <a:rPr lang="fr-FR" dirty="0" smtClean="0"/>
              <a:t>E. S'assurer de la réalité de la mort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>Concernant le certificat de décès, quelles propositions sont correctes ?</a:t>
            </a: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A- Il </a:t>
            </a:r>
            <a:r>
              <a:rPr lang="fr-FR" dirty="0"/>
              <a:t>s'agit d'un formulaire </a:t>
            </a:r>
            <a:r>
              <a:rPr lang="fr-FR" dirty="0" smtClean="0"/>
              <a:t>à deux volets</a:t>
            </a:r>
          </a:p>
          <a:p>
            <a:pPr>
              <a:buNone/>
            </a:pPr>
            <a:r>
              <a:rPr lang="fr-FR" dirty="0" smtClean="0"/>
              <a:t>B- Il </a:t>
            </a:r>
            <a:r>
              <a:rPr lang="fr-FR" dirty="0"/>
              <a:t>est destiné aux pompes </a:t>
            </a:r>
            <a:r>
              <a:rPr lang="fr-FR" dirty="0" smtClean="0"/>
              <a:t>funèbres</a:t>
            </a:r>
          </a:p>
          <a:p>
            <a:pPr>
              <a:buNone/>
            </a:pPr>
            <a:r>
              <a:rPr lang="fr-FR" dirty="0" smtClean="0"/>
              <a:t>C- Il </a:t>
            </a:r>
            <a:r>
              <a:rPr lang="fr-FR" dirty="0"/>
              <a:t>est nécessaire à </a:t>
            </a:r>
            <a:r>
              <a:rPr lang="fr-FR" dirty="0" smtClean="0"/>
              <a:t>l'exhumation</a:t>
            </a:r>
          </a:p>
          <a:p>
            <a:pPr>
              <a:buNone/>
            </a:pPr>
            <a:r>
              <a:rPr lang="fr-FR" dirty="0" smtClean="0"/>
              <a:t>D- Il </a:t>
            </a:r>
            <a:r>
              <a:rPr lang="fr-FR" dirty="0"/>
              <a:t>permet d'établir les statistiques de </a:t>
            </a:r>
            <a:r>
              <a:rPr lang="fr-FR" dirty="0" smtClean="0"/>
              <a:t>décès</a:t>
            </a:r>
          </a:p>
          <a:p>
            <a:pPr>
              <a:buNone/>
            </a:pPr>
            <a:r>
              <a:rPr lang="fr-FR" dirty="0" smtClean="0"/>
              <a:t>E- Il </a:t>
            </a:r>
            <a:r>
              <a:rPr lang="fr-FR" dirty="0"/>
              <a:t>peut être remis à la famille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fr-FR" sz="2000" dirty="0" smtClean="0"/>
              <a:t>Vous réalisez l’examen d’un cadavre portant des traces de violences avec présence d’escarres, un état de déshydratation et une cachexie, dans la 1</a:t>
            </a:r>
            <a:r>
              <a:rPr lang="fr-FR" sz="2000" baseline="30000" dirty="0" smtClean="0"/>
              <a:t>ère</a:t>
            </a:r>
            <a:r>
              <a:rPr lang="fr-FR" sz="2000" dirty="0" smtClean="0"/>
              <a:t> partie du certificat de décès, vous portez :</a:t>
            </a:r>
            <a:endParaRPr lang="fr-FR" sz="2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A. I 'identité du défunt </a:t>
            </a:r>
          </a:p>
          <a:p>
            <a:r>
              <a:rPr lang="fr-FR" dirty="0" smtClean="0"/>
              <a:t>B. la cause initiale de la mort </a:t>
            </a:r>
          </a:p>
          <a:p>
            <a:r>
              <a:rPr lang="fr-FR" dirty="0" smtClean="0"/>
              <a:t>C. la cause directe de la mort </a:t>
            </a:r>
          </a:p>
          <a:p>
            <a:r>
              <a:rPr lang="fr-FR" dirty="0" smtClean="0"/>
              <a:t>D. la mention de mort violente </a:t>
            </a:r>
          </a:p>
          <a:p>
            <a:r>
              <a:rPr lang="fr-FR" dirty="0" smtClean="0"/>
              <a:t>E. la notion d’obstacle médico-légal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>Le permis d'inhumer est un document qui est délivré par :</a:t>
            </a: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fr-FR" dirty="0" smtClean="0"/>
              <a:t>A - L'Officier </a:t>
            </a:r>
            <a:r>
              <a:rPr lang="fr-FR" dirty="0"/>
              <a:t>d'état civil de la commune où s'est produit le </a:t>
            </a:r>
            <a:r>
              <a:rPr lang="fr-FR" dirty="0" smtClean="0"/>
              <a:t>décès</a:t>
            </a:r>
            <a:endParaRPr lang="fr-FR" dirty="0"/>
          </a:p>
          <a:p>
            <a:pPr>
              <a:buNone/>
            </a:pPr>
            <a:r>
              <a:rPr lang="fr-FR" dirty="0" smtClean="0"/>
              <a:t>B - Le </a:t>
            </a:r>
            <a:r>
              <a:rPr lang="fr-FR" dirty="0"/>
              <a:t>médecin qui a constaté le </a:t>
            </a:r>
            <a:r>
              <a:rPr lang="fr-FR" dirty="0" smtClean="0"/>
              <a:t>décès</a:t>
            </a:r>
          </a:p>
          <a:p>
            <a:pPr>
              <a:buNone/>
            </a:pPr>
            <a:r>
              <a:rPr lang="fr-FR" dirty="0" smtClean="0"/>
              <a:t>C - Le </a:t>
            </a:r>
            <a:r>
              <a:rPr lang="fr-FR" dirty="0"/>
              <a:t>médecin légiste qui a réalisé l'autopsie du </a:t>
            </a:r>
            <a:r>
              <a:rPr lang="fr-FR" dirty="0" smtClean="0"/>
              <a:t>cadavre</a:t>
            </a:r>
          </a:p>
          <a:p>
            <a:pPr>
              <a:buNone/>
            </a:pPr>
            <a:r>
              <a:rPr lang="fr-FR" dirty="0" smtClean="0"/>
              <a:t>D - Le procureur de la république </a:t>
            </a:r>
            <a:r>
              <a:rPr lang="fr-FR" dirty="0"/>
              <a:t>dans le cas d'une affaire </a:t>
            </a:r>
            <a:r>
              <a:rPr lang="fr-FR" dirty="0" smtClean="0"/>
              <a:t>criminelle</a:t>
            </a:r>
          </a:p>
          <a:p>
            <a:pPr>
              <a:buNone/>
            </a:pPr>
            <a:r>
              <a:rPr lang="fr-FR" dirty="0" smtClean="0"/>
              <a:t>E - Le </a:t>
            </a:r>
            <a:r>
              <a:rPr lang="fr-FR" dirty="0"/>
              <a:t>directeur de l'établissement hospitalier où le décès s'est produit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En cas de mort naturelle, le médecin :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A- Délivre </a:t>
            </a:r>
            <a:r>
              <a:rPr lang="fr-FR" dirty="0"/>
              <a:t>le permis </a:t>
            </a:r>
            <a:r>
              <a:rPr lang="fr-FR" dirty="0" smtClean="0"/>
              <a:t>d'inhumer</a:t>
            </a:r>
            <a:endParaRPr lang="fr-FR" dirty="0"/>
          </a:p>
          <a:p>
            <a:pPr>
              <a:buNone/>
            </a:pPr>
            <a:r>
              <a:rPr lang="fr-FR" dirty="0" smtClean="0"/>
              <a:t>B- Rédige </a:t>
            </a:r>
            <a:r>
              <a:rPr lang="fr-FR" dirty="0"/>
              <a:t>le certificat de décès avec obstacle </a:t>
            </a:r>
            <a:r>
              <a:rPr lang="fr-FR" dirty="0" smtClean="0"/>
              <a:t>médico-légal</a:t>
            </a:r>
          </a:p>
          <a:p>
            <a:pPr>
              <a:buNone/>
            </a:pPr>
            <a:r>
              <a:rPr lang="fr-FR" dirty="0" smtClean="0"/>
              <a:t>C- Rédige </a:t>
            </a:r>
            <a:r>
              <a:rPr lang="fr-FR" dirty="0"/>
              <a:t>le certificat de décès sans obstacle </a:t>
            </a:r>
            <a:r>
              <a:rPr lang="fr-FR" dirty="0" smtClean="0"/>
              <a:t>médico-légal</a:t>
            </a:r>
            <a:endParaRPr lang="fr-FR" dirty="0"/>
          </a:p>
          <a:p>
            <a:pPr>
              <a:buNone/>
            </a:pPr>
            <a:r>
              <a:rPr lang="fr-FR" dirty="0" smtClean="0"/>
              <a:t>D- Demande </a:t>
            </a:r>
            <a:r>
              <a:rPr lang="fr-FR" dirty="0"/>
              <a:t>une autopsie </a:t>
            </a:r>
            <a:r>
              <a:rPr lang="fr-FR" dirty="0" smtClean="0"/>
              <a:t>médico-légale</a:t>
            </a:r>
          </a:p>
          <a:p>
            <a:pPr>
              <a:buNone/>
            </a:pPr>
            <a:r>
              <a:rPr lang="fr-FR" dirty="0" smtClean="0"/>
              <a:t>E- S'assure </a:t>
            </a:r>
            <a:r>
              <a:rPr lang="fr-FR" dirty="0"/>
              <a:t>que la mort est réelle et constante</a:t>
            </a:r>
            <a:br>
              <a:rPr lang="fr-FR" dirty="0"/>
            </a:b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b="1" dirty="0" smtClean="0"/>
              <a:t/>
            </a:r>
            <a:br>
              <a:rPr lang="fr-FR" sz="3200" b="1" dirty="0" smtClean="0"/>
            </a:br>
            <a:r>
              <a:rPr lang="fr-FR" sz="3200" b="1" dirty="0" smtClean="0"/>
              <a:t>l’autopsie médico-légale : cocher la réponse juste</a:t>
            </a:r>
            <a:br>
              <a:rPr lang="fr-FR" sz="3200" b="1" dirty="0" smtClean="0"/>
            </a:br>
            <a:r>
              <a:rPr lang="fr-FR" sz="3200" b="1" dirty="0" smtClean="0"/>
              <a:t> </a:t>
            </a:r>
            <a:r>
              <a:rPr lang="fr-FR" sz="3200" dirty="0" smtClean="0"/>
              <a:t/>
            </a:r>
            <a:br>
              <a:rPr lang="fr-FR" sz="3200" dirty="0" smtClean="0"/>
            </a:b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 Peut </a:t>
            </a:r>
            <a:r>
              <a:rPr lang="fr-FR" dirty="0"/>
              <a:t>être refusée par la famille.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Ne porte que sur la région lésée.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Ne peut </a:t>
            </a:r>
            <a:r>
              <a:rPr lang="fr-FR" dirty="0"/>
              <a:t>être pratiquée </a:t>
            </a:r>
            <a:r>
              <a:rPr lang="fr-FR" dirty="0" smtClean="0"/>
              <a:t>que par un </a:t>
            </a:r>
            <a:r>
              <a:rPr lang="fr-FR" dirty="0"/>
              <a:t>médecin </a:t>
            </a:r>
            <a:r>
              <a:rPr lang="fr-FR" dirty="0" smtClean="0"/>
              <a:t>expert légiste.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Ne peut être pratiquée que par un médecin-contrôleur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Peut  être pratiquée sur réquisition du maire ou du wali</a:t>
            </a:r>
          </a:p>
          <a:p>
            <a:pPr>
              <a:buNone/>
            </a:pPr>
            <a:r>
              <a:rPr lang="fr-FR" dirty="0"/>
              <a:t> 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b="1" dirty="0" smtClean="0"/>
              <a:t>En  cas de décès de cause naturelle, le médecin :  réponse juste</a:t>
            </a:r>
            <a:br>
              <a:rPr lang="fr-FR" sz="3200" b="1" dirty="0" smtClean="0"/>
            </a:b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Signe </a:t>
            </a:r>
            <a:r>
              <a:rPr lang="fr-FR" dirty="0"/>
              <a:t>le permis d’inhumer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Rédige le certificat de décès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Doit signer sur réquisition le constat de décès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Doit mentionner la cause de la mort sur le certificat 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Doit informer le procureur de la république</a:t>
            </a:r>
          </a:p>
          <a:p>
            <a:pPr marL="514350" indent="-514350">
              <a:buNone/>
            </a:pP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b="1" dirty="0" smtClean="0"/>
              <a:t>En cas de décès de cause naturelle, le médecin :  réponse juste</a:t>
            </a:r>
            <a:br>
              <a:rPr lang="fr-FR" sz="3200" b="1" dirty="0" smtClean="0"/>
            </a:b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 </a:t>
            </a:r>
            <a:r>
              <a:rPr lang="fr-FR" dirty="0"/>
              <a:t>Signe le permis d’inhumer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S’assure que la mort est réelle et constante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Doit signer sur réquisition le constat de décès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Doit mentionner la cause de la mort sur le certificat 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Refuse de remplir le formulaire pré établit</a:t>
            </a:r>
          </a:p>
          <a:p>
            <a:pPr>
              <a:buNone/>
            </a:pPr>
            <a:r>
              <a:rPr lang="fr-FR" dirty="0"/>
              <a:t> 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b="1" dirty="0" smtClean="0"/>
              <a:t>L’autopsie judiciaire peu être pratiquée : réponse fausse</a:t>
            </a:r>
            <a:r>
              <a:rPr lang="fr-FR" sz="3200" dirty="0" smtClean="0"/>
              <a:t/>
            </a:r>
            <a:br>
              <a:rPr lang="fr-FR" sz="3200" dirty="0" smtClean="0"/>
            </a:b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fr-FR" dirty="0"/>
              <a:t> </a:t>
            </a:r>
            <a:r>
              <a:rPr lang="fr-FR" dirty="0" smtClean="0"/>
              <a:t>Sur </a:t>
            </a:r>
            <a:r>
              <a:rPr lang="fr-FR" dirty="0"/>
              <a:t>réquisition du procureur de la république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Sur ordonnance d’un juge d’instruction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Sur réquisition d’un officier de police </a:t>
            </a:r>
            <a:r>
              <a:rPr lang="fr-FR" dirty="0" smtClean="0"/>
              <a:t>judiciaire sur instruction du procureur.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Sur la demande du chef de service  si le malade décède à </a:t>
            </a:r>
            <a:r>
              <a:rPr lang="fr-FR" dirty="0" smtClean="0"/>
              <a:t>l’hôpital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Sur réquisition d’une autorité judiciaire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Qui peut signer le permis d’inhumer en cas de mort naturelle ?  réponse juste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l’officier </a:t>
            </a:r>
            <a:r>
              <a:rPr lang="fr-FR" dirty="0"/>
              <a:t>d’état civil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</a:t>
            </a:r>
            <a:r>
              <a:rPr lang="fr-FR" dirty="0" smtClean="0"/>
              <a:t>procureur de la république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représentant des pompes funèbres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wali</a:t>
            </a:r>
            <a:endParaRPr lang="fr-FR" dirty="0"/>
          </a:p>
          <a:p>
            <a:pPr marL="514350" indent="-514350">
              <a:buFont typeface="+mj-lt"/>
              <a:buAutoNum type="alphaUcPeriod"/>
            </a:pPr>
            <a:r>
              <a:rPr lang="fr-FR" dirty="0"/>
              <a:t>Le </a:t>
            </a:r>
            <a:r>
              <a:rPr lang="fr-FR" dirty="0" smtClean="0"/>
              <a:t>maire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2800" b="1" dirty="0" smtClean="0"/>
              <a:t>Pour  rédiger le certificat de décès, ils est nécessaire de rechercher les signes positifs de la mort. vous retenez : réponse fausse </a:t>
            </a:r>
            <a:br>
              <a:rPr lang="fr-FR" sz="2800" b="1" dirty="0" smtClean="0"/>
            </a:br>
            <a:endParaRPr lang="fr-FR" sz="28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 refroidissement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Mydriase bilatérale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lividités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Rigidité.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voile glaireux de la cornée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b="1" dirty="0" smtClean="0"/>
              <a:t>les éléments de la triade classique des signes positifs précoces de la mort vous permettant d’établir le certificat de décès sont : réponse fausse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refroidissement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lividités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tâche verte abdominale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Rigidité.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Signes de </a:t>
            </a:r>
            <a:r>
              <a:rPr lang="fr-FR" dirty="0" err="1" smtClean="0"/>
              <a:t>deshydratation</a:t>
            </a:r>
            <a:endParaRPr lang="fr-FR" dirty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Après  une autopsie judiciaire, l’autorisation d’inhumer est délivré par : réponse juste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président du tribunal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L’officier d’état civil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</a:t>
            </a:r>
            <a:r>
              <a:rPr lang="fr-FR" dirty="0" smtClean="0"/>
              <a:t>procureur de la république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</a:t>
            </a:r>
            <a:r>
              <a:rPr lang="fr-FR" dirty="0" smtClean="0"/>
              <a:t>juge d’instruction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L’officier de police judiciaire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Le  certificat de décès : réponse fausse 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</a:t>
            </a:r>
            <a:r>
              <a:rPr lang="fr-FR" dirty="0"/>
              <a:t>obligatoirement établi par un médecin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comprend une partie précisant l’identité du défunt et destiné à  l’APC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comprend une partie anonyme destinée au service de médecine légale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doit être produit pour que l’officier d’état civil établisse le permis d’inhumer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comporte une question quant à l’existence ou non d’un obstacle médico-légal à l’inhumation.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La  partie confidentielle du certificat de décès :  réponse juste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 </a:t>
            </a:r>
            <a:r>
              <a:rPr lang="fr-FR" dirty="0"/>
              <a:t>un but statistique et épidémiologique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destinée au service médico-légal de la région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destinée au conseil régional  de l’ordre des médecins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destiné à la direction </a:t>
            </a:r>
            <a:r>
              <a:rPr lang="fr-FR" dirty="0"/>
              <a:t>de l’action sociale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</a:t>
            </a:r>
            <a:r>
              <a:rPr lang="fr-FR" dirty="0" smtClean="0"/>
              <a:t>destinée </a:t>
            </a:r>
            <a:r>
              <a:rPr lang="fr-FR" dirty="0"/>
              <a:t>aux autorités judiciaires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b="1" i="1" u="sng" dirty="0" smtClean="0">
                <a:latin typeface="Times New Roman" pitchFamily="18" charset="0"/>
                <a:cs typeface="Times New Roman" pitchFamily="18" charset="0"/>
              </a:rPr>
              <a:t>parmi les signes de déshydratation </a:t>
            </a:r>
            <a:r>
              <a:rPr lang="fr-FR" sz="3600" b="1" i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dirty="0" smtClean="0">
                <a:latin typeface="Times New Roman" pitchFamily="18" charset="0"/>
                <a:cs typeface="Times New Roman" pitchFamily="18" charset="0"/>
              </a:rPr>
            </a:b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a)- l’exophtalmie.</a:t>
            </a:r>
          </a:p>
          <a:p>
            <a:r>
              <a:rPr lang="fr-FR" dirty="0" smtClean="0"/>
              <a:t>b)- voile glaireux de la choroïde.</a:t>
            </a:r>
          </a:p>
          <a:p>
            <a:r>
              <a:rPr lang="fr-FR" dirty="0" smtClean="0"/>
              <a:t>c)- la tache noire rétinienne.</a:t>
            </a:r>
          </a:p>
          <a:p>
            <a:r>
              <a:rPr lang="fr-FR" dirty="0" smtClean="0"/>
              <a:t>d)- épiderme abrasé parcheminé. </a:t>
            </a:r>
          </a:p>
          <a:p>
            <a:r>
              <a:rPr lang="fr-FR" dirty="0" smtClean="0"/>
              <a:t>e)- la tache noire cornéenne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Les moyens utilisés pour la datation d’un cadavre frais sont : réponse juste :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méthode thermographique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l’entomologie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l’étude du contenu gastrique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l’étude des vomissements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l’étude du contenu de la vessie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 la tâche verte abdominale : réponse fausse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apparaît après 05 jours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siège au niveau de la fosse  iliaque  droite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en rapport avec la pullulation microbienne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 est  extensive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précoce en été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b="1" dirty="0" smtClean="0"/>
              <a:t>La mort cérébrale : cocher la réponse juste :</a:t>
            </a: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exige un arrêt </a:t>
            </a:r>
            <a:r>
              <a:rPr lang="fr-FR" dirty="0" err="1" smtClean="0"/>
              <a:t>cardio</a:t>
            </a:r>
            <a:r>
              <a:rPr lang="fr-FR" dirty="0" smtClean="0"/>
              <a:t>-circulatoire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un arrêt réversible des fonctions cérébrales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caractérisée par le maintien d’une activité cardiaque spontanée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dont le diagnostic fait appel à l’épreuve d’effort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dont le diagnostic fait appel à l’EEG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b="1" dirty="0" smtClean="0"/>
              <a:t>Les  formes médico-légales sont : réponse fausse</a:t>
            </a:r>
            <a:br>
              <a:rPr lang="fr-FR" sz="3600" b="1" dirty="0" smtClean="0"/>
            </a:b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mort naturelle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mort suspecte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mort indéterminée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mort violente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L’homicide involontaire.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b="1" dirty="0" smtClean="0"/>
              <a:t>La  mort violente peut être : réponse fausse </a:t>
            </a:r>
            <a:br>
              <a:rPr lang="fr-FR" sz="3600" b="1" dirty="0" smtClean="0"/>
            </a:b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complication iatrogène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suicide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homicide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mort suspecte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mort subite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/>
              <a:t>La mort naturelle : réponse fausse</a:t>
            </a: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une forme médico-légale de la mort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souvent l’évolution ultime d’une maladie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implique l’intervention directe d’un tiers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permet  de délivrance du permis d’inhumer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peut être déclarée à l’état civil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Parmi les propositions suivantes une seule est fausse :</a:t>
            </a:r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dirty="0" smtClean="0">
                <a:latin typeface="Times New Roman" pitchFamily="18" charset="0"/>
                <a:cs typeface="Times New Roman" pitchFamily="18" charset="0"/>
              </a:rPr>
            </a:b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refroidissement cadavérique dépend de la température ambiante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tâche noire sclérale ne peut être visible que lorsque les yeux du cadavre sont fermés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lividités disparaissent au lavage et à la vitro pression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rigidités sont maximales à la 12</a:t>
            </a:r>
            <a:r>
              <a:rPr lang="fr-FR" baseline="30000" dirty="0" smtClean="0"/>
              <a:t>ème</a:t>
            </a:r>
            <a:r>
              <a:rPr lang="fr-FR" dirty="0" smtClean="0"/>
              <a:t> heure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tâche verte abdominale est le signe le plus certain de la mort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>Parmi les critères cliniques d’une mort cérébrale : (la réponse fausse)</a:t>
            </a:r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Abolition totale de conscience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Abolition totale de toute activité spontanée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Persistance d’une activité cardiaque résiduelle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Abolition totale des reflexes du tronc cérébral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Abolition de toute ventilation spontanée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>Un sujet en coma dépassé : cocher la réponse juste </a:t>
            </a:r>
            <a:br>
              <a:rPr lang="fr-FR" sz="3600" dirty="0" smtClean="0">
                <a:latin typeface="Times New Roman" pitchFamily="18" charset="0"/>
                <a:cs typeface="Times New Roman" pitchFamily="18" charset="0"/>
              </a:rPr>
            </a:b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Garde une survie artificiellement maintenue de ses fonctions cérébrales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Est un sujet déclaré décédé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Peut avoir une réactivation de ses réflexes aux stimuli très violents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Peut reprendre une respiration après deux périodes d’hyperventilation de 04 heures d’intervalle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Peut reprendre une activité cardiaque après un massage rigoureux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126876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sz="3200" b="1" dirty="0" smtClean="0"/>
              <a:t>La violation du secret professionnel par un médecin hospitalier est réprimée par : réponse fausse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2564904"/>
            <a:ext cx="8229600" cy="4525963"/>
          </a:xfrm>
        </p:spPr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tribunal pénal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conseil régional de l’ordre des médecins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conseil national de l’ordre des médecins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tribunal administratif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juge civil pour dommages et intérêts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9675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>Le médecin est tenu au secret professionnel par :</a:t>
            </a: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2332037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 A. Le serment d’Hippocrate</a:t>
            </a:r>
          </a:p>
          <a:p>
            <a:pPr>
              <a:buNone/>
            </a:pPr>
            <a:r>
              <a:rPr lang="fr-FR" dirty="0" smtClean="0"/>
              <a:t> B. Le Code Pénal</a:t>
            </a:r>
          </a:p>
          <a:p>
            <a:pPr>
              <a:buNone/>
            </a:pPr>
            <a:r>
              <a:rPr lang="fr-FR" dirty="0" smtClean="0"/>
              <a:t> C. Le Code de Déontologie </a:t>
            </a:r>
          </a:p>
          <a:p>
            <a:pPr>
              <a:buNone/>
            </a:pPr>
            <a:r>
              <a:rPr lang="fr-FR" dirty="0" smtClean="0"/>
              <a:t>D. Le Code de Sécurité Sociale </a:t>
            </a:r>
          </a:p>
          <a:p>
            <a:pPr>
              <a:buNone/>
            </a:pPr>
            <a:r>
              <a:rPr lang="fr-FR" dirty="0" smtClean="0"/>
              <a:t>E. Le Code Civil.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836712"/>
            <a:ext cx="8229600" cy="1143000"/>
          </a:xfrm>
        </p:spPr>
        <p:txBody>
          <a:bodyPr>
            <a:normAutofit fontScale="90000"/>
          </a:bodyPr>
          <a:lstStyle/>
          <a:p>
            <a:pPr lvl="0"/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Parmi les propositions suivantes concernant le secret médical, Iaquelle est exacte ?</a:t>
            </a:r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dirty="0" smtClean="0">
                <a:latin typeface="Times New Roman" pitchFamily="18" charset="0"/>
                <a:cs typeface="Times New Roman" pitchFamily="18" charset="0"/>
              </a:rPr>
            </a:b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2132856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lvl="0">
              <a:buNone/>
            </a:pPr>
            <a:r>
              <a:rPr lang="fr-FR" dirty="0" smtClean="0"/>
              <a:t>A. Sa </a:t>
            </a:r>
            <a:r>
              <a:rPr lang="fr-FR" dirty="0"/>
              <a:t>violation </a:t>
            </a:r>
            <a:r>
              <a:rPr lang="fr-FR" dirty="0" smtClean="0"/>
              <a:t>en cas de déclaration non prévues par la loi est  punie </a:t>
            </a:r>
            <a:r>
              <a:rPr lang="fr-FR" dirty="0"/>
              <a:t>par le Code Pénal x</a:t>
            </a:r>
          </a:p>
          <a:p>
            <a:pPr lvl="0">
              <a:buNone/>
            </a:pPr>
            <a:r>
              <a:rPr lang="fr-FR" dirty="0" smtClean="0"/>
              <a:t>B. Le </a:t>
            </a:r>
            <a:r>
              <a:rPr lang="fr-FR" dirty="0"/>
              <a:t>secret médical n'est pas obligatoire aux secrétaires médicales		</a:t>
            </a:r>
          </a:p>
          <a:p>
            <a:pPr lvl="0">
              <a:buNone/>
            </a:pPr>
            <a:r>
              <a:rPr lang="fr-FR" dirty="0" smtClean="0"/>
              <a:t>C. Le </a:t>
            </a:r>
            <a:r>
              <a:rPr lang="fr-FR" dirty="0"/>
              <a:t>secret est limité au diagnostic de l'affection dont souffre le patient	</a:t>
            </a:r>
          </a:p>
          <a:p>
            <a:pPr lvl="0">
              <a:buNone/>
            </a:pPr>
            <a:r>
              <a:rPr lang="fr-FR" dirty="0" smtClean="0"/>
              <a:t>D. Le </a:t>
            </a:r>
            <a:r>
              <a:rPr lang="fr-FR" dirty="0"/>
              <a:t>patient ne peut délier son médecin du secret médical	</a:t>
            </a:r>
          </a:p>
          <a:p>
            <a:pPr lvl="0">
              <a:buNone/>
            </a:pPr>
            <a:r>
              <a:rPr lang="fr-FR" dirty="0" smtClean="0"/>
              <a:t>E. Le </a:t>
            </a:r>
            <a:r>
              <a:rPr lang="fr-FR" dirty="0"/>
              <a:t>médecin est délié du secret médical après le décès de son patient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908720"/>
            <a:ext cx="8229600" cy="1143000"/>
          </a:xfrm>
        </p:spPr>
        <p:txBody>
          <a:bodyPr>
            <a:normAutofit fontScale="90000"/>
          </a:bodyPr>
          <a:lstStyle/>
          <a:p>
            <a:pPr lvl="0"/>
            <a:r>
              <a:rPr lang="fr-FR" sz="27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7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700" b="1" dirty="0" smtClean="0">
                <a:latin typeface="Times New Roman" pitchFamily="18" charset="0"/>
                <a:cs typeface="Times New Roman" pitchFamily="18" charset="0"/>
              </a:rPr>
              <a:t>Parmi les propositions suivantes concernant le secret médical, laquelle ou lesquelles est (sont) vraie(s) ?:</a:t>
            </a:r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528" y="1916832"/>
            <a:ext cx="8229600" cy="4525963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fr-FR" dirty="0" smtClean="0"/>
              <a:t>a</a:t>
            </a:r>
            <a:r>
              <a:rPr lang="fr-FR" dirty="0"/>
              <a:t>.-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n'est pas opposable au malade, </a:t>
            </a:r>
          </a:p>
          <a:p>
            <a:pPr lvl="0">
              <a:buNone/>
            </a:pP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b.- n'existe pas entre le directeur de la Caisse de Sécurité Sociale et le médecin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traitant</a:t>
            </a:r>
          </a:p>
          <a:p>
            <a:pPr lvl="0">
              <a:buNone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.- n'existe pas entre médecins conseils d'assurance et médecins traitants </a:t>
            </a:r>
          </a:p>
          <a:p>
            <a:pPr lvl="0">
              <a:buNone/>
            </a:pP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d.- n'existe pas entre spécialistes et médecins traitants soignant un même patient, </a:t>
            </a:r>
          </a:p>
          <a:p>
            <a:pPr lvl="0">
              <a:buNone/>
            </a:pP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e.- n'existe pas entre médecins experts et médecins traitants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2474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Il peut y avoir dérogation au secret médical en cas de :</a:t>
            </a:r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dirty="0" smtClean="0">
                <a:latin typeface="Times New Roman" pitchFamily="18" charset="0"/>
                <a:cs typeface="Times New Roman" pitchFamily="18" charset="0"/>
              </a:rPr>
            </a:b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528" y="2332037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A - Accident du travail.	</a:t>
            </a:r>
          </a:p>
          <a:p>
            <a:pPr>
              <a:buNone/>
            </a:pPr>
            <a:r>
              <a:rPr lang="fr-FR" dirty="0" smtClean="0"/>
              <a:t>B - Consultation d'un toxicomane	</a:t>
            </a:r>
          </a:p>
          <a:p>
            <a:pPr>
              <a:buNone/>
            </a:pPr>
            <a:r>
              <a:rPr lang="fr-FR" dirty="0" smtClean="0"/>
              <a:t>C - Maladies de longue durée	</a:t>
            </a:r>
          </a:p>
          <a:p>
            <a:pPr>
              <a:buNone/>
            </a:pPr>
            <a:r>
              <a:rPr lang="fr-FR" dirty="0" smtClean="0"/>
              <a:t>D - Alcooliques dangereux	</a:t>
            </a:r>
          </a:p>
          <a:p>
            <a:pPr>
              <a:buNone/>
            </a:pPr>
            <a:r>
              <a:rPr lang="fr-FR" dirty="0" smtClean="0"/>
              <a:t>E - S.I.D.A. avérés	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1196752"/>
            <a:ext cx="8229600" cy="1143000"/>
          </a:xfrm>
        </p:spPr>
        <p:txBody>
          <a:bodyPr>
            <a:normAutofit fontScale="90000"/>
          </a:bodyPr>
          <a:lstStyle/>
          <a:p>
            <a:pPr lvl="0"/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>Parmi les propositions suivantes, laquelle (lesquelles) est (sont) couverte(s) par le secret médical ?: </a:t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2332037"/>
            <a:ext cx="8229600" cy="4525963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fr-FR" dirty="0" smtClean="0"/>
              <a:t>a</a:t>
            </a:r>
            <a:r>
              <a:rPr lang="fr-FR" dirty="0"/>
              <a:t>.- Les données de l'examen clinique, </a:t>
            </a:r>
          </a:p>
          <a:p>
            <a:pPr lvl="0">
              <a:buNone/>
            </a:pPr>
            <a:r>
              <a:rPr lang="fr-FR" dirty="0"/>
              <a:t>b.- Les résultats des examens complémentaires, </a:t>
            </a:r>
          </a:p>
          <a:p>
            <a:pPr lvl="0">
              <a:buNone/>
            </a:pPr>
            <a:r>
              <a:rPr lang="fr-FR" dirty="0"/>
              <a:t>c.- Les confidences du médecin, </a:t>
            </a:r>
          </a:p>
          <a:p>
            <a:pPr lvl="0">
              <a:buNone/>
            </a:pPr>
            <a:r>
              <a:rPr lang="fr-FR" dirty="0"/>
              <a:t>d.- Les </a:t>
            </a:r>
            <a:r>
              <a:rPr lang="fr-FR" dirty="0" smtClean="0"/>
              <a:t>formes médico-légales </a:t>
            </a:r>
            <a:r>
              <a:rPr lang="fr-FR" dirty="0"/>
              <a:t>d'un décès, </a:t>
            </a:r>
          </a:p>
          <a:p>
            <a:pPr lvl="0">
              <a:buNone/>
            </a:pPr>
            <a:r>
              <a:rPr lang="fr-FR" dirty="0"/>
              <a:t>e.- Les faits extra-médicaux venant à la connaissance du médecin lors de son </a:t>
            </a:r>
            <a:r>
              <a:rPr lang="fr-FR" dirty="0" smtClean="0"/>
              <a:t>exercice 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77281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sz="2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800" b="1" dirty="0" smtClean="0">
                <a:latin typeface="Times New Roman" pitchFamily="18" charset="0"/>
                <a:cs typeface="Times New Roman" pitchFamily="18" charset="0"/>
              </a:rPr>
              <a:t>Le médecin est tenu de se porter dénonciateur, et ainsi de déroger au secret professionnel prévu par le code pénal en cas de :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306896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A </a:t>
            </a:r>
            <a:r>
              <a:rPr lang="fr-FR" dirty="0"/>
              <a:t>–déclaration de naissance		</a:t>
            </a:r>
          </a:p>
          <a:p>
            <a:pPr>
              <a:buNone/>
            </a:pPr>
            <a:r>
              <a:rPr lang="fr-FR" dirty="0" smtClean="0"/>
              <a:t>B </a:t>
            </a:r>
            <a:r>
              <a:rPr lang="fr-FR" dirty="0"/>
              <a:t>- toxicomanie	</a:t>
            </a:r>
          </a:p>
          <a:p>
            <a:pPr>
              <a:buNone/>
            </a:pPr>
            <a:r>
              <a:rPr lang="fr-FR" dirty="0" smtClean="0"/>
              <a:t>C </a:t>
            </a:r>
            <a:r>
              <a:rPr lang="fr-FR" dirty="0"/>
              <a:t>–accident de travail</a:t>
            </a:r>
          </a:p>
          <a:p>
            <a:pPr>
              <a:buNone/>
            </a:pPr>
            <a:r>
              <a:rPr lang="fr-FR" dirty="0" smtClean="0"/>
              <a:t>D </a:t>
            </a:r>
            <a:r>
              <a:rPr lang="fr-FR" dirty="0"/>
              <a:t>- Avortement illicite	</a:t>
            </a:r>
          </a:p>
          <a:p>
            <a:pPr>
              <a:buNone/>
            </a:pPr>
            <a:r>
              <a:rPr lang="fr-FR" dirty="0" smtClean="0"/>
              <a:t>E </a:t>
            </a:r>
            <a:r>
              <a:rPr lang="fr-FR" dirty="0"/>
              <a:t>- Sévices envers un mineur	</a:t>
            </a:r>
          </a:p>
          <a:p>
            <a:pPr>
              <a:buNone/>
            </a:pPr>
            <a:r>
              <a:rPr lang="fr-FR" dirty="0"/>
              <a:t>	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1052736"/>
            <a:ext cx="8229600" cy="1143000"/>
          </a:xfrm>
        </p:spPr>
        <p:txBody>
          <a:bodyPr>
            <a:normAutofit fontScale="90000"/>
          </a:bodyPr>
          <a:lstStyle/>
          <a:p>
            <a:pPr lvl="0"/>
            <a:r>
              <a:rPr lang="fr-FR" dirty="0" smtClean="0"/>
              <a:t/>
            </a:r>
            <a:br>
              <a:rPr lang="fr-FR" dirty="0" smtClean="0"/>
            </a:b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Le secret médical </a:t>
            </a:r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(cochez les réponses justes)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2332037"/>
            <a:ext cx="8229600" cy="4525963"/>
          </a:xfrm>
        </p:spPr>
        <p:txBody>
          <a:bodyPr>
            <a:normAutofit fontScale="92500"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Concerne uniquement le médecin ;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Concerne tous les professionnels de santé ;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Dans les dérogations absolues, le médecin est dans l’obligation de dévoiler le secret médical ;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Dans les dérogations absolues, le médecin n’est pas obligé de dévoiler le secret médical ;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préservation du secret médical est levée après le décès du malade.  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24744"/>
            <a:ext cx="8229600" cy="1143000"/>
          </a:xfrm>
        </p:spPr>
        <p:txBody>
          <a:bodyPr>
            <a:normAutofit fontScale="90000"/>
          </a:bodyPr>
          <a:lstStyle/>
          <a:p>
            <a:pPr lvl="0"/>
            <a:r>
              <a:rPr lang="fr-FR" sz="2800" b="1" dirty="0" smtClean="0">
                <a:latin typeface="Times New Roman" pitchFamily="18" charset="0"/>
                <a:cs typeface="Times New Roman" pitchFamily="18" charset="0"/>
              </a:rPr>
              <a:t>Dans les dérogations relatives du secret médical : (les réponses justes )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800" dirty="0" smtClean="0">
                <a:latin typeface="Times New Roman" pitchFamily="18" charset="0"/>
                <a:cs typeface="Times New Roman" pitchFamily="18" charset="0"/>
              </a:rPr>
            </a:b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2332037"/>
            <a:ext cx="8229600" cy="4525963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médecin doit dévoiler le secret médical ;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médecin peut dévoiler comme il peut préserver le secret médical ;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Ils concernent les cas d’avortements criminels </a:t>
            </a:r>
            <a:r>
              <a:rPr lang="fr-FR" b="1" dirty="0" smtClean="0"/>
              <a:t>;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médecin risque des sanctions si le secret médical est dévoilé ;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Ils concernent les cas de toxicomanie.</a:t>
            </a:r>
            <a:r>
              <a:rPr lang="fr-FR" b="1" dirty="0" smtClean="0"/>
              <a:t> 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908720"/>
            <a:ext cx="8229600" cy="1143000"/>
          </a:xfrm>
        </p:spPr>
        <p:txBody>
          <a:bodyPr>
            <a:normAutofit fontScale="90000"/>
          </a:bodyPr>
          <a:lstStyle/>
          <a:p>
            <a:pPr lvl="0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800" b="1" dirty="0" smtClean="0">
                <a:latin typeface="Times New Roman" pitchFamily="18" charset="0"/>
                <a:cs typeface="Times New Roman" pitchFamily="18" charset="0"/>
              </a:rPr>
              <a:t>En cas de violation du secret médical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sz="2800" b="1" dirty="0" smtClean="0">
                <a:latin typeface="Times New Roman" pitchFamily="18" charset="0"/>
                <a:cs typeface="Times New Roman" pitchFamily="18" charset="0"/>
              </a:rPr>
              <a:t>( les réponses jutes)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 : </a:t>
            </a:r>
            <a:br>
              <a:rPr lang="fr-FR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fr-FR" sz="2800" dirty="0" smtClean="0">
                <a:latin typeface="Times New Roman" pitchFamily="18" charset="0"/>
                <a:cs typeface="Times New Roman" pitchFamily="18" charset="0"/>
              </a:rPr>
            </a:b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2132856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professionnel de santé ne risque pas des sanctions judiciaires.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professionnel de santé risque des sanctions pénale, civile, disciplinaire et administrative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peine de prison peut être couverte par l’assurance du praticien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dédommagement du malade est assuré par le praticien ou son assurance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sanction pénale est sous forme de peine de prison et/ou une amende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4847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sz="3200" b="1" dirty="0" smtClean="0"/>
              <a:t/>
            </a:r>
            <a:br>
              <a:rPr lang="fr-FR" sz="3200" b="1" dirty="0" smtClean="0"/>
            </a:br>
            <a:r>
              <a:rPr lang="fr-FR" sz="3200" b="1" dirty="0" smtClean="0"/>
              <a:t>Le médecin pourrait légalement dans un cas, rompre le secret médical en ce qui concerne : (RF)</a:t>
            </a:r>
            <a:r>
              <a:rPr lang="fr-FR" sz="3200" dirty="0" smtClean="0"/>
              <a:t/>
            </a:r>
            <a:br>
              <a:rPr lang="fr-FR" sz="3200" dirty="0" smtClean="0"/>
            </a:b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2636912"/>
            <a:ext cx="8229600" cy="4525963"/>
          </a:xfrm>
        </p:spPr>
        <p:txBody>
          <a:bodyPr>
            <a:normAutofit/>
          </a:bodyPr>
          <a:lstStyle/>
          <a:p>
            <a:r>
              <a:rPr lang="fr-FR" dirty="0" smtClean="0"/>
              <a:t>A - Les déclaration des naissances </a:t>
            </a:r>
          </a:p>
          <a:p>
            <a:r>
              <a:rPr lang="fr-FR" dirty="0" smtClean="0"/>
              <a:t>B - Les toxicomanes</a:t>
            </a:r>
          </a:p>
          <a:p>
            <a:r>
              <a:rPr lang="fr-FR" dirty="0" smtClean="0"/>
              <a:t>C - Les personnes qui ont avorté clandestinement</a:t>
            </a:r>
          </a:p>
          <a:p>
            <a:r>
              <a:rPr lang="fr-FR" dirty="0" smtClean="0"/>
              <a:t> D - Les syphilitiques en traitement</a:t>
            </a:r>
          </a:p>
          <a:p>
            <a:r>
              <a:rPr lang="fr-FR" dirty="0" smtClean="0"/>
              <a:t>E - Les sévices à enfants</a:t>
            </a:r>
            <a:br>
              <a:rPr lang="fr-FR" dirty="0" smtClean="0"/>
            </a:b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2474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>L'obligation au secret professionnel médical pour le médecin hospitalier s'applique à :(RF)</a:t>
            </a:r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2332037"/>
            <a:ext cx="8229600" cy="4525963"/>
          </a:xfrm>
        </p:spPr>
        <p:txBody>
          <a:bodyPr>
            <a:normAutofit/>
          </a:bodyPr>
          <a:lstStyle/>
          <a:p>
            <a:r>
              <a:rPr lang="fr-FR" b="1" dirty="0" smtClean="0"/>
              <a:t>A </a:t>
            </a:r>
            <a:r>
              <a:rPr lang="fr-FR" dirty="0" smtClean="0"/>
              <a:t>- Tous les faits d'ordre médical</a:t>
            </a:r>
          </a:p>
          <a:p>
            <a:r>
              <a:rPr lang="fr-FR" b="1" dirty="0" smtClean="0"/>
              <a:t> B </a:t>
            </a:r>
            <a:r>
              <a:rPr lang="fr-FR" dirty="0" smtClean="0"/>
              <a:t>- Tous les faits propres au malade</a:t>
            </a:r>
          </a:p>
          <a:p>
            <a:r>
              <a:rPr lang="fr-FR" b="1" dirty="0" smtClean="0"/>
              <a:t>C </a:t>
            </a:r>
            <a:r>
              <a:rPr lang="fr-FR" dirty="0" smtClean="0"/>
              <a:t>- Tous les faits extra-médicaux venant à la connaissance du médecin lors de son exercice</a:t>
            </a:r>
          </a:p>
          <a:p>
            <a:r>
              <a:rPr lang="fr-FR" b="1" dirty="0" smtClean="0"/>
              <a:t>D </a:t>
            </a:r>
            <a:r>
              <a:rPr lang="fr-FR" dirty="0" smtClean="0"/>
              <a:t>- Aux publications faites sur le cas du malade</a:t>
            </a:r>
          </a:p>
          <a:p>
            <a:r>
              <a:rPr lang="fr-FR" b="1" dirty="0" smtClean="0"/>
              <a:t>C</a:t>
            </a:r>
            <a:r>
              <a:rPr lang="fr-FR" dirty="0" smtClean="0"/>
              <a:t> – toutes les réponses sont fausses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Viole le secret professionnel le médecin qui :(RF)</a:t>
            </a:r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dirty="0" smtClean="0">
                <a:latin typeface="Times New Roman" pitchFamily="18" charset="0"/>
                <a:cs typeface="Times New Roman" pitchFamily="18" charset="0"/>
              </a:rPr>
            </a:b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fr-FR" b="1" dirty="0" smtClean="0"/>
              <a:t>A </a:t>
            </a:r>
            <a:r>
              <a:rPr lang="fr-FR" dirty="0" smtClean="0"/>
              <a:t>- Communique à un tiers les clichés radiographiques d'un de ses patients</a:t>
            </a:r>
          </a:p>
          <a:p>
            <a:r>
              <a:rPr lang="fr-FR" b="1" dirty="0" smtClean="0"/>
              <a:t>B </a:t>
            </a:r>
            <a:r>
              <a:rPr lang="fr-FR" dirty="0" smtClean="0"/>
              <a:t>- Délivre en mains propres un certificat médical à son patient </a:t>
            </a:r>
          </a:p>
          <a:p>
            <a:r>
              <a:rPr lang="fr-FR" b="1" dirty="0" smtClean="0"/>
              <a:t>C </a:t>
            </a:r>
            <a:r>
              <a:rPr lang="fr-FR" dirty="0" smtClean="0"/>
              <a:t>- Fait à la presse un communiqué rectificatif sur les causes de la mort d'un de ses patients</a:t>
            </a:r>
          </a:p>
          <a:p>
            <a:r>
              <a:rPr lang="fr-FR" b="1" dirty="0" smtClean="0"/>
              <a:t> D </a:t>
            </a:r>
            <a:r>
              <a:rPr lang="fr-FR" dirty="0" smtClean="0"/>
              <a:t>- Indique le nom d'un de ses patients dans une publication scientifique</a:t>
            </a:r>
          </a:p>
          <a:p>
            <a:r>
              <a:rPr lang="fr-FR" b="1" dirty="0" smtClean="0"/>
              <a:t>  E </a:t>
            </a:r>
            <a:r>
              <a:rPr lang="fr-FR" dirty="0" smtClean="0"/>
              <a:t>- Dénonce au Procureur de la République sans  l'accord de la victime, l'auteur présumé d'un viol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1484784"/>
            <a:ext cx="8229600" cy="1143000"/>
          </a:xfrm>
        </p:spPr>
        <p:txBody>
          <a:bodyPr>
            <a:normAutofit fontScale="90000"/>
          </a:bodyPr>
          <a:lstStyle/>
          <a:p>
            <a:pPr lvl="0"/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200" b="1" dirty="0" smtClean="0">
                <a:latin typeface="Times New Roman" pitchFamily="18" charset="0"/>
                <a:cs typeface="Times New Roman" pitchFamily="18" charset="0"/>
              </a:rPr>
              <a:t>Parmi les dérogations facultatives du   secret médical : (la R juste)</a:t>
            </a:r>
            <a:r>
              <a:rPr lang="fr-FR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200" dirty="0" smtClean="0">
                <a:latin typeface="Times New Roman" pitchFamily="18" charset="0"/>
                <a:cs typeface="Times New Roman" pitchFamily="18" charset="0"/>
              </a:rPr>
            </a:b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2636912"/>
            <a:ext cx="8229600" cy="4525963"/>
          </a:xfrm>
        </p:spPr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déclaration des maladies contagieuses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déclaration des maladies vénériennes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déclaration des accidents de travail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signalement d’un avortement provoqué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signalement de violences infligées à un mineur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4847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Le secret médical concerne (la R fausse) :</a:t>
            </a: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2132856"/>
            <a:ext cx="8229600" cy="4525963"/>
          </a:xfrm>
        </p:spPr>
        <p:txBody>
          <a:bodyPr/>
          <a:lstStyle/>
          <a:p>
            <a:pPr lvl="0"/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malade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médecins.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infirmiers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Les secrétaires médicales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personnel hospitalier non soignant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2474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Le secret médical est obligatoire : (la R juste)</a:t>
            </a:r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3600" dirty="0" smtClean="0">
                <a:latin typeface="Times New Roman" pitchFamily="18" charset="0"/>
                <a:cs typeface="Times New Roman" pitchFamily="18" charset="0"/>
              </a:rPr>
            </a:b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9552" y="2332037"/>
            <a:ext cx="8229600" cy="4525963"/>
          </a:xfrm>
        </p:spPr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Seulement aux médecins, aux pharmaciens et aux chirurgiens dentistes.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Aux infirmiers.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Au personnel non soignant présent dans la salle de soins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Aux secrétaires médicales.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Toutes les réponses sont justes.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re 1"/>
          <p:cNvSpPr>
            <a:spLocks noGrp="1"/>
          </p:cNvSpPr>
          <p:nvPr>
            <p:ph type="title"/>
          </p:nvPr>
        </p:nvSpPr>
        <p:spPr>
          <a:xfrm>
            <a:off x="395536" y="1124744"/>
            <a:ext cx="8229600" cy="1143000"/>
          </a:xfrm>
        </p:spPr>
        <p:txBody>
          <a:bodyPr/>
          <a:lstStyle/>
          <a:p>
            <a:pPr eaLnBrk="1" hangingPunct="1"/>
            <a:r>
              <a:rPr lang="fr-FR" sz="3600" b="1" dirty="0" smtClean="0"/>
              <a:t>Le  secret médical : (la R juste)</a:t>
            </a:r>
            <a:endParaRPr lang="fr-FR" sz="3600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2132856"/>
            <a:ext cx="8229600" cy="4525963"/>
          </a:xfrm>
        </p:spPr>
        <p:txBody>
          <a:bodyPr rtlCol="0">
            <a:normAutofit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UcPeriod"/>
              <a:defRPr/>
            </a:pPr>
            <a:r>
              <a:rPr lang="fr-FR" dirty="0" smtClean="0"/>
              <a:t>a un intérêt public ou privé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UcPeriod"/>
              <a:defRPr/>
            </a:pPr>
            <a:r>
              <a:rPr lang="fr-FR" dirty="0" smtClean="0"/>
              <a:t>sa révélation est interdite même si la loi l’autorise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UcPeriod"/>
              <a:defRPr/>
            </a:pPr>
            <a:r>
              <a:rPr lang="fr-FR" dirty="0" smtClean="0"/>
              <a:t>peut être légalement révélé pour un intérêt public et ou privé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UcPeriod"/>
              <a:defRPr/>
            </a:pPr>
            <a:r>
              <a:rPr lang="fr-FR" dirty="0" smtClean="0"/>
              <a:t>n’est pas passible d’une peine punitive s’il est révélé accidentellement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lphaUcPeriod"/>
              <a:defRPr/>
            </a:pPr>
            <a:r>
              <a:rPr lang="fr-FR" dirty="0" smtClean="0"/>
              <a:t>ne contient que des dérogations obligatoires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fr-F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re 1"/>
          <p:cNvSpPr>
            <a:spLocks noGrp="1"/>
          </p:cNvSpPr>
          <p:nvPr>
            <p:ph type="title"/>
          </p:nvPr>
        </p:nvSpPr>
        <p:spPr>
          <a:xfrm>
            <a:off x="467544" y="1340768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sz="3600" b="1" smtClean="0"/>
              <a:t/>
            </a:r>
            <a:br>
              <a:rPr lang="fr-FR" sz="3600" b="1" smtClean="0"/>
            </a:br>
            <a:r>
              <a:rPr lang="fr-FR" sz="3600" b="1" smtClean="0"/>
              <a:t>Le </a:t>
            </a:r>
            <a:r>
              <a:rPr lang="fr-FR" sz="3600" b="1" dirty="0" smtClean="0"/>
              <a:t>secret médical couvre : la R F</a:t>
            </a:r>
            <a:r>
              <a:rPr lang="fr-FR" sz="3600" dirty="0" smtClean="0"/>
              <a:t/>
            </a:r>
            <a:br>
              <a:rPr lang="fr-FR" sz="3600" dirty="0" smtClean="0"/>
            </a:br>
            <a:endParaRPr lang="fr-FR" sz="3600" dirty="0" smtClean="0"/>
          </a:p>
        </p:txBody>
      </p:sp>
      <p:sp>
        <p:nvSpPr>
          <p:cNvPr id="24579" name="Espace réservé du contenu 2"/>
          <p:cNvSpPr>
            <a:spLocks noGrp="1"/>
          </p:cNvSpPr>
          <p:nvPr>
            <p:ph idx="1"/>
          </p:nvPr>
        </p:nvSpPr>
        <p:spPr>
          <a:xfrm>
            <a:off x="467544" y="2564904"/>
            <a:ext cx="8229600" cy="4525963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lphaUcPeriod"/>
              <a:defRPr/>
            </a:pPr>
            <a:r>
              <a:rPr lang="fr-FR" dirty="0" smtClean="0"/>
              <a:t>Toutes les confidences du malade</a:t>
            </a:r>
          </a:p>
          <a:p>
            <a:pPr marL="514350" indent="-514350" eaLnBrk="1" hangingPunct="1">
              <a:buFont typeface="+mj-lt"/>
              <a:buAutoNum type="alphaUcPeriod"/>
              <a:defRPr/>
            </a:pPr>
            <a:r>
              <a:rPr lang="fr-FR" dirty="0" smtClean="0"/>
              <a:t>Les diagnostics et thérapeutiques</a:t>
            </a:r>
          </a:p>
          <a:p>
            <a:pPr marL="514350" indent="-514350" eaLnBrk="1" hangingPunct="1">
              <a:buFont typeface="+mj-lt"/>
              <a:buAutoNum type="alphaUcPeriod"/>
              <a:defRPr/>
            </a:pPr>
            <a:r>
              <a:rPr lang="fr-FR" dirty="0" smtClean="0"/>
              <a:t>Les déclarations du malade et de sa famille</a:t>
            </a:r>
          </a:p>
          <a:p>
            <a:pPr marL="514350" indent="-514350" eaLnBrk="1" hangingPunct="1">
              <a:buFont typeface="+mj-lt"/>
              <a:buAutoNum type="alphaUcPeriod"/>
              <a:defRPr/>
            </a:pPr>
            <a:r>
              <a:rPr lang="fr-FR" dirty="0" smtClean="0"/>
              <a:t>Les conversations surprises dans le cabinet du praticien</a:t>
            </a:r>
          </a:p>
          <a:p>
            <a:pPr marL="514350" indent="-514350" eaLnBrk="1" hangingPunct="1">
              <a:buFont typeface="+mj-lt"/>
              <a:buAutoNum type="alphaUcPeriod"/>
              <a:defRPr/>
            </a:pPr>
            <a:r>
              <a:rPr lang="fr-FR" dirty="0" smtClean="0"/>
              <a:t>Les confidences du médecin</a:t>
            </a:r>
          </a:p>
          <a:p>
            <a:pPr eaLnBrk="1" hangingPunct="1">
              <a:defRPr/>
            </a:pPr>
            <a:endParaRPr lang="fr-F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2639</Words>
  <Application>Microsoft Office PowerPoint</Application>
  <PresentationFormat>Affichage à l'écran (4:3)</PresentationFormat>
  <Paragraphs>500</Paragraphs>
  <Slides>81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81</vt:i4>
      </vt:variant>
    </vt:vector>
  </HeadingPairs>
  <TitlesOfParts>
    <vt:vector size="82" baseType="lpstr">
      <vt:lpstr>Thème Office</vt:lpstr>
      <vt:lpstr>Illustration QCM et QCS Diagnostic de la mort Secret médical</vt:lpstr>
      <vt:lpstr>La  mort est : réponse fausse </vt:lpstr>
      <vt:lpstr>La mort absolue : réponse fausse </vt:lpstr>
      <vt:lpstr>La mort apparente (réponse fausse) : </vt:lpstr>
      <vt:lpstr>La  mort relative : réponse fausse </vt:lpstr>
      <vt:lpstr>Parmi les propositions concernant les lividités cadavériques quelle est la plus exacte ? </vt:lpstr>
      <vt:lpstr> les facteurs qui influencent le refroidissement cadavérique sont : cocher la ou les réponses fausses : </vt:lpstr>
      <vt:lpstr>Le refroidissement : réponse fausse </vt:lpstr>
      <vt:lpstr> </vt:lpstr>
      <vt:lpstr>Diapositive 10</vt:lpstr>
      <vt:lpstr> </vt:lpstr>
      <vt:lpstr>Les facteurs qui influencent le refroidissement cadavérique sont : réponse fausse :</vt:lpstr>
      <vt:lpstr>les lividités cadavériques : </vt:lpstr>
      <vt:lpstr>La  rigidité cadavérique : réponse fausse </vt:lpstr>
      <vt:lpstr>la tâche verte abdominale est : cocher la ou les  réponses fausses </vt:lpstr>
      <vt:lpstr>Les  signes positifs de la mort sont : réponse fausse  </vt:lpstr>
      <vt:lpstr>Quelles sont les réponses fausses dans ces signes positifs de la mort : </vt:lpstr>
      <vt:lpstr>Les signes positifs de la mort sont :  réponse fausse</vt:lpstr>
      <vt:lpstr>Parmi les signes positifs de la mort on trouve : réponse fausse</vt:lpstr>
      <vt:lpstr>La rigidité cadavérique est d’installation :  réponse fausse</vt:lpstr>
      <vt:lpstr>La rigidité cadavérique : réponse fausse </vt:lpstr>
      <vt:lpstr>Les  lividités cadavériques : réponse juste</vt:lpstr>
      <vt:lpstr>Les lividités cadavériques sont absentes  : réponse fausse </vt:lpstr>
      <vt:lpstr>Diapositive 24</vt:lpstr>
      <vt:lpstr>Les lividités cadavériques sont dues à : réponse juste</vt:lpstr>
      <vt:lpstr>Les  lividités cadavériques : réponse juste</vt:lpstr>
      <vt:lpstr>Les lividités cadavériques : réponse juste </vt:lpstr>
      <vt:lpstr> La présence de lividités antérieures et postérieures, indiquent une manipulation de cadavre : la réponse juste </vt:lpstr>
      <vt:lpstr> la tâche verte abdominale est : cocher la réponse juste </vt:lpstr>
      <vt:lpstr>la tâche verte abdominale est : cocher la réponse juste</vt:lpstr>
      <vt:lpstr> la tache verte abdominale : la ou les RJ </vt:lpstr>
      <vt:lpstr>Le diagnostic  le plus tardif de la mort repose sur : Cocher la réponse juste  </vt:lpstr>
      <vt:lpstr> Quel est ou quels sont  parmi les examens complémentaires celui ou ceux qui posent le diagnostic de la mort encéphalique : </vt:lpstr>
      <vt:lpstr>Un  sujet en coma dépassé :  réponse juste </vt:lpstr>
      <vt:lpstr> Parmi les signes suivants, quel est celui qui est  obligatoirement présent pour qu’un sujet puisse être déclaré en coma dépassé :  réponse juste </vt:lpstr>
      <vt:lpstr>un sujet en coma dépassé : cocher la ou les réponses justes  </vt:lpstr>
      <vt:lpstr>Un  sujet en coma dépassé :  réponse juste  </vt:lpstr>
      <vt:lpstr>Vous êtes appelé à constater le décès d'un homme âgé de 85 ans, à son domicile. II était alité depuis 6 mois à cause d'une fracture complexe du bassin survenue suite à un accident de la voie publique.  </vt:lpstr>
      <vt:lpstr>Concernant le certificat de décès, quelles propositions sont correctes ?</vt:lpstr>
      <vt:lpstr>Vous réalisez l’examen d’un cadavre portant des traces de violences avec présence d’escarres, un état de déshydratation et une cachexie, dans la 1ère partie du certificat de décès, vous portez :</vt:lpstr>
      <vt:lpstr>Le permis d'inhumer est un document qui est délivré par :</vt:lpstr>
      <vt:lpstr>En cas de mort naturelle, le médecin :</vt:lpstr>
      <vt:lpstr> l’autopsie médico-légale : cocher la réponse juste   </vt:lpstr>
      <vt:lpstr>En  cas de décès de cause naturelle, le médecin :  réponse juste </vt:lpstr>
      <vt:lpstr>En cas de décès de cause naturelle, le médecin :  réponse juste </vt:lpstr>
      <vt:lpstr>L’autopsie judiciaire peu être pratiquée : réponse fausse </vt:lpstr>
      <vt:lpstr>Qui peut signer le permis d’inhumer en cas de mort naturelle ?  réponse juste</vt:lpstr>
      <vt:lpstr>Pour  rédiger le certificat de décès, ils est nécessaire de rechercher les signes positifs de la mort. vous retenez : réponse fausse  </vt:lpstr>
      <vt:lpstr>les éléments de la triade classique des signes positifs précoces de la mort vous permettant d’établir le certificat de décès sont : réponse fausse</vt:lpstr>
      <vt:lpstr>Après  une autopsie judiciaire, l’autorisation d’inhumer est délivré par : réponse juste</vt:lpstr>
      <vt:lpstr>Le  certificat de décès : réponse fausse </vt:lpstr>
      <vt:lpstr>La  partie confidentielle du certificat de décès :  réponse juste</vt:lpstr>
      <vt:lpstr>parmi les signes de déshydratation : </vt:lpstr>
      <vt:lpstr>Les moyens utilisés pour la datation d’un cadavre frais sont : réponse juste :</vt:lpstr>
      <vt:lpstr> la tâche verte abdominale : réponse fausse </vt:lpstr>
      <vt:lpstr>La mort cérébrale : cocher la réponse juste :</vt:lpstr>
      <vt:lpstr>Les  formes médico-légales sont : réponse fausse </vt:lpstr>
      <vt:lpstr>La  mort violente peut être : réponse fausse  </vt:lpstr>
      <vt:lpstr>La mort naturelle : réponse fausse</vt:lpstr>
      <vt:lpstr> Parmi les propositions suivantes une seule est fausse : </vt:lpstr>
      <vt:lpstr> Parmi les critères cliniques d’une mort cérébrale : (la réponse fausse) </vt:lpstr>
      <vt:lpstr> Un sujet en coma dépassé : cocher la réponse juste  </vt:lpstr>
      <vt:lpstr>Diapositive 63</vt:lpstr>
      <vt:lpstr>La violation du secret professionnel par un médecin hospitalier est réprimée par : réponse fausse</vt:lpstr>
      <vt:lpstr>Le médecin est tenu au secret professionnel par :</vt:lpstr>
      <vt:lpstr> Parmi les propositions suivantes concernant le secret médical, Iaquelle est exacte ? </vt:lpstr>
      <vt:lpstr> Parmi les propositions suivantes concernant le secret médical, laquelle ou lesquelles est (sont) vraie(s) ?: </vt:lpstr>
      <vt:lpstr> Il peut y avoir dérogation au secret médical en cas de : </vt:lpstr>
      <vt:lpstr> Parmi les propositions suivantes, laquelle (lesquelles) est (sont) couverte(s) par le secret médical ?:  </vt:lpstr>
      <vt:lpstr> Le médecin est tenu de se porter dénonciateur, et ainsi de déroger au secret professionnel prévu par le code pénal en cas de :  </vt:lpstr>
      <vt:lpstr> Le secret médical : (cochez les réponses justes) </vt:lpstr>
      <vt:lpstr>Dans les dérogations relatives du secret médical : (les réponses justes ) </vt:lpstr>
      <vt:lpstr>  En cas de violation du secret médical : ( les réponses jutes) :    </vt:lpstr>
      <vt:lpstr> Le médecin pourrait légalement dans un cas, rompre le secret médical en ce qui concerne : (RF) </vt:lpstr>
      <vt:lpstr> L'obligation au secret professionnel médical pour le médecin hospitalier s'applique à :(RF) </vt:lpstr>
      <vt:lpstr> Viole le secret professionnel le médecin qui :(RF) </vt:lpstr>
      <vt:lpstr> Parmi les dérogations facultatives du   secret médical : (la R juste) </vt:lpstr>
      <vt:lpstr>Le secret médical concerne (la R fausse) :</vt:lpstr>
      <vt:lpstr> Le secret médical est obligatoire : (la R juste) </vt:lpstr>
      <vt:lpstr>Le  secret médical : (la R juste)</vt:lpstr>
      <vt:lpstr> Le secret médical couvre : la R F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HP</dc:creator>
  <cp:lastModifiedBy>acer</cp:lastModifiedBy>
  <cp:revision>36</cp:revision>
  <dcterms:created xsi:type="dcterms:W3CDTF">2020-12-10T20:39:46Z</dcterms:created>
  <dcterms:modified xsi:type="dcterms:W3CDTF">2024-08-17T16:57:29Z</dcterms:modified>
</cp:coreProperties>
</file>