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0.xml" ContentType="application/vnd.openxmlformats-officedocument.presentationml.slide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2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1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51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50.xml.rels" ContentType="application/vnd.openxmlformats-package.relationships+xml"/>
  <Override PartName="/ppt/slides/_rels/slide13.xml.rels" ContentType="application/vnd.openxmlformats-package.relationships+xml"/>
  <Override PartName="/ppt/slides/_rels/slide40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slide38.xml" ContentType="application/vnd.openxmlformats-officedocument.presentationml.slide+xml"/>
  <Override PartName="/ppt/slides/slide52.xml" ContentType="application/vnd.openxmlformats-officedocument.presentationml.slide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53.xml" ContentType="application/vnd.openxmlformats-officedocument.presentationml.slide+xml"/>
  <Override PartName="/ppt/slides/slide42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5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17B79E-E659-4A9E-A261-A40739E024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DFA782-EFD3-4289-A220-EB6891090E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F18E785-AE10-4586-BA26-D0561E6C37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7A42ED1-3C79-4915-847A-E9E697D2DA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88CC6D4-B402-457A-9399-1ACEBDD044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B4836AB-3743-4A7B-B9F1-2CAFECC5E3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096AD74-BAE3-40CC-AB5C-0CB1A03772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2AA7A1A-3452-47B0-9E60-43503138BF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13DC8F6-1659-4313-B70A-B94958F2F4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FEE6CAA-D63C-4976-882E-93610AD4E7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8651EE6-D1DB-4916-A734-A873DDEDA1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60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4BE717-53A0-406A-B8E7-C0C5AB90E94B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36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765B76-8241-46D4-9104-38EFEDAD183E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44749-E3A1-415A-A918-933BE76E19AB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8F7C0F-4585-408E-B492-3B8C9056217A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60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Modifiez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3FF69B-7727-43DE-8B0F-626FEA810873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D0833A-164B-437D-9EEF-C67FB580BE36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052936-8B5A-4934-AE3E-8675F5AB3FF3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FF9A84-9EC7-48BA-A922-505067CA06F7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D3D5C-EA37-4653-BA59-9653FBC3D560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4C120D-232A-4DAE-B095-0F84273B8206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pc="-1" strike="noStrike">
                <a:solidFill>
                  <a:schemeClr val="dk1"/>
                </a:solidFill>
                <a:latin typeface="Calibri Light"/>
              </a:rPr>
              <a:t>Modifiez le style du titre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189026-A473-4988-B38C-DFC763E18C58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fr-FR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appendicite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- 1 L’appendicite aigue non compliquée 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Est une urgence chirurgicale.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Est la plus fréquente des urgences chirurgicales.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Ne s’accompagne jamais de fièvre.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Se voit le plus souvent chez le sujet âgé.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Son diagnostic repose essentiellement sur la clinique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OpenSymbol"/>
              <a:buChar char="-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 Parmi les propositions suivantes relatives au diagnostic des appendicites aigues, citer celles qui sont exactes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L’appendicite mésocœliaque peut simuler une salpingite aiguë.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L’appendicite pelvienne peut être révélée par des signes urinaires.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Le toucher rectal est toujours douloureux.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Il peut exister une hyperleucocytose.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Une T° à 40°C est compatible avec le diagnostic d’appendicite aiguë non compliquée.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4- Concernant l'appendice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Elle est exposée au risque de la stase et donc à au risque d'infection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Pour se protéger contre la stase; sont contenu est évacuer grâce à sa couche musculaire.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Pour se protéger contre la stase; elle est munie d'une valve qui ne laisse rien passer en dedans.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foie envahie par les germes sa couche lymphoïde intervient.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Son inflammation est souvent favorisée par la présence de stercolithe.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7- L'appendicite est une urgence parce qu’il y'a: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le plus souvent; un risque de passage vers une péritonite localisée.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le plus souvent; un risque de passage vers une péritonite généralisée.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 risque d'extension de lésions infectieuses.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 risque de suppurations hépatiques secondaires.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Seule A est juste.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12- Le plastron appendiculaire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Constitue une évolution de l’appendicite aigue vers une rétrocession initiale.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Est constitué par une agglutination d’anses intestinales et de l’épiplon autour de l’appendice.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Se traduit par un blindage pariétal.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Nécessite une intervention chirurgicale en urgence.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Peut évoluer vers l’abcèdation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16- CS: Un patient consulte pour un syndrome appendiculaire subaigu. A l'examen abdominal, vous ne trouvez pas des signes physiques aussi nets que vous étiez en droit d'attendre; patient est obèse et l'examen difficile. Vous retenez parmi ces 5 propositions: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L'absence de défense de la fosse iliaque droite infirme le diagnostic évoqué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La langue très saburrale est un signe reconnu d'orientation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 nombre normal de globules blancs avec une lymphocytose à 50-70% confirme le diagnostic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En l'absence d'urgence une TDM peut confirmer l'atteinte appendiculaire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Une fébricule à 38ºC incite à prescrire repos et traitement antibiotique de quelques jours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20- Parmi les complications précoces (inférieures à 6 jours) qui peuvent suivre une appendicectomie, citer celle(s) qui est(sont) exacte(s):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Occlusion sur bride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Péritonite post-opératoire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Iléus paralytique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Eventration sur la cicatrice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Abcès de paroi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21- Une appendicite, sans préjuger de sa forme anatomo-clinique, opérée par une incision de Mac Burney, chez un adulte jeune indemne de toute autre pathologie, peut se compliquer: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D'un abcès de paroi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D'une éviscération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D'une éventration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D'une fistule caecale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D'une fistule du grêle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Lithiase biliaire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2- Chez une femme de 40 ans ayant fait une première crise de colique hépatique régressive sous traitement symptomatique, l'échographie abdominale montre une lithiase vésiculaire simple. Quelle est la conduite à tenir 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la prise régulière de Spasfon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 traitement dissolvant par l'acide ursodésoxycholique (Delursan 250 3 cp/j) pendant 6 mois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 cathétérisme rétrograde avec sphinctérotomie endoscopique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cholécystectomie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l'abstention thérapeutique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4- La douleur de colique hépatique dans sa forme typique 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Siège dans l'hypocondre droit ou l'épigastre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A un début brutal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A des irradiations descendantes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Inhibe l'inspiration profonde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Est souvent associée à des nausées ou vomissements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8- Chez un vieillard , la Lithiase Vésiculaire peut se réveler par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Une colique hépathique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 malaise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des troubles psychiques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Aucun symptôme ou une symptomatologie modérée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Toutes les réponses sont justes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9- La cholécystectomie pour lithiase vésiculaire non compliquée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Est efficace sur les crises de colique hépatique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Est d'effet variable sur les troubles dyspeptiques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Supprime le risque de calculo-cancer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Est efficace sur les migraines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Présente un risque opératoire minime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10- Quel(s) est (sont) le(s) risque(s) évolutif(s) de la lithiase vésiculaire 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La lithiase du cholédoque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Le cancer de la vésicule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Le cancer du pancréas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L'iléus biliaire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La pancréatite aiguë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12- A propos de la pathologie des voies biliaires (V.B.) il est exact que 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Une lithiase vésiculaire est le plus souvent symptomatique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L'hydrocholécyste est une indication opératoire formelle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Le risque de survenue d'un cancer justifie la cholécystectomie systématique de toute vésicule lithiasique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L'échographie visualise plus aisément une lithiase de la VBP qu'une lithiase vésiculaire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La cholangiographie per-opératoire n'est indiquée, au cours de la cholécystectomie. qu'en cas de suspicion de lithiase cholédocienne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15- Quel est l'examen le plus sensible pour la détection de la lithiase vésiculaire 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scanner abdominal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échographie abdominale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cholécystographie orale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ASP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biligraphie intraveineuse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19- Une microlithiase vésiculaire symptomatique peut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Etre sensible au traitement dissolvant médicamenteux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Etre une indication chirurgicale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Etre une cause de pancréatite aiguë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Etre d'origine hémolytique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Etre parfois méconnue à l'échographie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20- Parmi les propositions suivantes, citez celle(s) qui peut(peuvent) favoriser la survenue d'une lithiase vésiculaire 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L'ethnie.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L'alimentation riche en protéines.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La nutrition parentérale totale.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La résection jéjunale.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Le traitement par des analogues de la somatostatine.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OIA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1- CS: Au cours de l’occlusion mécanique, il n'existe pas: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Une déshydratation extracellulaire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Une insuffisance rénale organique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Une pullulation microbienne intra luminale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 troisième secteur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 risque d’ischémie intestinale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2- CM: Dans les occlusions par simple obstruction, Il y'a un(e):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Hypovolémie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Hyponatrémie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Acidose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Insuffisance rénale organique au début.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Troisième secteur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3- Dans l'occlusion intestinale par strangulation, on enregistre: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Une hypernatrémie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Une prolifération bactérienne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Une hypovolémie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 choc septique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 choc cardiogénique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4- CS: L'occlusion intestianle aiguë, peut être due à toutes ses propositions sauf une laquelle?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Une fracture du rachis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Une hypokaliémie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Une hyperthyroïdie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ischémie artérielle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 obstacle extra-intestinal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5- Dans l'occlusion à anses fermés, on trouve: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Une endotoxémie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Une acidose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Une alcalose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hypovolémie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 choc septique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6- Les conséquences locales de l'occlusion sont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Une stase veineuse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Une anoxie de la paroi intestinale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Une paralysie progressive de l'intestin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congestion 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La création d'un troisième secteur inutilisable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8- Une occlusion intestinale met en jeux la vie d'un patient par: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Une péritonite uniquement par diffusion.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Une hypovolémie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Une spoliation ionique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hémodilution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Une hémoconcentration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9- L'occlusion intestinale peut être due à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Un hyper péristaltisme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Une hyponatrémie.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 volvulus.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tumeur hépatique.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Une compression jéjunale.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12- Une occlusion spasmodique reflexe est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Liée à la contracture d'un segment intestinal.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En rapport avec la proximité d'un foyer infectieux.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En rapport avec un hématome rétro péritonéal.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Liée à un volvulus.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La conséquence d'une strangulation intestinale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Cancer colorectale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1- Quelle est l'attitude thérapeutique à proposer chez un homme de 50 ans, en bon état général chez lequel le bilan d'extension d'un cancer du rectum à 4 cm de la marge anale découvre une métastase hépatique unique superficielle du segment VI de 2 cm de diamètre ? A - dérivation colique et chimiothérapie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 - irradiation pelvienne et chimiothérapie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 - radiothérapie de contact et chimiothérapie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 - amputation abdomino-périnéale et métastasectomie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 - amputation abdomino-périnéale et chimiothérapie intra-hépatique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2- Un homme de 45 ans vient de subir une résection antérieure pour un adénocarcinome du rectum situé à 8 cm de la marge anale. L'examen anatomo-pathologique conclut à un stade pT1 pNO MO (envahissement de la sous-muqueuse). Quelle attitude complémentaire faut-il programmer 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 - association chimiothérapie-radiothérapie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 - immunothérapie active non spécifique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 - irradiation pelvienne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 - surveillance clinique et endoscopique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 - aucune de ces attitudes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3- Au cours d'une occlusion par cancer sténosant du sigmoïde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 - les vomissements sont précoces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 - l'arrêt des matières et des gaz est tardif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 - l'angle colique gauche est distendu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 - le toucher rectal fait le diagnostic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 - l'abdomen est mat à la percussion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4- Pour assurer un curage ganglionnaire satisfaisant dans le traitement chirurgical d'un cancer du colon droit, il faut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 - lier l'artère mésentérique inférieure à l'origine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 - lier l'artère mésentérique supérieure à l'origine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 - lier l'artère mésentérique supérieure sous la naissance de l'artère colique supérieure droite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 - lier l'artère colique supérieure droite et l'artère iléo-caeco-colo-appendiculaire à leur origine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 - lier le tronc porte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5- Le dépistage des cancers colorectaux dans la population générale peut se faire par des examens de première intention tous les deux ans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 - sigmoïdoscopie par fibroscopie colique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 - hémoccult II et coloscopie si l'hémoccult est positif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 - lavement baryté en double contraste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 - coloscopie complète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 - rectoscopie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6- Quel est le traitement curatif d'un cancer du bas rectum de 4 cm de diamètre, atteignant l'appareil sphinctérien?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 - résection sigmoïdienne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 - proctectomie avec anastomose colo-anale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 - chimiothérapie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 - amputation abdomino-périnéale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 - résection rectale antérieure avec anastomose colorectale basse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7- La surveillance du cancer du côlon après résection chirurgicale à visée curative comporte pendant les 3 premières années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 - un dosage du CA 19-9 tous les 3 mois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 - une tomodensitométrie abdomino-pelvienne tous les 3 à 6 mois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 - une immuno-scintigraphie par anticorps monoclonaux pour repérage de l'ACE tumoral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 - une coloscopie tous les 3 à 6 mois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 - une échographie tous les 3 à 6 mois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9- Parmi les données de l'examen histopathologique d'une pièce opératoire de cancer du colon ou du rectum qui ont une influence sur le pronostic, on peut citer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 - le caractère circonférentiel de la lésion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 - le niveau d'invasion selon Astler et Coller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 - le caractère infiltrant de la lésion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 - le cancer développé sur polype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 - l'atteinte ganglionnaire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Cancer de l’estomac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1- Un cancer de l'estomac peut être révélé par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Douleurs épigastriques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Vomissements alimentaires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Hématémèse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Phlébites récidivantes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Constipation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2- Parmi les chaînes ganglionnaires suivantes, quelle est celle qui est le plus souvent envahie, au cours du cancer de la petite courbure verticale de l'estomac?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Cardiotubérositaire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Gastro-epiloïque droite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Mésentérique supérieure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Coronaire stomachique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Pylorique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3- Le cancer muco-érosif de l'estomac: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Peut évoluer spontanément pendant plus de 5 ans, en donnant un minimum de signes cliniques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Est associé, après traitement, à un taux de survie supérieur à 80% à 5 ans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Représente 35% des cancers gastriques en France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Peut être confondu avec une ulcération bénigne de l'estomac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Peut se révéler par une perforation gastrique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6- Parmi les lésions suivantes, indiquer celle(s) qui prédispose(nt) au cancer de l'estomac: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Gastrite atrophique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Ulcère duodénal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Gastrite médicamenteuse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Angiome gastrique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Polyadénome gastrique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9- Parmi les descriptions suivantes, quelles sont celles pouvant faire évoquer une linite gastrique ?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Il s'agit souvent d'un adénocarcinome peu différencié, avec cellules en bagues à chaton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L'aspect endoscopique de la muqueuse peut être normal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L'épaississement de la paroi en échoendoscopie est très évocateur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Il s'agit d'un cancer de bon pronostic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Le transit baryté gastroduodénal peut faire évoquer le diagnostic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2- Parmi les interventions chirurgicales classiques suivantes, quelles sont celles qui permettent un curage ganglionnaire satisfaisant dans le traitement d'un cancer de l'antre gastrique 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la gastrectomie totale avec anastomose oesojéjunale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l'antrectomie avec anastomose gastro-duodénale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la tumorectomie gastrique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la gastrectomie des 4/5èmes avec anastomose gastro-jéjunale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la fundoplicature de Toupe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3- Un homme de 65 ans vient d'être opéré d'un cancer malpighien de l'œsophage situé au 1/3 inférieur. Il a été réalisé une oesophagectomie avec gastroplastie. Quels sont les critères d'indication de la radiothérapie externe 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recoupe oesophagienne positive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curage siège d'adénopathie métastatique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tumeur circonférentielle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diamètre tumoral de 3 cm de diamètre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carcinome malpighien peu différencié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5- En attendant le traitement d'un cancer de l'estomac, quel médicament allez-vous proposer 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Oméprazole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Ibuprofen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Fluoro-Uracile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Indométhacine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Diclofénac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fr-FR" sz="2800" spc="-1" strike="noStrike">
                <a:solidFill>
                  <a:schemeClr val="dk1"/>
                </a:solidFill>
                <a:latin typeface="Calibri"/>
              </a:rPr>
              <a:t>11- L'adénocarcinome gastrique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1" lang="fr-FR" sz="2800" spc="-1" strike="noStrike">
                <a:solidFill>
                  <a:schemeClr val="dk1"/>
                </a:solidFill>
                <a:latin typeface="Calibri"/>
              </a:rPr>
              <a:t>Peut être secondaire à Helicobacter pylori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Calibri"/>
              </a:rPr>
              <a:t>B. Est parfois lié à une maladie coeliaque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Calibri"/>
              </a:rPr>
              <a:t>C. La radio chimiothérapie adjuvante peut améliorer son pronostic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Calibri"/>
              </a:rPr>
              <a:t>D. Est une complication évolutive de l'anémie de Biermer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800" spc="-1" strike="noStrike">
                <a:solidFill>
                  <a:schemeClr val="dk1"/>
                </a:solidFill>
                <a:latin typeface="Calibri"/>
              </a:rPr>
              <a:t>E. Nécessite une écho endoscopie afin d'avoir un 'bilan d'extension' (classification TNM) satisfaisant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83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12- Laquelle ou lesquelles de ces affirmations sur le cancer gastrique est(sont)-elle(s) exacte(s)?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La cicatrisation sous IPP d’une lésion ulcérée gastrique permet de distinguer ulcère bénin et cancer ulcéré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L’atrophie et la métaplasie intestinale au cours de la gastrite chronique sont des lésions pré-cancéreuses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L’infection antrale par Helicobacter pylori protège contre le risque de cancer gastrique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L’adénocarcinome et le carcinome épidermoïde de l’estomac sont les 2 cancers les plus fréquents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Le diagnostic des tumeurs épithéliales gastriques repose sur l’écho-endoscopie avec biopsies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13- L’infection gastrique par Helicobacter pylori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N’explique que 1% des cancers gastriques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N’est pas un facteur suffisant de carcinogénèse gastrique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Est un facteur reconnu de cancérogénèse gastrique (adénocarcinome)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Est également un facteur de survenue de lymphome gastrique du MALT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Doit être recherchée et traitée dans la famille au 1er degré des patients présentant un adénocarcinome gastrique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Cancer du pancreas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1- Le cancer de la tête du pancréas est caractérisé au plan clinique et dans sa forme typique: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Par un ictère généralisé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Par un prurit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Par un amaigrissement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Par une grosse vésicule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Par une température à 39°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2- Parmi les propositions suivantes, citer celle(s) qui peut(vent) révèler un cancer du pancréas exocrine: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Amaigrissement isolé important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Diabète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Diarrhées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Des phlébites à répétition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 ictère cholestatique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4- Quand on suspecte un cancer du pancréas à l'origine d'un ictère à bilirubine conjuguée, quel est (ou quels sont) l'(les) examen(s) complémentaire(s) utile(s) au diagnostic?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Echographie pancréatique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Scanner abdominal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Duodénoscopie avec cholangiographie et Wirsungographie rétrogrades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Cholangiographie intra-veineuse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Abdomen sans préparation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7- Le cancer de la tête du pancréas peut être traité par toutes les interventions suivantes, sauf une, laquelle?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lphaUcPeriod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Une duodéno-pancréatectomie céphalique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Une pancréatectomie sans duodénectomie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Une anastomose gastro-jéjunale et cholédoco-jéjunale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anastomose gastro-jéjunale et cholédoco-duodénale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La mise en place d'une prothése par voie endoscopique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8- Parmi les signes cliniques cités, quel est celui qui devant un ictère par cholestase permet d'évoquer le diagnostic d'adénocarcinome de la tête du pancréas :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A. l'intensité de l'ictère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B. un prurit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C. des urines foncées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D. une hépatomégalie lisse 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E. une grosse vésicule biliaire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autres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192" lnSpcReduction="10000"/>
          </a:bodyPr>
          <a:p>
            <a:pPr marL="274320" indent="-274320" defTabSz="914400">
              <a:lnSpc>
                <a:spcPct val="100000"/>
              </a:lnSpc>
              <a:spcBef>
                <a:spcPts val="601"/>
              </a:spcBef>
              <a:buClr>
                <a:srgbClr val="72a376"/>
              </a:buClr>
              <a:buSzPct val="70000"/>
              <a:buFont typeface="Wingdings" charset="2"/>
              <a:buChar char="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. Quelle caractéristique de la hernie crurale non compliquée est fausse ?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A. Indolore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B. Siégeant à la racine de la cuisse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C. Située au-dessus de la ligne de Malgaigne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D. Réductible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E. Impulsive à la toux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 lnSpcReduction="10000"/>
          </a:bodyPr>
          <a:p>
            <a:pPr marL="274320" indent="-274320" defTabSz="914400">
              <a:lnSpc>
                <a:spcPct val="100000"/>
              </a:lnSpc>
              <a:spcBef>
                <a:spcPts val="601"/>
              </a:spcBef>
              <a:buClr>
                <a:srgbClr val="72a376"/>
              </a:buClr>
              <a:buSzPct val="70000"/>
              <a:buFont typeface="Wingdings" charset="2"/>
              <a:buChar char="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. Une péritonite appendiculaire entraîne : (Cochez la réponse fausse) 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A. Des douleurs abdominales à début brutal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B. Une contracture abdominale prédominant dans la fosse iliaque droite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C. Des douleurs au cul de sac de Douglas au toucher rectal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D. Un pneumopéritoine à la radio d'abdomen sans préparation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E. Un syndrome infectieux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 lnSpcReduction="10000"/>
          </a:bodyPr>
          <a:p>
            <a:pPr marL="274320" indent="-274320" defTabSz="914400">
              <a:lnSpc>
                <a:spcPct val="100000"/>
              </a:lnSpc>
              <a:spcBef>
                <a:spcPts val="601"/>
              </a:spcBef>
              <a:buClr>
                <a:srgbClr val="72a376"/>
              </a:buClr>
              <a:buSzPct val="70000"/>
              <a:buFont typeface="Wingdings" charset="2"/>
              <a:buChar char="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Lors de l'examen initial d'un brûlé, quelle est ou quelles sont la (les) proposition(s) exacte(s) ? 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A. Une atteinte globale du membre supérieur représente une brûlure de 9% de la surface corporelle 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B. Une atteinte globale du membre inférieur représente une brûlure de 18% de la surface corporelle 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C. Si le pourcentage de surface brûlée additionné à l'âge du brûlé dépasse 100, le pronostic est quasiment fatal 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D. Les brûlures électriques sont les plus douloureuses 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E. Dans les brûlures du 2e degré, le derme et ses formations annexes sont détruits 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74320" indent="-274320" defTabSz="914400">
              <a:lnSpc>
                <a:spcPct val="100000"/>
              </a:lnSpc>
              <a:spcBef>
                <a:spcPts val="601"/>
              </a:spcBef>
              <a:buClr>
                <a:srgbClr val="72a376"/>
              </a:buClr>
              <a:buSzPct val="70000"/>
              <a:buFont typeface="Wingdings" charset="2"/>
              <a:buChar char="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. Une dysphagie peut s'observer dans les situations suivantes, sauf une. Laquelle ?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A. Œsophagite peptique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B. Cancer de l'œsophage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C. Varices œsophagiennes de stade 1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D. Mycose œsophagienne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E. Achalasie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74320" indent="-274320" defTabSz="914400">
              <a:lnSpc>
                <a:spcPct val="100000"/>
              </a:lnSpc>
              <a:spcBef>
                <a:spcPts val="601"/>
              </a:spcBef>
              <a:buClr>
                <a:srgbClr val="72a376"/>
              </a:buClr>
              <a:buSzPct val="70000"/>
              <a:buFont typeface="Wingdings" charset="2"/>
              <a:buChar char="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La dysphagie du cancer de l'œsophage : (Cochez la réponse juste)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A. Témoigne d'une extension médiastinale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B. Est d'abord marquée pour les aliments solides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C. Apparaît dès le début de la croissance tumorale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D. Est d'évolution capricieuse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E. Est palliée par des traitements non chirurgicaux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fr-FR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192" lnSpcReduction="10000"/>
          </a:bodyPr>
          <a:p>
            <a:pPr marL="274320" indent="-274320" defTabSz="914400">
              <a:lnSpc>
                <a:spcPct val="100000"/>
              </a:lnSpc>
              <a:spcBef>
                <a:spcPts val="601"/>
              </a:spcBef>
              <a:buClr>
                <a:srgbClr val="72a376"/>
              </a:buClr>
              <a:buSzPct val="70000"/>
              <a:buFont typeface="Wingdings" charset="2"/>
              <a:buChar char="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Le cancer de l'œsophage : (Cochez la ou les réponses justes)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A. Touche préférentiellement la femme jeune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B. Est responsable d'une dysphagie paradoxale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C. Histologiquement, est habituellement un carcinome épidermoïde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D. Nécessite une fibroscopie œsophagienne pour son diagnostic positif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640080" indent="-274320" defTabSz="914400">
              <a:lnSpc>
                <a:spcPct val="100000"/>
              </a:lnSpc>
              <a:spcBef>
                <a:spcPts val="479"/>
              </a:spcBef>
              <a:buClr>
                <a:srgbClr val="72a376"/>
              </a:buClr>
              <a:buSzPct val="80000"/>
              <a:buFont typeface="Wingdings 2" charset="2"/>
              <a:buChar char=""/>
            </a:pPr>
            <a:r>
              <a:rPr b="0" lang="fr-FR" sz="2400" spc="-1" strike="noStrike">
                <a:solidFill>
                  <a:srgbClr val="000000"/>
                </a:solidFill>
                <a:latin typeface="Century Schoolbook"/>
              </a:rPr>
              <a:t>E. Peut être révélé par une adénopathie de Troisier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</TotalTime>
  <Application>LibreOffice/24.2.7.2$Linux_X86_64 LibreOffice_project/420$Build-2</Application>
  <AppVersion>15.0000</AppVersion>
  <Words>3128</Words>
  <Paragraphs>367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2023-09-15T08:21:22Z</dcterms:created>
  <dc:creator>Utilisateur Windows</dc:creator>
  <dc:description/>
  <dc:language>fr-FR</dc:language>
  <cp:lastModifiedBy/>
  <dcterms:modified xsi:type="dcterms:W3CDTF">2026-04-15T09:05:11Z</dcterms:modified>
  <cp:revision>18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57</vt:i4>
  </property>
</Properties>
</file>