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3" r:id="rId40"/>
    <p:sldId id="295" r:id="rId41"/>
    <p:sldId id="296" r:id="rId42"/>
    <p:sldId id="297" r:id="rId43"/>
    <p:sldId id="301" r:id="rId44"/>
    <p:sldId id="299" r:id="rId45"/>
    <p:sldId id="300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4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F183-012A-43AB-A31E-349E03E3AC5B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83F3-FE4D-4FF3-A492-887A9892B87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7524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F183-012A-43AB-A31E-349E03E3AC5B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83F3-FE4D-4FF3-A492-887A9892B87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182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F183-012A-43AB-A31E-349E03E3AC5B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83F3-FE4D-4FF3-A492-887A9892B87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071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F183-012A-43AB-A31E-349E03E3AC5B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83F3-FE4D-4FF3-A492-887A9892B87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82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F183-012A-43AB-A31E-349E03E3AC5B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83F3-FE4D-4FF3-A492-887A9892B87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1089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F183-012A-43AB-A31E-349E03E3AC5B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83F3-FE4D-4FF3-A492-887A9892B87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1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F183-012A-43AB-A31E-349E03E3AC5B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83F3-FE4D-4FF3-A492-887A9892B87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22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F183-012A-43AB-A31E-349E03E3AC5B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83F3-FE4D-4FF3-A492-887A9892B87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0517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F183-012A-43AB-A31E-349E03E3AC5B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83F3-FE4D-4FF3-A492-887A9892B87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3146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F183-012A-43AB-A31E-349E03E3AC5B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83F3-FE4D-4FF3-A492-887A9892B87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5312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F183-012A-43AB-A31E-349E03E3AC5B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683F3-FE4D-4FF3-A492-887A9892B87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587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0F183-012A-43AB-A31E-349E03E3AC5B}" type="datetimeFigureOut">
              <a:rPr lang="fr-FR" smtClean="0"/>
              <a:t>10/10/2023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683F3-FE4D-4FF3-A492-887A9892B87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270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Atelier ORL </a:t>
            </a:r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Suite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659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41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5- Toutes les propositions suivantes sont des causes d'épistaxis sauf une, laquelle?</a:t>
            </a:r>
          </a:p>
          <a:p>
            <a:pPr marL="0" indent="0">
              <a:buNone/>
            </a:pPr>
            <a:r>
              <a:rPr lang="fr-FR" dirty="0" smtClean="0"/>
              <a:t>A. Maladie de Rendu Osler</a:t>
            </a:r>
          </a:p>
          <a:p>
            <a:pPr marL="0" indent="0">
              <a:buNone/>
            </a:pPr>
            <a:r>
              <a:rPr lang="fr-FR" dirty="0" smtClean="0"/>
              <a:t>B. Maladie de Hand Schuller Christian</a:t>
            </a:r>
          </a:p>
          <a:p>
            <a:pPr marL="0" indent="0">
              <a:buNone/>
            </a:pPr>
            <a:r>
              <a:rPr lang="fr-FR" dirty="0" smtClean="0"/>
              <a:t>C. Fracture du nez</a:t>
            </a:r>
          </a:p>
          <a:p>
            <a:pPr marL="0" indent="0">
              <a:buNone/>
            </a:pPr>
            <a:r>
              <a:rPr lang="fr-FR" dirty="0" smtClean="0"/>
              <a:t>D. Cancer de l'ethmoïde</a:t>
            </a:r>
          </a:p>
          <a:p>
            <a:pPr marL="0" indent="0">
              <a:buNone/>
            </a:pPr>
            <a:r>
              <a:rPr lang="fr-FR" dirty="0" smtClean="0"/>
              <a:t>E. Fibrome </a:t>
            </a:r>
            <a:r>
              <a:rPr lang="fr-FR" dirty="0" err="1" smtClean="0"/>
              <a:t>naso-pharyngien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6845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41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5- Toutes les propositions suivantes sont des causes d'épistaxis sauf une, laquelle?</a:t>
            </a:r>
          </a:p>
          <a:p>
            <a:pPr marL="0" indent="0">
              <a:buNone/>
            </a:pPr>
            <a:r>
              <a:rPr lang="fr-FR" dirty="0" smtClean="0"/>
              <a:t>A. Maladie de Rendu Osler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B. Maladie de Hand Schuller Christian (</a:t>
            </a:r>
            <a:r>
              <a:rPr lang="fr-FR" dirty="0" err="1" smtClean="0">
                <a:solidFill>
                  <a:srgbClr val="FF0000"/>
                </a:solidFill>
              </a:rPr>
              <a:t>Histiocytose</a:t>
            </a:r>
            <a:r>
              <a:rPr lang="fr-FR" dirty="0" smtClean="0">
                <a:solidFill>
                  <a:srgbClr val="FF0000"/>
                </a:solidFill>
              </a:rPr>
              <a:t> à C Langerhans)</a:t>
            </a:r>
          </a:p>
          <a:p>
            <a:pPr marL="0" indent="0">
              <a:buNone/>
            </a:pPr>
            <a:r>
              <a:rPr lang="fr-FR" dirty="0" smtClean="0"/>
              <a:t>C. Fracture du nez</a:t>
            </a:r>
          </a:p>
          <a:p>
            <a:pPr marL="0" indent="0">
              <a:buNone/>
            </a:pPr>
            <a:r>
              <a:rPr lang="fr-FR" dirty="0" smtClean="0"/>
              <a:t>D. Cancer de l'ethmoïde</a:t>
            </a:r>
          </a:p>
          <a:p>
            <a:pPr marL="0" indent="0">
              <a:buNone/>
            </a:pPr>
            <a:r>
              <a:rPr lang="fr-FR" dirty="0" smtClean="0"/>
              <a:t>E. Fibrome </a:t>
            </a:r>
            <a:r>
              <a:rPr lang="fr-FR" dirty="0" err="1" smtClean="0"/>
              <a:t>naso-pharyngien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7281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42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6- Parmi les affections ci-dessous, laquelle ou lesquelles peuvent être responsables à la fois d'une obstruction nasale et d'une épistaxis?</a:t>
            </a:r>
          </a:p>
          <a:p>
            <a:pPr marL="0" indent="0">
              <a:buNone/>
            </a:pPr>
            <a:r>
              <a:rPr lang="fr-FR" dirty="0" smtClean="0"/>
              <a:t>A. Déviation de la cloison nasale</a:t>
            </a:r>
          </a:p>
          <a:p>
            <a:pPr marL="0" indent="0">
              <a:buNone/>
            </a:pPr>
            <a:r>
              <a:rPr lang="fr-FR" dirty="0" smtClean="0"/>
              <a:t>B. Fibrome </a:t>
            </a:r>
            <a:r>
              <a:rPr lang="fr-FR" dirty="0" err="1" smtClean="0"/>
              <a:t>naso-pharyngien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C. Polypose </a:t>
            </a:r>
            <a:r>
              <a:rPr lang="fr-FR" dirty="0" err="1" smtClean="0"/>
              <a:t>naso-sinusienne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D. Tumeur maligne des fosses nasales</a:t>
            </a:r>
          </a:p>
          <a:p>
            <a:pPr marL="0" indent="0">
              <a:buNone/>
            </a:pPr>
            <a:r>
              <a:rPr lang="fr-FR" dirty="0" smtClean="0"/>
              <a:t>E. Maladie de Rendu Osler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7792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42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6- Parmi les affections ci-dessous, laquelle ou lesquelles peuvent être responsables à la fois d'une obstruction nasale et d'une épistaxis?</a:t>
            </a:r>
          </a:p>
          <a:p>
            <a:pPr marL="0" indent="0">
              <a:buNone/>
            </a:pPr>
            <a:r>
              <a:rPr lang="fr-FR" dirty="0" smtClean="0"/>
              <a:t>A. Déviation de la cloison nasale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B. Fibrome </a:t>
            </a:r>
            <a:r>
              <a:rPr lang="fr-FR" dirty="0" err="1" smtClean="0">
                <a:solidFill>
                  <a:srgbClr val="FF0000"/>
                </a:solidFill>
              </a:rPr>
              <a:t>naso-pharyngien</a:t>
            </a:r>
            <a:endParaRPr lang="fr-FR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dirty="0" smtClean="0"/>
              <a:t>C. Polypose </a:t>
            </a:r>
            <a:r>
              <a:rPr lang="fr-FR" dirty="0" err="1" smtClean="0"/>
              <a:t>naso-sinusienne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D. Tumeur maligne des fosses nasales</a:t>
            </a:r>
          </a:p>
          <a:p>
            <a:pPr marL="0" indent="0">
              <a:buNone/>
            </a:pPr>
            <a:r>
              <a:rPr lang="fr-FR" dirty="0" smtClean="0"/>
              <a:t>E. Maladie de Rendu Osler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3145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43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7- L'épistaxis grave peut être secondaire à un certain nombre de causes. Parmi les suivantes, laquelle ou lesquelles devez-vous évoquer?</a:t>
            </a:r>
          </a:p>
          <a:p>
            <a:pPr marL="0" indent="0">
              <a:buNone/>
            </a:pPr>
            <a:r>
              <a:rPr lang="fr-FR" dirty="0" smtClean="0"/>
              <a:t>A. Traitement </a:t>
            </a:r>
            <a:r>
              <a:rPr lang="fr-FR" dirty="0" err="1" smtClean="0"/>
              <a:t>anti-coagulant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B. Insuffisance hépatique</a:t>
            </a:r>
          </a:p>
          <a:p>
            <a:pPr marL="0" indent="0">
              <a:buNone/>
            </a:pPr>
            <a:r>
              <a:rPr lang="fr-FR" dirty="0" smtClean="0"/>
              <a:t>C. Fibrome </a:t>
            </a:r>
            <a:r>
              <a:rPr lang="fr-FR" dirty="0" err="1" smtClean="0"/>
              <a:t>naso-pharyngien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D. Polypose </a:t>
            </a:r>
            <a:r>
              <a:rPr lang="fr-FR" dirty="0" err="1" smtClean="0"/>
              <a:t>naso-sinusienne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E. Hypertension artérielle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854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43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7- L'épistaxis grave peut être secondaire à un certain nombre de causes. Parmi les suivantes, laquelle ou lesquelles devez-vous évoquer?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A. Traitement </a:t>
            </a:r>
            <a:r>
              <a:rPr lang="fr-FR" dirty="0" err="1" smtClean="0">
                <a:solidFill>
                  <a:srgbClr val="FF0000"/>
                </a:solidFill>
              </a:rPr>
              <a:t>anti-coagulant</a:t>
            </a:r>
            <a:endParaRPr lang="fr-FR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B. Insuffisance hépatique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C. Fibrome </a:t>
            </a:r>
            <a:r>
              <a:rPr lang="fr-FR" dirty="0" err="1" smtClean="0">
                <a:solidFill>
                  <a:srgbClr val="FF0000"/>
                </a:solidFill>
              </a:rPr>
              <a:t>naso-pharyngien</a:t>
            </a:r>
            <a:endParaRPr lang="fr-FR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dirty="0" smtClean="0"/>
              <a:t>D. Polypose </a:t>
            </a:r>
            <a:r>
              <a:rPr lang="fr-FR" dirty="0" err="1" smtClean="0"/>
              <a:t>naso-sinusienne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E. Hypertension artérielle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809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44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8- Devant une épistaxis grave, la fosse </a:t>
            </a:r>
            <a:r>
              <a:rPr lang="fr-FR" dirty="0" err="1" smtClean="0"/>
              <a:t>ptérygo</a:t>
            </a:r>
            <a:r>
              <a:rPr lang="fr-FR" dirty="0" smtClean="0"/>
              <a:t>-maxillaire peut être abordée pour pratiquer la ligature de: </a:t>
            </a:r>
          </a:p>
          <a:p>
            <a:pPr marL="0" indent="0">
              <a:buNone/>
            </a:pPr>
            <a:r>
              <a:rPr lang="fr-FR" dirty="0" smtClean="0"/>
              <a:t>A. L'artère maxillaire interne</a:t>
            </a:r>
          </a:p>
          <a:p>
            <a:pPr marL="0" indent="0">
              <a:buNone/>
            </a:pPr>
            <a:r>
              <a:rPr lang="fr-FR" dirty="0" smtClean="0"/>
              <a:t>B. L'artère maxillaire externe</a:t>
            </a:r>
          </a:p>
          <a:p>
            <a:pPr marL="0" indent="0">
              <a:buNone/>
            </a:pPr>
            <a:r>
              <a:rPr lang="fr-FR" dirty="0" smtClean="0"/>
              <a:t>C. L'artère carotide externe</a:t>
            </a:r>
          </a:p>
          <a:p>
            <a:pPr marL="0" indent="0">
              <a:buNone/>
            </a:pPr>
            <a:r>
              <a:rPr lang="fr-FR" dirty="0" smtClean="0"/>
              <a:t>D. L'artère ethmoïdale antérieure</a:t>
            </a:r>
          </a:p>
          <a:p>
            <a:pPr marL="0" indent="0">
              <a:buNone/>
            </a:pPr>
            <a:r>
              <a:rPr lang="fr-FR" dirty="0" smtClean="0"/>
              <a:t>E. L'artère carotide interne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14650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44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8- Devant une épistaxis grave, la fosse </a:t>
            </a:r>
            <a:r>
              <a:rPr lang="fr-FR" dirty="0" err="1" smtClean="0"/>
              <a:t>ptérygo</a:t>
            </a:r>
            <a:r>
              <a:rPr lang="fr-FR" dirty="0" smtClean="0"/>
              <a:t>-maxillaire peut être abordée pour pratiquer la ligature de: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A. L'artère maxillaire interne</a:t>
            </a:r>
          </a:p>
          <a:p>
            <a:pPr marL="0" indent="0">
              <a:buNone/>
            </a:pPr>
            <a:r>
              <a:rPr lang="fr-FR" dirty="0" smtClean="0"/>
              <a:t>B. L'artère maxillaire externe</a:t>
            </a:r>
          </a:p>
          <a:p>
            <a:pPr marL="0" indent="0">
              <a:buNone/>
            </a:pPr>
            <a:r>
              <a:rPr lang="fr-FR" dirty="0" smtClean="0"/>
              <a:t>C. L'artère carotide externe</a:t>
            </a:r>
          </a:p>
          <a:p>
            <a:pPr marL="0" indent="0">
              <a:buNone/>
            </a:pPr>
            <a:r>
              <a:rPr lang="fr-FR" dirty="0" smtClean="0"/>
              <a:t>D. L'artère ethmoïdale antérieure</a:t>
            </a:r>
          </a:p>
          <a:p>
            <a:pPr marL="0" indent="0">
              <a:buNone/>
            </a:pPr>
            <a:r>
              <a:rPr lang="fr-FR" dirty="0" smtClean="0"/>
              <a:t>E. L'artère carotide interne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5747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45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9- Quelle est la lésion la plus fréquemment en cause à l'origine des épistaxis récidivantes chez l'adolescent masculin ?</a:t>
            </a:r>
          </a:p>
          <a:p>
            <a:pPr marL="0" indent="0">
              <a:buNone/>
            </a:pPr>
            <a:r>
              <a:rPr lang="fr-FR" dirty="0" smtClean="0"/>
              <a:t>A. </a:t>
            </a:r>
            <a:r>
              <a:rPr lang="fr-FR" dirty="0" err="1" smtClean="0"/>
              <a:t>Angiofibrome</a:t>
            </a:r>
            <a:r>
              <a:rPr lang="fr-FR" dirty="0" smtClean="0"/>
              <a:t> </a:t>
            </a:r>
            <a:r>
              <a:rPr lang="fr-FR" dirty="0" err="1" smtClean="0"/>
              <a:t>naso-pharyngien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B. Fibrome saignant de la cloison</a:t>
            </a:r>
          </a:p>
          <a:p>
            <a:pPr marL="0" indent="0">
              <a:buNone/>
            </a:pPr>
            <a:r>
              <a:rPr lang="fr-FR" dirty="0" smtClean="0"/>
              <a:t>C. Tumeur nerveuse des fosses nasales</a:t>
            </a:r>
          </a:p>
          <a:p>
            <a:pPr marL="0" indent="0">
              <a:buNone/>
            </a:pPr>
            <a:r>
              <a:rPr lang="fr-FR" dirty="0" smtClean="0"/>
              <a:t>D. Epithélioma glandulaire de l'ethmoïde</a:t>
            </a:r>
          </a:p>
          <a:p>
            <a:pPr marL="0" indent="0">
              <a:buNone/>
            </a:pPr>
            <a:r>
              <a:rPr lang="fr-FR" dirty="0" smtClean="0"/>
              <a:t>E. Sarcome des fosses nasales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83747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45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9- Quelle est la lésion la plus fréquemment en cause à l'origine des épistaxis récidivantes chez l'adolescent masculin ?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A. </a:t>
            </a:r>
            <a:r>
              <a:rPr lang="fr-FR" dirty="0" err="1" smtClean="0">
                <a:solidFill>
                  <a:srgbClr val="FF0000"/>
                </a:solidFill>
              </a:rPr>
              <a:t>Angiofibrome</a:t>
            </a:r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dirty="0" err="1" smtClean="0">
                <a:solidFill>
                  <a:srgbClr val="FF0000"/>
                </a:solidFill>
              </a:rPr>
              <a:t>naso-pharyngien</a:t>
            </a:r>
            <a:endParaRPr lang="fr-FR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dirty="0" smtClean="0"/>
              <a:t>B. Fibrome saignant de la cloison</a:t>
            </a:r>
          </a:p>
          <a:p>
            <a:pPr marL="0" indent="0">
              <a:buNone/>
            </a:pPr>
            <a:r>
              <a:rPr lang="fr-FR" dirty="0" smtClean="0"/>
              <a:t>C. Tumeur nerveuse des fosses nasales</a:t>
            </a:r>
          </a:p>
          <a:p>
            <a:pPr marL="0" indent="0">
              <a:buNone/>
            </a:pPr>
            <a:r>
              <a:rPr lang="fr-FR" dirty="0" smtClean="0"/>
              <a:t>D. Epithélioma glandulaire de l'ethmoïde</a:t>
            </a:r>
          </a:p>
          <a:p>
            <a:pPr marL="0" indent="0">
              <a:buNone/>
            </a:pPr>
            <a:r>
              <a:rPr lang="fr-FR" dirty="0" smtClean="0"/>
              <a:t>E. Sarcome des fosses nasales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128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46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10- Un adulte de 50 ans présente une obstruction nasale progressive accompagnée d'épistaxis récidivantes. Quel diagnostic doit-on envisager ?</a:t>
            </a:r>
          </a:p>
          <a:p>
            <a:pPr marL="0" indent="0">
              <a:buNone/>
            </a:pPr>
            <a:r>
              <a:rPr lang="fr-FR" dirty="0" smtClean="0"/>
              <a:t>A. Végétations adénoïdes</a:t>
            </a:r>
          </a:p>
          <a:p>
            <a:pPr marL="0" indent="0">
              <a:buNone/>
            </a:pPr>
            <a:r>
              <a:rPr lang="fr-FR" dirty="0" smtClean="0"/>
              <a:t>B. Ectasie de la tache vasculaire</a:t>
            </a:r>
          </a:p>
          <a:p>
            <a:pPr marL="0" indent="0">
              <a:buNone/>
            </a:pPr>
            <a:r>
              <a:rPr lang="fr-FR" dirty="0" smtClean="0"/>
              <a:t>C. Polypose nasale</a:t>
            </a:r>
          </a:p>
          <a:p>
            <a:pPr marL="0" indent="0">
              <a:buNone/>
            </a:pPr>
            <a:r>
              <a:rPr lang="fr-FR" dirty="0" smtClean="0"/>
              <a:t>D. Fibrome </a:t>
            </a:r>
            <a:r>
              <a:rPr lang="fr-FR" dirty="0" err="1" smtClean="0"/>
              <a:t>naso-pharyngien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E. Tumeur de l'ethmoïde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7227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46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10- Un adulte de 50 ans présente une obstruction nasale progressive accompagnée d'épistaxis récidivantes. Quel diagnostic doit-on envisager ?</a:t>
            </a:r>
          </a:p>
          <a:p>
            <a:pPr marL="0" indent="0">
              <a:buNone/>
            </a:pPr>
            <a:r>
              <a:rPr lang="fr-FR" dirty="0" smtClean="0"/>
              <a:t>A. Végétations adénoïdes</a:t>
            </a:r>
          </a:p>
          <a:p>
            <a:pPr marL="0" indent="0">
              <a:buNone/>
            </a:pPr>
            <a:r>
              <a:rPr lang="fr-FR" dirty="0" smtClean="0"/>
              <a:t>B. Ectasie de la tache vasculaire</a:t>
            </a:r>
          </a:p>
          <a:p>
            <a:pPr marL="0" indent="0">
              <a:buNone/>
            </a:pPr>
            <a:r>
              <a:rPr lang="fr-FR" dirty="0" smtClean="0"/>
              <a:t>C. Polypose nasale</a:t>
            </a:r>
          </a:p>
          <a:p>
            <a:pPr marL="0" indent="0">
              <a:buNone/>
            </a:pPr>
            <a:r>
              <a:rPr lang="fr-FR" dirty="0" smtClean="0"/>
              <a:t>D. Fibrome </a:t>
            </a:r>
            <a:r>
              <a:rPr lang="fr-FR" dirty="0" err="1" smtClean="0"/>
              <a:t>naso-pharyngien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E. Tumeur de l'ethmoïde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6977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47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11- En quel point de la fosse nasale siège le plus souvent l'hémorragie lors d'une épistaxis antérieure?</a:t>
            </a:r>
          </a:p>
          <a:p>
            <a:pPr marL="514350" indent="-514350">
              <a:buAutoNum type="alphaUcPeriod"/>
            </a:pPr>
            <a:r>
              <a:rPr lang="fr-FR" dirty="0" smtClean="0"/>
              <a:t>Méat moyen </a:t>
            </a:r>
          </a:p>
          <a:p>
            <a:pPr marL="0" indent="0">
              <a:buNone/>
            </a:pPr>
            <a:r>
              <a:rPr lang="fr-FR" dirty="0" smtClean="0"/>
              <a:t>B. Tache jaune</a:t>
            </a:r>
          </a:p>
          <a:p>
            <a:pPr marL="0" indent="0">
              <a:buNone/>
            </a:pPr>
            <a:r>
              <a:rPr lang="fr-FR" dirty="0" smtClean="0"/>
              <a:t>C. Cornet moyen </a:t>
            </a:r>
          </a:p>
          <a:p>
            <a:pPr marL="0" indent="0">
              <a:buNone/>
            </a:pPr>
            <a:r>
              <a:rPr lang="fr-FR" dirty="0" smtClean="0"/>
              <a:t>D. Tache vasculaire</a:t>
            </a:r>
          </a:p>
          <a:p>
            <a:pPr marL="0" indent="0">
              <a:buNone/>
            </a:pPr>
            <a:r>
              <a:rPr lang="fr-FR" dirty="0" smtClean="0"/>
              <a:t>E. Face interne de la narine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7857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47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11- En quel point de la fosse nasale siège le plus souvent l'hémorragie lors d'une épistaxis antérieure?</a:t>
            </a:r>
          </a:p>
          <a:p>
            <a:pPr marL="514350" indent="-514350">
              <a:buAutoNum type="alphaUcPeriod"/>
            </a:pPr>
            <a:r>
              <a:rPr lang="fr-FR" dirty="0" smtClean="0"/>
              <a:t>Méat moyen </a:t>
            </a:r>
          </a:p>
          <a:p>
            <a:pPr marL="0" indent="0">
              <a:buNone/>
            </a:pPr>
            <a:r>
              <a:rPr lang="fr-FR" dirty="0" smtClean="0"/>
              <a:t>B. Tache jaune</a:t>
            </a:r>
          </a:p>
          <a:p>
            <a:pPr marL="0" indent="0">
              <a:buNone/>
            </a:pPr>
            <a:r>
              <a:rPr lang="fr-FR" dirty="0" smtClean="0"/>
              <a:t>C. Cornet moyen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D. Tache vasculaire</a:t>
            </a:r>
          </a:p>
          <a:p>
            <a:pPr marL="0" indent="0">
              <a:buNone/>
            </a:pPr>
            <a:r>
              <a:rPr lang="fr-FR" dirty="0" smtClean="0"/>
              <a:t>E. Face interne de la narine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7450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48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12- Parmi ces étiologies, quelle(s) est (sont) celle(s) responsable(s) d'épistaxis ?</a:t>
            </a:r>
          </a:p>
          <a:p>
            <a:pPr marL="0" indent="0">
              <a:buNone/>
            </a:pPr>
            <a:r>
              <a:rPr lang="fr-FR" dirty="0" smtClean="0"/>
              <a:t>A. Polype allergique</a:t>
            </a:r>
          </a:p>
          <a:p>
            <a:pPr marL="0" indent="0">
              <a:buNone/>
            </a:pPr>
            <a:r>
              <a:rPr lang="fr-FR" dirty="0" smtClean="0"/>
              <a:t>B. Fibrome </a:t>
            </a:r>
            <a:r>
              <a:rPr lang="fr-FR" dirty="0" err="1" smtClean="0"/>
              <a:t>naso</a:t>
            </a:r>
            <a:r>
              <a:rPr lang="fr-FR" dirty="0" smtClean="0"/>
              <a:t> pharyngien</a:t>
            </a:r>
          </a:p>
          <a:p>
            <a:pPr marL="0" indent="0">
              <a:buNone/>
            </a:pPr>
            <a:r>
              <a:rPr lang="fr-FR" dirty="0" smtClean="0"/>
              <a:t>C. Fracture de l'étage antérieur</a:t>
            </a:r>
          </a:p>
          <a:p>
            <a:pPr marL="0" indent="0">
              <a:buNone/>
            </a:pPr>
            <a:r>
              <a:rPr lang="fr-FR" dirty="0" smtClean="0"/>
              <a:t>D. Maladie de Hand Schuller Christian</a:t>
            </a:r>
          </a:p>
          <a:p>
            <a:pPr marL="0" indent="0">
              <a:buNone/>
            </a:pPr>
            <a:r>
              <a:rPr lang="fr-FR" dirty="0" smtClean="0"/>
              <a:t>E. Maladie de Rendu Osler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2228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48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5501"/>
            <a:ext cx="10515600" cy="4351338"/>
          </a:xfrm>
        </p:spPr>
        <p:txBody>
          <a:bodyPr/>
          <a:lstStyle/>
          <a:p>
            <a:r>
              <a:rPr lang="fr-FR" dirty="0" smtClean="0"/>
              <a:t>12- Parmi ces étiologies, quelle(s) est (sont) celle(s) responsable(s) d'épistaxis ?</a:t>
            </a:r>
          </a:p>
          <a:p>
            <a:pPr marL="0" indent="0">
              <a:buNone/>
            </a:pPr>
            <a:r>
              <a:rPr lang="fr-FR" dirty="0" smtClean="0"/>
              <a:t>A. Polype allergique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B. Fibrome </a:t>
            </a:r>
            <a:r>
              <a:rPr lang="fr-FR" dirty="0" err="1" smtClean="0">
                <a:solidFill>
                  <a:srgbClr val="FF0000"/>
                </a:solidFill>
              </a:rPr>
              <a:t>naso</a:t>
            </a:r>
            <a:r>
              <a:rPr lang="fr-FR" dirty="0" smtClean="0">
                <a:solidFill>
                  <a:srgbClr val="FF0000"/>
                </a:solidFill>
              </a:rPr>
              <a:t> pharyngien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C. Fracture de l'étage antérieur</a:t>
            </a:r>
          </a:p>
          <a:p>
            <a:pPr marL="0" indent="0">
              <a:buNone/>
            </a:pPr>
            <a:r>
              <a:rPr lang="fr-FR" dirty="0" smtClean="0"/>
              <a:t>D. Maladie de Hand Schuller Christian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E. Maladie de Rendu Osler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896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49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15- Toutes ces propositions concernent la maladie de Rendu-Osler, sauf une. Laquelle ?</a:t>
            </a:r>
          </a:p>
          <a:p>
            <a:pPr marL="0" indent="0">
              <a:buNone/>
            </a:pPr>
            <a:r>
              <a:rPr lang="fr-FR" dirty="0" smtClean="0"/>
              <a:t>A. C'est une cause d'épistaxis</a:t>
            </a:r>
          </a:p>
          <a:p>
            <a:pPr marL="0" indent="0">
              <a:buNone/>
            </a:pPr>
            <a:r>
              <a:rPr lang="fr-FR" dirty="0" smtClean="0"/>
              <a:t>B. Existence d'angiomes au niveau des doigts</a:t>
            </a:r>
          </a:p>
          <a:p>
            <a:pPr marL="0" indent="0">
              <a:buNone/>
            </a:pPr>
            <a:r>
              <a:rPr lang="fr-FR" dirty="0" smtClean="0"/>
              <a:t>C. Existence d'angiomes au niveau des lèvres</a:t>
            </a:r>
          </a:p>
          <a:p>
            <a:pPr marL="0" indent="0">
              <a:buNone/>
            </a:pPr>
            <a:r>
              <a:rPr lang="fr-FR" dirty="0" smtClean="0"/>
              <a:t>D. Maladie autosomique dominante</a:t>
            </a:r>
          </a:p>
          <a:p>
            <a:pPr marL="0" indent="0">
              <a:buNone/>
            </a:pPr>
            <a:r>
              <a:rPr lang="fr-FR" dirty="0" smtClean="0"/>
              <a:t>E. Spontanément résolutive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5535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49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15- Toutes ces propositions concernent la maladie de Rendu-Osler, sauf une. Laquelle ?</a:t>
            </a:r>
          </a:p>
          <a:p>
            <a:pPr marL="0" indent="0">
              <a:buNone/>
            </a:pPr>
            <a:r>
              <a:rPr lang="fr-FR" dirty="0" smtClean="0"/>
              <a:t>A. C'est une cause d'épistaxis</a:t>
            </a:r>
          </a:p>
          <a:p>
            <a:pPr marL="0" indent="0">
              <a:buNone/>
            </a:pPr>
            <a:r>
              <a:rPr lang="fr-FR" dirty="0" smtClean="0"/>
              <a:t>B. Existence d'angiomes au niveau des doigts</a:t>
            </a:r>
          </a:p>
          <a:p>
            <a:pPr marL="0" indent="0">
              <a:buNone/>
            </a:pPr>
            <a:r>
              <a:rPr lang="fr-FR" dirty="0" smtClean="0"/>
              <a:t>C. Existence d'angiomes au niveau des lèvres</a:t>
            </a:r>
          </a:p>
          <a:p>
            <a:pPr marL="0" indent="0">
              <a:buNone/>
            </a:pPr>
            <a:r>
              <a:rPr lang="fr-FR" dirty="0" smtClean="0"/>
              <a:t>D. Maladie autosomique dominante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E. Spontanément résolutive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488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50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Parmi les propositions suivantes, lesquelles peuvent être à l’origine d’un syndrome vestibulaire central?</a:t>
            </a:r>
          </a:p>
          <a:p>
            <a:pPr marL="0" indent="0">
              <a:buNone/>
            </a:pPr>
            <a:r>
              <a:rPr lang="fr-FR" dirty="0" smtClean="0"/>
              <a:t>A. labyrinthite</a:t>
            </a:r>
          </a:p>
          <a:p>
            <a:pPr marL="0" indent="0">
              <a:buNone/>
            </a:pPr>
            <a:r>
              <a:rPr lang="fr-FR" dirty="0" smtClean="0"/>
              <a:t>B. Syndrome de Wallenberg</a:t>
            </a:r>
          </a:p>
          <a:p>
            <a:pPr marL="0" indent="0">
              <a:buNone/>
            </a:pPr>
            <a:r>
              <a:rPr lang="fr-FR" dirty="0" smtClean="0"/>
              <a:t>C. Maladie de Menière</a:t>
            </a:r>
          </a:p>
          <a:p>
            <a:pPr marL="0" indent="0">
              <a:buNone/>
            </a:pPr>
            <a:r>
              <a:rPr lang="fr-FR" dirty="0" smtClean="0"/>
              <a:t>D. Neurinome de l’acoustique</a:t>
            </a:r>
          </a:p>
          <a:p>
            <a:pPr marL="0" indent="0">
              <a:buNone/>
            </a:pPr>
            <a:r>
              <a:rPr lang="fr-FR" dirty="0" smtClean="0"/>
              <a:t>E. Ototoxicité</a:t>
            </a:r>
          </a:p>
          <a:p>
            <a:pPr marL="0" indent="0">
              <a:buNone/>
            </a:pPr>
            <a:r>
              <a:rPr lang="fr-FR" dirty="0" smtClean="0"/>
              <a:t>F. Infarctus cérébelleux</a:t>
            </a:r>
          </a:p>
          <a:p>
            <a:pPr marL="0" indent="0">
              <a:buNone/>
            </a:pPr>
            <a:r>
              <a:rPr lang="fr-FR" dirty="0" smtClean="0"/>
              <a:t>G. Thrombose de l’artère auditive interne</a:t>
            </a:r>
          </a:p>
          <a:p>
            <a:pPr marL="0" indent="0">
              <a:buNone/>
            </a:pPr>
            <a:r>
              <a:rPr lang="fr-FR" dirty="0" smtClean="0"/>
              <a:t>H. Gliome de bas grade cérébelleux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5506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50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Parmi les propositions suivantes, lesquelles peuvent être à l’origine d’un syndrome vestibulaire central?</a:t>
            </a:r>
          </a:p>
          <a:p>
            <a:pPr marL="0" indent="0">
              <a:buNone/>
            </a:pPr>
            <a:r>
              <a:rPr lang="fr-FR" dirty="0" smtClean="0"/>
              <a:t>A. labyrinthite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B. Syndrome de Wallenberg</a:t>
            </a:r>
          </a:p>
          <a:p>
            <a:pPr marL="0" indent="0">
              <a:buNone/>
            </a:pPr>
            <a:r>
              <a:rPr lang="fr-FR" dirty="0" smtClean="0"/>
              <a:t>C. Maladie de Menière</a:t>
            </a:r>
          </a:p>
          <a:p>
            <a:pPr marL="0" indent="0">
              <a:buNone/>
            </a:pPr>
            <a:r>
              <a:rPr lang="fr-FR" dirty="0" smtClean="0"/>
              <a:t>D. Neurinome de l’acoustique</a:t>
            </a:r>
          </a:p>
          <a:p>
            <a:pPr marL="0" indent="0">
              <a:buNone/>
            </a:pPr>
            <a:r>
              <a:rPr lang="fr-FR" dirty="0" smtClean="0"/>
              <a:t>E. Ototoxicité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F. Infarctus cérébelleux</a:t>
            </a:r>
          </a:p>
          <a:p>
            <a:pPr marL="0" indent="0">
              <a:buNone/>
            </a:pPr>
            <a:r>
              <a:rPr lang="fr-FR" dirty="0" smtClean="0"/>
              <a:t>G. Thrombose de l’artère auditive interne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H. Gliome de bas grade cérébelleux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70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</a:t>
            </a:r>
            <a:r>
              <a:rPr lang="fr-FR" dirty="0" smtClean="0"/>
              <a:t>51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 smtClean="0"/>
              <a:t>Concernant la maladie de Menière, cochez les réponses justes:</a:t>
            </a:r>
          </a:p>
          <a:p>
            <a:pPr marL="0" indent="0">
              <a:buNone/>
            </a:pPr>
            <a:r>
              <a:rPr lang="fr-FR" dirty="0" smtClean="0"/>
              <a:t>A- elle peut se présenter sous la forme d’un vertige durant quelques heures et récidivants</a:t>
            </a:r>
          </a:p>
          <a:p>
            <a:pPr marL="0" indent="0">
              <a:buNone/>
            </a:pPr>
            <a:r>
              <a:rPr lang="fr-FR" dirty="0" smtClean="0"/>
              <a:t>B- elle peut se présenter sous la forme d’une surdité de perception unilatérale avec acouphènes</a:t>
            </a:r>
          </a:p>
          <a:p>
            <a:pPr marL="0" indent="0">
              <a:buNone/>
            </a:pPr>
            <a:r>
              <a:rPr lang="fr-FR" dirty="0" smtClean="0"/>
              <a:t>C- elle peut se présenter sous la forme d’un grand vertige unique</a:t>
            </a:r>
          </a:p>
          <a:p>
            <a:pPr marL="0" indent="0">
              <a:buNone/>
            </a:pPr>
            <a:r>
              <a:rPr lang="fr-FR" dirty="0" smtClean="0"/>
              <a:t>D- elle peut se présenter sous la forme d’une sensation vertigineuse constante</a:t>
            </a:r>
          </a:p>
          <a:p>
            <a:pPr marL="0" indent="0">
              <a:buNone/>
            </a:pPr>
            <a:r>
              <a:rPr lang="fr-FR" dirty="0" smtClean="0"/>
              <a:t>E- elle peut se présenter sous la forme d’un vertige déclenché par la manœuvre de Dix et </a:t>
            </a:r>
            <a:r>
              <a:rPr lang="fr-FR" dirty="0" err="1" smtClean="0"/>
              <a:t>Hallpike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F- elle peut se présenter sous la forme d’un vertige déclenché par la pression du tragus</a:t>
            </a:r>
          </a:p>
          <a:p>
            <a:pPr marL="0" indent="0">
              <a:buNone/>
            </a:pPr>
            <a:r>
              <a:rPr lang="fr-FR" dirty="0" smtClean="0"/>
              <a:t>G- elle est due à une hypertension </a:t>
            </a:r>
            <a:r>
              <a:rPr lang="fr-FR" dirty="0" err="1" smtClean="0"/>
              <a:t>endolymphatique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H- elle est due à une </a:t>
            </a:r>
            <a:r>
              <a:rPr lang="fr-FR" dirty="0" err="1" smtClean="0"/>
              <a:t>canalolithiase</a:t>
            </a:r>
            <a:r>
              <a:rPr lang="fr-FR" dirty="0" smtClean="0"/>
              <a:t> dans le canal semi-circulaire postérieur</a:t>
            </a:r>
          </a:p>
          <a:p>
            <a:pPr marL="0" indent="0">
              <a:buNone/>
            </a:pPr>
            <a:r>
              <a:rPr lang="fr-FR" dirty="0" smtClean="0"/>
              <a:t>i- le vertige de la maladie de Menière est souvent isolé</a:t>
            </a:r>
          </a:p>
          <a:p>
            <a:pPr marL="0" indent="0">
              <a:buNone/>
            </a:pPr>
            <a:r>
              <a:rPr lang="fr-FR" dirty="0" smtClean="0"/>
              <a:t>J- le vertige de la maladie de Menière est souvent associé à des signes végétatifs </a:t>
            </a:r>
          </a:p>
          <a:p>
            <a:pPr marL="0" indent="0">
              <a:buNone/>
            </a:pPr>
            <a:r>
              <a:rPr lang="fr-FR" dirty="0" smtClean="0"/>
              <a:t>K- le vertige de la maladie de Menière est souvent associé à des signes cochléaires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118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</a:t>
            </a:r>
            <a:r>
              <a:rPr lang="fr-FR" dirty="0" smtClean="0"/>
              <a:t>51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 smtClean="0"/>
              <a:t>Concernant la maladie de Menière, cochez les réponses justes: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A- elle peut se présenter sous la forme d’un vertige durant quelques heures et récidivants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B- elle peut se présenter sous la forme d’une surdité de perception unilatérale avec acouphènes</a:t>
            </a:r>
          </a:p>
          <a:p>
            <a:pPr marL="0" indent="0">
              <a:buNone/>
            </a:pPr>
            <a:r>
              <a:rPr lang="fr-FR" dirty="0" smtClean="0"/>
              <a:t>C- elle peut se présenter sous la forme d’un grand vertige unique</a:t>
            </a:r>
          </a:p>
          <a:p>
            <a:pPr marL="0" indent="0">
              <a:buNone/>
            </a:pPr>
            <a:r>
              <a:rPr lang="fr-FR" dirty="0" smtClean="0"/>
              <a:t>D- elle peut se présenter sous la forme d’une sensation vertigineuse constante</a:t>
            </a:r>
          </a:p>
          <a:p>
            <a:pPr marL="0" indent="0">
              <a:buNone/>
            </a:pPr>
            <a:r>
              <a:rPr lang="fr-FR" dirty="0" smtClean="0"/>
              <a:t>E- elle peut se présenter sous la forme d’un vertige déclenché par la manœuvre de Dix et </a:t>
            </a:r>
            <a:r>
              <a:rPr lang="fr-FR" dirty="0" err="1" smtClean="0"/>
              <a:t>Hallpike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F- elle peut se présenter sous la forme d’un vertige déclenché par la pression du tragus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G- elle est due à une hypertension </a:t>
            </a:r>
            <a:r>
              <a:rPr lang="fr-FR" dirty="0" err="1" smtClean="0">
                <a:solidFill>
                  <a:srgbClr val="FF0000"/>
                </a:solidFill>
              </a:rPr>
              <a:t>endolymphatique</a:t>
            </a:r>
            <a:endParaRPr lang="fr-FR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dirty="0" smtClean="0"/>
              <a:t>H- elle est due à une </a:t>
            </a:r>
            <a:r>
              <a:rPr lang="fr-FR" dirty="0" err="1" smtClean="0"/>
              <a:t>canalolithiase</a:t>
            </a:r>
            <a:r>
              <a:rPr lang="fr-FR" dirty="0" smtClean="0"/>
              <a:t> dans le canal semi-circulaire postérieur</a:t>
            </a:r>
          </a:p>
          <a:p>
            <a:pPr marL="0" indent="0">
              <a:buNone/>
            </a:pPr>
            <a:r>
              <a:rPr lang="fr-FR" dirty="0" smtClean="0"/>
              <a:t>i- le vertige de la maladie de Menière est souvent isolé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J- le vertige de la maladie de Menière est souvent associé à des signes végétatifs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FF0000"/>
                </a:solidFill>
              </a:rPr>
              <a:t>K- le vertige de la maladie de Menière est souvent associé à des signes cochléaires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424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fr-FR" b="1" u="sng" dirty="0" smtClean="0"/>
              <a:t>Cas clinique</a:t>
            </a:r>
            <a:endParaRPr lang="fr-FR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dirty="0" err="1" smtClean="0"/>
              <a:t>Marya</a:t>
            </a:r>
            <a:r>
              <a:rPr lang="fr-FR" dirty="0" smtClean="0"/>
              <a:t> est un nourrisson âgée </a:t>
            </a:r>
            <a:r>
              <a:rPr lang="fr-FR" dirty="0"/>
              <a:t>de 10 mois (poids 8kg, taille 70cm), a été bien portante jusqu’à l’âge de </a:t>
            </a:r>
            <a:r>
              <a:rPr lang="fr-FR" dirty="0" smtClean="0"/>
              <a:t>3 mois</a:t>
            </a:r>
            <a:r>
              <a:rPr lang="fr-FR" dirty="0"/>
              <a:t>. De 3 à 9 mois, elle a eu de nombreuses infections rhinopharyngées fébriles traitées </a:t>
            </a:r>
            <a:r>
              <a:rPr lang="fr-FR" dirty="0" smtClean="0"/>
              <a:t>par antibiotiques. </a:t>
            </a:r>
          </a:p>
          <a:p>
            <a:r>
              <a:rPr lang="fr-FR" dirty="0" smtClean="0"/>
              <a:t>L’épisode </a:t>
            </a:r>
            <a:r>
              <a:rPr lang="fr-FR" dirty="0"/>
              <a:t>actuel se déroule </a:t>
            </a:r>
            <a:r>
              <a:rPr lang="fr-FR" dirty="0" smtClean="0"/>
              <a:t>ainsi Le </a:t>
            </a:r>
            <a:r>
              <a:rPr lang="fr-FR" dirty="0"/>
              <a:t>15janvier, </a:t>
            </a:r>
            <a:r>
              <a:rPr lang="fr-FR" dirty="0" err="1" smtClean="0"/>
              <a:t>Marya</a:t>
            </a:r>
            <a:r>
              <a:rPr lang="fr-FR" dirty="0" smtClean="0"/>
              <a:t> </a:t>
            </a:r>
            <a:r>
              <a:rPr lang="fr-FR" dirty="0"/>
              <a:t>a une rhinorrhée purulente, le pharynx rouge, encombré de </a:t>
            </a:r>
            <a:r>
              <a:rPr lang="fr-FR" dirty="0" smtClean="0"/>
              <a:t>mucopus, une </a:t>
            </a:r>
            <a:r>
              <a:rPr lang="fr-FR" dirty="0"/>
              <a:t>fièvre à 38°5. Elle reçoit des antithermiques et un traitement local (instillation nasale </a:t>
            </a:r>
            <a:r>
              <a:rPr lang="fr-FR" dirty="0" smtClean="0"/>
              <a:t>de </a:t>
            </a:r>
            <a:r>
              <a:rPr lang="fr-FR" dirty="0" err="1" smtClean="0"/>
              <a:t>Soframycine</a:t>
            </a:r>
            <a:r>
              <a:rPr lang="fr-FR" dirty="0" smtClean="0"/>
              <a:t> </a:t>
            </a:r>
            <a:r>
              <a:rPr lang="fr-FR" dirty="0"/>
              <a:t>simple</a:t>
            </a:r>
            <a:r>
              <a:rPr lang="fr-FR" dirty="0" smtClean="0"/>
              <a:t>).</a:t>
            </a:r>
          </a:p>
          <a:p>
            <a:r>
              <a:rPr lang="fr-FR" dirty="0" smtClean="0"/>
              <a:t>Le 19 janvier </a:t>
            </a:r>
            <a:r>
              <a:rPr lang="fr-FR" dirty="0"/>
              <a:t>la persistance de la fièvre conduit à faire une numération formule sanguine (</a:t>
            </a:r>
            <a:r>
              <a:rPr lang="fr-FR" dirty="0" smtClean="0"/>
              <a:t>GR: 4 </a:t>
            </a:r>
            <a:r>
              <a:rPr lang="fr-FR" dirty="0"/>
              <a:t>800 000; BG : 11 000, PN : 60 %, L : 40 %) et un examen des urines (qui sont stériles). </a:t>
            </a:r>
            <a:r>
              <a:rPr lang="fr-FR" dirty="0" smtClean="0"/>
              <a:t>La radiographie </a:t>
            </a:r>
            <a:r>
              <a:rPr lang="fr-FR" dirty="0"/>
              <a:t>du thorax est également normale. Le même traitement est poursuivi</a:t>
            </a:r>
            <a:r>
              <a:rPr lang="fr-FR" dirty="0" smtClean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4116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fr-FR" b="1" u="sng" dirty="0" smtClean="0"/>
              <a:t>Suite du cas clinique</a:t>
            </a:r>
            <a:endParaRPr lang="fr-FR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22janvier, survenue de vomissements, fièvre à 39° ; plusieurs fois </a:t>
            </a:r>
            <a:r>
              <a:rPr lang="fr-FR" dirty="0" err="1"/>
              <a:t>Marya</a:t>
            </a:r>
            <a:r>
              <a:rPr lang="fr-FR" dirty="0"/>
              <a:t> s’est réveillée dans la nuit en criant.</a:t>
            </a:r>
          </a:p>
          <a:p>
            <a:endParaRPr lang="fr-FR" dirty="0" smtClean="0"/>
          </a:p>
          <a:p>
            <a:r>
              <a:rPr lang="fr-FR" dirty="0" smtClean="0"/>
              <a:t>consultation </a:t>
            </a:r>
            <a:r>
              <a:rPr lang="fr-FR" dirty="0"/>
              <a:t>du </a:t>
            </a:r>
            <a:r>
              <a:rPr lang="fr-FR" dirty="0" smtClean="0"/>
              <a:t>23janvier: Fièvre </a:t>
            </a:r>
            <a:r>
              <a:rPr lang="fr-FR" dirty="0"/>
              <a:t>à 39°. Une selle liquide durant </a:t>
            </a:r>
            <a:r>
              <a:rPr lang="fr-FR" dirty="0" smtClean="0"/>
              <a:t>l’</a:t>
            </a:r>
            <a:r>
              <a:rPr lang="fr-FR" dirty="0" err="1" smtClean="0"/>
              <a:t>examen.Pharyngite</a:t>
            </a:r>
            <a:r>
              <a:rPr lang="fr-FR" dirty="0" smtClean="0"/>
              <a:t> </a:t>
            </a:r>
            <a:r>
              <a:rPr lang="fr-FR" dirty="0"/>
              <a:t>persistante. Examen cardio-pulmonaire </a:t>
            </a:r>
            <a:r>
              <a:rPr lang="fr-FR" dirty="0" smtClean="0"/>
              <a:t>normal. Abdomen</a:t>
            </a:r>
            <a:r>
              <a:rPr lang="fr-FR" dirty="0"/>
              <a:t>, orifices herniaires normaux. Ni éruption, ni purpura. Aucun signe </a:t>
            </a:r>
            <a:r>
              <a:rPr lang="fr-FR" dirty="0" smtClean="0"/>
              <a:t>méningé. Présence </a:t>
            </a:r>
            <a:r>
              <a:rPr lang="fr-FR" dirty="0"/>
              <a:t>de quelques ganglions sous-maxillaires</a:t>
            </a:r>
            <a:r>
              <a:rPr lang="fr-FR" dirty="0" smtClean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61782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52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Considérant que cet enfant n’a ni syndrome méningé, ni infection urinaire, ni </a:t>
            </a:r>
            <a:r>
              <a:rPr lang="fr-FR" dirty="0" smtClean="0"/>
              <a:t>signe respiratoire</a:t>
            </a:r>
            <a:r>
              <a:rPr lang="fr-FR" dirty="0"/>
              <a:t>, quel examen est indispensable pour porter le diagnostic?</a:t>
            </a:r>
          </a:p>
          <a:p>
            <a:pPr marL="0" indent="0">
              <a:buNone/>
            </a:pPr>
            <a:r>
              <a:rPr lang="fr-FR" dirty="0"/>
              <a:t>A - Hémocultures</a:t>
            </a:r>
          </a:p>
          <a:p>
            <a:pPr marL="0" indent="0">
              <a:buNone/>
            </a:pPr>
            <a:r>
              <a:rPr lang="fr-FR" dirty="0"/>
              <a:t>B - Dosage de la C réactive protéine</a:t>
            </a:r>
          </a:p>
          <a:p>
            <a:pPr marL="0" indent="0">
              <a:buNone/>
            </a:pPr>
            <a:r>
              <a:rPr lang="fr-FR" dirty="0"/>
              <a:t>C - Sédimentation globulaire</a:t>
            </a:r>
          </a:p>
          <a:p>
            <a:pPr marL="0" indent="0">
              <a:buNone/>
            </a:pPr>
            <a:r>
              <a:rPr lang="fr-FR" dirty="0"/>
              <a:t>D - Coproculture</a:t>
            </a:r>
          </a:p>
          <a:p>
            <a:pPr marL="0" indent="0">
              <a:buNone/>
            </a:pPr>
            <a:r>
              <a:rPr lang="fr-FR" dirty="0"/>
              <a:t>E - Aucun des examens ci-dessus</a:t>
            </a:r>
          </a:p>
        </p:txBody>
      </p:sp>
    </p:spTree>
    <p:extLst>
      <p:ext uri="{BB962C8B-B14F-4D97-AF65-F5344CB8AC3E}">
        <p14:creationId xmlns:p14="http://schemas.microsoft.com/office/powerpoint/2010/main" val="29178316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52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Considérant que cet enfant n’a ni syndrome méningé, ni infection urinaire, ni </a:t>
            </a:r>
            <a:r>
              <a:rPr lang="fr-FR" dirty="0" smtClean="0"/>
              <a:t>signe respiratoire</a:t>
            </a:r>
            <a:r>
              <a:rPr lang="fr-FR" dirty="0"/>
              <a:t>, quel examen est indispensable pour porter le diagnostic?</a:t>
            </a:r>
          </a:p>
          <a:p>
            <a:pPr marL="0" indent="0">
              <a:buNone/>
            </a:pPr>
            <a:r>
              <a:rPr lang="fr-FR" dirty="0"/>
              <a:t>A - Hémocultures</a:t>
            </a:r>
          </a:p>
          <a:p>
            <a:pPr marL="0" indent="0">
              <a:buNone/>
            </a:pPr>
            <a:r>
              <a:rPr lang="fr-FR" dirty="0"/>
              <a:t>B - Dosage de la C réactive protéine</a:t>
            </a:r>
          </a:p>
          <a:p>
            <a:pPr marL="0" indent="0">
              <a:buNone/>
            </a:pPr>
            <a:r>
              <a:rPr lang="fr-FR" dirty="0"/>
              <a:t>C - Sédimentation globulaire</a:t>
            </a:r>
          </a:p>
          <a:p>
            <a:pPr marL="0" indent="0">
              <a:buNone/>
            </a:pPr>
            <a:r>
              <a:rPr lang="fr-FR" dirty="0"/>
              <a:t>D - Coproculture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E - Aucun des examens ci-dessus</a:t>
            </a:r>
          </a:p>
        </p:txBody>
      </p:sp>
    </p:spTree>
    <p:extLst>
      <p:ext uri="{BB962C8B-B14F-4D97-AF65-F5344CB8AC3E}">
        <p14:creationId xmlns:p14="http://schemas.microsoft.com/office/powerpoint/2010/main" val="33189194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53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diagnostic vous parait le plus probable?</a:t>
            </a:r>
          </a:p>
          <a:p>
            <a:pPr marL="0" indent="0">
              <a:buNone/>
            </a:pPr>
            <a:r>
              <a:rPr lang="fr-FR" dirty="0"/>
              <a:t>A - Septicémie</a:t>
            </a:r>
          </a:p>
          <a:p>
            <a:pPr marL="0" indent="0">
              <a:buNone/>
            </a:pPr>
            <a:r>
              <a:rPr lang="fr-FR" dirty="0"/>
              <a:t>B - Otite</a:t>
            </a:r>
          </a:p>
          <a:p>
            <a:pPr marL="0" indent="0">
              <a:buNone/>
            </a:pPr>
            <a:r>
              <a:rPr lang="fr-FR" dirty="0"/>
              <a:t>C - Sinusite maxillaire</a:t>
            </a:r>
          </a:p>
          <a:p>
            <a:pPr marL="0" indent="0">
              <a:buNone/>
            </a:pPr>
            <a:r>
              <a:rPr lang="fr-FR" dirty="0"/>
              <a:t>D - </a:t>
            </a:r>
            <a:r>
              <a:rPr lang="fr-FR" dirty="0" err="1"/>
              <a:t>Ethmoïdite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E - Sinusite frontale</a:t>
            </a:r>
          </a:p>
        </p:txBody>
      </p:sp>
    </p:spTree>
    <p:extLst>
      <p:ext uri="{BB962C8B-B14F-4D97-AF65-F5344CB8AC3E}">
        <p14:creationId xmlns:p14="http://schemas.microsoft.com/office/powerpoint/2010/main" val="4319975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53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diagnostic vous parait le plus probable?</a:t>
            </a:r>
          </a:p>
          <a:p>
            <a:pPr marL="0" indent="0">
              <a:buNone/>
            </a:pPr>
            <a:r>
              <a:rPr lang="fr-FR" dirty="0"/>
              <a:t>A - Septicémie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 - Otite</a:t>
            </a:r>
          </a:p>
          <a:p>
            <a:pPr marL="0" indent="0">
              <a:buNone/>
            </a:pPr>
            <a:r>
              <a:rPr lang="fr-FR" dirty="0"/>
              <a:t>C - Sinusite maxillaire</a:t>
            </a:r>
          </a:p>
          <a:p>
            <a:pPr marL="0" indent="0">
              <a:buNone/>
            </a:pPr>
            <a:r>
              <a:rPr lang="fr-FR" dirty="0"/>
              <a:t>D - </a:t>
            </a:r>
            <a:r>
              <a:rPr lang="fr-FR" dirty="0" err="1"/>
              <a:t>Ethmoïdite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E - Sinusite frontale</a:t>
            </a:r>
          </a:p>
        </p:txBody>
      </p:sp>
    </p:spTree>
    <p:extLst>
      <p:ext uri="{BB962C8B-B14F-4D97-AF65-F5344CB8AC3E}">
        <p14:creationId xmlns:p14="http://schemas.microsoft.com/office/powerpoint/2010/main" val="3997890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54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Au cours d’une otite, l’aspect du tympan peut être:</a:t>
            </a:r>
          </a:p>
          <a:p>
            <a:pPr marL="0" indent="0">
              <a:buNone/>
            </a:pPr>
            <a:r>
              <a:rPr lang="fr-FR" dirty="0"/>
              <a:t>A - Rosé</a:t>
            </a:r>
          </a:p>
          <a:p>
            <a:pPr marL="0" indent="0">
              <a:buNone/>
            </a:pPr>
            <a:r>
              <a:rPr lang="fr-FR" dirty="0"/>
              <a:t>B - Rouge et </a:t>
            </a:r>
            <a:r>
              <a:rPr lang="fr-FR" dirty="0" err="1"/>
              <a:t>oedématié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C - Bombant avec disparition des reliefs osseux</a:t>
            </a:r>
          </a:p>
          <a:p>
            <a:pPr marL="0" indent="0">
              <a:buNone/>
            </a:pPr>
            <a:r>
              <a:rPr lang="fr-FR" dirty="0"/>
              <a:t>D - </a:t>
            </a:r>
            <a:r>
              <a:rPr lang="fr-FR" dirty="0" err="1"/>
              <a:t>Phlycténulaire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E - Aucun de ces aspects n’est observé</a:t>
            </a:r>
          </a:p>
        </p:txBody>
      </p:sp>
    </p:spTree>
    <p:extLst>
      <p:ext uri="{BB962C8B-B14F-4D97-AF65-F5344CB8AC3E}">
        <p14:creationId xmlns:p14="http://schemas.microsoft.com/office/powerpoint/2010/main" val="2614288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54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Au cours d’une otite, l’aspect du tympan peut être: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A - Rosé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 - Rouge et </a:t>
            </a:r>
            <a:r>
              <a:rPr lang="fr-FR" dirty="0" err="1">
                <a:solidFill>
                  <a:srgbClr val="FF0000"/>
                </a:solidFill>
              </a:rPr>
              <a:t>oedématié</a:t>
            </a:r>
            <a:endParaRPr lang="fr-F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C - Bombant avec disparition des reliefs osseux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D - </a:t>
            </a:r>
            <a:r>
              <a:rPr lang="fr-FR" dirty="0" err="1">
                <a:solidFill>
                  <a:srgbClr val="FF0000"/>
                </a:solidFill>
              </a:rPr>
              <a:t>Phlycténulaire</a:t>
            </a:r>
            <a:endParaRPr lang="fr-F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dirty="0"/>
              <a:t>E - Aucun de ces aspects n’est observé</a:t>
            </a:r>
          </a:p>
        </p:txBody>
      </p:sp>
    </p:spTree>
    <p:extLst>
      <p:ext uri="{BB962C8B-B14F-4D97-AF65-F5344CB8AC3E}">
        <p14:creationId xmlns:p14="http://schemas.microsoft.com/office/powerpoint/2010/main" val="579442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55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904621" cy="4351338"/>
          </a:xfrm>
        </p:spPr>
        <p:txBody>
          <a:bodyPr>
            <a:normAutofit/>
          </a:bodyPr>
          <a:lstStyle/>
          <a:p>
            <a:r>
              <a:rPr lang="fr-FR" dirty="0"/>
              <a:t>Laquelle (ou lesquelles) des propositions suivantes est (sont) exacte(s) ?</a:t>
            </a:r>
          </a:p>
          <a:p>
            <a:pPr marL="0" indent="0">
              <a:buNone/>
            </a:pPr>
            <a:r>
              <a:rPr lang="fr-FR" dirty="0"/>
              <a:t>A - Des pharyngites répétées peuvent se compliquer dune otite séreuse</a:t>
            </a:r>
          </a:p>
          <a:p>
            <a:pPr marL="0" indent="0">
              <a:buNone/>
            </a:pPr>
            <a:r>
              <a:rPr lang="fr-FR" dirty="0"/>
              <a:t>B - Au cours dune otite séreuse, la ponction à travers le tympan permet </a:t>
            </a:r>
            <a:r>
              <a:rPr lang="fr-FR" dirty="0" smtClean="0"/>
              <a:t>de retirer </a:t>
            </a:r>
            <a:r>
              <a:rPr lang="fr-FR" dirty="0"/>
              <a:t>un liquide aseptique</a:t>
            </a:r>
          </a:p>
          <a:p>
            <a:pPr marL="0" indent="0">
              <a:buNone/>
            </a:pPr>
            <a:r>
              <a:rPr lang="fr-FR" dirty="0"/>
              <a:t>C - Une </a:t>
            </a:r>
            <a:r>
              <a:rPr lang="fr-FR" dirty="0" err="1"/>
              <a:t>adénoïdite</a:t>
            </a:r>
            <a:r>
              <a:rPr lang="fr-FR" dirty="0"/>
              <a:t> ne peut être responsable </a:t>
            </a:r>
            <a:r>
              <a:rPr lang="fr-FR" dirty="0" smtClean="0"/>
              <a:t>d’otites </a:t>
            </a:r>
            <a:r>
              <a:rPr lang="fr-FR" dirty="0"/>
              <a:t>répétées</a:t>
            </a:r>
          </a:p>
          <a:p>
            <a:pPr marL="0" indent="0">
              <a:buNone/>
            </a:pPr>
            <a:r>
              <a:rPr lang="fr-FR" dirty="0"/>
              <a:t>D </a:t>
            </a:r>
            <a:r>
              <a:rPr lang="fr-FR" dirty="0" smtClean="0"/>
              <a:t>– L’otite </a:t>
            </a:r>
            <a:r>
              <a:rPr lang="fr-FR" dirty="0"/>
              <a:t>séreuse peut se compliquer de mastoïdite</a:t>
            </a:r>
          </a:p>
          <a:p>
            <a:pPr marL="0" indent="0">
              <a:buNone/>
            </a:pPr>
            <a:r>
              <a:rPr lang="fr-FR" dirty="0"/>
              <a:t>E - Une otite peut être la cause dune paralysie faciale périphérique</a:t>
            </a:r>
          </a:p>
        </p:txBody>
      </p:sp>
    </p:spTree>
    <p:extLst>
      <p:ext uri="{BB962C8B-B14F-4D97-AF65-F5344CB8AC3E}">
        <p14:creationId xmlns:p14="http://schemas.microsoft.com/office/powerpoint/2010/main" val="3760984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55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904621" cy="4351338"/>
          </a:xfrm>
        </p:spPr>
        <p:txBody>
          <a:bodyPr>
            <a:normAutofit/>
          </a:bodyPr>
          <a:lstStyle/>
          <a:p>
            <a:r>
              <a:rPr lang="fr-FR" dirty="0"/>
              <a:t>Laquelle (ou lesquelles) des propositions suivantes est (sont) exacte(s) ?</a:t>
            </a:r>
          </a:p>
          <a:p>
            <a:pPr marL="0" indent="0">
              <a:buNone/>
            </a:pPr>
            <a:r>
              <a:rPr lang="fr-FR" dirty="0"/>
              <a:t>A - Des pharyngites répétées peuvent se compliquer dune otite séreuse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 - Au cours dune otite séreuse, la ponction à travers le tympan permet </a:t>
            </a:r>
            <a:r>
              <a:rPr lang="fr-FR" dirty="0" smtClean="0">
                <a:solidFill>
                  <a:srgbClr val="FF0000"/>
                </a:solidFill>
              </a:rPr>
              <a:t>de retirer </a:t>
            </a:r>
            <a:r>
              <a:rPr lang="fr-FR" dirty="0">
                <a:solidFill>
                  <a:srgbClr val="FF0000"/>
                </a:solidFill>
              </a:rPr>
              <a:t>un liquide aseptique</a:t>
            </a:r>
          </a:p>
          <a:p>
            <a:pPr marL="0" indent="0">
              <a:buNone/>
            </a:pPr>
            <a:r>
              <a:rPr lang="fr-FR" dirty="0"/>
              <a:t>C - Une </a:t>
            </a:r>
            <a:r>
              <a:rPr lang="fr-FR" dirty="0" err="1"/>
              <a:t>adénoïdite</a:t>
            </a:r>
            <a:r>
              <a:rPr lang="fr-FR" dirty="0"/>
              <a:t> ne peut être responsable </a:t>
            </a:r>
            <a:r>
              <a:rPr lang="fr-FR" dirty="0" smtClean="0"/>
              <a:t>d’otites </a:t>
            </a:r>
            <a:r>
              <a:rPr lang="fr-FR" dirty="0"/>
              <a:t>répétées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D </a:t>
            </a:r>
            <a:r>
              <a:rPr lang="fr-FR" dirty="0" smtClean="0">
                <a:solidFill>
                  <a:srgbClr val="FF0000"/>
                </a:solidFill>
              </a:rPr>
              <a:t>– L’otite </a:t>
            </a:r>
            <a:r>
              <a:rPr lang="fr-FR" dirty="0">
                <a:solidFill>
                  <a:srgbClr val="FF0000"/>
                </a:solidFill>
              </a:rPr>
              <a:t>séreuse peut se compliquer de mastoïdite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E - Une otite peut être la cause dune paralysie faciale périphérique</a:t>
            </a:r>
          </a:p>
        </p:txBody>
      </p:sp>
    </p:spTree>
    <p:extLst>
      <p:ext uri="{BB962C8B-B14F-4D97-AF65-F5344CB8AC3E}">
        <p14:creationId xmlns:p14="http://schemas.microsoft.com/office/powerpoint/2010/main" val="3723032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56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Tous les éléments suivants font partie du tableau </a:t>
            </a:r>
            <a:r>
              <a:rPr lang="fr-FR" dirty="0" smtClean="0"/>
              <a:t>d’otite </a:t>
            </a:r>
            <a:r>
              <a:rPr lang="fr-FR" dirty="0"/>
              <a:t>séreuse sauf </a:t>
            </a:r>
            <a:r>
              <a:rPr lang="fr-FR" dirty="0" smtClean="0"/>
              <a:t>un. Lequel</a:t>
            </a:r>
            <a:r>
              <a:rPr lang="fr-FR" dirty="0"/>
              <a:t>?</a:t>
            </a:r>
          </a:p>
          <a:p>
            <a:pPr marL="0" indent="0">
              <a:buNone/>
            </a:pPr>
            <a:r>
              <a:rPr lang="fr-FR" dirty="0"/>
              <a:t>A - Diminution de la mobilité tympanique</a:t>
            </a:r>
          </a:p>
          <a:p>
            <a:pPr marL="0" indent="0">
              <a:buNone/>
            </a:pPr>
            <a:r>
              <a:rPr lang="fr-FR" dirty="0"/>
              <a:t>B - Aplatissement du </a:t>
            </a:r>
            <a:r>
              <a:rPr lang="fr-FR" dirty="0" err="1"/>
              <a:t>tympanogramme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C - Surdité de perception</a:t>
            </a:r>
          </a:p>
          <a:p>
            <a:pPr marL="0" indent="0">
              <a:buNone/>
            </a:pPr>
            <a:r>
              <a:rPr lang="fr-FR" dirty="0"/>
              <a:t>D - Hypoventilation tubaire</a:t>
            </a:r>
          </a:p>
          <a:p>
            <a:pPr marL="0" indent="0">
              <a:buNone/>
            </a:pPr>
            <a:r>
              <a:rPr lang="fr-FR" dirty="0"/>
              <a:t>E - Otalgie</a:t>
            </a:r>
          </a:p>
        </p:txBody>
      </p:sp>
    </p:spTree>
    <p:extLst>
      <p:ext uri="{BB962C8B-B14F-4D97-AF65-F5344CB8AC3E}">
        <p14:creationId xmlns:p14="http://schemas.microsoft.com/office/powerpoint/2010/main" val="20173070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56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Tous les éléments suivants font partie du tableau </a:t>
            </a:r>
            <a:r>
              <a:rPr lang="fr-FR" dirty="0" smtClean="0"/>
              <a:t>d’otite </a:t>
            </a:r>
            <a:r>
              <a:rPr lang="fr-FR" dirty="0"/>
              <a:t>séreuse sauf </a:t>
            </a:r>
            <a:r>
              <a:rPr lang="fr-FR" dirty="0" smtClean="0"/>
              <a:t>un. Lequel</a:t>
            </a:r>
            <a:r>
              <a:rPr lang="fr-FR" dirty="0"/>
              <a:t>?</a:t>
            </a:r>
          </a:p>
          <a:p>
            <a:pPr marL="0" indent="0">
              <a:buNone/>
            </a:pPr>
            <a:r>
              <a:rPr lang="fr-FR" dirty="0"/>
              <a:t>A - Diminution de la mobilité tympanique</a:t>
            </a:r>
          </a:p>
          <a:p>
            <a:pPr marL="0" indent="0">
              <a:buNone/>
            </a:pPr>
            <a:r>
              <a:rPr lang="fr-FR" dirty="0"/>
              <a:t>B - Aplatissement du </a:t>
            </a:r>
            <a:r>
              <a:rPr lang="fr-FR" dirty="0" err="1"/>
              <a:t>tympanogramme</a:t>
            </a:r>
            <a:endParaRPr lang="fr-FR" dirty="0"/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C - Surdité de perception</a:t>
            </a:r>
          </a:p>
          <a:p>
            <a:pPr marL="0" indent="0">
              <a:buNone/>
            </a:pPr>
            <a:r>
              <a:rPr lang="fr-FR" dirty="0"/>
              <a:t>D - Hypoventilation tubaire</a:t>
            </a:r>
          </a:p>
          <a:p>
            <a:pPr marL="0" indent="0">
              <a:buNone/>
            </a:pPr>
            <a:r>
              <a:rPr lang="fr-FR" dirty="0"/>
              <a:t>E - Otalgie</a:t>
            </a:r>
          </a:p>
        </p:txBody>
      </p:sp>
    </p:spTree>
    <p:extLst>
      <p:ext uri="{BB962C8B-B14F-4D97-AF65-F5344CB8AC3E}">
        <p14:creationId xmlns:p14="http://schemas.microsoft.com/office/powerpoint/2010/main" val="18937116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57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est (ou quelles sont) l’(les) indication(s) justifiant une paracentèse en cas </a:t>
            </a:r>
            <a:r>
              <a:rPr lang="fr-FR" dirty="0" smtClean="0"/>
              <a:t>d’otite aigue suppurée</a:t>
            </a:r>
            <a:r>
              <a:rPr lang="fr-FR" dirty="0"/>
              <a:t>?</a:t>
            </a:r>
          </a:p>
          <a:p>
            <a:pPr marL="0" indent="0">
              <a:buNone/>
            </a:pPr>
            <a:r>
              <a:rPr lang="fr-FR" dirty="0"/>
              <a:t>A - Fièvre élevée</a:t>
            </a:r>
          </a:p>
          <a:p>
            <a:pPr marL="0" indent="0">
              <a:buNone/>
            </a:pPr>
            <a:r>
              <a:rPr lang="fr-FR" dirty="0"/>
              <a:t>B - Angine associée</a:t>
            </a:r>
          </a:p>
          <a:p>
            <a:pPr marL="0" indent="0">
              <a:buNone/>
            </a:pPr>
            <a:r>
              <a:rPr lang="fr-FR" dirty="0"/>
              <a:t>C - Otalgie intense ne répondant pas au traitement</a:t>
            </a:r>
          </a:p>
          <a:p>
            <a:pPr marL="0" indent="0">
              <a:buNone/>
            </a:pPr>
            <a:r>
              <a:rPr lang="fr-FR" dirty="0"/>
              <a:t>D - Bronchopneumopathie associée</a:t>
            </a:r>
          </a:p>
          <a:p>
            <a:pPr marL="0" indent="0">
              <a:buNone/>
            </a:pPr>
            <a:r>
              <a:rPr lang="fr-FR" dirty="0"/>
              <a:t>E - Fièvre ne répondant pas au traitement</a:t>
            </a:r>
          </a:p>
        </p:txBody>
      </p:sp>
    </p:spTree>
    <p:extLst>
      <p:ext uri="{BB962C8B-B14F-4D97-AF65-F5344CB8AC3E}">
        <p14:creationId xmlns:p14="http://schemas.microsoft.com/office/powerpoint/2010/main" val="18142766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57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est (ou quelles sont) l’(les) indication(s) justifiant une paracentèse en cas </a:t>
            </a:r>
            <a:r>
              <a:rPr lang="fr-FR" dirty="0" smtClean="0"/>
              <a:t>d’otite aigue suppurée</a:t>
            </a:r>
            <a:r>
              <a:rPr lang="fr-FR" dirty="0"/>
              <a:t>?</a:t>
            </a:r>
          </a:p>
          <a:p>
            <a:pPr marL="0" indent="0">
              <a:buNone/>
            </a:pPr>
            <a:r>
              <a:rPr lang="fr-FR" dirty="0"/>
              <a:t>A - Fièvre élevée</a:t>
            </a:r>
          </a:p>
          <a:p>
            <a:pPr marL="0" indent="0">
              <a:buNone/>
            </a:pPr>
            <a:r>
              <a:rPr lang="fr-FR" dirty="0"/>
              <a:t>B - Angine associée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C - Otalgie intense ne répondant pas au traitement</a:t>
            </a:r>
          </a:p>
          <a:p>
            <a:pPr marL="0" indent="0">
              <a:buNone/>
            </a:pPr>
            <a:r>
              <a:rPr lang="fr-FR" dirty="0"/>
              <a:t>D - Bronchopneumopathie associée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E - Fièvre ne répondant pas au traitement</a:t>
            </a:r>
          </a:p>
        </p:txBody>
      </p:sp>
    </p:spTree>
    <p:extLst>
      <p:ext uri="{BB962C8B-B14F-4D97-AF65-F5344CB8AC3E}">
        <p14:creationId xmlns:p14="http://schemas.microsoft.com/office/powerpoint/2010/main" val="32775422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fr-FR" b="1" u="sng" dirty="0" smtClean="0"/>
              <a:t>Cas clinique</a:t>
            </a:r>
            <a:endParaRPr lang="fr-FR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/>
              <a:t>Un homme de 50 ans, maçon, consulte pour la première fois en raison dune otalgie </a:t>
            </a:r>
            <a:r>
              <a:rPr lang="fr-FR" dirty="0" smtClean="0"/>
              <a:t>gauche, apparemment </a:t>
            </a:r>
            <a:r>
              <a:rPr lang="fr-FR" dirty="0"/>
              <a:t>isolée, évoluant depuis trois semaines.</a:t>
            </a:r>
          </a:p>
          <a:p>
            <a:r>
              <a:rPr lang="fr-FR" dirty="0"/>
              <a:t>A l’anamnèse, on note</a:t>
            </a:r>
          </a:p>
          <a:p>
            <a:pPr marL="0" indent="0">
              <a:buNone/>
            </a:pPr>
            <a:r>
              <a:rPr lang="fr-FR" dirty="0"/>
              <a:t>- une hernie hiatale traitée médicalement 4 ans auparavant</a:t>
            </a:r>
          </a:p>
          <a:p>
            <a:pPr marL="0" indent="0">
              <a:buNone/>
            </a:pPr>
            <a:r>
              <a:rPr lang="fr-FR" dirty="0"/>
              <a:t>- plusieurs accidents du travail, bénins, sans traumatisme récent du crâne</a:t>
            </a:r>
          </a:p>
          <a:p>
            <a:pPr marL="0" indent="0">
              <a:buNone/>
            </a:pPr>
            <a:r>
              <a:rPr lang="fr-FR" dirty="0"/>
              <a:t>- l’absence de passé pathologique auriculaire.</a:t>
            </a:r>
          </a:p>
          <a:p>
            <a:r>
              <a:rPr lang="fr-FR" dirty="0"/>
              <a:t>Ce patient est en bon état général, apyrétique. Il boit 4 à 5 canettes de bière par jour, un </a:t>
            </a:r>
            <a:r>
              <a:rPr lang="fr-FR" dirty="0" smtClean="0"/>
              <a:t>litre de </a:t>
            </a:r>
            <a:r>
              <a:rPr lang="fr-FR" dirty="0"/>
              <a:t>vin et fume 25 cigarettes par jour.</a:t>
            </a:r>
          </a:p>
          <a:p>
            <a:r>
              <a:rPr lang="fr-FR" dirty="0"/>
              <a:t>L’examen clinique ne montre pas d’anomalies des pavillons, ni des conduits auditifs </a:t>
            </a:r>
            <a:r>
              <a:rPr lang="fr-FR" dirty="0" smtClean="0"/>
              <a:t>externes; les </a:t>
            </a:r>
            <a:r>
              <a:rPr lang="fr-FR" dirty="0"/>
              <a:t>tympans sont </a:t>
            </a:r>
            <a:r>
              <a:rPr lang="fr-FR" dirty="0" smtClean="0"/>
              <a:t>normaux. L’examen </a:t>
            </a:r>
            <a:r>
              <a:rPr lang="fr-FR" dirty="0"/>
              <a:t>du pharynx ne peut être pratiqué dans de bonnes conditions, du fait de </a:t>
            </a:r>
            <a:r>
              <a:rPr lang="fr-FR" dirty="0" smtClean="0"/>
              <a:t>réflexes nauséeux </a:t>
            </a:r>
            <a:r>
              <a:rPr lang="fr-FR" dirty="0"/>
              <a:t>très importants. La région cervicale est souple; il n’y a pas d’adénopathie palpable.</a:t>
            </a:r>
          </a:p>
          <a:p>
            <a:r>
              <a:rPr lang="fr-FR" dirty="0"/>
              <a:t>Vous demandez à ce malade de revenir, à jeun avec une préparation sédative, afin </a:t>
            </a:r>
            <a:r>
              <a:rPr lang="fr-FR" dirty="0" smtClean="0"/>
              <a:t>de compléter </a:t>
            </a:r>
            <a:r>
              <a:rPr lang="fr-FR" dirty="0"/>
              <a:t>votre examen sous anesthésie locale.</a:t>
            </a:r>
          </a:p>
        </p:txBody>
      </p:sp>
    </p:spTree>
    <p:extLst>
      <p:ext uri="{BB962C8B-B14F-4D97-AF65-F5344CB8AC3E}">
        <p14:creationId xmlns:p14="http://schemas.microsoft.com/office/powerpoint/2010/main" val="38994580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58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 ce stade de l’anamnèse et de l’examen clinique, quel(s) est(sont) </a:t>
            </a:r>
            <a:r>
              <a:rPr lang="fr-FR" dirty="0" smtClean="0"/>
              <a:t>le(s) diagnostic(s</a:t>
            </a:r>
            <a:r>
              <a:rPr lang="fr-FR" dirty="0"/>
              <a:t>) que l’on peut évoquer?</a:t>
            </a:r>
          </a:p>
          <a:p>
            <a:pPr marL="0" indent="0">
              <a:buNone/>
            </a:pPr>
            <a:r>
              <a:rPr lang="fr-FR" dirty="0"/>
              <a:t>A - Une otospongiose</a:t>
            </a:r>
          </a:p>
          <a:p>
            <a:pPr marL="0" indent="0">
              <a:buNone/>
            </a:pPr>
            <a:r>
              <a:rPr lang="fr-FR" dirty="0"/>
              <a:t>B - Une </a:t>
            </a:r>
            <a:r>
              <a:rPr lang="fr-FR" dirty="0" err="1"/>
              <a:t>otomastoïdite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C - Un zona auriculaire</a:t>
            </a:r>
          </a:p>
          <a:p>
            <a:pPr marL="0" indent="0">
              <a:buNone/>
            </a:pPr>
            <a:r>
              <a:rPr lang="fr-FR" dirty="0"/>
              <a:t>D - Une algie symptomatique d’origine extra-auriculaire</a:t>
            </a:r>
          </a:p>
          <a:p>
            <a:pPr marL="0" indent="0">
              <a:buNone/>
            </a:pPr>
            <a:r>
              <a:rPr lang="fr-FR" dirty="0"/>
              <a:t>E - Une névralgie essentielle du nerf glossopharyngien</a:t>
            </a:r>
          </a:p>
        </p:txBody>
      </p:sp>
    </p:spTree>
    <p:extLst>
      <p:ext uri="{BB962C8B-B14F-4D97-AF65-F5344CB8AC3E}">
        <p14:creationId xmlns:p14="http://schemas.microsoft.com/office/powerpoint/2010/main" val="11818482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58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 ce stade de l’anamnèse et de l’examen clinique, quel(s) est(sont) </a:t>
            </a:r>
            <a:r>
              <a:rPr lang="fr-FR" dirty="0" smtClean="0"/>
              <a:t>le(s) diagnostic(s</a:t>
            </a:r>
            <a:r>
              <a:rPr lang="fr-FR" dirty="0"/>
              <a:t>) que l’on peut évoquer?</a:t>
            </a:r>
          </a:p>
          <a:p>
            <a:pPr marL="0" indent="0">
              <a:buNone/>
            </a:pPr>
            <a:r>
              <a:rPr lang="fr-FR" dirty="0"/>
              <a:t>A - Une otospongiose</a:t>
            </a:r>
          </a:p>
          <a:p>
            <a:pPr marL="0" indent="0">
              <a:buNone/>
            </a:pPr>
            <a:r>
              <a:rPr lang="fr-FR" dirty="0"/>
              <a:t>B - Une </a:t>
            </a:r>
            <a:r>
              <a:rPr lang="fr-FR" dirty="0" err="1"/>
              <a:t>otomastoïdite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C - Un zona auriculaire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D - Une algie symptomatique d’origine extra-auriculaire</a:t>
            </a:r>
          </a:p>
          <a:p>
            <a:pPr marL="0" indent="0">
              <a:buNone/>
            </a:pPr>
            <a:r>
              <a:rPr lang="fr-FR" dirty="0"/>
              <a:t>E - Une névralgie essentielle du nerf glossopharyngien</a:t>
            </a:r>
          </a:p>
        </p:txBody>
      </p:sp>
    </p:spTree>
    <p:extLst>
      <p:ext uri="{BB962C8B-B14F-4D97-AF65-F5344CB8AC3E}">
        <p14:creationId xmlns:p14="http://schemas.microsoft.com/office/powerpoint/2010/main" val="37935288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59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Parmi les éléments suivants de cette observation, quel(s) est(sont) celui(ceux) qui vous </a:t>
            </a:r>
            <a:r>
              <a:rPr lang="fr-FR" dirty="0" smtClean="0"/>
              <a:t>ont permis </a:t>
            </a:r>
            <a:r>
              <a:rPr lang="fr-FR" dirty="0"/>
              <a:t>de retenir à ce stade ce(s) diagnostic(s) d’orientation ?</a:t>
            </a:r>
          </a:p>
          <a:p>
            <a:pPr marL="0" indent="0">
              <a:buNone/>
            </a:pPr>
            <a:r>
              <a:rPr lang="fr-FR" dirty="0"/>
              <a:t>A - Intoxication alcoolo-tabagique</a:t>
            </a:r>
          </a:p>
          <a:p>
            <a:pPr marL="0" indent="0">
              <a:buNone/>
            </a:pPr>
            <a:r>
              <a:rPr lang="fr-FR" dirty="0"/>
              <a:t>B - Sexe</a:t>
            </a:r>
          </a:p>
          <a:p>
            <a:pPr marL="0" indent="0">
              <a:buNone/>
            </a:pPr>
            <a:r>
              <a:rPr lang="fr-FR" dirty="0"/>
              <a:t>C - Caractère isolé de cette otalgie</a:t>
            </a:r>
          </a:p>
          <a:p>
            <a:pPr marL="0" indent="0">
              <a:buNone/>
            </a:pPr>
            <a:r>
              <a:rPr lang="fr-FR" dirty="0"/>
              <a:t>D - Absence d’antécédents pathologiques</a:t>
            </a:r>
          </a:p>
          <a:p>
            <a:pPr marL="0" indent="0">
              <a:buNone/>
            </a:pPr>
            <a:r>
              <a:rPr lang="fr-FR" dirty="0"/>
              <a:t>E - Antécédents digestifs</a:t>
            </a:r>
          </a:p>
        </p:txBody>
      </p:sp>
    </p:spTree>
    <p:extLst>
      <p:ext uri="{BB962C8B-B14F-4D97-AF65-F5344CB8AC3E}">
        <p14:creationId xmlns:p14="http://schemas.microsoft.com/office/powerpoint/2010/main" val="18938760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59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Parmi les éléments suivants de cette observation, quel(s) est(sont) celui(ceux) qui vous </a:t>
            </a:r>
            <a:r>
              <a:rPr lang="fr-FR" dirty="0" smtClean="0"/>
              <a:t>ont permis </a:t>
            </a:r>
            <a:r>
              <a:rPr lang="fr-FR" dirty="0"/>
              <a:t>de retenir à ce stade ce(s) diagnostic(s) d’orientation ?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A - Intoxication alcoolo-tabagique</a:t>
            </a:r>
          </a:p>
          <a:p>
            <a:pPr marL="0" indent="0">
              <a:buNone/>
            </a:pPr>
            <a:r>
              <a:rPr lang="fr-FR" dirty="0"/>
              <a:t>B - Sexe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C - Caractère isolé de cette otalgie</a:t>
            </a:r>
          </a:p>
          <a:p>
            <a:pPr marL="0" indent="0">
              <a:buNone/>
            </a:pPr>
            <a:r>
              <a:rPr lang="fr-FR" dirty="0"/>
              <a:t>D - Absence d’antécédents pathologiques</a:t>
            </a:r>
          </a:p>
          <a:p>
            <a:pPr marL="0" indent="0">
              <a:buNone/>
            </a:pPr>
            <a:r>
              <a:rPr lang="fr-FR" dirty="0"/>
              <a:t>E - Antécédents digestifs</a:t>
            </a:r>
          </a:p>
        </p:txBody>
      </p:sp>
    </p:spTree>
    <p:extLst>
      <p:ext uri="{BB962C8B-B14F-4D97-AF65-F5344CB8AC3E}">
        <p14:creationId xmlns:p14="http://schemas.microsoft.com/office/powerpoint/2010/main" val="33779758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60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L’examen </a:t>
            </a:r>
            <a:r>
              <a:rPr lang="fr-FR" dirty="0" err="1" smtClean="0"/>
              <a:t>nasofibroscopique</a:t>
            </a:r>
            <a:r>
              <a:rPr lang="fr-FR" dirty="0" smtClean="0"/>
              <a:t> </a:t>
            </a:r>
            <a:r>
              <a:rPr lang="fr-FR" dirty="0"/>
              <a:t>pratiqué 2 jours plus tard montre une lésion </a:t>
            </a:r>
            <a:r>
              <a:rPr lang="fr-FR" dirty="0" err="1"/>
              <a:t>ulcérobourgeonnante</a:t>
            </a:r>
            <a:r>
              <a:rPr lang="fr-FR" dirty="0"/>
              <a:t> </a:t>
            </a:r>
            <a:r>
              <a:rPr lang="fr-FR" dirty="0" smtClean="0"/>
              <a:t>du sinus piriforme gauche. </a:t>
            </a:r>
            <a:r>
              <a:rPr lang="fr-FR" dirty="0"/>
              <a:t>Le reste </a:t>
            </a:r>
            <a:r>
              <a:rPr lang="fr-FR" dirty="0" smtClean="0"/>
              <a:t>de l’examen </a:t>
            </a:r>
            <a:r>
              <a:rPr lang="fr-FR" dirty="0"/>
              <a:t>ORL est normal. Compte tenu de ces éléments complémentaires, quel diagnostic </a:t>
            </a:r>
            <a:r>
              <a:rPr lang="fr-FR" dirty="0" smtClean="0"/>
              <a:t>vous paraît </a:t>
            </a:r>
            <a:r>
              <a:rPr lang="fr-FR" dirty="0"/>
              <a:t>maintenant le plus probable?</a:t>
            </a:r>
          </a:p>
          <a:p>
            <a:r>
              <a:rPr lang="fr-FR" dirty="0"/>
              <a:t>A </a:t>
            </a:r>
            <a:r>
              <a:rPr lang="fr-FR" dirty="0" smtClean="0"/>
              <a:t>– Cancer de l’amygdale gauche</a:t>
            </a:r>
            <a:endParaRPr lang="fr-FR" dirty="0"/>
          </a:p>
          <a:p>
            <a:r>
              <a:rPr lang="fr-FR" dirty="0"/>
              <a:t>B </a:t>
            </a:r>
            <a:r>
              <a:rPr lang="fr-FR" dirty="0" smtClean="0"/>
              <a:t>– Cancer du cavum</a:t>
            </a:r>
            <a:endParaRPr lang="fr-FR" dirty="0"/>
          </a:p>
          <a:p>
            <a:r>
              <a:rPr lang="fr-FR" dirty="0"/>
              <a:t>C </a:t>
            </a:r>
            <a:r>
              <a:rPr lang="fr-FR" dirty="0" smtClean="0"/>
              <a:t>– Cancer du larynx</a:t>
            </a:r>
            <a:endParaRPr lang="fr-FR" dirty="0"/>
          </a:p>
          <a:p>
            <a:r>
              <a:rPr lang="fr-FR" dirty="0"/>
              <a:t>D - Cancer </a:t>
            </a:r>
            <a:r>
              <a:rPr lang="fr-FR" dirty="0" smtClean="0"/>
              <a:t>de l’</a:t>
            </a:r>
            <a:r>
              <a:rPr lang="fr-FR" dirty="0" err="1" smtClean="0"/>
              <a:t>hypopharynx</a:t>
            </a:r>
            <a:endParaRPr lang="fr-FR" dirty="0"/>
          </a:p>
          <a:p>
            <a:r>
              <a:rPr lang="fr-FR" dirty="0"/>
              <a:t>E </a:t>
            </a:r>
            <a:r>
              <a:rPr lang="fr-FR" dirty="0" smtClean="0"/>
              <a:t>– Cancer de la base de langue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58013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60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L’examen </a:t>
            </a:r>
            <a:r>
              <a:rPr lang="fr-FR" dirty="0" err="1" smtClean="0"/>
              <a:t>nasofibroscopique</a:t>
            </a:r>
            <a:r>
              <a:rPr lang="fr-FR" dirty="0" smtClean="0"/>
              <a:t> </a:t>
            </a:r>
            <a:r>
              <a:rPr lang="fr-FR" dirty="0"/>
              <a:t>pratiqué 2 jours plus tard montre une lésion </a:t>
            </a:r>
            <a:r>
              <a:rPr lang="fr-FR" dirty="0" err="1"/>
              <a:t>ulcérobourgeonnante</a:t>
            </a:r>
            <a:r>
              <a:rPr lang="fr-FR" dirty="0"/>
              <a:t> </a:t>
            </a:r>
            <a:r>
              <a:rPr lang="fr-FR" dirty="0" smtClean="0"/>
              <a:t>du sinus piriforme gauche. </a:t>
            </a:r>
            <a:r>
              <a:rPr lang="fr-FR" dirty="0"/>
              <a:t>Le reste </a:t>
            </a:r>
            <a:r>
              <a:rPr lang="fr-FR" dirty="0" smtClean="0"/>
              <a:t>de l’examen </a:t>
            </a:r>
            <a:r>
              <a:rPr lang="fr-FR" dirty="0"/>
              <a:t>ORL est normal. Compte tenu de ces éléments complémentaires, quel diagnostic </a:t>
            </a:r>
            <a:r>
              <a:rPr lang="fr-FR" dirty="0" smtClean="0"/>
              <a:t>vous paraît </a:t>
            </a:r>
            <a:r>
              <a:rPr lang="fr-FR" dirty="0"/>
              <a:t>maintenant le plus probable?</a:t>
            </a:r>
          </a:p>
          <a:p>
            <a:r>
              <a:rPr lang="fr-FR" dirty="0"/>
              <a:t>A </a:t>
            </a:r>
            <a:r>
              <a:rPr lang="fr-FR" dirty="0" smtClean="0"/>
              <a:t>– Cancer de l’amygdale gauche</a:t>
            </a:r>
            <a:endParaRPr lang="fr-FR" dirty="0"/>
          </a:p>
          <a:p>
            <a:r>
              <a:rPr lang="fr-FR" dirty="0"/>
              <a:t>B </a:t>
            </a:r>
            <a:r>
              <a:rPr lang="fr-FR" dirty="0" smtClean="0"/>
              <a:t>– Cancer du cavum</a:t>
            </a:r>
            <a:endParaRPr lang="fr-FR" dirty="0"/>
          </a:p>
          <a:p>
            <a:r>
              <a:rPr lang="fr-FR" dirty="0"/>
              <a:t>C </a:t>
            </a:r>
            <a:r>
              <a:rPr lang="fr-FR" dirty="0" smtClean="0"/>
              <a:t>– Cancer du larynx</a:t>
            </a:r>
            <a:endParaRPr lang="fr-FR" dirty="0"/>
          </a:p>
          <a:p>
            <a:r>
              <a:rPr lang="fr-FR" dirty="0">
                <a:solidFill>
                  <a:srgbClr val="FF0000"/>
                </a:solidFill>
              </a:rPr>
              <a:t>D - Cancer </a:t>
            </a:r>
            <a:r>
              <a:rPr lang="fr-FR" dirty="0" smtClean="0">
                <a:solidFill>
                  <a:srgbClr val="FF0000"/>
                </a:solidFill>
              </a:rPr>
              <a:t>de l’</a:t>
            </a:r>
            <a:r>
              <a:rPr lang="fr-FR" dirty="0" err="1" smtClean="0">
                <a:solidFill>
                  <a:srgbClr val="FF0000"/>
                </a:solidFill>
              </a:rPr>
              <a:t>hypopharynx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E </a:t>
            </a:r>
            <a:r>
              <a:rPr lang="fr-FR" dirty="0" smtClean="0"/>
              <a:t>– Cancer de la base de langue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98629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61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7994" cy="4351338"/>
          </a:xfrm>
        </p:spPr>
        <p:txBody>
          <a:bodyPr/>
          <a:lstStyle/>
          <a:p>
            <a:r>
              <a:rPr lang="fr-FR" dirty="0"/>
              <a:t>Parmi les affections suivantes, laquelle(lesquelles) </a:t>
            </a:r>
            <a:r>
              <a:rPr lang="fr-FR" dirty="0" smtClean="0"/>
              <a:t>ne s’accompagne(nt</a:t>
            </a:r>
            <a:r>
              <a:rPr lang="fr-FR" dirty="0"/>
              <a:t>) pas d’otalgie?</a:t>
            </a:r>
          </a:p>
          <a:p>
            <a:pPr marL="0" indent="0">
              <a:buNone/>
            </a:pPr>
            <a:r>
              <a:rPr lang="fr-FR" dirty="0"/>
              <a:t>A - Angine virale</a:t>
            </a:r>
          </a:p>
          <a:p>
            <a:pPr marL="0" indent="0">
              <a:buNone/>
            </a:pPr>
            <a:r>
              <a:rPr lang="fr-FR" dirty="0"/>
              <a:t>B - Cancer de la corde vocale</a:t>
            </a:r>
          </a:p>
          <a:p>
            <a:pPr marL="0" indent="0">
              <a:buNone/>
            </a:pPr>
            <a:r>
              <a:rPr lang="fr-FR" dirty="0"/>
              <a:t>C - Cancer de l’</a:t>
            </a:r>
            <a:r>
              <a:rPr lang="fr-FR" dirty="0" err="1"/>
              <a:t>hypopharynx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D - Otite moyenne aigué</a:t>
            </a:r>
          </a:p>
          <a:p>
            <a:pPr marL="0" indent="0">
              <a:buNone/>
            </a:pPr>
            <a:r>
              <a:rPr lang="fr-FR" dirty="0"/>
              <a:t>E - Pathologie de l’articulation </a:t>
            </a:r>
            <a:r>
              <a:rPr lang="fr-FR" dirty="0" err="1"/>
              <a:t>temporomaxillaire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95966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61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17994" cy="4351338"/>
          </a:xfrm>
        </p:spPr>
        <p:txBody>
          <a:bodyPr/>
          <a:lstStyle/>
          <a:p>
            <a:r>
              <a:rPr lang="fr-FR" dirty="0"/>
              <a:t>Parmi les affections suivantes, laquelle(lesquelles) </a:t>
            </a:r>
            <a:r>
              <a:rPr lang="fr-FR" dirty="0" smtClean="0"/>
              <a:t>ne s’accompagne(nt</a:t>
            </a:r>
            <a:r>
              <a:rPr lang="fr-FR" dirty="0"/>
              <a:t>) pas d’otalgie?</a:t>
            </a:r>
          </a:p>
          <a:p>
            <a:pPr marL="0" indent="0">
              <a:buNone/>
            </a:pPr>
            <a:r>
              <a:rPr lang="fr-FR" dirty="0"/>
              <a:t>A - Angine virale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 - Cancer de la corde vocale</a:t>
            </a:r>
          </a:p>
          <a:p>
            <a:pPr marL="0" indent="0">
              <a:buNone/>
            </a:pPr>
            <a:r>
              <a:rPr lang="fr-FR" dirty="0"/>
              <a:t>C - Cancer de l’</a:t>
            </a:r>
            <a:r>
              <a:rPr lang="fr-FR" dirty="0" err="1"/>
              <a:t>hypopharynx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D - Otite moyenne aigué</a:t>
            </a:r>
          </a:p>
          <a:p>
            <a:pPr marL="0" indent="0">
              <a:buNone/>
            </a:pPr>
            <a:r>
              <a:rPr lang="fr-FR" dirty="0"/>
              <a:t>E - Pathologie de l’articulation </a:t>
            </a:r>
            <a:r>
              <a:rPr lang="fr-FR" dirty="0" err="1"/>
              <a:t>temporomaxillaire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7983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62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sont parmi les examens complémentaires suivants, ceux que </a:t>
            </a:r>
            <a:r>
              <a:rPr lang="fr-FR" dirty="0" smtClean="0"/>
              <a:t>vous demanderez </a:t>
            </a:r>
            <a:r>
              <a:rPr lang="fr-FR" dirty="0"/>
              <a:t>en priorité chez ce malade?</a:t>
            </a:r>
          </a:p>
          <a:p>
            <a:pPr marL="0" indent="0">
              <a:buNone/>
            </a:pPr>
            <a:r>
              <a:rPr lang="fr-FR" dirty="0"/>
              <a:t>A - Frottis de gorge et examen bactériologique</a:t>
            </a:r>
          </a:p>
          <a:p>
            <a:pPr marL="0" indent="0">
              <a:buNone/>
            </a:pPr>
            <a:r>
              <a:rPr lang="fr-FR" dirty="0"/>
              <a:t>B - Biopsie</a:t>
            </a:r>
          </a:p>
          <a:p>
            <a:pPr marL="0" indent="0">
              <a:buNone/>
            </a:pPr>
            <a:r>
              <a:rPr lang="fr-FR" dirty="0"/>
              <a:t>C - Transit pharyngo </a:t>
            </a:r>
            <a:r>
              <a:rPr lang="fr-FR" dirty="0" err="1"/>
              <a:t>oesophagien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D - Scintigraphie osseuse</a:t>
            </a:r>
          </a:p>
          <a:p>
            <a:pPr marL="0" indent="0">
              <a:buNone/>
            </a:pPr>
            <a:r>
              <a:rPr lang="fr-FR" dirty="0"/>
              <a:t>E </a:t>
            </a:r>
            <a:r>
              <a:rPr lang="fr-FR" dirty="0" smtClean="0"/>
              <a:t>– LDS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91452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62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sont parmi les examens complémentaires suivants, ceux que </a:t>
            </a:r>
            <a:r>
              <a:rPr lang="fr-FR" dirty="0" smtClean="0"/>
              <a:t>vous demanderez </a:t>
            </a:r>
            <a:r>
              <a:rPr lang="fr-FR" dirty="0"/>
              <a:t>en priorité chez ce malade?</a:t>
            </a:r>
          </a:p>
          <a:p>
            <a:pPr marL="0" indent="0">
              <a:buNone/>
            </a:pPr>
            <a:r>
              <a:rPr lang="fr-FR" dirty="0"/>
              <a:t>A - Frottis de gorge et examen bactériologique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 - Biopsie</a:t>
            </a:r>
          </a:p>
          <a:p>
            <a:pPr marL="0" indent="0">
              <a:buNone/>
            </a:pPr>
            <a:r>
              <a:rPr lang="fr-FR" dirty="0"/>
              <a:t>C - Transit pharyngo </a:t>
            </a:r>
            <a:r>
              <a:rPr lang="fr-FR" dirty="0" err="1"/>
              <a:t>oesophagien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D - Scintigraphie osseuse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E - </a:t>
            </a:r>
            <a:r>
              <a:rPr lang="fr-FR" dirty="0" smtClean="0">
                <a:solidFill>
                  <a:srgbClr val="FF0000"/>
                </a:solidFill>
              </a:rPr>
              <a:t>LDS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9026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fr-FR" b="1" u="sng" dirty="0" smtClean="0"/>
              <a:t>Cas clinique</a:t>
            </a:r>
            <a:endParaRPr lang="fr-FR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Un homme de 27 ans, maghrébin d’origine, en France depuis 6 mois, présente depuis 4 </a:t>
            </a:r>
            <a:r>
              <a:rPr lang="fr-FR" dirty="0" smtClean="0"/>
              <a:t>mois une </a:t>
            </a:r>
            <a:r>
              <a:rPr lang="fr-FR" dirty="0"/>
              <a:t>hypoacousie gauche.</a:t>
            </a:r>
          </a:p>
          <a:p>
            <a:r>
              <a:rPr lang="fr-FR" dirty="0"/>
              <a:t>Il consulte pour une adénopathie spinale haute et gauche, de 3 cm de diamètre, fixée </a:t>
            </a:r>
            <a:r>
              <a:rPr lang="fr-FR" dirty="0" smtClean="0"/>
              <a:t>aux plans </a:t>
            </a:r>
            <a:r>
              <a:rPr lang="fr-FR" dirty="0"/>
              <a:t>profonds. L’état général est conservé; l’examen clinique est normal par ailleurs. Il n’y </a:t>
            </a:r>
            <a:r>
              <a:rPr lang="fr-FR" dirty="0" smtClean="0"/>
              <a:t>a pas </a:t>
            </a:r>
            <a:r>
              <a:rPr lang="fr-FR" dirty="0"/>
              <a:t>d’intoxication alcoolo-tabagique. La ponction ganglionnaire révèle la présence de </a:t>
            </a:r>
            <a:r>
              <a:rPr lang="fr-FR" dirty="0" smtClean="0"/>
              <a:t>cellules malignes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77968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63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L’hypo-acousie gauche est liée à:</a:t>
            </a:r>
          </a:p>
          <a:p>
            <a:pPr marL="0" indent="0">
              <a:buNone/>
            </a:pPr>
            <a:r>
              <a:rPr lang="fr-FR" dirty="0"/>
              <a:t>A - La compression du conduit auditif interne</a:t>
            </a:r>
          </a:p>
          <a:p>
            <a:pPr marL="0" indent="0">
              <a:buNone/>
            </a:pPr>
            <a:r>
              <a:rPr lang="fr-FR" dirty="0"/>
              <a:t>B - L’atteinte du VIII</a:t>
            </a:r>
          </a:p>
          <a:p>
            <a:pPr marL="0" indent="0">
              <a:buNone/>
            </a:pPr>
            <a:r>
              <a:rPr lang="fr-FR" dirty="0"/>
              <a:t>C - L’envahissement ou l’atteinte de la trompe d’Eustache</a:t>
            </a:r>
          </a:p>
          <a:p>
            <a:pPr marL="0" indent="0">
              <a:buNone/>
            </a:pPr>
            <a:r>
              <a:rPr lang="fr-FR" dirty="0"/>
              <a:t>D - La destruction de l’oreille moyenne</a:t>
            </a:r>
          </a:p>
          <a:p>
            <a:pPr marL="0" indent="0">
              <a:buNone/>
            </a:pPr>
            <a:r>
              <a:rPr lang="fr-FR" dirty="0"/>
              <a:t>E - La destruction de l’oreille interne</a:t>
            </a:r>
          </a:p>
        </p:txBody>
      </p:sp>
    </p:spTree>
    <p:extLst>
      <p:ext uri="{BB962C8B-B14F-4D97-AF65-F5344CB8AC3E}">
        <p14:creationId xmlns:p14="http://schemas.microsoft.com/office/powerpoint/2010/main" val="21635038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63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L’hypo-acousie gauche est liée à:</a:t>
            </a:r>
          </a:p>
          <a:p>
            <a:pPr marL="0" indent="0">
              <a:buNone/>
            </a:pPr>
            <a:r>
              <a:rPr lang="fr-FR" dirty="0"/>
              <a:t>A - La compression du conduit auditif interne</a:t>
            </a:r>
          </a:p>
          <a:p>
            <a:pPr marL="0" indent="0">
              <a:buNone/>
            </a:pPr>
            <a:r>
              <a:rPr lang="fr-FR" dirty="0"/>
              <a:t>B - L’atteinte du VIII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C - L’envahissement ou l’atteinte de la trompe d’Eustache</a:t>
            </a:r>
          </a:p>
          <a:p>
            <a:pPr marL="0" indent="0">
              <a:buNone/>
            </a:pPr>
            <a:r>
              <a:rPr lang="fr-FR" dirty="0"/>
              <a:t>D - La destruction de l’oreille moyenne</a:t>
            </a:r>
          </a:p>
          <a:p>
            <a:pPr marL="0" indent="0">
              <a:buNone/>
            </a:pPr>
            <a:r>
              <a:rPr lang="fr-FR" dirty="0"/>
              <a:t>E - La destruction de l’oreille interne</a:t>
            </a:r>
          </a:p>
        </p:txBody>
      </p:sp>
    </p:spTree>
    <p:extLst>
      <p:ext uri="{BB962C8B-B14F-4D97-AF65-F5344CB8AC3E}">
        <p14:creationId xmlns:p14="http://schemas.microsoft.com/office/powerpoint/2010/main" val="7305668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64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premier diagnostic évoqué est:</a:t>
            </a:r>
          </a:p>
          <a:p>
            <a:pPr marL="0" indent="0">
              <a:buNone/>
            </a:pPr>
            <a:r>
              <a:rPr lang="fr-FR" dirty="0"/>
              <a:t>A - Un cancer </a:t>
            </a:r>
            <a:r>
              <a:rPr lang="fr-FR" dirty="0" err="1"/>
              <a:t>bronchopulmonaire</a:t>
            </a:r>
            <a:r>
              <a:rPr lang="fr-FR" dirty="0"/>
              <a:t> avec adénopathie métastatique</a:t>
            </a:r>
          </a:p>
          <a:p>
            <a:pPr marL="0" indent="0">
              <a:buNone/>
            </a:pPr>
            <a:r>
              <a:rPr lang="fr-FR" dirty="0"/>
              <a:t>B - Une tumeur de la parotide, avec adénopathie métastatique</a:t>
            </a:r>
          </a:p>
          <a:p>
            <a:pPr marL="0" indent="0">
              <a:buNone/>
            </a:pPr>
            <a:r>
              <a:rPr lang="fr-FR" dirty="0"/>
              <a:t>C - Un </a:t>
            </a:r>
            <a:r>
              <a:rPr lang="fr-FR" dirty="0" err="1"/>
              <a:t>choléstéatome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D - Un cancer du cavum avec adénopathie métastatique</a:t>
            </a:r>
          </a:p>
          <a:p>
            <a:pPr marL="0" indent="0">
              <a:buNone/>
            </a:pPr>
            <a:r>
              <a:rPr lang="fr-FR" dirty="0"/>
              <a:t>E - Un carcinome de la base de langue avec adénopathie métastatique</a:t>
            </a:r>
          </a:p>
        </p:txBody>
      </p:sp>
    </p:spTree>
    <p:extLst>
      <p:ext uri="{BB962C8B-B14F-4D97-AF65-F5344CB8AC3E}">
        <p14:creationId xmlns:p14="http://schemas.microsoft.com/office/powerpoint/2010/main" val="12196556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64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premier diagnostic évoqué est:</a:t>
            </a:r>
          </a:p>
          <a:p>
            <a:pPr marL="0" indent="0">
              <a:buNone/>
            </a:pPr>
            <a:r>
              <a:rPr lang="fr-FR" dirty="0"/>
              <a:t>A - Un cancer </a:t>
            </a:r>
            <a:r>
              <a:rPr lang="fr-FR" dirty="0" err="1"/>
              <a:t>bronchopulmonaire</a:t>
            </a:r>
            <a:r>
              <a:rPr lang="fr-FR" dirty="0"/>
              <a:t> avec adénopathie métastatique</a:t>
            </a:r>
          </a:p>
          <a:p>
            <a:pPr marL="0" indent="0">
              <a:buNone/>
            </a:pPr>
            <a:r>
              <a:rPr lang="fr-FR" dirty="0"/>
              <a:t>B - Une tumeur de la parotide, avec adénopathie métastatique</a:t>
            </a:r>
          </a:p>
          <a:p>
            <a:pPr marL="0" indent="0">
              <a:buNone/>
            </a:pPr>
            <a:r>
              <a:rPr lang="fr-FR" dirty="0"/>
              <a:t>C - Un </a:t>
            </a:r>
            <a:r>
              <a:rPr lang="fr-FR" dirty="0" err="1"/>
              <a:t>choléstéatome</a:t>
            </a:r>
            <a:endParaRPr lang="fr-FR" dirty="0"/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D - Un cancer du cavum avec adénopathie métastatique</a:t>
            </a:r>
          </a:p>
          <a:p>
            <a:pPr marL="0" indent="0">
              <a:buNone/>
            </a:pPr>
            <a:r>
              <a:rPr lang="fr-FR" dirty="0"/>
              <a:t>E - Un carcinome de la base de langue avec adénopathie métastatique</a:t>
            </a:r>
          </a:p>
        </p:txBody>
      </p:sp>
    </p:spTree>
    <p:extLst>
      <p:ext uri="{BB962C8B-B14F-4D97-AF65-F5344CB8AC3E}">
        <p14:creationId xmlns:p14="http://schemas.microsoft.com/office/powerpoint/2010/main" val="33653985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65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étayer ce diagnostic, un ou plusieurs des examens suivants sont utiles</a:t>
            </a:r>
          </a:p>
          <a:p>
            <a:pPr marL="0" indent="0">
              <a:buNone/>
            </a:pPr>
            <a:r>
              <a:rPr lang="fr-FR" dirty="0"/>
              <a:t>A - Une biopsie de amygdale</a:t>
            </a:r>
          </a:p>
          <a:p>
            <a:pPr marL="0" indent="0">
              <a:buNone/>
            </a:pPr>
            <a:r>
              <a:rPr lang="fr-FR" dirty="0"/>
              <a:t>B - Une </a:t>
            </a:r>
            <a:r>
              <a:rPr lang="fr-FR" dirty="0" err="1"/>
              <a:t>épipharyngoscopie</a:t>
            </a:r>
            <a:r>
              <a:rPr lang="fr-FR" dirty="0"/>
              <a:t>, ou rhinoscopie postérieure avec biopsie</a:t>
            </a:r>
          </a:p>
          <a:p>
            <a:pPr marL="0" indent="0">
              <a:buNone/>
            </a:pPr>
            <a:r>
              <a:rPr lang="fr-FR" dirty="0"/>
              <a:t>C - Un dosage des anticorps dirigés contre le virus </a:t>
            </a:r>
            <a:r>
              <a:rPr lang="fr-FR" dirty="0" err="1"/>
              <a:t>dEpstein</a:t>
            </a:r>
            <a:r>
              <a:rPr lang="fr-FR" dirty="0"/>
              <a:t>-Barr</a:t>
            </a:r>
          </a:p>
          <a:p>
            <a:pPr marL="0" indent="0">
              <a:buNone/>
            </a:pPr>
            <a:r>
              <a:rPr lang="fr-FR" dirty="0"/>
              <a:t>D - Une </a:t>
            </a:r>
            <a:r>
              <a:rPr lang="fr-FR" dirty="0" err="1"/>
              <a:t>sialographie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E - Un audiogramme</a:t>
            </a:r>
          </a:p>
        </p:txBody>
      </p:sp>
    </p:spTree>
    <p:extLst>
      <p:ext uri="{BB962C8B-B14F-4D97-AF65-F5344CB8AC3E}">
        <p14:creationId xmlns:p14="http://schemas.microsoft.com/office/powerpoint/2010/main" val="6570721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65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étayer ce diagnostic, un ou plusieurs des examens suivants sont utiles</a:t>
            </a:r>
          </a:p>
          <a:p>
            <a:pPr marL="0" indent="0">
              <a:buNone/>
            </a:pPr>
            <a:r>
              <a:rPr lang="fr-FR" dirty="0"/>
              <a:t>A - Une biopsie de amygdale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 - Une </a:t>
            </a:r>
            <a:r>
              <a:rPr lang="fr-FR" dirty="0" err="1">
                <a:solidFill>
                  <a:srgbClr val="FF0000"/>
                </a:solidFill>
              </a:rPr>
              <a:t>épipharyngoscopie</a:t>
            </a:r>
            <a:r>
              <a:rPr lang="fr-FR" dirty="0">
                <a:solidFill>
                  <a:srgbClr val="FF0000"/>
                </a:solidFill>
              </a:rPr>
              <a:t>, ou rhinoscopie postérieure avec biopsie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C - Un dosage des anticorps dirigés contre le virus </a:t>
            </a:r>
            <a:r>
              <a:rPr lang="fr-FR" dirty="0" err="1">
                <a:solidFill>
                  <a:srgbClr val="FF0000"/>
                </a:solidFill>
              </a:rPr>
              <a:t>dEpstein</a:t>
            </a:r>
            <a:r>
              <a:rPr lang="fr-FR" dirty="0">
                <a:solidFill>
                  <a:srgbClr val="FF0000"/>
                </a:solidFill>
              </a:rPr>
              <a:t>-Barr</a:t>
            </a:r>
          </a:p>
          <a:p>
            <a:pPr marL="0" indent="0">
              <a:buNone/>
            </a:pPr>
            <a:r>
              <a:rPr lang="fr-FR" dirty="0"/>
              <a:t>D - Une </a:t>
            </a:r>
            <a:r>
              <a:rPr lang="fr-FR" dirty="0" err="1"/>
              <a:t>sialographie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E - Un audiogramme</a:t>
            </a:r>
          </a:p>
        </p:txBody>
      </p:sp>
    </p:spTree>
    <p:extLst>
      <p:ext uri="{BB962C8B-B14F-4D97-AF65-F5344CB8AC3E}">
        <p14:creationId xmlns:p14="http://schemas.microsoft.com/office/powerpoint/2010/main" val="31016447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66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telle adénopathie a plus de chance d’être contrôlée par radiothérapie seule s’il s’agit de </a:t>
            </a:r>
            <a:r>
              <a:rPr lang="fr-FR" dirty="0" smtClean="0"/>
              <a:t>la métastase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A - D’un carcinome </a:t>
            </a:r>
            <a:r>
              <a:rPr lang="fr-FR" dirty="0" err="1"/>
              <a:t>épidermoide</a:t>
            </a:r>
            <a:r>
              <a:rPr lang="fr-FR" dirty="0"/>
              <a:t> de la base de langue</a:t>
            </a:r>
          </a:p>
          <a:p>
            <a:pPr marL="0" indent="0">
              <a:buNone/>
            </a:pPr>
            <a:r>
              <a:rPr lang="fr-FR" dirty="0"/>
              <a:t>B - D’un carcinome de la parotide</a:t>
            </a:r>
          </a:p>
          <a:p>
            <a:pPr marL="0" indent="0">
              <a:buNone/>
            </a:pPr>
            <a:r>
              <a:rPr lang="fr-FR" dirty="0"/>
              <a:t>C - D’un carcinome indifférencié du cavum</a:t>
            </a:r>
          </a:p>
          <a:p>
            <a:pPr marL="0" indent="0">
              <a:buNone/>
            </a:pPr>
            <a:r>
              <a:rPr lang="fr-FR" dirty="0"/>
              <a:t>D - D’un carcinome papillaire de la thyroïde</a:t>
            </a:r>
          </a:p>
          <a:p>
            <a:pPr marL="0" indent="0">
              <a:buNone/>
            </a:pPr>
            <a:r>
              <a:rPr lang="fr-FR" dirty="0"/>
              <a:t>E - D’un mélanome du cuir chevelu</a:t>
            </a:r>
          </a:p>
        </p:txBody>
      </p:sp>
    </p:spTree>
    <p:extLst>
      <p:ext uri="{BB962C8B-B14F-4D97-AF65-F5344CB8AC3E}">
        <p14:creationId xmlns:p14="http://schemas.microsoft.com/office/powerpoint/2010/main" val="6633757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66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telle adénopathie a plus de chance d’être contrôlée par radiothérapie seule s’il s’agit de </a:t>
            </a:r>
            <a:r>
              <a:rPr lang="fr-FR" dirty="0" smtClean="0"/>
              <a:t>la métastase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A - D’un carcinome </a:t>
            </a:r>
            <a:r>
              <a:rPr lang="fr-FR" dirty="0" err="1"/>
              <a:t>épidermoide</a:t>
            </a:r>
            <a:r>
              <a:rPr lang="fr-FR" dirty="0"/>
              <a:t> de la base de langue</a:t>
            </a:r>
          </a:p>
          <a:p>
            <a:pPr marL="0" indent="0">
              <a:buNone/>
            </a:pPr>
            <a:r>
              <a:rPr lang="fr-FR" dirty="0"/>
              <a:t>B - D’un carcinome de la parotide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C - D’un carcinome indifférencié du cavum</a:t>
            </a:r>
          </a:p>
          <a:p>
            <a:pPr marL="0" indent="0">
              <a:buNone/>
            </a:pPr>
            <a:r>
              <a:rPr lang="fr-FR" dirty="0"/>
              <a:t>D - D’un carcinome papillaire de la thyroïde</a:t>
            </a:r>
          </a:p>
          <a:p>
            <a:pPr marL="0" indent="0">
              <a:buNone/>
            </a:pPr>
            <a:r>
              <a:rPr lang="fr-FR" dirty="0"/>
              <a:t>E - D’un mélanome du cuir chevelu</a:t>
            </a:r>
          </a:p>
        </p:txBody>
      </p:sp>
    </p:spTree>
    <p:extLst>
      <p:ext uri="{BB962C8B-B14F-4D97-AF65-F5344CB8AC3E}">
        <p14:creationId xmlns:p14="http://schemas.microsoft.com/office/powerpoint/2010/main" val="38735337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fr-FR" b="1" u="sng" dirty="0" smtClean="0"/>
              <a:t>Cas clinique</a:t>
            </a:r>
            <a:endParaRPr lang="fr-FR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Mme M., 72 ans, est hospitalisée d’urgence pour une épistaxis </a:t>
            </a:r>
            <a:r>
              <a:rPr lang="fr-FR" dirty="0" smtClean="0"/>
              <a:t>grave. Son </a:t>
            </a:r>
            <a:r>
              <a:rPr lang="fr-FR" dirty="0"/>
              <a:t>hématocrite est à 0,24. Son hémoglobine est à 6 </a:t>
            </a:r>
            <a:r>
              <a:rPr lang="fr-FR" dirty="0" err="1"/>
              <a:t>gIlOOml</a:t>
            </a:r>
            <a:r>
              <a:rPr lang="fr-FR" dirty="0"/>
              <a:t>. Sa tension </a:t>
            </a:r>
            <a:r>
              <a:rPr lang="fr-FR" dirty="0" smtClean="0"/>
              <a:t>artérielle, habituellement </a:t>
            </a:r>
            <a:r>
              <a:rPr lang="fr-FR" dirty="0"/>
              <a:t>à 15, est descendue à 10. Elle saigne régulièrement depuis plusieurs années.</a:t>
            </a:r>
          </a:p>
          <a:p>
            <a:r>
              <a:rPr lang="fr-FR" dirty="0"/>
              <a:t>Ces épistaxis se rapprochent au fur et à mesure qu’elle avance en âge. </a:t>
            </a:r>
            <a:r>
              <a:rPr lang="fr-FR" dirty="0" smtClean="0"/>
              <a:t>L’interrogatoire apprend </a:t>
            </a:r>
            <a:r>
              <a:rPr lang="fr-FR" dirty="0"/>
              <a:t>que son père présentait les mêmes symptômes.</a:t>
            </a:r>
          </a:p>
        </p:txBody>
      </p:sp>
    </p:spTree>
    <p:extLst>
      <p:ext uri="{BB962C8B-B14F-4D97-AF65-F5344CB8AC3E}">
        <p14:creationId xmlns:p14="http://schemas.microsoft.com/office/powerpoint/2010/main" val="41929852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67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diagnostic évoquent ces épistaxis?</a:t>
            </a:r>
          </a:p>
          <a:p>
            <a:r>
              <a:rPr lang="fr-FR" dirty="0"/>
              <a:t>A - Hémophilie</a:t>
            </a:r>
          </a:p>
          <a:p>
            <a:r>
              <a:rPr lang="fr-FR" dirty="0"/>
              <a:t>B - Hémogénie</a:t>
            </a:r>
          </a:p>
          <a:p>
            <a:r>
              <a:rPr lang="fr-FR" dirty="0"/>
              <a:t>C - Cirrhose</a:t>
            </a:r>
          </a:p>
          <a:p>
            <a:r>
              <a:rPr lang="fr-FR" dirty="0"/>
              <a:t>D - Maladie de </a:t>
            </a:r>
            <a:r>
              <a:rPr lang="fr-FR" dirty="0" smtClean="0"/>
              <a:t>Rendu-Osler</a:t>
            </a:r>
            <a:endParaRPr lang="fr-FR" dirty="0"/>
          </a:p>
          <a:p>
            <a:r>
              <a:rPr lang="fr-FR" dirty="0"/>
              <a:t>E - Hypertension artérielle</a:t>
            </a:r>
          </a:p>
        </p:txBody>
      </p:sp>
    </p:spTree>
    <p:extLst>
      <p:ext uri="{BB962C8B-B14F-4D97-AF65-F5344CB8AC3E}">
        <p14:creationId xmlns:p14="http://schemas.microsoft.com/office/powerpoint/2010/main" val="37737769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67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diagnostic évoquent ces épistaxis?</a:t>
            </a:r>
          </a:p>
          <a:p>
            <a:r>
              <a:rPr lang="fr-FR" dirty="0"/>
              <a:t>A - Hémophilie</a:t>
            </a:r>
          </a:p>
          <a:p>
            <a:r>
              <a:rPr lang="fr-FR" dirty="0"/>
              <a:t>B - Hémogénie</a:t>
            </a:r>
          </a:p>
          <a:p>
            <a:r>
              <a:rPr lang="fr-FR" dirty="0"/>
              <a:t>C - Cirrhose</a:t>
            </a:r>
          </a:p>
          <a:p>
            <a:r>
              <a:rPr lang="fr-FR" dirty="0">
                <a:solidFill>
                  <a:srgbClr val="FF0000"/>
                </a:solidFill>
              </a:rPr>
              <a:t>D - Maladie de </a:t>
            </a:r>
            <a:r>
              <a:rPr lang="fr-FR" dirty="0" smtClean="0">
                <a:solidFill>
                  <a:srgbClr val="FF0000"/>
                </a:solidFill>
              </a:rPr>
              <a:t>Rendu-Osler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E - Hypertension artérielle</a:t>
            </a:r>
          </a:p>
        </p:txBody>
      </p:sp>
    </p:spTree>
    <p:extLst>
      <p:ext uri="{BB962C8B-B14F-4D97-AF65-F5344CB8AC3E}">
        <p14:creationId xmlns:p14="http://schemas.microsoft.com/office/powerpoint/2010/main" val="39619660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68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quel(s) élément(s) peut-on affirmer le diagnostic ?</a:t>
            </a:r>
          </a:p>
          <a:p>
            <a:r>
              <a:rPr lang="fr-FR" dirty="0"/>
              <a:t>A - Dosages biologiques</a:t>
            </a:r>
          </a:p>
          <a:p>
            <a:r>
              <a:rPr lang="fr-FR" dirty="0"/>
              <a:t>B - Biopsie de la muqueuse nasale</a:t>
            </a:r>
          </a:p>
          <a:p>
            <a:r>
              <a:rPr lang="fr-FR" dirty="0"/>
              <a:t>C - Examen de la peau du visage et des oreilles</a:t>
            </a:r>
          </a:p>
          <a:p>
            <a:r>
              <a:rPr lang="fr-FR" dirty="0"/>
              <a:t>D - Examen des doigts</a:t>
            </a:r>
          </a:p>
          <a:p>
            <a:r>
              <a:rPr lang="fr-FR" dirty="0"/>
              <a:t>E - Examen de la langue et des lèvres</a:t>
            </a:r>
          </a:p>
        </p:txBody>
      </p:sp>
    </p:spTree>
    <p:extLst>
      <p:ext uri="{BB962C8B-B14F-4D97-AF65-F5344CB8AC3E}">
        <p14:creationId xmlns:p14="http://schemas.microsoft.com/office/powerpoint/2010/main" val="8578864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68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quel(s) élément(s) peut-on affirmer le diagnostic ?</a:t>
            </a:r>
          </a:p>
          <a:p>
            <a:r>
              <a:rPr lang="fr-FR" dirty="0"/>
              <a:t>A - Dosages biologiques</a:t>
            </a:r>
          </a:p>
          <a:p>
            <a:r>
              <a:rPr lang="fr-FR" dirty="0"/>
              <a:t>B - Biopsie de la muqueuse nasale</a:t>
            </a:r>
          </a:p>
          <a:p>
            <a:r>
              <a:rPr lang="fr-FR" dirty="0">
                <a:solidFill>
                  <a:srgbClr val="FF0000"/>
                </a:solidFill>
              </a:rPr>
              <a:t>C - Examen de la peau du visage et des oreilles</a:t>
            </a:r>
          </a:p>
          <a:p>
            <a:r>
              <a:rPr lang="fr-FR" dirty="0">
                <a:solidFill>
                  <a:srgbClr val="FF0000"/>
                </a:solidFill>
              </a:rPr>
              <a:t>D - Examen des doigts</a:t>
            </a:r>
          </a:p>
          <a:p>
            <a:r>
              <a:rPr lang="fr-FR" dirty="0">
                <a:solidFill>
                  <a:srgbClr val="FF0000"/>
                </a:solidFill>
              </a:rPr>
              <a:t>E - Examen de la langue et des lèvres</a:t>
            </a:r>
          </a:p>
        </p:txBody>
      </p:sp>
    </p:spTree>
    <p:extLst>
      <p:ext uri="{BB962C8B-B14F-4D97-AF65-F5344CB8AC3E}">
        <p14:creationId xmlns:p14="http://schemas.microsoft.com/office/powerpoint/2010/main" val="9433704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69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traitement général immédiat faut-il instituer?</a:t>
            </a:r>
          </a:p>
          <a:p>
            <a:r>
              <a:rPr lang="fr-FR" dirty="0"/>
              <a:t>A - Transfusion de sang total</a:t>
            </a:r>
          </a:p>
          <a:p>
            <a:r>
              <a:rPr lang="fr-FR" dirty="0"/>
              <a:t>B - Perfusion de concentré plaquettaire</a:t>
            </a:r>
          </a:p>
          <a:p>
            <a:r>
              <a:rPr lang="fr-FR" dirty="0"/>
              <a:t>C - Corticoïde</a:t>
            </a:r>
          </a:p>
          <a:p>
            <a:r>
              <a:rPr lang="fr-FR" dirty="0"/>
              <a:t>D - Coagulants</a:t>
            </a:r>
          </a:p>
          <a:p>
            <a:r>
              <a:rPr lang="fr-FR" dirty="0"/>
              <a:t>E - Aucun traitement</a:t>
            </a:r>
          </a:p>
        </p:txBody>
      </p:sp>
    </p:spTree>
    <p:extLst>
      <p:ext uri="{BB962C8B-B14F-4D97-AF65-F5344CB8AC3E}">
        <p14:creationId xmlns:p14="http://schemas.microsoft.com/office/powerpoint/2010/main" val="36649539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69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traitement général immédiat faut-il instituer?</a:t>
            </a:r>
          </a:p>
          <a:p>
            <a:r>
              <a:rPr lang="fr-FR" dirty="0"/>
              <a:t>A - Transfusion de sang total</a:t>
            </a:r>
          </a:p>
          <a:p>
            <a:r>
              <a:rPr lang="fr-FR" dirty="0"/>
              <a:t>B - Perfusion de concentré plaquettaire</a:t>
            </a:r>
          </a:p>
          <a:p>
            <a:r>
              <a:rPr lang="fr-FR" dirty="0"/>
              <a:t>C - Corticoïde</a:t>
            </a:r>
          </a:p>
          <a:p>
            <a:r>
              <a:rPr lang="fr-FR" dirty="0"/>
              <a:t>D - Coagulants</a:t>
            </a:r>
          </a:p>
          <a:p>
            <a:r>
              <a:rPr lang="fr-FR" dirty="0">
                <a:solidFill>
                  <a:srgbClr val="FF0000"/>
                </a:solidFill>
              </a:rPr>
              <a:t>E - Aucun traitement</a:t>
            </a:r>
          </a:p>
        </p:txBody>
      </p:sp>
    </p:spTree>
    <p:extLst>
      <p:ext uri="{BB962C8B-B14F-4D97-AF65-F5344CB8AC3E}">
        <p14:creationId xmlns:p14="http://schemas.microsoft.com/office/powerpoint/2010/main" val="27240559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70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traitement local immédiat faut-il instituer?</a:t>
            </a:r>
          </a:p>
          <a:p>
            <a:r>
              <a:rPr lang="fr-FR" dirty="0"/>
              <a:t>A - Tamponnement nasal</a:t>
            </a:r>
          </a:p>
          <a:p>
            <a:r>
              <a:rPr lang="fr-FR" dirty="0"/>
              <a:t>B - Pommade nasale hémostatique</a:t>
            </a:r>
          </a:p>
          <a:p>
            <a:r>
              <a:rPr lang="fr-FR" dirty="0"/>
              <a:t>C - Cautérisation chimique</a:t>
            </a:r>
          </a:p>
          <a:p>
            <a:r>
              <a:rPr lang="fr-FR" dirty="0"/>
              <a:t>D - Cautérisation au bistouri électrique</a:t>
            </a:r>
          </a:p>
          <a:p>
            <a:r>
              <a:rPr lang="fr-FR" dirty="0"/>
              <a:t>E - Aucun traitement</a:t>
            </a:r>
          </a:p>
        </p:txBody>
      </p:sp>
    </p:spTree>
    <p:extLst>
      <p:ext uri="{BB962C8B-B14F-4D97-AF65-F5344CB8AC3E}">
        <p14:creationId xmlns:p14="http://schemas.microsoft.com/office/powerpoint/2010/main" val="17060602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70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 traitement local immédiat faut-il instituer?</a:t>
            </a:r>
          </a:p>
          <a:p>
            <a:r>
              <a:rPr lang="fr-FR" dirty="0">
                <a:solidFill>
                  <a:srgbClr val="FF0000"/>
                </a:solidFill>
              </a:rPr>
              <a:t>A - Tamponnement nasal</a:t>
            </a:r>
          </a:p>
          <a:p>
            <a:r>
              <a:rPr lang="fr-FR" dirty="0"/>
              <a:t>B - Pommade nasale hémostatique</a:t>
            </a:r>
          </a:p>
          <a:p>
            <a:r>
              <a:rPr lang="fr-FR" dirty="0"/>
              <a:t>C - Cautérisation chimique</a:t>
            </a:r>
          </a:p>
          <a:p>
            <a:r>
              <a:rPr lang="fr-FR" dirty="0"/>
              <a:t>D - Cautérisation au bistouri électrique</a:t>
            </a:r>
          </a:p>
          <a:p>
            <a:r>
              <a:rPr lang="fr-FR" dirty="0"/>
              <a:t>E - Aucun traitement</a:t>
            </a:r>
          </a:p>
        </p:txBody>
      </p:sp>
    </p:spTree>
    <p:extLst>
      <p:ext uri="{BB962C8B-B14F-4D97-AF65-F5344CB8AC3E}">
        <p14:creationId xmlns:p14="http://schemas.microsoft.com/office/powerpoint/2010/main" val="33135556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71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traitement ultérieur à envisager repose sur:</a:t>
            </a:r>
          </a:p>
          <a:p>
            <a:r>
              <a:rPr lang="fr-FR" dirty="0"/>
              <a:t>A - Exérèse de la muqueuse nasale et greffe de peau</a:t>
            </a:r>
          </a:p>
          <a:p>
            <a:r>
              <a:rPr lang="fr-FR" dirty="0"/>
              <a:t>B - Radiothérapie externe</a:t>
            </a:r>
          </a:p>
          <a:p>
            <a:r>
              <a:rPr lang="fr-FR" dirty="0"/>
              <a:t>C - </a:t>
            </a:r>
            <a:r>
              <a:rPr lang="fr-FR" dirty="0" err="1"/>
              <a:t>Oestrogénothérapie</a:t>
            </a:r>
            <a:endParaRPr lang="fr-FR" dirty="0"/>
          </a:p>
          <a:p>
            <a:r>
              <a:rPr lang="fr-FR" dirty="0"/>
              <a:t>D - Cryothérapie</a:t>
            </a:r>
          </a:p>
          <a:p>
            <a:r>
              <a:rPr lang="fr-FR" dirty="0"/>
              <a:t>E - Ligatures vasculaires</a:t>
            </a:r>
          </a:p>
        </p:txBody>
      </p:sp>
    </p:spTree>
    <p:extLst>
      <p:ext uri="{BB962C8B-B14F-4D97-AF65-F5344CB8AC3E}">
        <p14:creationId xmlns:p14="http://schemas.microsoft.com/office/powerpoint/2010/main" val="10295808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71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traitement ultérieur à envisager repose sur:</a:t>
            </a:r>
          </a:p>
          <a:p>
            <a:r>
              <a:rPr lang="fr-FR" dirty="0">
                <a:solidFill>
                  <a:srgbClr val="FF0000"/>
                </a:solidFill>
              </a:rPr>
              <a:t>A - Exérèse de la muqueuse nasale et greffe de peau</a:t>
            </a:r>
          </a:p>
          <a:p>
            <a:r>
              <a:rPr lang="fr-FR" dirty="0"/>
              <a:t>B - Radiothérapie externe</a:t>
            </a:r>
          </a:p>
          <a:p>
            <a:r>
              <a:rPr lang="fr-FR" dirty="0">
                <a:solidFill>
                  <a:srgbClr val="FF0000"/>
                </a:solidFill>
              </a:rPr>
              <a:t>C - </a:t>
            </a:r>
            <a:r>
              <a:rPr lang="fr-FR" dirty="0" err="1">
                <a:solidFill>
                  <a:srgbClr val="FF0000"/>
                </a:solidFill>
              </a:rPr>
              <a:t>Oestrogénothérapie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D - Cryothérapie</a:t>
            </a:r>
          </a:p>
          <a:p>
            <a:r>
              <a:rPr lang="fr-FR" dirty="0"/>
              <a:t>E - Ligatures vasculaires</a:t>
            </a:r>
          </a:p>
        </p:txBody>
      </p:sp>
    </p:spTree>
    <p:extLst>
      <p:ext uri="{BB962C8B-B14F-4D97-AF65-F5344CB8AC3E}">
        <p14:creationId xmlns:p14="http://schemas.microsoft.com/office/powerpoint/2010/main" val="327206706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fr-FR" b="1" u="sng" dirty="0" smtClean="0"/>
              <a:t>Cas clinique</a:t>
            </a:r>
            <a:endParaRPr lang="fr-FR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Un enfant de 4 ans est fébrile depuis quelques jours. Le médecin a diagnostiqué </a:t>
            </a:r>
            <a:r>
              <a:rPr lang="fr-FR" dirty="0" smtClean="0"/>
              <a:t>une rhinopharyngite </a:t>
            </a:r>
            <a:r>
              <a:rPr lang="fr-FR" dirty="0"/>
              <a:t>et prescrit un traitement par paracétamol, aspirine et instillations </a:t>
            </a:r>
            <a:r>
              <a:rPr lang="fr-FR" dirty="0" smtClean="0"/>
              <a:t>nasales antibiotiques </a:t>
            </a:r>
            <a:r>
              <a:rPr lang="fr-FR" dirty="0"/>
              <a:t>et vasoconstrictrices.</a:t>
            </a:r>
          </a:p>
          <a:p>
            <a:r>
              <a:rPr lang="fr-FR" dirty="0"/>
              <a:t>Cet enfant chétif et hypotrophique est fréquemment sujet à de telles poussées </a:t>
            </a:r>
            <a:r>
              <a:rPr lang="fr-FR" dirty="0" smtClean="0"/>
              <a:t>de rhinopharyngites</a:t>
            </a:r>
            <a:r>
              <a:rPr lang="fr-FR" dirty="0"/>
              <a:t>. Trois jours plus tard, le médecin est appelé à nouveau car depuis </a:t>
            </a:r>
            <a:r>
              <a:rPr lang="fr-FR" dirty="0" smtClean="0"/>
              <a:t>quelques heures</a:t>
            </a:r>
            <a:r>
              <a:rPr lang="fr-FR" dirty="0"/>
              <a:t>, la température est réapparue à 39°C et l’enfant se plaint de douleurs au niveau </a:t>
            </a:r>
            <a:r>
              <a:rPr lang="fr-FR" dirty="0" smtClean="0"/>
              <a:t>de l’oreille </a:t>
            </a:r>
            <a:r>
              <a:rPr lang="fr-FR" dirty="0"/>
              <a:t>droite, entraînant une insomnie la nuit précédente. </a:t>
            </a:r>
            <a:endParaRPr lang="fr-FR" dirty="0" smtClean="0"/>
          </a:p>
          <a:p>
            <a:r>
              <a:rPr lang="fr-FR" dirty="0" smtClean="0"/>
              <a:t>L’otoscopie </a:t>
            </a:r>
            <a:r>
              <a:rPr lang="fr-FR" dirty="0"/>
              <a:t>montre à droite </a:t>
            </a:r>
            <a:r>
              <a:rPr lang="fr-FR" dirty="0" smtClean="0"/>
              <a:t>un tympan </a:t>
            </a:r>
            <a:r>
              <a:rPr lang="fr-FR" dirty="0"/>
              <a:t>rouge, bombant, pulsatile, ayant perdu ses reliefs. A gauche, le tympan </a:t>
            </a:r>
            <a:r>
              <a:rPr lang="fr-FR" dirty="0" smtClean="0"/>
              <a:t>est discrètement </a:t>
            </a:r>
            <a:r>
              <a:rPr lang="fr-FR" dirty="0"/>
              <a:t>inflammatoire, rosé, </a:t>
            </a:r>
            <a:r>
              <a:rPr lang="fr-FR" dirty="0" err="1"/>
              <a:t>hyperhémique</a:t>
            </a:r>
            <a:r>
              <a:rPr lang="fr-FR" dirty="0"/>
              <a:t>. La palpation de la région mastoïdienne </a:t>
            </a:r>
            <a:r>
              <a:rPr lang="fr-FR" dirty="0" smtClean="0"/>
              <a:t>est indolore </a:t>
            </a:r>
            <a:r>
              <a:rPr lang="fr-FR" dirty="0"/>
              <a:t>des deux côtés. Les fosses nasales sont encombrées d’une </a:t>
            </a:r>
            <a:r>
              <a:rPr lang="fr-FR" dirty="0" smtClean="0"/>
              <a:t>sécrétion </a:t>
            </a:r>
            <a:r>
              <a:rPr lang="fr-FR" dirty="0" err="1" smtClean="0"/>
              <a:t>mucopurulente</a:t>
            </a:r>
            <a:r>
              <a:rPr lang="fr-FR" dirty="0"/>
              <a:t>. L’examen du pharynx montre une tramée </a:t>
            </a:r>
            <a:r>
              <a:rPr lang="fr-FR" dirty="0" err="1"/>
              <a:t>mucopurulente</a:t>
            </a:r>
            <a:r>
              <a:rPr lang="fr-FR" dirty="0"/>
              <a:t> sur la </a:t>
            </a:r>
            <a:r>
              <a:rPr lang="fr-FR" dirty="0" smtClean="0"/>
              <a:t>paroi postérieure </a:t>
            </a:r>
            <a:r>
              <a:rPr lang="fr-FR" dirty="0"/>
              <a:t>et une importante hypertrophie des végétations adénoïdes.</a:t>
            </a:r>
          </a:p>
        </p:txBody>
      </p:sp>
    </p:spTree>
    <p:extLst>
      <p:ext uri="{BB962C8B-B14F-4D97-AF65-F5344CB8AC3E}">
        <p14:creationId xmlns:p14="http://schemas.microsoft.com/office/powerpoint/2010/main" val="25442134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72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 l’origine de cette otite moyenne aigué les 4 germes les plus </a:t>
            </a:r>
            <a:r>
              <a:rPr lang="fr-FR" dirty="0" smtClean="0"/>
              <a:t>fréquemment rencontrés </a:t>
            </a:r>
            <a:r>
              <a:rPr lang="fr-FR" dirty="0"/>
              <a:t>sont:</a:t>
            </a:r>
          </a:p>
          <a:p>
            <a:r>
              <a:rPr lang="fr-FR" dirty="0"/>
              <a:t>A - Streptocoque hémolytique A</a:t>
            </a:r>
          </a:p>
          <a:p>
            <a:r>
              <a:rPr lang="fr-FR" dirty="0"/>
              <a:t>B - Staphylocoque</a:t>
            </a:r>
          </a:p>
          <a:p>
            <a:r>
              <a:rPr lang="fr-FR" dirty="0"/>
              <a:t>C - Pneumocoque</a:t>
            </a:r>
          </a:p>
          <a:p>
            <a:r>
              <a:rPr lang="fr-FR" dirty="0"/>
              <a:t>D - </a:t>
            </a:r>
            <a:r>
              <a:rPr lang="fr-FR" dirty="0" err="1"/>
              <a:t>Hémophilus</a:t>
            </a:r>
            <a:endParaRPr lang="fr-FR" dirty="0"/>
          </a:p>
          <a:p>
            <a:r>
              <a:rPr lang="fr-FR" dirty="0"/>
              <a:t>E - </a:t>
            </a:r>
            <a:r>
              <a:rPr lang="fr-FR" dirty="0" err="1"/>
              <a:t>Proteus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21108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72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 l’origine de cette otite moyenne aigué les 4 germes les plus </a:t>
            </a:r>
            <a:r>
              <a:rPr lang="fr-FR" dirty="0" smtClean="0"/>
              <a:t>fréquemment rencontrés </a:t>
            </a:r>
            <a:r>
              <a:rPr lang="fr-FR" dirty="0"/>
              <a:t>sont:</a:t>
            </a:r>
          </a:p>
          <a:p>
            <a:r>
              <a:rPr lang="fr-FR" dirty="0">
                <a:solidFill>
                  <a:srgbClr val="FF0000"/>
                </a:solidFill>
              </a:rPr>
              <a:t>A - Streptocoque hémolytique A</a:t>
            </a:r>
          </a:p>
          <a:p>
            <a:r>
              <a:rPr lang="fr-FR" dirty="0">
                <a:solidFill>
                  <a:srgbClr val="FF0000"/>
                </a:solidFill>
              </a:rPr>
              <a:t>B - Staphylocoque</a:t>
            </a:r>
          </a:p>
          <a:p>
            <a:r>
              <a:rPr lang="fr-FR" dirty="0">
                <a:solidFill>
                  <a:srgbClr val="FF0000"/>
                </a:solidFill>
              </a:rPr>
              <a:t>C - Pneumocoque</a:t>
            </a:r>
          </a:p>
          <a:p>
            <a:r>
              <a:rPr lang="fr-FR" dirty="0">
                <a:solidFill>
                  <a:srgbClr val="FF0000"/>
                </a:solidFill>
              </a:rPr>
              <a:t>D - </a:t>
            </a:r>
            <a:r>
              <a:rPr lang="fr-FR" dirty="0" err="1">
                <a:solidFill>
                  <a:srgbClr val="FF0000"/>
                </a:solidFill>
              </a:rPr>
              <a:t>Hémophilus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E - </a:t>
            </a:r>
            <a:r>
              <a:rPr lang="fr-FR" dirty="0" err="1"/>
              <a:t>Proteus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01055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73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traitement antibiotique est prescrit. Quels sont les deux antibiotiques </a:t>
            </a:r>
            <a:r>
              <a:rPr lang="fr-FR" dirty="0" smtClean="0"/>
              <a:t>que vous </a:t>
            </a:r>
            <a:r>
              <a:rPr lang="fr-FR" dirty="0"/>
              <a:t>choisirez de préférence parmi les suivants?</a:t>
            </a:r>
          </a:p>
          <a:p>
            <a:r>
              <a:rPr lang="fr-FR" dirty="0"/>
              <a:t>A - Pénicilline G</a:t>
            </a:r>
          </a:p>
          <a:p>
            <a:r>
              <a:rPr lang="fr-FR" dirty="0"/>
              <a:t>B - </a:t>
            </a:r>
            <a:r>
              <a:rPr lang="fr-FR" dirty="0" smtClean="0"/>
              <a:t>Amoxicilline</a:t>
            </a:r>
            <a:endParaRPr lang="fr-FR" dirty="0"/>
          </a:p>
          <a:p>
            <a:r>
              <a:rPr lang="fr-FR" dirty="0"/>
              <a:t>C - Macrolide</a:t>
            </a:r>
          </a:p>
          <a:p>
            <a:r>
              <a:rPr lang="fr-FR" dirty="0"/>
              <a:t>D - Aminoside</a:t>
            </a:r>
          </a:p>
          <a:p>
            <a:r>
              <a:rPr lang="fr-FR" dirty="0"/>
              <a:t>E - Tétracycline</a:t>
            </a:r>
          </a:p>
        </p:txBody>
      </p:sp>
    </p:spTree>
    <p:extLst>
      <p:ext uri="{BB962C8B-B14F-4D97-AF65-F5344CB8AC3E}">
        <p14:creationId xmlns:p14="http://schemas.microsoft.com/office/powerpoint/2010/main" val="384176853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73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traitement antibiotique est prescrit. Quels sont les deux antibiotiques </a:t>
            </a:r>
            <a:r>
              <a:rPr lang="fr-FR" dirty="0" smtClean="0"/>
              <a:t>que vous </a:t>
            </a:r>
            <a:r>
              <a:rPr lang="fr-FR" dirty="0"/>
              <a:t>choisirez de préférence parmi les suivants?</a:t>
            </a:r>
          </a:p>
          <a:p>
            <a:r>
              <a:rPr lang="fr-FR" dirty="0"/>
              <a:t>A - Pénicilline G</a:t>
            </a:r>
          </a:p>
          <a:p>
            <a:r>
              <a:rPr lang="fr-FR" dirty="0">
                <a:solidFill>
                  <a:srgbClr val="FF0000"/>
                </a:solidFill>
              </a:rPr>
              <a:t>B - </a:t>
            </a:r>
            <a:r>
              <a:rPr lang="fr-FR" dirty="0" smtClean="0">
                <a:solidFill>
                  <a:srgbClr val="FF0000"/>
                </a:solidFill>
              </a:rPr>
              <a:t>Amoxicilline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>
                <a:solidFill>
                  <a:srgbClr val="FF0000"/>
                </a:solidFill>
              </a:rPr>
              <a:t>C - Macrolide</a:t>
            </a:r>
          </a:p>
          <a:p>
            <a:r>
              <a:rPr lang="fr-FR" dirty="0"/>
              <a:t>D - Aminoside</a:t>
            </a:r>
          </a:p>
          <a:p>
            <a:r>
              <a:rPr lang="fr-FR" dirty="0"/>
              <a:t>E - Tétracycline</a:t>
            </a:r>
          </a:p>
        </p:txBody>
      </p:sp>
    </p:spTree>
    <p:extLst>
      <p:ext uri="{BB962C8B-B14F-4D97-AF65-F5344CB8AC3E}">
        <p14:creationId xmlns:p14="http://schemas.microsoft.com/office/powerpoint/2010/main" val="28551322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74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paracentèse est indiquée. Elle sera pratiquée au niveau de la </a:t>
            </a:r>
            <a:r>
              <a:rPr lang="fr-FR" dirty="0" smtClean="0"/>
              <a:t>zone suivante </a:t>
            </a:r>
            <a:r>
              <a:rPr lang="fr-FR" dirty="0"/>
              <a:t>du tympan</a:t>
            </a:r>
          </a:p>
          <a:p>
            <a:r>
              <a:rPr lang="fr-FR" dirty="0"/>
              <a:t>A - Quadrant postéro-supérieur</a:t>
            </a:r>
          </a:p>
          <a:p>
            <a:r>
              <a:rPr lang="fr-FR" dirty="0"/>
              <a:t>B - Partie supérieure</a:t>
            </a:r>
          </a:p>
          <a:p>
            <a:r>
              <a:rPr lang="fr-FR" dirty="0"/>
              <a:t>C - Quadrant antéro-supérieur</a:t>
            </a:r>
          </a:p>
          <a:p>
            <a:r>
              <a:rPr lang="fr-FR" dirty="0"/>
              <a:t>D - Quadrant </a:t>
            </a:r>
            <a:r>
              <a:rPr lang="fr-FR" dirty="0" smtClean="0"/>
              <a:t>antéro-inférieur</a:t>
            </a:r>
            <a:endParaRPr lang="fr-FR" dirty="0"/>
          </a:p>
          <a:p>
            <a:r>
              <a:rPr lang="fr-FR" dirty="0"/>
              <a:t>E - Au centre</a:t>
            </a:r>
          </a:p>
        </p:txBody>
      </p:sp>
    </p:spTree>
    <p:extLst>
      <p:ext uri="{BB962C8B-B14F-4D97-AF65-F5344CB8AC3E}">
        <p14:creationId xmlns:p14="http://schemas.microsoft.com/office/powerpoint/2010/main" val="24964894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74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paracentèse est indiquée. Elle sera pratiquée au niveau de la </a:t>
            </a:r>
            <a:r>
              <a:rPr lang="fr-FR" dirty="0" smtClean="0"/>
              <a:t>zone suivante </a:t>
            </a:r>
            <a:r>
              <a:rPr lang="fr-FR" dirty="0"/>
              <a:t>du tympan</a:t>
            </a:r>
          </a:p>
          <a:p>
            <a:r>
              <a:rPr lang="fr-FR" dirty="0"/>
              <a:t>A - Quadrant postéro-supérieur</a:t>
            </a:r>
          </a:p>
          <a:p>
            <a:r>
              <a:rPr lang="fr-FR" dirty="0"/>
              <a:t>B - Partie supérieure</a:t>
            </a:r>
          </a:p>
          <a:p>
            <a:r>
              <a:rPr lang="fr-FR" dirty="0"/>
              <a:t>C - Quadrant antéro-supérieur</a:t>
            </a:r>
          </a:p>
          <a:p>
            <a:r>
              <a:rPr lang="fr-FR" dirty="0">
                <a:solidFill>
                  <a:srgbClr val="FF0000"/>
                </a:solidFill>
              </a:rPr>
              <a:t>D - Quadrant </a:t>
            </a:r>
            <a:r>
              <a:rPr lang="fr-FR" dirty="0" smtClean="0">
                <a:solidFill>
                  <a:srgbClr val="FF0000"/>
                </a:solidFill>
              </a:rPr>
              <a:t>antéro-inférieur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E - Au centre</a:t>
            </a:r>
          </a:p>
        </p:txBody>
      </p:sp>
    </p:spTree>
    <p:extLst>
      <p:ext uri="{BB962C8B-B14F-4D97-AF65-F5344CB8AC3E}">
        <p14:creationId xmlns:p14="http://schemas.microsoft.com/office/powerpoint/2010/main" val="251652087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75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est la complication qui peut survenir le plus fréquemment si </a:t>
            </a:r>
            <a:r>
              <a:rPr lang="fr-FR" dirty="0" smtClean="0"/>
              <a:t>le traitement </a:t>
            </a:r>
            <a:r>
              <a:rPr lang="fr-FR" dirty="0"/>
              <a:t>n’est pas efficace ?</a:t>
            </a:r>
          </a:p>
          <a:p>
            <a:r>
              <a:rPr lang="fr-FR" dirty="0"/>
              <a:t>A - Cholestéatome de l’oreille</a:t>
            </a:r>
          </a:p>
          <a:p>
            <a:r>
              <a:rPr lang="fr-FR" dirty="0"/>
              <a:t>B - </a:t>
            </a:r>
            <a:r>
              <a:rPr lang="fr-FR" dirty="0" smtClean="0"/>
              <a:t>Mastoïdite</a:t>
            </a:r>
            <a:endParaRPr lang="fr-FR" dirty="0"/>
          </a:p>
          <a:p>
            <a:r>
              <a:rPr lang="fr-FR" dirty="0"/>
              <a:t>C - Dyspepsie grave</a:t>
            </a:r>
          </a:p>
          <a:p>
            <a:r>
              <a:rPr lang="fr-FR" dirty="0"/>
              <a:t>D - Surdité totale par labyrinthite</a:t>
            </a:r>
          </a:p>
          <a:p>
            <a:r>
              <a:rPr lang="fr-FR" dirty="0"/>
              <a:t>E - Paralysie faciale</a:t>
            </a:r>
          </a:p>
        </p:txBody>
      </p:sp>
    </p:spTree>
    <p:extLst>
      <p:ext uri="{BB962C8B-B14F-4D97-AF65-F5344CB8AC3E}">
        <p14:creationId xmlns:p14="http://schemas.microsoft.com/office/powerpoint/2010/main" val="36965784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75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est la complication qui peut survenir le plus fréquemment si </a:t>
            </a:r>
            <a:r>
              <a:rPr lang="fr-FR" dirty="0" smtClean="0"/>
              <a:t>le traitement </a:t>
            </a:r>
            <a:r>
              <a:rPr lang="fr-FR" dirty="0"/>
              <a:t>n’est pas efficace ?</a:t>
            </a:r>
          </a:p>
          <a:p>
            <a:r>
              <a:rPr lang="fr-FR" dirty="0"/>
              <a:t>A - Cholestéatome de l’oreille</a:t>
            </a:r>
          </a:p>
          <a:p>
            <a:r>
              <a:rPr lang="fr-FR" dirty="0">
                <a:solidFill>
                  <a:srgbClr val="FF0000"/>
                </a:solidFill>
              </a:rPr>
              <a:t>B - </a:t>
            </a:r>
            <a:r>
              <a:rPr lang="fr-FR" dirty="0" smtClean="0">
                <a:solidFill>
                  <a:srgbClr val="FF0000"/>
                </a:solidFill>
              </a:rPr>
              <a:t>Mastoïdite</a:t>
            </a:r>
            <a:endParaRPr lang="fr-FR" dirty="0">
              <a:solidFill>
                <a:srgbClr val="FF0000"/>
              </a:solidFill>
            </a:endParaRPr>
          </a:p>
          <a:p>
            <a:r>
              <a:rPr lang="fr-FR" dirty="0"/>
              <a:t>C - Dyspepsie grave</a:t>
            </a:r>
          </a:p>
          <a:p>
            <a:r>
              <a:rPr lang="fr-FR" dirty="0"/>
              <a:t>D - Surdité totale par labyrinthite</a:t>
            </a:r>
          </a:p>
          <a:p>
            <a:r>
              <a:rPr lang="fr-FR" dirty="0"/>
              <a:t>E - Paralysie faciale</a:t>
            </a:r>
          </a:p>
        </p:txBody>
      </p:sp>
    </p:spTree>
    <p:extLst>
      <p:ext uri="{BB962C8B-B14F-4D97-AF65-F5344CB8AC3E}">
        <p14:creationId xmlns:p14="http://schemas.microsoft.com/office/powerpoint/2010/main" val="374933594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76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est la meilleure conduite prophylactique à proposer pour éviter </a:t>
            </a:r>
            <a:r>
              <a:rPr lang="fr-FR" dirty="0" smtClean="0"/>
              <a:t>la répétition </a:t>
            </a:r>
            <a:r>
              <a:rPr lang="fr-FR" dirty="0"/>
              <a:t>d’une telle otite ?</a:t>
            </a:r>
          </a:p>
          <a:p>
            <a:r>
              <a:rPr lang="fr-FR" dirty="0"/>
              <a:t>A - Antibiothérapie au long cours par voie générale</a:t>
            </a:r>
          </a:p>
          <a:p>
            <a:r>
              <a:rPr lang="fr-FR" dirty="0"/>
              <a:t>B - Corticothérapie</a:t>
            </a:r>
          </a:p>
          <a:p>
            <a:r>
              <a:rPr lang="fr-FR" dirty="0"/>
              <a:t>C - Instillations auriculaires régulières d’antibiotique</a:t>
            </a:r>
          </a:p>
          <a:p>
            <a:r>
              <a:rPr lang="fr-FR" dirty="0"/>
              <a:t>D - Adénoïdectomie</a:t>
            </a:r>
          </a:p>
          <a:p>
            <a:r>
              <a:rPr lang="fr-FR" dirty="0"/>
              <a:t>E - Mastoïdectomie</a:t>
            </a:r>
          </a:p>
        </p:txBody>
      </p:sp>
    </p:spTree>
    <p:extLst>
      <p:ext uri="{BB962C8B-B14F-4D97-AF65-F5344CB8AC3E}">
        <p14:creationId xmlns:p14="http://schemas.microsoft.com/office/powerpoint/2010/main" val="211491728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QCM 76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est la meilleure conduite prophylactique à proposer pour éviter </a:t>
            </a:r>
            <a:r>
              <a:rPr lang="fr-FR" dirty="0" smtClean="0"/>
              <a:t>la répétition </a:t>
            </a:r>
            <a:r>
              <a:rPr lang="fr-FR" dirty="0"/>
              <a:t>d’une telle otite ?</a:t>
            </a:r>
          </a:p>
          <a:p>
            <a:r>
              <a:rPr lang="fr-FR" dirty="0"/>
              <a:t>A - Antibiothérapie au long cours par voie générale</a:t>
            </a:r>
          </a:p>
          <a:p>
            <a:r>
              <a:rPr lang="fr-FR" dirty="0"/>
              <a:t>B - Corticothérapie</a:t>
            </a:r>
          </a:p>
          <a:p>
            <a:r>
              <a:rPr lang="fr-FR" dirty="0"/>
              <a:t>C - Instillations auriculaires régulières d’antibiotique</a:t>
            </a:r>
          </a:p>
          <a:p>
            <a:r>
              <a:rPr lang="fr-FR" dirty="0">
                <a:solidFill>
                  <a:srgbClr val="FF0000"/>
                </a:solidFill>
              </a:rPr>
              <a:t>D - Adénoïdectomie</a:t>
            </a:r>
          </a:p>
          <a:p>
            <a:r>
              <a:rPr lang="fr-FR" dirty="0"/>
              <a:t>E - Mastoïdectomie</a:t>
            </a:r>
          </a:p>
        </p:txBody>
      </p:sp>
    </p:spTree>
    <p:extLst>
      <p:ext uri="{BB962C8B-B14F-4D97-AF65-F5344CB8AC3E}">
        <p14:creationId xmlns:p14="http://schemas.microsoft.com/office/powerpoint/2010/main" val="407364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3258</TotalTime>
  <Words>4227</Words>
  <Application>Microsoft Office PowerPoint</Application>
  <PresentationFormat>Widescreen</PresentationFormat>
  <Paragraphs>551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3" baseType="lpstr">
      <vt:lpstr>Arial</vt:lpstr>
      <vt:lpstr>Calibri</vt:lpstr>
      <vt:lpstr>Calibri Light</vt:lpstr>
      <vt:lpstr>Office Theme</vt:lpstr>
      <vt:lpstr>Atelier ORL </vt:lpstr>
      <vt:lpstr>QCM 41</vt:lpstr>
      <vt:lpstr>QCM 41</vt:lpstr>
      <vt:lpstr>QCM 42</vt:lpstr>
      <vt:lpstr>QCM 42</vt:lpstr>
      <vt:lpstr>QCM 43</vt:lpstr>
      <vt:lpstr>QCM 43</vt:lpstr>
      <vt:lpstr>QCM 44</vt:lpstr>
      <vt:lpstr>QCM 44</vt:lpstr>
      <vt:lpstr>QCM 45</vt:lpstr>
      <vt:lpstr>QCM 45</vt:lpstr>
      <vt:lpstr>QCM 46</vt:lpstr>
      <vt:lpstr>QCM 46</vt:lpstr>
      <vt:lpstr>QCM 47</vt:lpstr>
      <vt:lpstr>QCM 47</vt:lpstr>
      <vt:lpstr>QCM 48</vt:lpstr>
      <vt:lpstr>QCM 48</vt:lpstr>
      <vt:lpstr>QCM 49</vt:lpstr>
      <vt:lpstr>QCM 49</vt:lpstr>
      <vt:lpstr>QCM 50</vt:lpstr>
      <vt:lpstr>QCM 50</vt:lpstr>
      <vt:lpstr>QCM 51</vt:lpstr>
      <vt:lpstr>QCM 51</vt:lpstr>
      <vt:lpstr>Cas clinique</vt:lpstr>
      <vt:lpstr>Suite du cas clinique</vt:lpstr>
      <vt:lpstr>QCM 52</vt:lpstr>
      <vt:lpstr>QCM 52</vt:lpstr>
      <vt:lpstr>QCM 53</vt:lpstr>
      <vt:lpstr>QCM 53</vt:lpstr>
      <vt:lpstr>QCM 54</vt:lpstr>
      <vt:lpstr>QCM 54</vt:lpstr>
      <vt:lpstr>QCM 55</vt:lpstr>
      <vt:lpstr>QCM 55</vt:lpstr>
      <vt:lpstr>QCM 56</vt:lpstr>
      <vt:lpstr>QCM 56</vt:lpstr>
      <vt:lpstr>QCM 57</vt:lpstr>
      <vt:lpstr>QCM 57</vt:lpstr>
      <vt:lpstr>Cas clinique</vt:lpstr>
      <vt:lpstr>QCM 58</vt:lpstr>
      <vt:lpstr>QCM 58</vt:lpstr>
      <vt:lpstr>QCM 59</vt:lpstr>
      <vt:lpstr>QCM 59</vt:lpstr>
      <vt:lpstr>QCM 60</vt:lpstr>
      <vt:lpstr>QCM 60</vt:lpstr>
      <vt:lpstr>QCM 61</vt:lpstr>
      <vt:lpstr>QCM 61</vt:lpstr>
      <vt:lpstr>QCM 62</vt:lpstr>
      <vt:lpstr>QCM 62</vt:lpstr>
      <vt:lpstr>Cas clinique</vt:lpstr>
      <vt:lpstr>QCM 63</vt:lpstr>
      <vt:lpstr>QCM 63</vt:lpstr>
      <vt:lpstr>QCM 64</vt:lpstr>
      <vt:lpstr>QCM 64</vt:lpstr>
      <vt:lpstr>QCM 65</vt:lpstr>
      <vt:lpstr>QCM 65</vt:lpstr>
      <vt:lpstr>QCM 66</vt:lpstr>
      <vt:lpstr>QCM 66</vt:lpstr>
      <vt:lpstr>Cas clinique</vt:lpstr>
      <vt:lpstr>QCM 67</vt:lpstr>
      <vt:lpstr>QCM 67</vt:lpstr>
      <vt:lpstr>QCM 68</vt:lpstr>
      <vt:lpstr>QCM 68</vt:lpstr>
      <vt:lpstr>QCM 69</vt:lpstr>
      <vt:lpstr>QCM 69</vt:lpstr>
      <vt:lpstr>QCM 70</vt:lpstr>
      <vt:lpstr>QCM 70</vt:lpstr>
      <vt:lpstr>QCM 71</vt:lpstr>
      <vt:lpstr>QCM 71</vt:lpstr>
      <vt:lpstr>Cas clinique</vt:lpstr>
      <vt:lpstr>QCM 72</vt:lpstr>
      <vt:lpstr>QCM 72</vt:lpstr>
      <vt:lpstr>QCM 73</vt:lpstr>
      <vt:lpstr>QCM 73</vt:lpstr>
      <vt:lpstr>QCM 74</vt:lpstr>
      <vt:lpstr>QCM 74</vt:lpstr>
      <vt:lpstr>QCM 75</vt:lpstr>
      <vt:lpstr>QCM 75</vt:lpstr>
      <vt:lpstr>QCM 76</vt:lpstr>
      <vt:lpstr>QCM 76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 ORL</dc:title>
  <dc:creator>Microsoft account</dc:creator>
  <cp:lastModifiedBy>Microsoft account</cp:lastModifiedBy>
  <cp:revision>11</cp:revision>
  <dcterms:created xsi:type="dcterms:W3CDTF">2023-09-18T20:50:51Z</dcterms:created>
  <dcterms:modified xsi:type="dcterms:W3CDTF">2023-10-09T23:29:26Z</dcterms:modified>
</cp:coreProperties>
</file>