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0" r:id="rId1"/>
  </p:sldMasterIdLst>
  <p:notesMasterIdLst>
    <p:notesMasterId r:id="rId67"/>
  </p:notesMasterIdLst>
  <p:sldIdLst>
    <p:sldId id="285" r:id="rId2"/>
    <p:sldId id="963" r:id="rId3"/>
    <p:sldId id="579" r:id="rId4"/>
    <p:sldId id="959" r:id="rId5"/>
    <p:sldId id="960" r:id="rId6"/>
    <p:sldId id="961" r:id="rId7"/>
    <p:sldId id="786" r:id="rId8"/>
    <p:sldId id="788" r:id="rId9"/>
    <p:sldId id="792" r:id="rId10"/>
    <p:sldId id="848" r:id="rId11"/>
    <p:sldId id="849" r:id="rId12"/>
    <p:sldId id="850" r:id="rId13"/>
    <p:sldId id="851" r:id="rId14"/>
    <p:sldId id="853" r:id="rId15"/>
    <p:sldId id="856" r:id="rId16"/>
    <p:sldId id="857" r:id="rId17"/>
    <p:sldId id="858" r:id="rId18"/>
    <p:sldId id="859" r:id="rId19"/>
    <p:sldId id="860" r:id="rId20"/>
    <p:sldId id="862" r:id="rId21"/>
    <p:sldId id="863" r:id="rId22"/>
    <p:sldId id="864" r:id="rId23"/>
    <p:sldId id="899" r:id="rId24"/>
    <p:sldId id="900" r:id="rId25"/>
    <p:sldId id="901" r:id="rId26"/>
    <p:sldId id="902" r:id="rId27"/>
    <p:sldId id="919" r:id="rId28"/>
    <p:sldId id="923" r:id="rId29"/>
    <p:sldId id="924" r:id="rId30"/>
    <p:sldId id="925" r:id="rId31"/>
    <p:sldId id="926" r:id="rId32"/>
    <p:sldId id="927" r:id="rId33"/>
    <p:sldId id="928" r:id="rId34"/>
    <p:sldId id="930" r:id="rId35"/>
    <p:sldId id="932" r:id="rId36"/>
    <p:sldId id="934" r:id="rId37"/>
    <p:sldId id="936" r:id="rId38"/>
    <p:sldId id="940" r:id="rId39"/>
    <p:sldId id="942" r:id="rId40"/>
    <p:sldId id="944" r:id="rId41"/>
    <p:sldId id="946" r:id="rId42"/>
    <p:sldId id="951" r:id="rId43"/>
    <p:sldId id="953" r:id="rId44"/>
    <p:sldId id="987" r:id="rId45"/>
    <p:sldId id="988" r:id="rId46"/>
    <p:sldId id="989" r:id="rId47"/>
    <p:sldId id="991" r:id="rId48"/>
    <p:sldId id="992" r:id="rId49"/>
    <p:sldId id="993" r:id="rId50"/>
    <p:sldId id="994" r:id="rId51"/>
    <p:sldId id="996" r:id="rId52"/>
    <p:sldId id="997" r:id="rId53"/>
    <p:sldId id="1014" r:id="rId54"/>
    <p:sldId id="1005" r:id="rId55"/>
    <p:sldId id="1007" r:id="rId56"/>
    <p:sldId id="1006" r:id="rId57"/>
    <p:sldId id="1008" r:id="rId58"/>
    <p:sldId id="1009" r:id="rId59"/>
    <p:sldId id="999" r:id="rId60"/>
    <p:sldId id="1010" r:id="rId61"/>
    <p:sldId id="1012" r:id="rId62"/>
    <p:sldId id="1002" r:id="rId63"/>
    <p:sldId id="1004" r:id="rId64"/>
    <p:sldId id="1003" r:id="rId65"/>
    <p:sldId id="1001" r:id="rId66"/>
  </p:sldIdLst>
  <p:sldSz cx="9144000" cy="6858000" type="screen4x3"/>
  <p:notesSz cx="6858000" cy="9906000"/>
  <p:defaultTextStyle>
    <a:defPPr>
      <a:defRPr lang="en-US"/>
    </a:defPPr>
    <a:lvl1pPr algn="l" rtl="0" eaLnBrk="0" fontAlgn="base" hangingPunct="0">
      <a:spcBef>
        <a:spcPct val="0"/>
      </a:spcBef>
      <a:spcAft>
        <a:spcPct val="0"/>
      </a:spcAft>
      <a:defRPr sz="1000" b="1"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sz="1000" b="1"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sz="1000" b="1"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sz="1000" b="1"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sz="1000" b="1" kern="1200">
        <a:solidFill>
          <a:schemeClr val="tx1"/>
        </a:solidFill>
        <a:latin typeface="Verdana" pitchFamily="34" charset="0"/>
        <a:ea typeface="+mn-ea"/>
        <a:cs typeface="+mn-cs"/>
      </a:defRPr>
    </a:lvl5pPr>
    <a:lvl6pPr marL="2286000" algn="l" defTabSz="914400" rtl="0" eaLnBrk="1" latinLnBrk="0" hangingPunct="1">
      <a:defRPr sz="1000" b="1" kern="1200">
        <a:solidFill>
          <a:schemeClr val="tx1"/>
        </a:solidFill>
        <a:latin typeface="Verdana" pitchFamily="34" charset="0"/>
        <a:ea typeface="+mn-ea"/>
        <a:cs typeface="+mn-cs"/>
      </a:defRPr>
    </a:lvl6pPr>
    <a:lvl7pPr marL="2743200" algn="l" defTabSz="914400" rtl="0" eaLnBrk="1" latinLnBrk="0" hangingPunct="1">
      <a:defRPr sz="1000" b="1" kern="1200">
        <a:solidFill>
          <a:schemeClr val="tx1"/>
        </a:solidFill>
        <a:latin typeface="Verdana" pitchFamily="34" charset="0"/>
        <a:ea typeface="+mn-ea"/>
        <a:cs typeface="+mn-cs"/>
      </a:defRPr>
    </a:lvl7pPr>
    <a:lvl8pPr marL="3200400" algn="l" defTabSz="914400" rtl="0" eaLnBrk="1" latinLnBrk="0" hangingPunct="1">
      <a:defRPr sz="1000" b="1" kern="1200">
        <a:solidFill>
          <a:schemeClr val="tx1"/>
        </a:solidFill>
        <a:latin typeface="Verdana" pitchFamily="34" charset="0"/>
        <a:ea typeface="+mn-ea"/>
        <a:cs typeface="+mn-cs"/>
      </a:defRPr>
    </a:lvl8pPr>
    <a:lvl9pPr marL="3657600" algn="l" defTabSz="914400" rtl="0" eaLnBrk="1" latinLnBrk="0" hangingPunct="1">
      <a:defRPr sz="1000" b="1"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5918BB"/>
    <a:srgbClr val="FFEA18"/>
    <a:srgbClr val="F902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71" autoAdjust="0"/>
    <p:restoredTop sz="85842" autoAdjust="0"/>
  </p:normalViewPr>
  <p:slideViewPr>
    <p:cSldViewPr snapToGrid="0">
      <p:cViewPr varScale="1">
        <p:scale>
          <a:sx n="74" d="100"/>
          <a:sy n="74" d="100"/>
        </p:scale>
        <p:origin x="1434" y="78"/>
      </p:cViewPr>
      <p:guideLst>
        <p:guide orient="horz" pos="2160"/>
        <p:guide pos="2880"/>
      </p:guideLst>
    </p:cSldViewPr>
  </p:slideViewPr>
  <p:outlineViewPr>
    <p:cViewPr>
      <p:scale>
        <a:sx n="33" d="100"/>
        <a:sy n="33" d="100"/>
      </p:scale>
      <p:origin x="0" y="963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95300"/>
          </a:xfrm>
          <a:prstGeom prst="rect">
            <a:avLst/>
          </a:prstGeom>
        </p:spPr>
        <p:txBody>
          <a:bodyPr vert="horz" lIns="91440" tIns="45720" rIns="91440" bIns="45720" rtlCol="0"/>
          <a:lstStyle>
            <a:lvl1pPr algn="l" eaLnBrk="1" hangingPunct="1">
              <a:defRPr sz="1200"/>
            </a:lvl1pPr>
          </a:lstStyle>
          <a:p>
            <a:pPr>
              <a:defRPr/>
            </a:pPr>
            <a:endParaRPr lang="fr-FR"/>
          </a:p>
        </p:txBody>
      </p:sp>
      <p:sp>
        <p:nvSpPr>
          <p:cNvPr id="3" name="Espace réservé de la date 2"/>
          <p:cNvSpPr>
            <a:spLocks noGrp="1"/>
          </p:cNvSpPr>
          <p:nvPr>
            <p:ph type="dt" idx="1"/>
          </p:nvPr>
        </p:nvSpPr>
        <p:spPr>
          <a:xfrm>
            <a:off x="3884613" y="0"/>
            <a:ext cx="2971800" cy="495300"/>
          </a:xfrm>
          <a:prstGeom prst="rect">
            <a:avLst/>
          </a:prstGeom>
        </p:spPr>
        <p:txBody>
          <a:bodyPr vert="horz" lIns="91440" tIns="45720" rIns="91440" bIns="45720" rtlCol="0"/>
          <a:lstStyle>
            <a:lvl1pPr algn="r" eaLnBrk="1" hangingPunct="1">
              <a:defRPr sz="1200"/>
            </a:lvl1pPr>
          </a:lstStyle>
          <a:p>
            <a:pPr>
              <a:defRPr/>
            </a:pPr>
            <a:fld id="{CB8B739A-B733-462E-BCD3-519ADC1EF622}" type="datetimeFigureOut">
              <a:rPr lang="fr-FR"/>
              <a:pPr>
                <a:defRPr/>
              </a:pPr>
              <a:t>07/10/2023</a:t>
            </a:fld>
            <a:endParaRPr lang="fr-FR"/>
          </a:p>
        </p:txBody>
      </p:sp>
      <p:sp>
        <p:nvSpPr>
          <p:cNvPr id="4" name="Espace réservé de l'image des diapositives 3"/>
          <p:cNvSpPr>
            <a:spLocks noGrp="1" noRot="1" noChangeAspect="1"/>
          </p:cNvSpPr>
          <p:nvPr>
            <p:ph type="sldImg" idx="2"/>
          </p:nvPr>
        </p:nvSpPr>
        <p:spPr>
          <a:xfrm>
            <a:off x="952500" y="742950"/>
            <a:ext cx="4953000" cy="3714750"/>
          </a:xfrm>
          <a:prstGeom prst="rect">
            <a:avLst/>
          </a:prstGeom>
          <a:noFill/>
          <a:ln w="12700">
            <a:solidFill>
              <a:prstClr val="black"/>
            </a:solidFill>
          </a:ln>
        </p:spPr>
        <p:txBody>
          <a:bodyPr vert="horz" lIns="91440" tIns="45720" rIns="91440" bIns="45720" rtlCol="0" anchor="ctr"/>
          <a:lstStyle/>
          <a:p>
            <a:pPr lvl="0"/>
            <a:endParaRPr lang="fr-FR" noProof="0" smtClean="0"/>
          </a:p>
        </p:txBody>
      </p:sp>
      <p:sp>
        <p:nvSpPr>
          <p:cNvPr id="5" name="Espace réservé des commentaires 4"/>
          <p:cNvSpPr>
            <a:spLocks noGrp="1"/>
          </p:cNvSpPr>
          <p:nvPr>
            <p:ph type="body" sz="quarter" idx="3"/>
          </p:nvPr>
        </p:nvSpPr>
        <p:spPr>
          <a:xfrm>
            <a:off x="685800" y="4705350"/>
            <a:ext cx="5486400" cy="44577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9409113"/>
            <a:ext cx="2971800" cy="495300"/>
          </a:xfrm>
          <a:prstGeom prst="rect">
            <a:avLst/>
          </a:prstGeom>
        </p:spPr>
        <p:txBody>
          <a:bodyPr vert="horz" lIns="91440" tIns="45720" rIns="91440" bIns="45720" rtlCol="0" anchor="b"/>
          <a:lstStyle>
            <a:lvl1pPr algn="l" eaLnBrk="1" hangingPunct="1">
              <a:defRPr sz="1200"/>
            </a:lvl1pPr>
          </a:lstStyle>
          <a:p>
            <a:pPr>
              <a:defRPr/>
            </a:pPr>
            <a:endParaRPr lang="fr-FR"/>
          </a:p>
        </p:txBody>
      </p:sp>
      <p:sp>
        <p:nvSpPr>
          <p:cNvPr id="7" name="Espace réservé du numéro de diapositive 6"/>
          <p:cNvSpPr>
            <a:spLocks noGrp="1"/>
          </p:cNvSpPr>
          <p:nvPr>
            <p:ph type="sldNum" sz="quarter" idx="5"/>
          </p:nvPr>
        </p:nvSpPr>
        <p:spPr>
          <a:xfrm>
            <a:off x="3884613" y="9409113"/>
            <a:ext cx="2971800" cy="4953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0698303-B8DF-4751-8368-ADC6F81E7FA3}" type="slidenum">
              <a:rPr lang="fr-FR" altLang="fr-FR"/>
              <a:pPr>
                <a:defRPr/>
              </a:pPr>
              <a:t>‹N°›</a:t>
            </a:fld>
            <a:endParaRPr lang="fr-FR" altLang="fr-FR"/>
          </a:p>
        </p:txBody>
      </p:sp>
    </p:spTree>
    <p:extLst>
      <p:ext uri="{BB962C8B-B14F-4D97-AF65-F5344CB8AC3E}">
        <p14:creationId xmlns:p14="http://schemas.microsoft.com/office/powerpoint/2010/main" val="18198920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18125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fr-FR" altLang="fr-FR" smtClean="0"/>
              <a:t>d. Le code génétique est redondant, c'est-à-dire que plusieurs triplets peuvent désigner le même acide aminé.</a:t>
            </a:r>
          </a:p>
          <a:p>
            <a:endParaRPr lang="fr-FR" altLang="fr-FR" smtClean="0"/>
          </a:p>
        </p:txBody>
      </p:sp>
      <p:sp>
        <p:nvSpPr>
          <p:cNvPr id="181252" name="Espace réservé du numéro de diapositive 3"/>
          <p:cNvSpPr>
            <a:spLocks noGrp="1"/>
          </p:cNvSpPr>
          <p:nvPr>
            <p:ph type="sldNum" sz="quarter" idx="5"/>
          </p:nvPr>
        </p:nvSpPr>
        <p:spPr bwMode="auto">
          <a:noFill/>
          <a:ln>
            <a:miter lim="800000"/>
            <a:headEnd/>
            <a:tailEnd/>
          </a:ln>
        </p:spPr>
        <p:txBody>
          <a:bodyPr/>
          <a:lstStyle/>
          <a:p>
            <a:fld id="{2D04D69F-1146-4BCA-9FC7-76566018851F}" type="slidenum">
              <a:rPr lang="fr-FR" altLang="fr-FR" smtClean="0"/>
              <a:pPr/>
              <a:t>4</a:t>
            </a:fld>
            <a:endParaRPr lang="fr-FR" altLang="fr-FR" smtClean="0"/>
          </a:p>
        </p:txBody>
      </p:sp>
    </p:spTree>
    <p:extLst>
      <p:ext uri="{BB962C8B-B14F-4D97-AF65-F5344CB8AC3E}">
        <p14:creationId xmlns:p14="http://schemas.microsoft.com/office/powerpoint/2010/main" val="362045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B8639FA-62B9-4F46-BC2F-33A53F4B8635}" type="slidenum">
              <a:rPr lang="fr-FR" smtClean="0"/>
              <a:pPr/>
              <a:t>13</a:t>
            </a:fld>
            <a:endParaRPr lang="fr-FR"/>
          </a:p>
        </p:txBody>
      </p:sp>
    </p:spTree>
    <p:extLst>
      <p:ext uri="{BB962C8B-B14F-4D97-AF65-F5344CB8AC3E}">
        <p14:creationId xmlns:p14="http://schemas.microsoft.com/office/powerpoint/2010/main" val="3685288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mucoviscidose est une</a:t>
            </a:r>
          </a:p>
          <a:p>
            <a:r>
              <a:rPr lang="fr-FR" dirty="0" smtClean="0"/>
              <a:t>maladie à transmission</a:t>
            </a:r>
          </a:p>
          <a:p>
            <a:r>
              <a:rPr lang="fr-FR" dirty="0" smtClean="0"/>
              <a:t>autosomique récessive. Un</a:t>
            </a:r>
          </a:p>
          <a:p>
            <a:r>
              <a:rPr lang="fr-FR" dirty="0" smtClean="0"/>
              <a:t>sujet atteint est donc</a:t>
            </a:r>
          </a:p>
          <a:p>
            <a:r>
              <a:rPr lang="fr-FR" dirty="0" smtClean="0"/>
              <a:t>homozygote et ses parents sont</a:t>
            </a:r>
          </a:p>
          <a:p>
            <a:r>
              <a:rPr lang="fr-FR" dirty="0" smtClean="0"/>
              <a:t>tous deux hétérozygotes</a:t>
            </a:r>
          </a:p>
          <a:p>
            <a:r>
              <a:rPr lang="fr-FR" dirty="0" smtClean="0"/>
              <a:t>obligatoires.</a:t>
            </a:r>
          </a:p>
          <a:p>
            <a:r>
              <a:rPr lang="fr-FR" dirty="0" smtClean="0"/>
              <a:t>Pour chaque grossesse, le</a:t>
            </a:r>
          </a:p>
          <a:p>
            <a:r>
              <a:rPr lang="fr-FR" dirty="0" smtClean="0"/>
              <a:t>risque de mucoviscidose est de</a:t>
            </a:r>
          </a:p>
          <a:p>
            <a:r>
              <a:rPr lang="fr-FR" dirty="0" smtClean="0"/>
              <a:t>1/4.</a:t>
            </a:r>
          </a:p>
          <a:p>
            <a:r>
              <a:rPr lang="fr-FR" dirty="0" smtClean="0"/>
              <a:t>A a</a:t>
            </a:r>
          </a:p>
          <a:p>
            <a:r>
              <a:rPr lang="fr-FR" dirty="0" smtClean="0"/>
              <a:t>A AA </a:t>
            </a:r>
            <a:r>
              <a:rPr lang="fr-FR" dirty="0" err="1" smtClean="0"/>
              <a:t>Aa</a:t>
            </a:r>
            <a:endParaRPr lang="fr-FR" dirty="0" smtClean="0"/>
          </a:p>
          <a:p>
            <a:r>
              <a:rPr lang="fr-FR" dirty="0" smtClean="0"/>
              <a:t>a </a:t>
            </a:r>
            <a:r>
              <a:rPr lang="fr-FR" dirty="0" err="1" smtClean="0"/>
              <a:t>aA</a:t>
            </a:r>
            <a:r>
              <a:rPr lang="fr-FR" dirty="0" smtClean="0"/>
              <a:t> </a:t>
            </a:r>
            <a:r>
              <a:rPr lang="fr-FR" dirty="0" err="1" smtClean="0"/>
              <a:t>aa</a:t>
            </a:r>
            <a:endParaRPr lang="fr-FR" dirty="0" smtClean="0"/>
          </a:p>
          <a:p>
            <a:r>
              <a:rPr lang="fr-FR" dirty="0" smtClean="0"/>
              <a:t>A = gène normal</a:t>
            </a:r>
          </a:p>
          <a:p>
            <a:r>
              <a:rPr lang="fr-FR" dirty="0" smtClean="0"/>
              <a:t>a = gène pathologique</a:t>
            </a:r>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23</a:t>
            </a:fld>
            <a:endParaRPr lang="fr-FR"/>
          </a:p>
        </p:txBody>
      </p:sp>
    </p:spTree>
    <p:extLst>
      <p:ext uri="{BB962C8B-B14F-4D97-AF65-F5344CB8AC3E}">
        <p14:creationId xmlns:p14="http://schemas.microsoft.com/office/powerpoint/2010/main" val="3143621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L’hémophilie est une maladie</a:t>
            </a:r>
          </a:p>
          <a:p>
            <a:r>
              <a:rPr lang="fr-FR" altLang="fr-FR" dirty="0" smtClean="0"/>
              <a:t>récessive liée au sexe, donc</a:t>
            </a:r>
          </a:p>
          <a:p>
            <a:r>
              <a:rPr lang="fr-FR" altLang="fr-FR" dirty="0" smtClean="0"/>
              <a:t>transmise par un gène du</a:t>
            </a:r>
          </a:p>
          <a:p>
            <a:r>
              <a:rPr lang="fr-FR" altLang="fr-FR" dirty="0" smtClean="0"/>
              <a:t>chromosome X. Le père</a:t>
            </a:r>
          </a:p>
          <a:p>
            <a:r>
              <a:rPr lang="fr-FR" altLang="fr-FR" dirty="0" smtClean="0"/>
              <a:t>hémophile transmet son seul</a:t>
            </a:r>
          </a:p>
          <a:p>
            <a:r>
              <a:rPr lang="fr-FR" altLang="fr-FR" dirty="0" smtClean="0"/>
              <a:t>chromosome Y à ses garçons ;</a:t>
            </a:r>
          </a:p>
          <a:p>
            <a:r>
              <a:rPr lang="fr-FR" altLang="fr-FR" dirty="0" smtClean="0"/>
              <a:t>le risque est donc nul.</a:t>
            </a:r>
          </a:p>
        </p:txBody>
      </p:sp>
      <p:sp>
        <p:nvSpPr>
          <p:cNvPr id="19866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2343F83E-DF39-41F2-9447-C152D2B450F8}" type="slidenum">
              <a:rPr lang="fr-FR" altLang="fr-FR" sz="1200"/>
              <a:pPr/>
              <a:t>24</a:t>
            </a:fld>
            <a:endParaRPr lang="fr-FR" altLang="fr-FR" sz="1200"/>
          </a:p>
        </p:txBody>
      </p:sp>
    </p:spTree>
    <p:extLst>
      <p:ext uri="{BB962C8B-B14F-4D97-AF65-F5344CB8AC3E}">
        <p14:creationId xmlns:p14="http://schemas.microsoft.com/office/powerpoint/2010/main" val="1315492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La consanguinité augmente la</a:t>
            </a:r>
          </a:p>
          <a:p>
            <a:r>
              <a:rPr lang="fr-FR" altLang="fr-FR" dirty="0" smtClean="0"/>
              <a:t>probabilité, pour deux</a:t>
            </a:r>
          </a:p>
          <a:p>
            <a:r>
              <a:rPr lang="fr-FR" altLang="fr-FR" dirty="0" smtClean="0"/>
              <a:t>individus</a:t>
            </a:r>
          </a:p>
          <a:p>
            <a:r>
              <a:rPr lang="fr-FR" altLang="fr-FR" dirty="0" smtClean="0"/>
              <a:t>donnés, d’avoir un même gène</a:t>
            </a:r>
          </a:p>
          <a:p>
            <a:r>
              <a:rPr lang="fr-FR" altLang="fr-FR" dirty="0" smtClean="0"/>
              <a:t>pathologique hérité d’un</a:t>
            </a:r>
          </a:p>
          <a:p>
            <a:r>
              <a:rPr lang="fr-FR" altLang="fr-FR" dirty="0" smtClean="0"/>
              <a:t>ancêtre</a:t>
            </a:r>
          </a:p>
          <a:p>
            <a:r>
              <a:rPr lang="fr-FR" altLang="fr-FR" dirty="0" smtClean="0"/>
              <a:t>commun. Elle favorise donc</a:t>
            </a:r>
          </a:p>
          <a:p>
            <a:r>
              <a:rPr lang="fr-FR" altLang="fr-FR" dirty="0" smtClean="0"/>
              <a:t>les</a:t>
            </a:r>
          </a:p>
          <a:p>
            <a:r>
              <a:rPr lang="fr-FR" altLang="fr-FR" dirty="0" smtClean="0"/>
              <a:t>maladies récessives</a:t>
            </a:r>
          </a:p>
          <a:p>
            <a:r>
              <a:rPr lang="fr-FR" altLang="fr-FR" dirty="0" smtClean="0"/>
              <a:t>autosomiques qui nécessitent</a:t>
            </a:r>
          </a:p>
          <a:p>
            <a:r>
              <a:rPr lang="fr-FR" altLang="fr-FR" dirty="0" smtClean="0"/>
              <a:t>la</a:t>
            </a:r>
          </a:p>
          <a:p>
            <a:r>
              <a:rPr lang="fr-FR" altLang="fr-FR" dirty="0" smtClean="0"/>
              <a:t>présence de deux parents</a:t>
            </a:r>
          </a:p>
          <a:p>
            <a:r>
              <a:rPr lang="fr-FR" altLang="fr-FR" dirty="0" smtClean="0"/>
              <a:t>hétérozygotes pour le même</a:t>
            </a:r>
          </a:p>
          <a:p>
            <a:r>
              <a:rPr lang="fr-FR" altLang="fr-FR" dirty="0" smtClean="0"/>
              <a:t>gène pathologique, ce qui est</a:t>
            </a:r>
          </a:p>
          <a:p>
            <a:r>
              <a:rPr lang="fr-FR" altLang="fr-FR" dirty="0" smtClean="0"/>
              <a:t>exceptionnel dans la</a:t>
            </a:r>
          </a:p>
          <a:p>
            <a:r>
              <a:rPr lang="fr-FR" altLang="fr-FR" dirty="0" smtClean="0"/>
              <a:t>population</a:t>
            </a:r>
          </a:p>
          <a:p>
            <a:r>
              <a:rPr lang="fr-FR" altLang="fr-FR" dirty="0" smtClean="0"/>
              <a:t>générale.</a:t>
            </a:r>
          </a:p>
        </p:txBody>
      </p:sp>
      <p:sp>
        <p:nvSpPr>
          <p:cNvPr id="19968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77BA4E62-5CFB-47E9-9BF3-BEF0A4F5A0BF}" type="slidenum">
              <a:rPr lang="fr-FR" altLang="fr-FR" sz="1200"/>
              <a:pPr/>
              <a:t>28</a:t>
            </a:fld>
            <a:endParaRPr lang="fr-FR" altLang="fr-FR" sz="1200"/>
          </a:p>
        </p:txBody>
      </p:sp>
    </p:spTree>
    <p:extLst>
      <p:ext uri="{BB962C8B-B14F-4D97-AF65-F5344CB8AC3E}">
        <p14:creationId xmlns:p14="http://schemas.microsoft.com/office/powerpoint/2010/main" val="4267277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L’hémophilie est une maladie</a:t>
            </a:r>
          </a:p>
          <a:p>
            <a:r>
              <a:rPr lang="fr-FR" altLang="fr-FR" dirty="0" smtClean="0"/>
              <a:t>récessive liée au sexe, liée au chromosome X</a:t>
            </a:r>
          </a:p>
          <a:p>
            <a:r>
              <a:rPr lang="fr-FR" altLang="fr-FR" dirty="0" smtClean="0"/>
              <a:t>donc transmise par la mère à</a:t>
            </a:r>
          </a:p>
          <a:p>
            <a:r>
              <a:rPr lang="fr-FR" altLang="fr-FR" dirty="0" smtClean="0"/>
              <a:t>ses fils et à ses filles ou par le</a:t>
            </a:r>
          </a:p>
          <a:p>
            <a:r>
              <a:rPr lang="fr-FR" altLang="fr-FR" dirty="0" smtClean="0"/>
              <a:t>père à ses filles. Dans ce cas,</a:t>
            </a:r>
          </a:p>
          <a:p>
            <a:r>
              <a:rPr lang="fr-FR" altLang="fr-FR" dirty="0" smtClean="0"/>
              <a:t>la famille paternelle est saine (Dans l’énoncé le malade est un garçon donc il a reçu le X malade de la mère).</a:t>
            </a:r>
          </a:p>
          <a:p>
            <a:r>
              <a:rPr lang="fr-FR" altLang="fr-FR" dirty="0" smtClean="0"/>
              <a:t>Si la mère est atteinte, le</a:t>
            </a:r>
          </a:p>
          <a:p>
            <a:r>
              <a:rPr lang="fr-FR" altLang="fr-FR" dirty="0" smtClean="0"/>
              <a:t>Grand-père maternel peut être</a:t>
            </a:r>
          </a:p>
          <a:p>
            <a:r>
              <a:rPr lang="fr-FR" altLang="fr-FR" dirty="0" smtClean="0"/>
              <a:t>atteint.</a:t>
            </a:r>
          </a:p>
          <a:p>
            <a:r>
              <a:rPr lang="fr-FR" altLang="fr-FR" dirty="0" smtClean="0"/>
              <a:t>Si l’oncle était atteint (cas où</a:t>
            </a:r>
          </a:p>
          <a:p>
            <a:r>
              <a:rPr lang="fr-FR" altLang="fr-FR" dirty="0" smtClean="0"/>
              <a:t>la</a:t>
            </a:r>
          </a:p>
          <a:p>
            <a:r>
              <a:rPr lang="fr-FR" altLang="fr-FR" dirty="0" smtClean="0"/>
              <a:t>grand-mère maternelle serait</a:t>
            </a:r>
          </a:p>
          <a:p>
            <a:r>
              <a:rPr lang="fr-FR" altLang="fr-FR" dirty="0" smtClean="0"/>
              <a:t>atteinte), il ne pourrait pas</a:t>
            </a:r>
          </a:p>
          <a:p>
            <a:r>
              <a:rPr lang="fr-FR" altLang="fr-FR" dirty="0" smtClean="0"/>
              <a:t>transmettre l’hémophilie à ses</a:t>
            </a:r>
          </a:p>
          <a:p>
            <a:r>
              <a:rPr lang="fr-FR" altLang="fr-FR" dirty="0" smtClean="0"/>
              <a:t>fils.</a:t>
            </a:r>
          </a:p>
        </p:txBody>
      </p:sp>
      <p:sp>
        <p:nvSpPr>
          <p:cNvPr id="2007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C4DEC3CA-F7BE-472E-87EE-FCECDB5701DF}" type="slidenum">
              <a:rPr lang="fr-FR" altLang="fr-FR" sz="1200"/>
              <a:pPr/>
              <a:t>29</a:t>
            </a:fld>
            <a:endParaRPr lang="fr-FR" altLang="fr-FR" sz="1200"/>
          </a:p>
        </p:txBody>
      </p:sp>
    </p:spTree>
    <p:extLst>
      <p:ext uri="{BB962C8B-B14F-4D97-AF65-F5344CB8AC3E}">
        <p14:creationId xmlns:p14="http://schemas.microsoft.com/office/powerpoint/2010/main" val="930371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La pénétrance est un concept</a:t>
            </a:r>
          </a:p>
          <a:p>
            <a:r>
              <a:rPr lang="fr-FR" altLang="fr-FR" dirty="0" smtClean="0"/>
              <a:t>statistique qui exprime la</a:t>
            </a:r>
          </a:p>
          <a:p>
            <a:r>
              <a:rPr lang="fr-FR" altLang="fr-FR" dirty="0" smtClean="0"/>
              <a:t>fréquence des manifestations</a:t>
            </a:r>
          </a:p>
          <a:p>
            <a:r>
              <a:rPr lang="fr-FR" altLang="fr-FR" dirty="0" smtClean="0"/>
              <a:t>phénotypiques chez les sujets</a:t>
            </a:r>
          </a:p>
          <a:p>
            <a:r>
              <a:rPr lang="fr-FR" altLang="fr-FR" dirty="0" smtClean="0"/>
              <a:t>porteurs du gène</a:t>
            </a:r>
          </a:p>
        </p:txBody>
      </p:sp>
      <p:sp>
        <p:nvSpPr>
          <p:cNvPr id="2017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D86B8F6F-30C4-4897-BF8D-CA16BA49EC23}" type="slidenum">
              <a:rPr lang="fr-FR" altLang="fr-FR" sz="1200"/>
              <a:pPr/>
              <a:t>30</a:t>
            </a:fld>
            <a:endParaRPr lang="fr-FR" altLang="fr-FR" sz="1200"/>
          </a:p>
        </p:txBody>
      </p:sp>
    </p:spTree>
    <p:extLst>
      <p:ext uri="{BB962C8B-B14F-4D97-AF65-F5344CB8AC3E}">
        <p14:creationId xmlns:p14="http://schemas.microsoft.com/office/powerpoint/2010/main" val="762588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La phénylcétonurie est une</a:t>
            </a:r>
          </a:p>
          <a:p>
            <a:r>
              <a:rPr lang="fr-FR" altLang="fr-FR" dirty="0" smtClean="0"/>
              <a:t>maladie à transmission</a:t>
            </a:r>
          </a:p>
          <a:p>
            <a:r>
              <a:rPr lang="fr-FR" altLang="fr-FR" dirty="0" smtClean="0"/>
              <a:t>autosomique récessive. Les</a:t>
            </a:r>
          </a:p>
          <a:p>
            <a:r>
              <a:rPr lang="fr-FR" altLang="fr-FR" dirty="0" smtClean="0"/>
              <a:t>deux</a:t>
            </a:r>
          </a:p>
          <a:p>
            <a:r>
              <a:rPr lang="fr-FR" altLang="fr-FR" dirty="0" smtClean="0"/>
              <a:t>parents sont hétérozygotes et</a:t>
            </a:r>
          </a:p>
          <a:p>
            <a:r>
              <a:rPr lang="fr-FR" altLang="fr-FR" dirty="0" smtClean="0"/>
              <a:t>sains. Parmi les enfants sains</a:t>
            </a:r>
          </a:p>
          <a:p>
            <a:r>
              <a:rPr lang="fr-FR" altLang="fr-FR" dirty="0" smtClean="0"/>
              <a:t>(AA et Aa), les deux tiers sont hétérozygotes.</a:t>
            </a:r>
          </a:p>
        </p:txBody>
      </p:sp>
      <p:sp>
        <p:nvSpPr>
          <p:cNvPr id="20275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CA974EEB-C05D-4659-AA30-DFC49D864C86}" type="slidenum">
              <a:rPr lang="fr-FR" altLang="fr-FR" sz="1200"/>
              <a:pPr/>
              <a:t>32</a:t>
            </a:fld>
            <a:endParaRPr lang="fr-FR" altLang="fr-FR" sz="1200"/>
          </a:p>
        </p:txBody>
      </p:sp>
    </p:spTree>
    <p:extLst>
      <p:ext uri="{BB962C8B-B14F-4D97-AF65-F5344CB8AC3E}">
        <p14:creationId xmlns:p14="http://schemas.microsoft.com/office/powerpoint/2010/main" val="1207473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5C873D1-4ACD-41CA-B1C1-031B5F292F4B}" type="slidenum">
              <a:rPr lang="fr-FR" smtClean="0"/>
              <a:pPr/>
              <a:t>34</a:t>
            </a:fld>
            <a:endParaRPr lang="fr-FR"/>
          </a:p>
        </p:txBody>
      </p:sp>
    </p:spTree>
    <p:extLst>
      <p:ext uri="{BB962C8B-B14F-4D97-AF65-F5344CB8AC3E}">
        <p14:creationId xmlns:p14="http://schemas.microsoft.com/office/powerpoint/2010/main" val="2484521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A : les cellules reproductrices (gamètes)</a:t>
            </a:r>
            <a:r>
              <a:rPr lang="fr-FR" baseline="0" dirty="0" smtClean="0"/>
              <a:t> possèdent 23 chromosomes</a:t>
            </a:r>
            <a:endParaRPr lang="fr-FR" dirty="0"/>
          </a:p>
        </p:txBody>
      </p:sp>
      <p:sp>
        <p:nvSpPr>
          <p:cNvPr id="4" name="Espace réservé du numéro de diapositive 3"/>
          <p:cNvSpPr>
            <a:spLocks noGrp="1"/>
          </p:cNvSpPr>
          <p:nvPr>
            <p:ph type="sldNum" sz="quarter" idx="10"/>
          </p:nvPr>
        </p:nvSpPr>
        <p:spPr/>
        <p:txBody>
          <a:bodyPr/>
          <a:lstStyle/>
          <a:p>
            <a:fld id="{6B8639FA-62B9-4F46-BC2F-33A53F4B8635}" type="slidenum">
              <a:rPr lang="fr-FR" smtClean="0"/>
              <a:pPr/>
              <a:t>38</a:t>
            </a:fld>
            <a:endParaRPr lang="fr-FR"/>
          </a:p>
        </p:txBody>
      </p:sp>
    </p:spTree>
    <p:extLst>
      <p:ext uri="{BB962C8B-B14F-4D97-AF65-F5344CB8AC3E}">
        <p14:creationId xmlns:p14="http://schemas.microsoft.com/office/powerpoint/2010/main" val="1551614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685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fr-FR" altLang="fr-FR" dirty="0" smtClean="0"/>
              <a:t>Les homozygotes et les</a:t>
            </a:r>
          </a:p>
          <a:p>
            <a:r>
              <a:rPr lang="fr-FR" altLang="fr-FR" dirty="0" smtClean="0"/>
              <a:t>hétérozygotes sont atteints par</a:t>
            </a:r>
          </a:p>
          <a:p>
            <a:r>
              <a:rPr lang="fr-FR" altLang="fr-FR" dirty="0" smtClean="0"/>
              <a:t>la maladie.</a:t>
            </a:r>
          </a:p>
        </p:txBody>
      </p:sp>
      <p:sp>
        <p:nvSpPr>
          <p:cNvPr id="2068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fld id="{2F8FA2F0-AAA2-43F6-80B3-963F36870177}" type="slidenum">
              <a:rPr lang="fr-FR" altLang="fr-FR" sz="1200"/>
              <a:pPr/>
              <a:t>42</a:t>
            </a:fld>
            <a:endParaRPr lang="fr-FR" altLang="fr-FR" sz="1200"/>
          </a:p>
        </p:txBody>
      </p:sp>
    </p:spTree>
    <p:extLst>
      <p:ext uri="{BB962C8B-B14F-4D97-AF65-F5344CB8AC3E}">
        <p14:creationId xmlns:p14="http://schemas.microsoft.com/office/powerpoint/2010/main" val="4117636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u="none" strike="noStrike" kern="1200" baseline="0" dirty="0" smtClean="0">
                <a:solidFill>
                  <a:schemeClr val="tx1"/>
                </a:solidFill>
                <a:latin typeface="+mn-lt"/>
                <a:ea typeface="+mn-ea"/>
                <a:cs typeface="+mn-cs"/>
              </a:rPr>
              <a:t>Toutes les filles d’un</a:t>
            </a:r>
          </a:p>
          <a:p>
            <a:r>
              <a:rPr lang="fr-FR" sz="1200" b="0" i="0" u="none" strike="noStrike" kern="1200" baseline="0" dirty="0" smtClean="0">
                <a:solidFill>
                  <a:schemeClr val="tx1"/>
                </a:solidFill>
                <a:latin typeface="+mn-lt"/>
                <a:ea typeface="+mn-ea"/>
                <a:cs typeface="+mn-cs"/>
              </a:rPr>
              <a:t>hémophile</a:t>
            </a:r>
          </a:p>
          <a:p>
            <a:r>
              <a:rPr lang="fr-FR" sz="1200" b="0" i="0" u="none" strike="noStrike" kern="1200" baseline="0" dirty="0" smtClean="0">
                <a:solidFill>
                  <a:schemeClr val="tx1"/>
                </a:solidFill>
                <a:latin typeface="+mn-lt"/>
                <a:ea typeface="+mn-ea"/>
                <a:cs typeface="+mn-cs"/>
              </a:rPr>
              <a:t>(YXH) sont </a:t>
            </a:r>
            <a:r>
              <a:rPr lang="fr-FR" sz="1200" b="0" i="0" u="none" strike="noStrike" kern="1200" baseline="0" dirty="0" err="1" smtClean="0">
                <a:solidFill>
                  <a:schemeClr val="tx1"/>
                </a:solidFill>
                <a:latin typeface="+mn-lt"/>
                <a:ea typeface="+mn-ea"/>
                <a:cs typeface="+mn-cs"/>
              </a:rPr>
              <a:t>transmettrices</a:t>
            </a:r>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(XXH).</a:t>
            </a:r>
          </a:p>
          <a:p>
            <a:r>
              <a:rPr lang="fr-FR" sz="1200" b="0" i="0" u="none" strike="noStrike" kern="1200" baseline="0" dirty="0" smtClean="0">
                <a:solidFill>
                  <a:schemeClr val="tx1"/>
                </a:solidFill>
                <a:latin typeface="+mn-lt"/>
                <a:ea typeface="+mn-ea"/>
                <a:cs typeface="+mn-cs"/>
              </a:rPr>
              <a:t>Parmi les enfants d’une femme</a:t>
            </a:r>
          </a:p>
          <a:p>
            <a:r>
              <a:rPr lang="fr-FR" sz="1200" b="0" i="0" u="none" strike="noStrike" kern="1200" baseline="0" dirty="0" smtClean="0">
                <a:solidFill>
                  <a:schemeClr val="tx1"/>
                </a:solidFill>
                <a:latin typeface="+mn-lt"/>
                <a:ea typeface="+mn-ea"/>
                <a:cs typeface="+mn-cs"/>
              </a:rPr>
              <a:t>conductrice (XXH):</a:t>
            </a:r>
          </a:p>
          <a:p>
            <a:r>
              <a:rPr lang="fr-FR" sz="1200" b="0" i="0" u="none" strike="noStrike" kern="1200" baseline="0" dirty="0" smtClean="0">
                <a:solidFill>
                  <a:schemeClr val="tx1"/>
                </a:solidFill>
                <a:latin typeface="+mn-lt"/>
                <a:ea typeface="+mn-ea"/>
                <a:cs typeface="+mn-cs"/>
              </a:rPr>
              <a:t>- 50% de filles dont la moitié</a:t>
            </a:r>
          </a:p>
          <a:p>
            <a:r>
              <a:rPr lang="fr-FR" sz="1200" b="0" i="0" u="none" strike="noStrike" kern="1200" baseline="0" dirty="0" smtClean="0">
                <a:solidFill>
                  <a:schemeClr val="tx1"/>
                </a:solidFill>
                <a:latin typeface="+mn-lt"/>
                <a:ea typeface="+mn-ea"/>
                <a:cs typeface="+mn-cs"/>
              </a:rPr>
              <a:t>seront conductrices</a:t>
            </a:r>
          </a:p>
          <a:p>
            <a:r>
              <a:rPr lang="fr-FR" sz="1200" b="0" i="0" u="none" strike="noStrike" kern="1200" baseline="0" dirty="0" smtClean="0">
                <a:solidFill>
                  <a:schemeClr val="tx1"/>
                </a:solidFill>
                <a:latin typeface="+mn-lt"/>
                <a:ea typeface="+mn-ea"/>
                <a:cs typeface="+mn-cs"/>
              </a:rPr>
              <a:t>- 50% de garçons dont </a:t>
            </a:r>
            <a:r>
              <a:rPr lang="fr-FR" sz="1200" b="0" i="0" u="none" strike="noStrike" kern="1200" baseline="0" dirty="0" err="1" smtClean="0">
                <a:solidFill>
                  <a:schemeClr val="tx1"/>
                </a:solidFill>
                <a:latin typeface="+mn-lt"/>
                <a:ea typeface="+mn-ea"/>
                <a:cs typeface="+mn-cs"/>
              </a:rPr>
              <a:t>lamoitié</a:t>
            </a:r>
            <a:endParaRPr lang="fr-FR" sz="1200" b="0" i="0" u="none" strike="noStrike" kern="1200" baseline="0" dirty="0" smtClean="0">
              <a:solidFill>
                <a:schemeClr val="tx1"/>
              </a:solidFill>
              <a:latin typeface="+mn-lt"/>
              <a:ea typeface="+mn-ea"/>
              <a:cs typeface="+mn-cs"/>
            </a:endParaRPr>
          </a:p>
          <a:p>
            <a:r>
              <a:rPr lang="fr-FR" sz="1200" b="0" i="0" u="none" strike="noStrike" kern="1200" baseline="0" dirty="0" smtClean="0">
                <a:solidFill>
                  <a:schemeClr val="tx1"/>
                </a:solidFill>
                <a:latin typeface="+mn-lt"/>
                <a:ea typeface="+mn-ea"/>
                <a:cs typeface="+mn-cs"/>
              </a:rPr>
              <a:t>seront hémophiles.</a:t>
            </a:r>
          </a:p>
          <a:p>
            <a:r>
              <a:rPr lang="fr-FR" sz="1200" b="0" i="0" u="none" strike="noStrike" kern="1200" baseline="0" dirty="0" smtClean="0">
                <a:solidFill>
                  <a:schemeClr val="tx1"/>
                </a:solidFill>
                <a:latin typeface="+mn-lt"/>
                <a:ea typeface="+mn-ea"/>
                <a:cs typeface="+mn-cs"/>
              </a:rPr>
              <a:t>Donc le risque est de 25 %.</a:t>
            </a:r>
          </a:p>
          <a:p>
            <a:r>
              <a:rPr lang="fr-FR" sz="1200" b="0" i="0" u="none" strike="noStrike" kern="1200" baseline="0" dirty="0" smtClean="0">
                <a:solidFill>
                  <a:schemeClr val="tx1"/>
                </a:solidFill>
                <a:latin typeface="+mn-lt"/>
                <a:ea typeface="+mn-ea"/>
                <a:cs typeface="+mn-cs"/>
              </a:rPr>
              <a:t>4</a:t>
            </a:r>
          </a:p>
          <a:p>
            <a:r>
              <a:rPr lang="fr-FR" sz="1200" b="0" i="0" u="none" strike="noStrike" kern="1200" baseline="0" dirty="0" smtClean="0">
                <a:solidFill>
                  <a:schemeClr val="tx1"/>
                </a:solidFill>
                <a:latin typeface="+mn-lt"/>
                <a:ea typeface="+mn-ea"/>
                <a:cs typeface="+mn-cs"/>
              </a:rPr>
              <a:t>Y XH</a:t>
            </a:r>
          </a:p>
          <a:p>
            <a:r>
              <a:rPr lang="fr-FR" sz="1200" b="0" i="0" u="none" strike="noStrike" kern="1200" baseline="0" dirty="0" smtClean="0">
                <a:solidFill>
                  <a:schemeClr val="tx1"/>
                </a:solidFill>
                <a:latin typeface="+mn-lt"/>
                <a:ea typeface="+mn-ea"/>
                <a:cs typeface="+mn-cs"/>
              </a:rPr>
              <a:t>X XX XXH</a:t>
            </a:r>
          </a:p>
          <a:p>
            <a:r>
              <a:rPr lang="fr-FR" sz="1200" b="0" i="0" u="none" strike="noStrike" kern="1200" baseline="0" dirty="0" smtClean="0">
                <a:solidFill>
                  <a:schemeClr val="tx1"/>
                </a:solidFill>
                <a:latin typeface="+mn-lt"/>
                <a:ea typeface="+mn-ea"/>
                <a:cs typeface="+mn-cs"/>
              </a:rPr>
              <a:t>Y XY XYH</a:t>
            </a:r>
            <a:endParaRPr lang="fr-FR" dirty="0"/>
          </a:p>
        </p:txBody>
      </p:sp>
      <p:sp>
        <p:nvSpPr>
          <p:cNvPr id="4" name="Espace réservé du numéro de diapositive 3"/>
          <p:cNvSpPr>
            <a:spLocks noGrp="1"/>
          </p:cNvSpPr>
          <p:nvPr>
            <p:ph type="sldNum" sz="quarter" idx="10"/>
          </p:nvPr>
        </p:nvSpPr>
        <p:spPr/>
        <p:txBody>
          <a:bodyPr/>
          <a:lstStyle/>
          <a:p>
            <a:fld id="{55C873D1-4ACD-41CA-B1C1-031B5F292F4B}" type="slidenum">
              <a:rPr lang="fr-FR" smtClean="0"/>
              <a:pPr/>
              <a:t>43</a:t>
            </a:fld>
            <a:endParaRPr lang="fr-FR"/>
          </a:p>
        </p:txBody>
      </p:sp>
    </p:spTree>
    <p:extLst>
      <p:ext uri="{BB962C8B-B14F-4D97-AF65-F5344CB8AC3E}">
        <p14:creationId xmlns:p14="http://schemas.microsoft.com/office/powerpoint/2010/main" val="3403549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maladie ne s’exprime que</a:t>
            </a:r>
          </a:p>
          <a:p>
            <a:r>
              <a:rPr lang="fr-FR" dirty="0" smtClean="0"/>
              <a:t>chez les hommes. Les femmes</a:t>
            </a:r>
          </a:p>
          <a:p>
            <a:r>
              <a:rPr lang="fr-FR" dirty="0" smtClean="0"/>
              <a:t>sont </a:t>
            </a:r>
            <a:r>
              <a:rPr lang="fr-FR" dirty="0" err="1" smtClean="0"/>
              <a:t>transmettrices</a:t>
            </a:r>
            <a:r>
              <a:rPr lang="fr-FR" dirty="0" smtClean="0"/>
              <a:t> et saines.</a:t>
            </a:r>
          </a:p>
          <a:p>
            <a:r>
              <a:rPr lang="fr-FR" dirty="0" smtClean="0"/>
              <a:t>Les</a:t>
            </a:r>
          </a:p>
          <a:p>
            <a:r>
              <a:rPr lang="fr-FR" dirty="0" smtClean="0"/>
              <a:t>hommes atteints appartiennent</a:t>
            </a:r>
          </a:p>
          <a:p>
            <a:r>
              <a:rPr lang="fr-FR" dirty="0" smtClean="0"/>
              <a:t>à</a:t>
            </a:r>
          </a:p>
          <a:p>
            <a:r>
              <a:rPr lang="fr-FR" dirty="0" smtClean="0"/>
              <a:t>la ligne maternelle. La</a:t>
            </a:r>
          </a:p>
          <a:p>
            <a:r>
              <a:rPr lang="fr-FR" dirty="0" smtClean="0"/>
              <a:t>consanguinité </a:t>
            </a:r>
            <a:r>
              <a:rPr lang="fr-FR" dirty="0" err="1" smtClean="0"/>
              <a:t>nest</a:t>
            </a:r>
            <a:r>
              <a:rPr lang="fr-FR" dirty="0" smtClean="0"/>
              <a:t> pas une</a:t>
            </a:r>
          </a:p>
          <a:p>
            <a:r>
              <a:rPr lang="fr-FR" dirty="0" smtClean="0"/>
              <a:t>caractéristique de ce type de</a:t>
            </a:r>
          </a:p>
          <a:p>
            <a:r>
              <a:rPr lang="fr-FR" dirty="0" smtClean="0"/>
              <a:t>transmission mais elle favorise</a:t>
            </a:r>
          </a:p>
          <a:p>
            <a:r>
              <a:rPr lang="fr-FR" dirty="0" smtClean="0"/>
              <a:t>la survenue de ces maladies.</a:t>
            </a:r>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45</a:t>
            </a:fld>
            <a:endParaRPr lang="fr-FR"/>
          </a:p>
        </p:txBody>
      </p:sp>
    </p:spTree>
    <p:extLst>
      <p:ext uri="{BB962C8B-B14F-4D97-AF65-F5344CB8AC3E}">
        <p14:creationId xmlns:p14="http://schemas.microsoft.com/office/powerpoint/2010/main" val="921054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Une maladie multifactorielle n'est pas mendélienne parce qu'elle </a:t>
            </a:r>
            <a:r>
              <a:rPr lang="fr-FR" b="1" dirty="0" smtClean="0"/>
              <a:t>dépend à la fois de plusieurs gènes simultanément et de facteurs de l'environnement</a:t>
            </a:r>
            <a:r>
              <a:rPr lang="fr-FR" dirty="0" smtClean="0"/>
              <a:t>.</a:t>
            </a:r>
            <a:br>
              <a:rPr lang="fr-FR" dirty="0" smtClean="0"/>
            </a:br>
            <a:r>
              <a:rPr lang="fr-FR" dirty="0" smtClean="0"/>
              <a:t>Dans une maladie multifactorielle, c'est </a:t>
            </a:r>
            <a:r>
              <a:rPr lang="fr-FR" b="1" dirty="0" smtClean="0"/>
              <a:t>la combinaison particulière d'allèles « normaux » de certains gènes qui est pathologique</a:t>
            </a:r>
            <a:r>
              <a:rPr lang="fr-FR" dirty="0" smtClean="0"/>
              <a:t> (comme peut être pathologique l'association de plusieurs médicaments, sans danger pris isolément).</a:t>
            </a: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47</a:t>
            </a:fld>
            <a:endParaRPr lang="fr-FR"/>
          </a:p>
        </p:txBody>
      </p:sp>
    </p:spTree>
    <p:extLst>
      <p:ext uri="{BB962C8B-B14F-4D97-AF65-F5344CB8AC3E}">
        <p14:creationId xmlns:p14="http://schemas.microsoft.com/office/powerpoint/2010/main" val="1881996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descendance des hommes</a:t>
            </a:r>
          </a:p>
          <a:p>
            <a:r>
              <a:rPr lang="fr-FR" dirty="0" smtClean="0"/>
              <a:t>atteints</a:t>
            </a:r>
          </a:p>
          <a:p>
            <a:r>
              <a:rPr lang="fr-FR" dirty="0" smtClean="0"/>
              <a:t>- garçons tous sains</a:t>
            </a:r>
          </a:p>
          <a:p>
            <a:r>
              <a:rPr lang="fr-FR" dirty="0" smtClean="0"/>
              <a:t>- filles toutes conductrices</a:t>
            </a:r>
          </a:p>
          <a:p>
            <a:r>
              <a:rPr lang="fr-FR" dirty="0" smtClean="0"/>
              <a:t>saines.</a:t>
            </a:r>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49</a:t>
            </a:fld>
            <a:endParaRPr lang="fr-FR"/>
          </a:p>
        </p:txBody>
      </p:sp>
    </p:spTree>
    <p:extLst>
      <p:ext uri="{BB962C8B-B14F-4D97-AF65-F5344CB8AC3E}">
        <p14:creationId xmlns:p14="http://schemas.microsoft.com/office/powerpoint/2010/main" val="1246486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A. Faux car il s'agit de cas où</a:t>
            </a:r>
          </a:p>
          <a:p>
            <a:r>
              <a:rPr lang="fr-FR" dirty="0" smtClean="0"/>
              <a:t>une mutation transforme le</a:t>
            </a:r>
          </a:p>
          <a:p>
            <a:r>
              <a:rPr lang="fr-FR" dirty="0" smtClean="0"/>
              <a:t>gène parental normal en un</a:t>
            </a:r>
          </a:p>
          <a:p>
            <a:r>
              <a:rPr lang="fr-FR" dirty="0" smtClean="0"/>
              <a:t>gène pathologique.</a:t>
            </a:r>
          </a:p>
          <a:p>
            <a:r>
              <a:rPr lang="fr-FR" dirty="0" smtClean="0"/>
              <a:t>C. Faux, notion d'expressivité</a:t>
            </a:r>
          </a:p>
          <a:p>
            <a:r>
              <a:rPr lang="fr-FR" dirty="0" smtClean="0"/>
              <a:t>variable.</a:t>
            </a:r>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51</a:t>
            </a:fld>
            <a:endParaRPr lang="fr-FR"/>
          </a:p>
        </p:txBody>
      </p:sp>
    </p:spTree>
    <p:extLst>
      <p:ext uri="{BB962C8B-B14F-4D97-AF65-F5344CB8AC3E}">
        <p14:creationId xmlns:p14="http://schemas.microsoft.com/office/powerpoint/2010/main" val="1579873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Une femme conductrice ne transmet la maladie qu’à la moitié</a:t>
            </a:r>
          </a:p>
          <a:p>
            <a:r>
              <a:rPr lang="fr-FR" dirty="0" smtClean="0"/>
              <a:t>de ses garçons. Toutes les filles</a:t>
            </a:r>
          </a:p>
          <a:p>
            <a:r>
              <a:rPr lang="fr-FR" dirty="0" smtClean="0"/>
              <a:t>d’un homme atteint seront conductrices.</a:t>
            </a:r>
          </a:p>
          <a:p>
            <a:endParaRPr lang="fr-FR" dirty="0"/>
          </a:p>
        </p:txBody>
      </p:sp>
      <p:sp>
        <p:nvSpPr>
          <p:cNvPr id="4" name="Espace réservé du numéro de diapositive 3"/>
          <p:cNvSpPr>
            <a:spLocks noGrp="1"/>
          </p:cNvSpPr>
          <p:nvPr>
            <p:ph type="sldNum" sz="quarter" idx="10"/>
          </p:nvPr>
        </p:nvSpPr>
        <p:spPr/>
        <p:txBody>
          <a:bodyPr/>
          <a:lstStyle/>
          <a:p>
            <a:fld id="{92A1D65C-A1C7-48B4-B36A-B5DE64E0A418}" type="slidenum">
              <a:rPr lang="fr-FR" smtClean="0"/>
              <a:pPr/>
              <a:t>52</a:t>
            </a:fld>
            <a:endParaRPr lang="fr-FR"/>
          </a:p>
        </p:txBody>
      </p:sp>
    </p:spTree>
    <p:extLst>
      <p:ext uri="{BB962C8B-B14F-4D97-AF65-F5344CB8AC3E}">
        <p14:creationId xmlns:p14="http://schemas.microsoft.com/office/powerpoint/2010/main" val="2875936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lvl1pPr>
              <a:defRPr/>
            </a:lvl1pPr>
          </a:lstStyle>
          <a:p>
            <a:pPr>
              <a:defRPr/>
            </a:pPr>
            <a:r>
              <a:rPr lang="fr-FR"/>
              <a:t>10/19/2015</a:t>
            </a:r>
            <a:endParaRPr lang="en-US" dirty="0">
              <a:solidFill>
                <a:srgbClr val="FFFFFF"/>
              </a:solidFill>
            </a:endParaRPr>
          </a:p>
        </p:txBody>
      </p:sp>
      <p:sp>
        <p:nvSpPr>
          <p:cNvPr id="5" name="Espace réservé du pied de page 4"/>
          <p:cNvSpPr>
            <a:spLocks noGrp="1"/>
          </p:cNvSpPr>
          <p:nvPr>
            <p:ph type="ftr" sz="quarter" idx="11"/>
          </p:nvPr>
        </p:nvSpPr>
        <p:spPr/>
        <p:txBody>
          <a:bodyPr/>
          <a:lstStyle>
            <a:lvl1pPr>
              <a:defRPr/>
            </a:lvl1pPr>
          </a:lstStyle>
          <a:p>
            <a:pPr>
              <a:defRPr/>
            </a:pPr>
            <a:r>
              <a:rPr lang="en-US"/>
              <a:t>L'hérédité                                                 AMARA Sabrina</a:t>
            </a:r>
          </a:p>
        </p:txBody>
      </p:sp>
      <p:sp>
        <p:nvSpPr>
          <p:cNvPr id="6" name="Espace réservé du numéro de diapositive 5"/>
          <p:cNvSpPr>
            <a:spLocks noGrp="1"/>
          </p:cNvSpPr>
          <p:nvPr>
            <p:ph type="sldNum" sz="quarter" idx="12"/>
          </p:nvPr>
        </p:nvSpPr>
        <p:spPr/>
        <p:txBody>
          <a:bodyPr/>
          <a:lstStyle>
            <a:lvl1pPr>
              <a:defRPr/>
            </a:lvl1pPr>
          </a:lstStyle>
          <a:p>
            <a:pPr>
              <a:defRPr/>
            </a:pPr>
            <a:fld id="{902F3AAB-EB97-40BA-BFC6-8524DDBBA130}" type="slidenum">
              <a:rPr lang="en-US" altLang="fr-FR"/>
              <a:pPr>
                <a:defRPr/>
              </a:pPr>
              <a:t>‹N°›</a:t>
            </a:fld>
            <a:endParaRPr lang="en-US" alt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r>
              <a:rPr lang="fr-FR"/>
              <a:t>10/19/2015</a:t>
            </a:r>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L'hérédité                                                 AMARA Sabrina</a:t>
            </a:r>
          </a:p>
        </p:txBody>
      </p:sp>
      <p:sp>
        <p:nvSpPr>
          <p:cNvPr id="6" name="Espace réservé du numéro de diapositive 5"/>
          <p:cNvSpPr>
            <a:spLocks noGrp="1"/>
          </p:cNvSpPr>
          <p:nvPr>
            <p:ph type="sldNum" sz="quarter" idx="12"/>
          </p:nvPr>
        </p:nvSpPr>
        <p:spPr/>
        <p:txBody>
          <a:bodyPr/>
          <a:lstStyle>
            <a:lvl1pPr>
              <a:defRPr/>
            </a:lvl1pPr>
          </a:lstStyle>
          <a:p>
            <a:pPr>
              <a:defRPr/>
            </a:pPr>
            <a:fld id="{FE5BF08C-E2AA-40A3-8C77-4389F72AC430}" type="slidenum">
              <a:rPr lang="en-US" altLang="fr-FR"/>
              <a:pPr>
                <a:defRPr/>
              </a:pPr>
              <a:t>‹N°›</a:t>
            </a:fld>
            <a:endParaRPr lang="en-US" alt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pPr>
              <a:defRPr/>
            </a:pPr>
            <a:r>
              <a:rPr lang="fr-FR"/>
              <a:t>10/19/2015</a:t>
            </a:r>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L'hérédité                                                 AMARA Sabrina</a:t>
            </a:r>
          </a:p>
        </p:txBody>
      </p:sp>
      <p:sp>
        <p:nvSpPr>
          <p:cNvPr id="6" name="Espace réservé du numéro de diapositive 5"/>
          <p:cNvSpPr>
            <a:spLocks noGrp="1"/>
          </p:cNvSpPr>
          <p:nvPr>
            <p:ph type="sldNum" sz="quarter" idx="12"/>
          </p:nvPr>
        </p:nvSpPr>
        <p:spPr/>
        <p:txBody>
          <a:bodyPr/>
          <a:lstStyle>
            <a:lvl1pPr>
              <a:defRPr/>
            </a:lvl1pPr>
          </a:lstStyle>
          <a:p>
            <a:pPr>
              <a:defRPr/>
            </a:pPr>
            <a:fld id="{CFA12557-C2D9-4CC3-9629-F0459561BF8F}" type="slidenum">
              <a:rPr lang="en-US" altLang="fr-FR"/>
              <a:pPr>
                <a:defRPr/>
              </a:pPr>
              <a:t>‹N°›</a:t>
            </a:fld>
            <a:endParaRPr lang="en-US" alt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lvl1pPr>
              <a:defRPr/>
            </a:lvl1pPr>
          </a:lstStyle>
          <a:p>
            <a:pPr>
              <a:defRPr/>
            </a:pPr>
            <a:r>
              <a:rPr lang="fr-FR"/>
              <a:t>10/19/2015</a:t>
            </a:r>
            <a:endParaRPr lang="en-US"/>
          </a:p>
        </p:txBody>
      </p:sp>
      <p:sp>
        <p:nvSpPr>
          <p:cNvPr id="6" name="Espace réservé du pied de page 5"/>
          <p:cNvSpPr>
            <a:spLocks noGrp="1"/>
          </p:cNvSpPr>
          <p:nvPr>
            <p:ph type="ftr" sz="quarter" idx="11"/>
          </p:nvPr>
        </p:nvSpPr>
        <p:spPr/>
        <p:txBody>
          <a:bodyPr/>
          <a:lstStyle>
            <a:lvl1pPr>
              <a:defRPr/>
            </a:lvl1pPr>
          </a:lstStyle>
          <a:p>
            <a:pPr>
              <a:defRPr/>
            </a:pPr>
            <a:r>
              <a:rPr lang="en-US"/>
              <a:t>L'hérédité                                                 AMARA Sabrina</a:t>
            </a:r>
          </a:p>
        </p:txBody>
      </p:sp>
      <p:sp>
        <p:nvSpPr>
          <p:cNvPr id="7" name="Espace réservé du numéro de diapositive 6"/>
          <p:cNvSpPr>
            <a:spLocks noGrp="1"/>
          </p:cNvSpPr>
          <p:nvPr>
            <p:ph type="sldNum" sz="quarter" idx="12"/>
          </p:nvPr>
        </p:nvSpPr>
        <p:spPr/>
        <p:txBody>
          <a:bodyPr/>
          <a:lstStyle>
            <a:lvl1pPr>
              <a:defRPr/>
            </a:lvl1pPr>
          </a:lstStyle>
          <a:p>
            <a:pPr>
              <a:defRPr/>
            </a:pPr>
            <a:fld id="{2F24A99C-D5E5-4C20-8507-AC8164D8C3D8}" type="slidenum">
              <a:rPr lang="en-US" altLang="fr-FR"/>
              <a:pPr>
                <a:defRPr/>
              </a:pPr>
              <a:t>‹N°›</a:t>
            </a:fld>
            <a:endParaRPr lang="en-US" alt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lvl1pPr>
              <a:defRPr/>
            </a:lvl1pPr>
          </a:lstStyle>
          <a:p>
            <a:pPr>
              <a:defRPr/>
            </a:pPr>
            <a:r>
              <a:rPr lang="fr-FR"/>
              <a:t>10/19/2015</a:t>
            </a:r>
            <a:endParaRPr lang="en-US"/>
          </a:p>
        </p:txBody>
      </p:sp>
      <p:sp>
        <p:nvSpPr>
          <p:cNvPr id="8" name="Espace réservé du pied de page 7"/>
          <p:cNvSpPr>
            <a:spLocks noGrp="1"/>
          </p:cNvSpPr>
          <p:nvPr>
            <p:ph type="ftr" sz="quarter" idx="11"/>
          </p:nvPr>
        </p:nvSpPr>
        <p:spPr/>
        <p:txBody>
          <a:bodyPr/>
          <a:lstStyle>
            <a:lvl1pPr>
              <a:defRPr/>
            </a:lvl1pPr>
          </a:lstStyle>
          <a:p>
            <a:pPr>
              <a:defRPr/>
            </a:pPr>
            <a:r>
              <a:rPr lang="en-US"/>
              <a:t>L'hérédité                                                 AMARA Sabrina</a:t>
            </a:r>
          </a:p>
        </p:txBody>
      </p:sp>
      <p:sp>
        <p:nvSpPr>
          <p:cNvPr id="9" name="Espace réservé du numéro de diapositive 8"/>
          <p:cNvSpPr>
            <a:spLocks noGrp="1"/>
          </p:cNvSpPr>
          <p:nvPr>
            <p:ph type="sldNum" sz="quarter" idx="12"/>
          </p:nvPr>
        </p:nvSpPr>
        <p:spPr/>
        <p:txBody>
          <a:bodyPr/>
          <a:lstStyle>
            <a:lvl1pPr>
              <a:defRPr/>
            </a:lvl1pPr>
          </a:lstStyle>
          <a:p>
            <a:pPr>
              <a:defRPr/>
            </a:pPr>
            <a:fld id="{FD05BB82-CA67-4EEC-ABD8-6C2EE5B64879}" type="slidenum">
              <a:rPr lang="en-US" altLang="fr-FR"/>
              <a:pPr>
                <a:defRPr/>
              </a:pPr>
              <a:t>‹N°›</a:t>
            </a:fld>
            <a:endParaRPr lang="en-US" alt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lvl1pPr>
              <a:defRPr/>
            </a:lvl1pPr>
          </a:lstStyle>
          <a:p>
            <a:pPr>
              <a:defRPr/>
            </a:pPr>
            <a:r>
              <a:rPr lang="fr-FR"/>
              <a:t>10/19/2015</a:t>
            </a:r>
            <a:endParaRPr lang="en-US"/>
          </a:p>
        </p:txBody>
      </p:sp>
      <p:sp>
        <p:nvSpPr>
          <p:cNvPr id="4" name="Espace réservé du pied de page 3"/>
          <p:cNvSpPr>
            <a:spLocks noGrp="1"/>
          </p:cNvSpPr>
          <p:nvPr>
            <p:ph type="ftr" sz="quarter" idx="11"/>
          </p:nvPr>
        </p:nvSpPr>
        <p:spPr/>
        <p:txBody>
          <a:bodyPr/>
          <a:lstStyle>
            <a:lvl1pPr>
              <a:defRPr/>
            </a:lvl1pPr>
          </a:lstStyle>
          <a:p>
            <a:pPr>
              <a:defRPr/>
            </a:pPr>
            <a:r>
              <a:rPr lang="en-US"/>
              <a:t>L'hérédité                                                 AMARA Sabrina</a:t>
            </a:r>
          </a:p>
        </p:txBody>
      </p:sp>
      <p:sp>
        <p:nvSpPr>
          <p:cNvPr id="5" name="Espace réservé du numéro de diapositive 4"/>
          <p:cNvSpPr>
            <a:spLocks noGrp="1"/>
          </p:cNvSpPr>
          <p:nvPr>
            <p:ph type="sldNum" sz="quarter" idx="12"/>
          </p:nvPr>
        </p:nvSpPr>
        <p:spPr/>
        <p:txBody>
          <a:bodyPr/>
          <a:lstStyle>
            <a:lvl1pPr>
              <a:defRPr/>
            </a:lvl1pPr>
          </a:lstStyle>
          <a:p>
            <a:pPr>
              <a:defRPr/>
            </a:pPr>
            <a:fld id="{2016BBA2-989C-4EBC-AF7F-4A4CC7093E6B}" type="slidenum">
              <a:rPr lang="en-US" altLang="fr-FR"/>
              <a:pPr>
                <a:defRPr/>
              </a:pPr>
              <a:t>‹N°›</a:t>
            </a:fld>
            <a:endParaRPr lang="en-US" alt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lvl1pPr>
          </a:lstStyle>
          <a:p>
            <a:pPr>
              <a:defRPr/>
            </a:pPr>
            <a:r>
              <a:rPr lang="fr-FR"/>
              <a:t>10/19/2015</a:t>
            </a:r>
            <a:endParaRPr lang="en-US"/>
          </a:p>
        </p:txBody>
      </p:sp>
      <p:sp>
        <p:nvSpPr>
          <p:cNvPr id="3" name="Espace réservé du pied de page 2"/>
          <p:cNvSpPr>
            <a:spLocks noGrp="1"/>
          </p:cNvSpPr>
          <p:nvPr>
            <p:ph type="ftr" sz="quarter" idx="11"/>
          </p:nvPr>
        </p:nvSpPr>
        <p:spPr/>
        <p:txBody>
          <a:bodyPr/>
          <a:lstStyle>
            <a:lvl1pPr>
              <a:defRPr/>
            </a:lvl1pPr>
          </a:lstStyle>
          <a:p>
            <a:pPr>
              <a:defRPr/>
            </a:pPr>
            <a:r>
              <a:rPr lang="en-US"/>
              <a:t>L'hérédité                                                 AMARA Sabrina</a:t>
            </a:r>
          </a:p>
        </p:txBody>
      </p:sp>
      <p:sp>
        <p:nvSpPr>
          <p:cNvPr id="4" name="Espace réservé du numéro de diapositive 3"/>
          <p:cNvSpPr>
            <a:spLocks noGrp="1"/>
          </p:cNvSpPr>
          <p:nvPr>
            <p:ph type="sldNum" sz="quarter" idx="12"/>
          </p:nvPr>
        </p:nvSpPr>
        <p:spPr/>
        <p:txBody>
          <a:bodyPr/>
          <a:lstStyle>
            <a:lvl1pPr>
              <a:defRPr/>
            </a:lvl1pPr>
          </a:lstStyle>
          <a:p>
            <a:pPr>
              <a:defRPr/>
            </a:pPr>
            <a:fld id="{3B45E550-5A63-42B6-9471-769F8F147966}" type="slidenum">
              <a:rPr lang="en-US" altLang="fr-FR"/>
              <a:pPr>
                <a:defRPr/>
              </a:pPr>
              <a:t>‹N°›</a:t>
            </a:fld>
            <a:endParaRPr lang="en-US" alt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pPr>
              <a:defRPr/>
            </a:pPr>
            <a:r>
              <a:rPr lang="fr-FR"/>
              <a:t>10/19/2015</a:t>
            </a:r>
            <a:endParaRPr lang="en-US"/>
          </a:p>
        </p:txBody>
      </p:sp>
      <p:sp>
        <p:nvSpPr>
          <p:cNvPr id="6" name="Espace réservé du pied de page 5"/>
          <p:cNvSpPr>
            <a:spLocks noGrp="1"/>
          </p:cNvSpPr>
          <p:nvPr>
            <p:ph type="ftr" sz="quarter" idx="11"/>
          </p:nvPr>
        </p:nvSpPr>
        <p:spPr/>
        <p:txBody>
          <a:bodyPr/>
          <a:lstStyle>
            <a:lvl1pPr>
              <a:defRPr/>
            </a:lvl1pPr>
          </a:lstStyle>
          <a:p>
            <a:pPr>
              <a:defRPr/>
            </a:pPr>
            <a:r>
              <a:rPr lang="en-US"/>
              <a:t>L'hérédité                                                 AMARA Sabrina</a:t>
            </a:r>
          </a:p>
        </p:txBody>
      </p:sp>
      <p:sp>
        <p:nvSpPr>
          <p:cNvPr id="7" name="Espace réservé du numéro de diapositive 6"/>
          <p:cNvSpPr>
            <a:spLocks noGrp="1"/>
          </p:cNvSpPr>
          <p:nvPr>
            <p:ph type="sldNum" sz="quarter" idx="12"/>
          </p:nvPr>
        </p:nvSpPr>
        <p:spPr/>
        <p:txBody>
          <a:bodyPr/>
          <a:lstStyle>
            <a:lvl1pPr>
              <a:defRPr/>
            </a:lvl1pPr>
          </a:lstStyle>
          <a:p>
            <a:pPr>
              <a:defRPr/>
            </a:pPr>
            <a:fld id="{9E93AD02-9F12-40AE-A040-D61B8989F2B6}" type="slidenum">
              <a:rPr lang="en-US" altLang="fr-FR"/>
              <a:pPr>
                <a:defRPr/>
              </a:pPr>
              <a:t>‹N°›</a:t>
            </a:fld>
            <a:endParaRPr lang="en-US" alt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pPr>
              <a:defRPr/>
            </a:pPr>
            <a:r>
              <a:rPr lang="fr-FR"/>
              <a:t>10/19/2015</a:t>
            </a:r>
            <a:endParaRPr lang="en-US">
              <a:solidFill>
                <a:schemeClr val="tx1"/>
              </a:solidFill>
            </a:endParaRPr>
          </a:p>
        </p:txBody>
      </p:sp>
      <p:sp>
        <p:nvSpPr>
          <p:cNvPr id="6" name="Espace réservé du pied de page 5"/>
          <p:cNvSpPr>
            <a:spLocks noGrp="1"/>
          </p:cNvSpPr>
          <p:nvPr>
            <p:ph type="ftr" sz="quarter" idx="11"/>
          </p:nvPr>
        </p:nvSpPr>
        <p:spPr/>
        <p:txBody>
          <a:bodyPr/>
          <a:lstStyle>
            <a:lvl1pPr>
              <a:defRPr/>
            </a:lvl1pPr>
          </a:lstStyle>
          <a:p>
            <a:pPr>
              <a:defRPr/>
            </a:pPr>
            <a:r>
              <a:rPr lang="en-US"/>
              <a:t>L'hérédité                                                 AMARA Sabrina</a:t>
            </a:r>
          </a:p>
        </p:txBody>
      </p:sp>
      <p:sp>
        <p:nvSpPr>
          <p:cNvPr id="7" name="Espace réservé du numéro de diapositive 6"/>
          <p:cNvSpPr>
            <a:spLocks noGrp="1"/>
          </p:cNvSpPr>
          <p:nvPr>
            <p:ph type="sldNum" sz="quarter" idx="12"/>
          </p:nvPr>
        </p:nvSpPr>
        <p:spPr/>
        <p:txBody>
          <a:bodyPr/>
          <a:lstStyle>
            <a:lvl1pPr>
              <a:defRPr/>
            </a:lvl1pPr>
          </a:lstStyle>
          <a:p>
            <a:pPr>
              <a:defRPr/>
            </a:pPr>
            <a:fld id="{79918032-4026-40BF-83E6-A3C41F12FADF}" type="slidenum">
              <a:rPr lang="en-US" altLang="fr-FR"/>
              <a:pPr>
                <a:defRPr/>
              </a:pPr>
              <a:t>‹N°›</a:t>
            </a:fld>
            <a:endParaRPr lang="en-US" altLang="fr-FR">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r>
              <a:rPr lang="fr-FR"/>
              <a:t>10/19/2015</a:t>
            </a:r>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L'hérédité                                                 AMARA Sabrina</a:t>
            </a:r>
          </a:p>
        </p:txBody>
      </p:sp>
      <p:sp>
        <p:nvSpPr>
          <p:cNvPr id="6" name="Espace réservé du numéro de diapositive 5"/>
          <p:cNvSpPr>
            <a:spLocks noGrp="1"/>
          </p:cNvSpPr>
          <p:nvPr>
            <p:ph type="sldNum" sz="quarter" idx="12"/>
          </p:nvPr>
        </p:nvSpPr>
        <p:spPr/>
        <p:txBody>
          <a:bodyPr/>
          <a:lstStyle>
            <a:lvl1pPr>
              <a:defRPr/>
            </a:lvl1pPr>
          </a:lstStyle>
          <a:p>
            <a:pPr>
              <a:defRPr/>
            </a:pPr>
            <a:fld id="{12837B65-71AF-4C21-A871-887B1CFC7DD1}" type="slidenum">
              <a:rPr lang="en-US" altLang="fr-FR"/>
              <a:pPr>
                <a:defRPr/>
              </a:pPr>
              <a:t>‹N°›</a:t>
            </a:fld>
            <a:endParaRPr lang="en-US" alt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a:defRPr/>
            </a:lvl1pPr>
          </a:lstStyle>
          <a:p>
            <a:pPr>
              <a:defRPr/>
            </a:pPr>
            <a:r>
              <a:rPr lang="fr-FR"/>
              <a:t>10/19/2015</a:t>
            </a:r>
            <a:endParaRPr lang="en-US"/>
          </a:p>
        </p:txBody>
      </p:sp>
      <p:sp>
        <p:nvSpPr>
          <p:cNvPr id="5" name="Espace réservé du pied de page 4"/>
          <p:cNvSpPr>
            <a:spLocks noGrp="1"/>
          </p:cNvSpPr>
          <p:nvPr>
            <p:ph type="ftr" sz="quarter" idx="11"/>
          </p:nvPr>
        </p:nvSpPr>
        <p:spPr/>
        <p:txBody>
          <a:bodyPr/>
          <a:lstStyle>
            <a:lvl1pPr>
              <a:defRPr/>
            </a:lvl1pPr>
          </a:lstStyle>
          <a:p>
            <a:pPr>
              <a:defRPr/>
            </a:pPr>
            <a:r>
              <a:rPr lang="en-US"/>
              <a:t>L'hérédité                                                 AMARA Sabrina</a:t>
            </a:r>
          </a:p>
        </p:txBody>
      </p:sp>
      <p:sp>
        <p:nvSpPr>
          <p:cNvPr id="6" name="Espace réservé du numéro de diapositive 5"/>
          <p:cNvSpPr>
            <a:spLocks noGrp="1"/>
          </p:cNvSpPr>
          <p:nvPr>
            <p:ph type="sldNum" sz="quarter" idx="12"/>
          </p:nvPr>
        </p:nvSpPr>
        <p:spPr/>
        <p:txBody>
          <a:bodyPr/>
          <a:lstStyle>
            <a:lvl1pPr>
              <a:defRPr/>
            </a:lvl1pPr>
          </a:lstStyle>
          <a:p>
            <a:pPr>
              <a:defRPr/>
            </a:pPr>
            <a:fld id="{9BB76C91-FF24-4DE8-AE45-ECD085BFEF94}" type="slidenum">
              <a:rPr lang="en-US" altLang="fr-FR"/>
              <a:pPr>
                <a:defRPr/>
              </a:pPr>
              <a:t>‹N°›</a:t>
            </a:fld>
            <a:endParaRPr lang="en-US" alt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alt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fr-FR"/>
              <a:t>10/19/2015</a:t>
            </a:r>
            <a:endParaRPr lang="en-US" sz="1000" dirty="0">
              <a:solidFill>
                <a:schemeClr val="tx1"/>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L'hérédité                                                 AMARA Sabrina</a:t>
            </a:r>
            <a:endParaRPr lang="en-US"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1DDC92E-A47C-4248-A5E2-96F4E8BEF899}" type="slidenum">
              <a:rPr lang="en-US" altLang="fr-FR"/>
              <a:pPr>
                <a:defRPr/>
              </a:pPr>
              <a:t>‹N°›</a:t>
            </a:fld>
            <a:endParaRPr lang="en-US" altLang="fr-FR" b="0"/>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E:\archive\cours génétique 2ème année\DNA 3D Views (3).jpg"/>
          <p:cNvPicPr>
            <a:picLocks noChangeAspect="1" noChangeArrowheads="1"/>
          </p:cNvPicPr>
          <p:nvPr/>
        </p:nvPicPr>
        <p:blipFill>
          <a:blip r:embed="rId2"/>
          <a:srcRect/>
          <a:stretch>
            <a:fillRect/>
          </a:stretch>
        </p:blipFill>
        <p:spPr bwMode="auto">
          <a:xfrm>
            <a:off x="0" y="0"/>
            <a:ext cx="9144000" cy="6557554"/>
          </a:xfrm>
          <a:prstGeom prst="rect">
            <a:avLst/>
          </a:prstGeom>
          <a:noFill/>
          <a:ln w="9525">
            <a:noFill/>
            <a:miter lim="800000"/>
            <a:headEnd/>
            <a:tailEnd/>
          </a:ln>
        </p:spPr>
      </p:pic>
      <p:sp>
        <p:nvSpPr>
          <p:cNvPr id="14339" name="Text Box 68"/>
          <p:cNvSpPr txBox="1">
            <a:spLocks noChangeArrowheads="1"/>
          </p:cNvSpPr>
          <p:nvPr/>
        </p:nvSpPr>
        <p:spPr bwMode="auto">
          <a:xfrm>
            <a:off x="8637588" y="122238"/>
            <a:ext cx="292100" cy="277812"/>
          </a:xfrm>
          <a:prstGeom prst="rect">
            <a:avLst/>
          </a:prstGeom>
          <a:solidFill>
            <a:schemeClr val="hlink"/>
          </a:solidFill>
          <a:ln w="9525">
            <a:noFill/>
            <a:miter lim="800000"/>
            <a:headEnd/>
            <a:tailEnd/>
          </a:ln>
        </p:spPr>
        <p:txBody>
          <a:bodyPr wrap="none">
            <a:spAutoFit/>
          </a:bodyPr>
          <a:lstStyle/>
          <a:p>
            <a:pPr eaLnBrk="1" hangingPunct="1"/>
            <a:r>
              <a:rPr lang="fr-FR" altLang="fr-FR" sz="1200"/>
              <a:t>1</a:t>
            </a:r>
          </a:p>
        </p:txBody>
      </p:sp>
      <p:sp>
        <p:nvSpPr>
          <p:cNvPr id="6" name="Rectangle 2"/>
          <p:cNvSpPr txBox="1">
            <a:spLocks noChangeArrowheads="1"/>
          </p:cNvSpPr>
          <p:nvPr/>
        </p:nvSpPr>
        <p:spPr bwMode="auto">
          <a:xfrm>
            <a:off x="212725" y="968375"/>
            <a:ext cx="8931275" cy="1143000"/>
          </a:xfrm>
          <a:prstGeom prst="rect">
            <a:avLst/>
          </a:prstGeom>
          <a:noFill/>
          <a:ln w="9525">
            <a:noFill/>
            <a:miter lim="800000"/>
            <a:headEnd/>
            <a:tailEnd/>
          </a:ln>
        </p:spPr>
        <p:txBody>
          <a:bodyPr anchor="ctr"/>
          <a:lstStyle/>
          <a:p>
            <a:pPr eaLnBrk="1" hangingPunct="1">
              <a:lnSpc>
                <a:spcPct val="90000"/>
              </a:lnSpc>
              <a:defRPr/>
            </a:pPr>
            <a:r>
              <a:rPr lang="en-US" sz="3600" dirty="0" smtClean="0">
                <a:solidFill>
                  <a:schemeClr val="bg1"/>
                </a:solidFill>
                <a:latin typeface="+mj-lt"/>
                <a:ea typeface="+mj-ea"/>
                <a:cs typeface="+mj-cs"/>
              </a:rPr>
              <a:t>Atelier de </a:t>
            </a:r>
            <a:r>
              <a:rPr lang="en-US" sz="3600" dirty="0" err="1" smtClean="0">
                <a:solidFill>
                  <a:schemeClr val="bg1"/>
                </a:solidFill>
                <a:latin typeface="+mj-lt"/>
                <a:ea typeface="+mj-ea"/>
                <a:cs typeface="+mj-cs"/>
              </a:rPr>
              <a:t>génétique</a:t>
            </a:r>
            <a:endParaRPr lang="en-US" sz="3600" dirty="0">
              <a:solidFill>
                <a:schemeClr val="bg1"/>
              </a:solidFill>
              <a:latin typeface="+mj-lt"/>
              <a:ea typeface="+mj-ea"/>
              <a:cs typeface="+mj-cs"/>
            </a:endParaRPr>
          </a:p>
        </p:txBody>
      </p:sp>
      <p:sp>
        <p:nvSpPr>
          <p:cNvPr id="14341" name="Rectangle 4"/>
          <p:cNvSpPr>
            <a:spLocks noChangeArrowheads="1"/>
          </p:cNvSpPr>
          <p:nvPr/>
        </p:nvSpPr>
        <p:spPr bwMode="auto">
          <a:xfrm>
            <a:off x="6174344" y="6564748"/>
            <a:ext cx="2941831" cy="276999"/>
          </a:xfrm>
          <a:prstGeom prst="rect">
            <a:avLst/>
          </a:prstGeom>
          <a:noFill/>
          <a:ln w="9525">
            <a:noFill/>
            <a:miter lim="800000"/>
            <a:headEnd/>
            <a:tailEnd/>
          </a:ln>
        </p:spPr>
        <p:txBody>
          <a:bodyPr wrap="none">
            <a:spAutoFit/>
          </a:bodyPr>
          <a:lstStyle/>
          <a:p>
            <a:pPr algn="r"/>
            <a:r>
              <a:rPr lang="fr-FR" altLang="fr-FR" sz="1200" dirty="0"/>
              <a:t>Présenté par : </a:t>
            </a:r>
            <a:r>
              <a:rPr lang="fr-FR" altLang="fr-FR" sz="1200" dirty="0" smtClean="0"/>
              <a:t>Dr. </a:t>
            </a:r>
            <a:r>
              <a:rPr lang="fr-FR" altLang="fr-FR" sz="1200" dirty="0"/>
              <a:t>H. MESSAOUI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8686800" cy="6858000"/>
          </a:xfrm>
        </p:spPr>
        <p:txBody>
          <a:bodyPr>
            <a:normAutofit/>
          </a:bodyPr>
          <a:lstStyle/>
          <a:p>
            <a:pPr algn="just">
              <a:lnSpc>
                <a:spcPct val="140000"/>
              </a:lnSpc>
            </a:pPr>
            <a:r>
              <a:rPr lang="fr-FR" altLang="fr-FR" sz="2000" b="1" dirty="0" smtClean="0"/>
              <a:t>Hérédité </a:t>
            </a:r>
            <a:r>
              <a:rPr lang="fr-FR" altLang="fr-FR" sz="2000" b="1" dirty="0" err="1" smtClean="0"/>
              <a:t>monogénique</a:t>
            </a:r>
            <a:r>
              <a:rPr lang="fr-FR" altLang="fr-FR" sz="2000" b="1" dirty="0" smtClean="0"/>
              <a:t>, hérédité </a:t>
            </a:r>
            <a:r>
              <a:rPr lang="fr-FR" altLang="fr-FR" sz="2000" b="1" dirty="0" err="1" smtClean="0"/>
              <a:t>monofactorielle</a:t>
            </a:r>
            <a:r>
              <a:rPr lang="fr-FR" altLang="fr-FR" sz="2000" b="1" dirty="0" smtClean="0"/>
              <a:t> ou hérédité mendélienne </a:t>
            </a:r>
            <a:r>
              <a:rPr lang="fr-FR" altLang="fr-FR" sz="2000" dirty="0" smtClean="0"/>
              <a:t>= transmission des maladies génétiques dues à une mutation dans un seul gène.</a:t>
            </a:r>
          </a:p>
          <a:p>
            <a:pPr algn="just">
              <a:lnSpc>
                <a:spcPct val="140000"/>
              </a:lnSpc>
            </a:pPr>
            <a:r>
              <a:rPr lang="fr-FR" altLang="fr-FR" sz="2000" b="1" dirty="0" smtClean="0"/>
              <a:t>Le gène </a:t>
            </a:r>
            <a:r>
              <a:rPr lang="fr-FR" altLang="fr-FR" sz="2000" dirty="0" smtClean="0"/>
              <a:t>est l’unité d’information génétique,</a:t>
            </a:r>
            <a:r>
              <a:rPr lang="fr-FR" sz="2000" dirty="0"/>
              <a:t> porteur d'un caractère héréditaire précis dont il assure la transmission</a:t>
            </a:r>
            <a:r>
              <a:rPr lang="fr-FR" altLang="fr-FR" sz="2000" dirty="0" smtClean="0"/>
              <a:t> . Le site physique où se situe un gène sur un chromosome est appelé locus (au pluriel : des </a:t>
            </a:r>
            <a:r>
              <a:rPr lang="fr-FR" altLang="fr-FR" sz="2000" dirty="0" err="1" smtClean="0"/>
              <a:t>loci</a:t>
            </a:r>
            <a:r>
              <a:rPr lang="fr-FR" altLang="fr-FR" sz="2000" dirty="0" smtClean="0"/>
              <a:t>).</a:t>
            </a:r>
          </a:p>
          <a:p>
            <a:pPr algn="just">
              <a:lnSpc>
                <a:spcPct val="140000"/>
              </a:lnSpc>
            </a:pPr>
            <a:r>
              <a:rPr lang="fr-FR" altLang="fr-FR" sz="2000" b="1" dirty="0" smtClean="0"/>
              <a:t>Allèle</a:t>
            </a:r>
            <a:r>
              <a:rPr lang="fr-FR" altLang="fr-FR" sz="2000" dirty="0" smtClean="0"/>
              <a:t> : l’une des différentes formes d’un gène qui peuvent exister au niveau d’un même locus</a:t>
            </a:r>
          </a:p>
          <a:p>
            <a:pPr algn="just">
              <a:lnSpc>
                <a:spcPct val="140000"/>
              </a:lnSpc>
            </a:pPr>
            <a:r>
              <a:rPr lang="fr-FR" altLang="fr-FR" sz="2000" dirty="0" smtClean="0"/>
              <a:t>Un individu qui possède deux allèles identiques à un même locus est dit </a:t>
            </a:r>
            <a:r>
              <a:rPr lang="fr-FR" altLang="fr-FR" sz="2000" b="1" dirty="0" smtClean="0"/>
              <a:t>homozygote</a:t>
            </a:r>
            <a:r>
              <a:rPr lang="fr-FR" altLang="fr-FR" sz="2000" dirty="0" smtClean="0"/>
              <a:t>. Un individu qui possède deux allèles différents à un même locus est dit </a:t>
            </a:r>
            <a:r>
              <a:rPr lang="fr-FR" altLang="fr-FR" sz="2000" b="1" dirty="0" smtClean="0"/>
              <a:t>hétérozygote</a:t>
            </a:r>
            <a:r>
              <a:rPr lang="fr-FR" altLang="fr-FR" sz="2000" dirty="0" smtClean="0"/>
              <a:t>. </a:t>
            </a:r>
          </a:p>
          <a:p>
            <a:pPr algn="just">
              <a:lnSpc>
                <a:spcPct val="140000"/>
              </a:lnSpc>
            </a:pPr>
            <a:r>
              <a:rPr lang="fr-FR" altLang="fr-FR" sz="2000" dirty="0" smtClean="0"/>
              <a:t> Le </a:t>
            </a:r>
            <a:r>
              <a:rPr lang="fr-FR" altLang="fr-FR" sz="2000" b="1" dirty="0" smtClean="0"/>
              <a:t>génotype</a:t>
            </a:r>
            <a:r>
              <a:rPr lang="fr-FR" altLang="fr-FR" sz="2000" dirty="0" smtClean="0"/>
              <a:t> décrit, au sens strict, la constitution génétique de la cellule ou de l’individu. </a:t>
            </a:r>
          </a:p>
          <a:p>
            <a:pPr algn="just">
              <a:lnSpc>
                <a:spcPct val="140000"/>
              </a:lnSpc>
            </a:pPr>
            <a:r>
              <a:rPr lang="fr-FR" altLang="fr-FR" sz="2000" dirty="0" smtClean="0"/>
              <a:t>Le </a:t>
            </a:r>
            <a:r>
              <a:rPr lang="fr-FR" altLang="fr-FR" sz="2000" b="1" dirty="0" smtClean="0"/>
              <a:t>phénotype</a:t>
            </a:r>
            <a:r>
              <a:rPr lang="fr-FR" altLang="fr-FR" sz="2000" dirty="0" smtClean="0"/>
              <a:t> désigne les caractères observés. En génétique, il peut s’agir aussi bien d’un caractère non pathologique (groupes sanguins) que d’une maladie.</a:t>
            </a:r>
          </a:p>
          <a:p>
            <a:pPr algn="just">
              <a:lnSpc>
                <a:spcPct val="140000"/>
              </a:lnSpc>
            </a:pPr>
            <a:endParaRPr lang="fr-FR" altLang="fr-FR" sz="2000" dirty="0" smtClean="0"/>
          </a:p>
          <a:p>
            <a:pPr algn="just">
              <a:lnSpc>
                <a:spcPct val="140000"/>
              </a:lnSpc>
            </a:pPr>
            <a:endParaRPr lang="fr-FR" altLang="fr-FR" sz="2000" dirty="0" smtClean="0"/>
          </a:p>
          <a:p>
            <a:pPr algn="just">
              <a:lnSpc>
                <a:spcPct val="140000"/>
              </a:lnSpc>
            </a:pPr>
            <a:endParaRPr lang="fr-FR" altLang="fr-F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ZoneTexte 1"/>
          <p:cNvSpPr txBox="1">
            <a:spLocks noChangeArrowheads="1"/>
          </p:cNvSpPr>
          <p:nvPr/>
        </p:nvSpPr>
        <p:spPr bwMode="auto">
          <a:xfrm>
            <a:off x="714375" y="1785938"/>
            <a:ext cx="7786688" cy="1570037"/>
          </a:xfrm>
          <a:prstGeom prst="rect">
            <a:avLst/>
          </a:prstGeom>
          <a:noFill/>
          <a:ln w="9525">
            <a:noFill/>
            <a:miter lim="800000"/>
            <a:headEnd/>
            <a:tailEnd/>
          </a:ln>
        </p:spPr>
        <p:txBody>
          <a:bodyPr>
            <a:spAutoFit/>
          </a:bodyPr>
          <a:lstStyle/>
          <a:p>
            <a:pPr algn="ctr"/>
            <a:r>
              <a:rPr lang="fr-FR" altLang="fr-FR" sz="9600"/>
              <a:t>QCM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
          <p:cNvSpPr>
            <a:spLocks noChangeArrowheads="1"/>
          </p:cNvSpPr>
          <p:nvPr/>
        </p:nvSpPr>
        <p:spPr bwMode="auto">
          <a:xfrm>
            <a:off x="0" y="0"/>
            <a:ext cx="9144000" cy="5016500"/>
          </a:xfrm>
          <a:prstGeom prst="rect">
            <a:avLst/>
          </a:prstGeom>
          <a:noFill/>
          <a:ln w="9525">
            <a:noFill/>
            <a:miter lim="800000"/>
            <a:headEnd/>
            <a:tailEnd/>
          </a:ln>
        </p:spPr>
        <p:txBody>
          <a:bodyPr anchor="ctr">
            <a:spAutoFit/>
          </a:bodyPr>
          <a:lstStyle/>
          <a:p>
            <a:pPr eaLnBrk="1" hangingPunct="1"/>
            <a:r>
              <a:rPr lang="fr-FR" altLang="fr-FR" sz="3200" dirty="0">
                <a:latin typeface="Times New Roman" pitchFamily="18" charset="0"/>
                <a:cs typeface="Times New Roman" pitchFamily="18" charset="0"/>
              </a:rPr>
              <a:t>Un codon :</a:t>
            </a:r>
          </a:p>
          <a:p>
            <a:pPr eaLnBrk="1" hangingPunct="1"/>
            <a:r>
              <a:rPr lang="fr-FR" altLang="fr-FR" sz="3200" b="0" dirty="0">
                <a:latin typeface="Times New Roman" pitchFamily="18" charset="0"/>
                <a:cs typeface="Times New Roman" pitchFamily="18" charset="0"/>
              </a:rPr>
              <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a. code toujours pour un acide aminé.</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b. est un triplet de nucléotides.</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c. est porté par l'ADN.</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d. peut coder pour le même acide aminé qu'un autre codon.</a:t>
            </a:r>
          </a:p>
          <a:p>
            <a:pPr eaLnBrk="1" hangingPunct="1"/>
            <a:endParaRPr lang="fr-FR" altLang="fr-FR" sz="3200" b="0" dirty="0">
              <a:latin typeface="Times New Roman" pitchFamily="18" charset="0"/>
              <a:cs typeface="Times New Roman" pitchFamily="18" charset="0"/>
            </a:endParaRPr>
          </a:p>
          <a:p>
            <a:pPr eaLnBrk="1" hangingPunct="1"/>
            <a:endParaRPr lang="fr-FR" altLang="fr-FR" sz="3200" b="0" dirty="0">
              <a:latin typeface="Times New Roman" pitchFamily="18" charset="0"/>
              <a:cs typeface="Times New Roman" pitchFamily="18" charset="0"/>
            </a:endParaRPr>
          </a:p>
          <a:p>
            <a:pPr eaLnBrk="1" hangingPunct="1"/>
            <a:r>
              <a:rPr lang="fr-FR" altLang="fr-FR" sz="3200" b="0" dirty="0">
                <a:solidFill>
                  <a:srgbClr val="FF0000"/>
                </a:solidFill>
                <a:latin typeface="Times New Roman" pitchFamily="18" charset="0"/>
                <a:cs typeface="Times New Roman" pitchFamily="18" charset="0"/>
              </a:rPr>
              <a:t>Réponse : b  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42">
                                            <p:txEl>
                                              <p:pRg st="4" end="4"/>
                                            </p:txEl>
                                          </p:spTgt>
                                        </p:tgtEl>
                                        <p:attrNameLst>
                                          <p:attrName>style.visibility</p:attrName>
                                        </p:attrNameLst>
                                      </p:cBhvr>
                                      <p:to>
                                        <p:strVal val="visible"/>
                                      </p:to>
                                    </p:set>
                                    <p:animEffect transition="in" filter="blinds(horizontal)">
                                      <p:cBhvr>
                                        <p:cTn id="7" dur="500"/>
                                        <p:tgtEl>
                                          <p:spTgt spid="1638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2" descr="_Pic11"/>
          <p:cNvPicPr>
            <a:picLocks noChangeAspect="1" noChangeArrowheads="1"/>
          </p:cNvPicPr>
          <p:nvPr/>
        </p:nvPicPr>
        <p:blipFill>
          <a:blip r:embed="rId2"/>
          <a:srcRect/>
          <a:stretch>
            <a:fillRect/>
          </a:stretch>
        </p:blipFill>
        <p:spPr bwMode="auto">
          <a:xfrm>
            <a:off x="0" y="457200"/>
            <a:ext cx="2476500" cy="390525"/>
          </a:xfrm>
          <a:prstGeom prst="rect">
            <a:avLst/>
          </a:prstGeom>
          <a:noFill/>
          <a:ln w="9525">
            <a:noFill/>
            <a:miter lim="800000"/>
            <a:headEnd/>
            <a:tailEnd/>
          </a:ln>
        </p:spPr>
      </p:pic>
      <p:sp>
        <p:nvSpPr>
          <p:cNvPr id="164867" name="Text Box 1"/>
          <p:cNvSpPr txBox="1">
            <a:spLocks noChangeArrowheads="1"/>
          </p:cNvSpPr>
          <p:nvPr/>
        </p:nvSpPr>
        <p:spPr bwMode="auto">
          <a:xfrm>
            <a:off x="4913313" y="2609850"/>
            <a:ext cx="2474912" cy="639763"/>
          </a:xfrm>
          <a:prstGeom prst="rect">
            <a:avLst/>
          </a:prstGeom>
          <a:noFill/>
          <a:ln w="9525">
            <a:noFill/>
            <a:miter lim="800000"/>
            <a:headEnd/>
            <a:tailEnd/>
          </a:ln>
        </p:spPr>
        <p:txBody>
          <a:bodyPr lIns="0" tIns="0" rIns="0" bIns="0"/>
          <a:lstStyle/>
          <a:p>
            <a:endParaRPr lang="fr-FR" altLang="fr-FR"/>
          </a:p>
        </p:txBody>
      </p:sp>
      <p:sp>
        <p:nvSpPr>
          <p:cNvPr id="164868" name="Rectangle 3"/>
          <p:cNvSpPr>
            <a:spLocks noChangeArrowheads="1"/>
          </p:cNvSpPr>
          <p:nvPr/>
        </p:nvSpPr>
        <p:spPr bwMode="auto">
          <a:xfrm>
            <a:off x="0" y="0"/>
            <a:ext cx="9144000" cy="1570038"/>
          </a:xfrm>
          <a:prstGeom prst="rect">
            <a:avLst/>
          </a:prstGeom>
          <a:noFill/>
          <a:ln w="9525">
            <a:noFill/>
            <a:miter lim="800000"/>
            <a:headEnd/>
            <a:tailEnd/>
          </a:ln>
        </p:spPr>
        <p:txBody>
          <a:bodyPr anchor="ctr">
            <a:spAutoFit/>
          </a:bodyPr>
          <a:lstStyle/>
          <a:p>
            <a:pPr eaLnBrk="1" hangingPunct="1"/>
            <a:r>
              <a:rPr lang="en-US" altLang="fr-FR" sz="3200">
                <a:latin typeface="Times New Roman" pitchFamily="18" charset="0"/>
                <a:cs typeface="Times New Roman" pitchFamily="18" charset="0"/>
              </a:rPr>
              <a:t>Parmi les propositions suivantes concernant les introns, laquelle est fausse ?</a:t>
            </a:r>
            <a:endParaRPr lang="fr-FR" altLang="fr-FR" sz="3200">
              <a:latin typeface="Times New Roman" pitchFamily="18" charset="0"/>
              <a:cs typeface="Times New Roman" pitchFamily="18" charset="0"/>
            </a:endParaRPr>
          </a:p>
          <a:p>
            <a:endParaRPr lang="fr-FR" altLang="fr-FR" sz="3200" b="0">
              <a:ea typeface="Times New Roman" pitchFamily="18" charset="0"/>
              <a:cs typeface="Arial" pitchFamily="34" charset="0"/>
            </a:endParaRPr>
          </a:p>
        </p:txBody>
      </p:sp>
      <p:sp>
        <p:nvSpPr>
          <p:cNvPr id="164869" name="Rectangle 4"/>
          <p:cNvSpPr>
            <a:spLocks noChangeArrowheads="1"/>
          </p:cNvSpPr>
          <p:nvPr/>
        </p:nvSpPr>
        <p:spPr bwMode="auto">
          <a:xfrm>
            <a:off x="46038" y="457200"/>
            <a:ext cx="0" cy="0"/>
          </a:xfrm>
          <a:prstGeom prst="rect">
            <a:avLst/>
          </a:prstGeom>
          <a:solidFill>
            <a:schemeClr val="accent1"/>
          </a:solidFill>
          <a:ln w="9525">
            <a:solidFill>
              <a:schemeClr val="tx1"/>
            </a:solidFill>
            <a:miter lim="800000"/>
            <a:headEnd/>
            <a:tailEnd/>
          </a:ln>
        </p:spPr>
        <p:txBody>
          <a:bodyPr/>
          <a:lstStyle/>
          <a:p>
            <a:endParaRPr lang="fr-FR" altLang="fr-FR"/>
          </a:p>
        </p:txBody>
      </p:sp>
      <p:sp>
        <p:nvSpPr>
          <p:cNvPr id="164870" name="Rectangle 5"/>
          <p:cNvSpPr>
            <a:spLocks noChangeArrowheads="1"/>
          </p:cNvSpPr>
          <p:nvPr/>
        </p:nvSpPr>
        <p:spPr bwMode="auto">
          <a:xfrm>
            <a:off x="0" y="1279525"/>
            <a:ext cx="9144000" cy="5018088"/>
          </a:xfrm>
          <a:prstGeom prst="rect">
            <a:avLst/>
          </a:prstGeom>
          <a:noFill/>
          <a:ln w="9525">
            <a:noFill/>
            <a:miter lim="800000"/>
            <a:headEnd/>
            <a:tailEnd/>
          </a:ln>
        </p:spPr>
        <p:txBody>
          <a:bodyPr anchor="ctr">
            <a:spAutoFit/>
          </a:bodyPr>
          <a:lstStyle/>
          <a:p>
            <a:pPr eaLnBrk="1" hangingPunct="1">
              <a:tabLst>
                <a:tab pos="228600" algn="l"/>
              </a:tabLst>
            </a:pPr>
            <a:endParaRPr lang="en-US" altLang="fr-FR" sz="3200" b="0" dirty="0">
              <a:ea typeface="Times New Roman" pitchFamily="18" charset="0"/>
              <a:cs typeface="Arial" pitchFamily="34" charset="0"/>
            </a:endParaRPr>
          </a:p>
          <a:p>
            <a:pPr eaLnBrk="1" hangingPunct="1">
              <a:tabLst>
                <a:tab pos="228600" algn="l"/>
              </a:tabLst>
            </a:pPr>
            <a:r>
              <a:rPr lang="en-US" altLang="fr-FR" sz="3200" b="0" dirty="0">
                <a:latin typeface="Times New Roman" pitchFamily="18" charset="0"/>
                <a:ea typeface="Times New Roman" pitchFamily="18" charset="0"/>
                <a:cs typeface="Arial" pitchFamily="34" charset="0"/>
              </a:rPr>
              <a:t>a. </a:t>
            </a:r>
            <a:r>
              <a:rPr lang="en-US" altLang="fr-FR" sz="3200" b="0" dirty="0" err="1">
                <a:latin typeface="Times New Roman" pitchFamily="18" charset="0"/>
                <a:ea typeface="Times New Roman" pitchFamily="18" charset="0"/>
                <a:cs typeface="Arial" pitchFamily="34" charset="0"/>
              </a:rPr>
              <a:t>Ils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sont</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situés</a:t>
            </a:r>
            <a:r>
              <a:rPr lang="en-US" altLang="fr-FR" sz="3200" b="0" dirty="0">
                <a:latin typeface="Times New Roman" pitchFamily="18" charset="0"/>
                <a:ea typeface="Times New Roman" pitchFamily="18" charset="0"/>
                <a:cs typeface="Arial" pitchFamily="34" charset="0"/>
              </a:rPr>
              <a:t> entre </a:t>
            </a:r>
            <a:r>
              <a:rPr lang="en-US" altLang="fr-FR" sz="3200" b="0" dirty="0" err="1">
                <a:latin typeface="Times New Roman" pitchFamily="18" charset="0"/>
                <a:ea typeface="Times New Roman" pitchFamily="18" charset="0"/>
                <a:cs typeface="Arial" pitchFamily="34" charset="0"/>
              </a:rPr>
              <a:t>deux</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exons</a:t>
            </a:r>
            <a:r>
              <a:rPr lang="en-US" altLang="fr-FR" sz="3200" b="0" dirty="0">
                <a:latin typeface="Times New Roman" pitchFamily="18" charset="0"/>
                <a:ea typeface="Times New Roman" pitchFamily="18" charset="0"/>
                <a:cs typeface="Arial" pitchFamily="34" charset="0"/>
              </a:rPr>
              <a:t>.	.</a:t>
            </a:r>
            <a:endParaRPr lang="fr-FR" altLang="fr-FR" sz="3200" b="0" dirty="0">
              <a:latin typeface="Times New Roman" pitchFamily="18" charset="0"/>
              <a:ea typeface="Times New Roman" pitchFamily="18" charset="0"/>
              <a:cs typeface="Arial" pitchFamily="34" charset="0"/>
            </a:endParaRPr>
          </a:p>
          <a:p>
            <a:pPr>
              <a:tabLst>
                <a:tab pos="228600" algn="l"/>
              </a:tabLst>
            </a:pPr>
            <a:r>
              <a:rPr lang="en-US" altLang="fr-FR" sz="3200" b="0" dirty="0">
                <a:latin typeface="Times New Roman" pitchFamily="18" charset="0"/>
                <a:ea typeface="Times New Roman" pitchFamily="18" charset="0"/>
                <a:cs typeface="Arial" pitchFamily="34" charset="0"/>
              </a:rPr>
              <a:t>b. </a:t>
            </a:r>
            <a:r>
              <a:rPr lang="en-US" altLang="fr-FR" sz="3200" b="0" dirty="0" err="1">
                <a:latin typeface="Times New Roman" pitchFamily="18" charset="0"/>
                <a:ea typeface="Times New Roman" pitchFamily="18" charset="0"/>
                <a:cs typeface="Arial" pitchFamily="34" charset="0"/>
              </a:rPr>
              <a:t>Ils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sont</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excisés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lors</a:t>
            </a:r>
            <a:r>
              <a:rPr lang="en-US" altLang="fr-FR" sz="3200" b="0" dirty="0">
                <a:latin typeface="Times New Roman" pitchFamily="18" charset="0"/>
                <a:ea typeface="Times New Roman" pitchFamily="18" charset="0"/>
                <a:cs typeface="Arial" pitchFamily="34" charset="0"/>
              </a:rPr>
              <a:t> de </a:t>
            </a:r>
            <a:r>
              <a:rPr lang="en-US" altLang="fr-FR" sz="3200" b="0" dirty="0" err="1">
                <a:latin typeface="Times New Roman" pitchFamily="18" charset="0"/>
                <a:ea typeface="Times New Roman" pitchFamily="18" charset="0"/>
                <a:cs typeface="Arial" pitchFamily="34" charset="0"/>
              </a:rPr>
              <a:t>l’épissage</a:t>
            </a:r>
            <a:r>
              <a:rPr lang="en-US" altLang="fr-FR" sz="3200" b="0" dirty="0">
                <a:latin typeface="Times New Roman" pitchFamily="18" charset="0"/>
                <a:ea typeface="Times New Roman" pitchFamily="18" charset="0"/>
                <a:cs typeface="Arial" pitchFamily="34" charset="0"/>
              </a:rPr>
              <a:t> de </a:t>
            </a:r>
            <a:r>
              <a:rPr lang="en-US" altLang="fr-FR" sz="3200" b="0" dirty="0" err="1">
                <a:latin typeface="Times New Roman" pitchFamily="18" charset="0"/>
                <a:ea typeface="Times New Roman" pitchFamily="18" charset="0"/>
                <a:cs typeface="Arial" pitchFamily="34" charset="0"/>
              </a:rPr>
              <a:t>l’ARNm</a:t>
            </a:r>
            <a:endParaRPr lang="fr-FR" altLang="fr-FR" sz="3200" b="0" dirty="0">
              <a:latin typeface="Times New Roman" pitchFamily="18" charset="0"/>
              <a:ea typeface="Times New Roman" pitchFamily="18" charset="0"/>
              <a:cs typeface="Arial" pitchFamily="34" charset="0"/>
            </a:endParaRPr>
          </a:p>
          <a:p>
            <a:pPr>
              <a:tabLst>
                <a:tab pos="228600" algn="l"/>
              </a:tabLst>
            </a:pPr>
            <a:r>
              <a:rPr lang="en-US" altLang="fr-FR" sz="3200" b="0" dirty="0">
                <a:latin typeface="Times New Roman" pitchFamily="18" charset="0"/>
                <a:ea typeface="Times New Roman" pitchFamily="18" charset="0"/>
                <a:cs typeface="Arial" pitchFamily="34" charset="0"/>
              </a:rPr>
              <a:t>c. </a:t>
            </a:r>
            <a:r>
              <a:rPr lang="en-US" altLang="fr-FR" sz="3200" b="0" dirty="0" err="1">
                <a:latin typeface="Times New Roman" pitchFamily="18" charset="0"/>
                <a:ea typeface="Times New Roman" pitchFamily="18" charset="0"/>
                <a:cs typeface="Arial" pitchFamily="34" charset="0"/>
              </a:rPr>
              <a:t>ils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sont</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toujours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traduits</a:t>
            </a:r>
            <a:r>
              <a:rPr lang="en-US" altLang="fr-FR" sz="3200" b="0" dirty="0">
                <a:latin typeface="Times New Roman" pitchFamily="18" charset="0"/>
                <a:ea typeface="Times New Roman" pitchFamily="18" charset="0"/>
                <a:cs typeface="Arial" pitchFamily="34" charset="0"/>
              </a:rPr>
              <a:t>.</a:t>
            </a:r>
            <a:endParaRPr lang="fr-FR" altLang="fr-FR" sz="3200" b="0" dirty="0">
              <a:latin typeface="Times New Roman" pitchFamily="18" charset="0"/>
              <a:ea typeface="Times New Roman" pitchFamily="18" charset="0"/>
              <a:cs typeface="Arial" pitchFamily="34" charset="0"/>
            </a:endParaRPr>
          </a:p>
          <a:p>
            <a:pPr>
              <a:tabLst>
                <a:tab pos="228600" algn="l"/>
              </a:tabLst>
            </a:pPr>
            <a:r>
              <a:rPr lang="en-US" altLang="fr-FR" sz="3200" b="0" dirty="0">
                <a:latin typeface="Times New Roman" pitchFamily="18" charset="0"/>
                <a:ea typeface="Times New Roman" pitchFamily="18" charset="0"/>
                <a:cs typeface="Arial" pitchFamily="34" charset="0"/>
              </a:rPr>
              <a:t>d. </a:t>
            </a:r>
            <a:r>
              <a:rPr lang="en-US" altLang="fr-FR" sz="3200" b="0" dirty="0" err="1">
                <a:latin typeface="Times New Roman" pitchFamily="18" charset="0"/>
                <a:ea typeface="Times New Roman" pitchFamily="18" charset="0"/>
                <a:cs typeface="Arial" pitchFamily="34" charset="0"/>
              </a:rPr>
              <a:t>ils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sont</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toujours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transcrits</a:t>
            </a:r>
            <a:endParaRPr lang="fr-FR" altLang="fr-FR" sz="3200" b="0" dirty="0">
              <a:latin typeface="Times New Roman" pitchFamily="18" charset="0"/>
              <a:ea typeface="Times New Roman" pitchFamily="18" charset="0"/>
              <a:cs typeface="Arial" pitchFamily="34" charset="0"/>
            </a:endParaRPr>
          </a:p>
          <a:p>
            <a:pPr>
              <a:tabLst>
                <a:tab pos="228600" algn="l"/>
              </a:tabLst>
            </a:pPr>
            <a:r>
              <a:rPr lang="en-US" altLang="fr-FR" sz="3200" b="0" dirty="0">
                <a:latin typeface="Times New Roman" pitchFamily="18" charset="0"/>
                <a:ea typeface="Times New Roman" pitchFamily="18" charset="0"/>
                <a:cs typeface="Arial" pitchFamily="34" charset="0"/>
              </a:rPr>
              <a:t>e. </a:t>
            </a:r>
            <a:r>
              <a:rPr lang="en-US" altLang="fr-FR" sz="3200" b="0" dirty="0" err="1">
                <a:latin typeface="Times New Roman" pitchFamily="18" charset="0"/>
                <a:ea typeface="Times New Roman" pitchFamily="18" charset="0"/>
                <a:cs typeface="Arial" pitchFamily="34" charset="0"/>
              </a:rPr>
              <a:t>ils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peuvent</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parfois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contenir</a:t>
            </a:r>
            <a:r>
              <a:rPr lang="en-US" altLang="fr-FR" sz="3200" b="0" dirty="0">
                <a:latin typeface="Times New Roman" pitchFamily="18" charset="0"/>
                <a:ea typeface="Times New Roman" pitchFamily="18" charset="0"/>
                <a:cs typeface="Arial" pitchFamily="34" charset="0"/>
              </a:rPr>
              <a:t> des </a:t>
            </a:r>
            <a:r>
              <a:rPr lang="en-US" altLang="fr-FR" sz="3200" b="0" dirty="0" err="1">
                <a:latin typeface="Times New Roman" pitchFamily="18" charset="0"/>
                <a:ea typeface="Times New Roman" pitchFamily="18" charset="0"/>
                <a:cs typeface="Arial" pitchFamily="34" charset="0"/>
              </a:rPr>
              <a:t>séquences</a:t>
            </a:r>
            <a:r>
              <a:rPr lang="en-US" altLang="fr-FR" sz="3200" b="0" dirty="0">
                <a:latin typeface="Times New Roman" pitchFamily="18" charset="0"/>
                <a:ea typeface="Times New Roman" pitchFamily="18" charset="0"/>
                <a:cs typeface="Arial" pitchFamily="34" charset="0"/>
              </a:rPr>
              <a:t> </a:t>
            </a:r>
            <a:r>
              <a:rPr lang="en-US" altLang="fr-FR" sz="3200" b="0" dirty="0" err="1">
                <a:latin typeface="Times New Roman" pitchFamily="18" charset="0"/>
                <a:ea typeface="Times New Roman" pitchFamily="18" charset="0"/>
                <a:cs typeface="Arial" pitchFamily="34" charset="0"/>
              </a:rPr>
              <a:t>régulatrices</a:t>
            </a:r>
            <a:r>
              <a:rPr lang="en-US" altLang="fr-FR" sz="3200" b="0" dirty="0">
                <a:latin typeface="Times New Roman" pitchFamily="18" charset="0"/>
                <a:ea typeface="Times New Roman" pitchFamily="18" charset="0"/>
                <a:cs typeface="Arial" pitchFamily="34" charset="0"/>
              </a:rPr>
              <a:t> et fixer des </a:t>
            </a:r>
            <a:r>
              <a:rPr lang="en-US" altLang="fr-FR" sz="3200" b="0" dirty="0" err="1">
                <a:latin typeface="Times New Roman" pitchFamily="18" charset="0"/>
                <a:ea typeface="Times New Roman" pitchFamily="18" charset="0"/>
                <a:cs typeface="Arial" pitchFamily="34" charset="0"/>
              </a:rPr>
              <a:t>facteurs</a:t>
            </a:r>
            <a:r>
              <a:rPr lang="en-US" altLang="fr-FR" sz="3200" b="0" dirty="0">
                <a:latin typeface="Times New Roman" pitchFamily="18" charset="0"/>
                <a:ea typeface="Times New Roman" pitchFamily="18" charset="0"/>
                <a:cs typeface="Arial" pitchFamily="34" charset="0"/>
              </a:rPr>
              <a:t> de transcriptions.</a:t>
            </a:r>
          </a:p>
          <a:p>
            <a:pPr>
              <a:tabLst>
                <a:tab pos="228600" algn="l"/>
              </a:tabLst>
            </a:pPr>
            <a:endParaRPr lang="en-US" altLang="fr-FR" sz="3200" b="0" dirty="0">
              <a:latin typeface="Times New Roman" pitchFamily="18" charset="0"/>
              <a:ea typeface="Times New Roman" pitchFamily="18" charset="0"/>
              <a:cs typeface="Arial" pitchFamily="34" charset="0"/>
            </a:endParaRPr>
          </a:p>
          <a:p>
            <a:pPr>
              <a:tabLst>
                <a:tab pos="228600" algn="l"/>
              </a:tabLst>
            </a:pPr>
            <a:r>
              <a:rPr lang="en-US" altLang="fr-FR" sz="3200" b="0" dirty="0" err="1">
                <a:latin typeface="Times New Roman" pitchFamily="18" charset="0"/>
                <a:ea typeface="Times New Roman" pitchFamily="18" charset="0"/>
                <a:cs typeface="Arial" pitchFamily="34" charset="0"/>
              </a:rPr>
              <a:t>Réponse</a:t>
            </a:r>
            <a:r>
              <a:rPr lang="en-US" altLang="fr-FR" sz="3200" b="0" dirty="0">
                <a:latin typeface="Times New Roman" pitchFamily="18" charset="0"/>
                <a:ea typeface="Times New Roman" pitchFamily="18" charset="0"/>
                <a:cs typeface="Arial" pitchFamily="34" charset="0"/>
              </a:rPr>
              <a:t> : c</a:t>
            </a:r>
          </a:p>
          <a:p>
            <a:pPr>
              <a:tabLst>
                <a:tab pos="228600" algn="l"/>
              </a:tabLst>
            </a:pPr>
            <a:endParaRPr lang="en-US" altLang="fr-FR" sz="3200" b="0" dirty="0">
              <a:ea typeface="Times New Roman"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4870">
                                            <p:txEl>
                                              <p:pRg st="7" end="7"/>
                                            </p:txEl>
                                          </p:spTgt>
                                        </p:tgtEl>
                                        <p:attrNameLst>
                                          <p:attrName>style.visibility</p:attrName>
                                        </p:attrNameLst>
                                      </p:cBhvr>
                                      <p:to>
                                        <p:strVal val="visible"/>
                                      </p:to>
                                    </p:set>
                                    <p:animEffect transition="in" filter="blinds(horizontal)">
                                      <p:cBhvr>
                                        <p:cTn id="7" dur="500"/>
                                        <p:tgtEl>
                                          <p:spTgt spid="16487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ChangeArrowheads="1"/>
          </p:cNvSpPr>
          <p:nvPr/>
        </p:nvSpPr>
        <p:spPr bwMode="auto">
          <a:xfrm>
            <a:off x="0" y="0"/>
            <a:ext cx="9144000" cy="6494463"/>
          </a:xfrm>
          <a:prstGeom prst="rect">
            <a:avLst/>
          </a:prstGeom>
          <a:noFill/>
          <a:ln w="9525">
            <a:noFill/>
            <a:miter lim="800000"/>
            <a:headEnd/>
            <a:tailEnd/>
          </a:ln>
          <a:effectLst/>
        </p:spPr>
        <p:txBody>
          <a:bodyPr anchor="ctr">
            <a:spAutoFit/>
          </a:bodyPr>
          <a:lstStyle/>
          <a:p>
            <a:pPr eaLnBrk="1" hangingPunct="1">
              <a:defRPr/>
            </a:pPr>
            <a:r>
              <a:rPr lang="fr-FR" sz="3200" dirty="0">
                <a:solidFill>
                  <a:srgbClr val="000000"/>
                </a:solidFill>
                <a:latin typeface="+mj-lt"/>
                <a:ea typeface="Batang" pitchFamily="18" charset="-127"/>
                <a:cs typeface="Times New Roman" pitchFamily="18" charset="0"/>
              </a:rPr>
              <a:t>La traduction : </a:t>
            </a:r>
            <a:endParaRPr lang="fr-FR" sz="3200" b="0" dirty="0">
              <a:solidFill>
                <a:srgbClr val="000000"/>
              </a:solidFill>
              <a:latin typeface="+mj-lt"/>
              <a:ea typeface="Batang" pitchFamily="18" charset="-127"/>
              <a:cs typeface="Arial" pitchFamily="34" charset="0"/>
            </a:endParaRPr>
          </a:p>
          <a:p>
            <a:pPr eaLnBrk="1" hangingPunct="1">
              <a:defRPr/>
            </a:pPr>
            <a:endParaRPr lang="fr-FR" sz="3200" b="0" dirty="0">
              <a:solidFill>
                <a:srgbClr val="000000"/>
              </a:solidFill>
              <a:latin typeface="+mj-lt"/>
              <a:ea typeface="Batang" pitchFamily="18" charset="-127"/>
              <a:cs typeface="Arial" pitchFamily="34" charset="0"/>
            </a:endParaRPr>
          </a:p>
          <a:p>
            <a:pPr marL="514350" indent="-514350" eaLnBrk="1" hangingPunct="1">
              <a:buFontTx/>
              <a:buAutoNum type="alphaLcPeriod"/>
              <a:defRPr/>
            </a:pPr>
            <a:r>
              <a:rPr lang="fr-FR" sz="3200" b="0" dirty="0">
                <a:solidFill>
                  <a:srgbClr val="000000"/>
                </a:solidFill>
                <a:latin typeface="+mj-lt"/>
                <a:ea typeface="Batang" pitchFamily="18" charset="-127"/>
                <a:cs typeface="Arial" pitchFamily="34" charset="0"/>
              </a:rPr>
              <a:t>Requiert des ARN messagers (</a:t>
            </a:r>
            <a:r>
              <a:rPr lang="fr-FR" sz="3200" b="0" dirty="0" err="1">
                <a:solidFill>
                  <a:srgbClr val="000000"/>
                </a:solidFill>
                <a:latin typeface="+mj-lt"/>
                <a:ea typeface="Batang" pitchFamily="18" charset="-127"/>
                <a:cs typeface="Arial" pitchFamily="34" charset="0"/>
              </a:rPr>
              <a:t>ARNm</a:t>
            </a:r>
            <a:r>
              <a:rPr lang="fr-FR" sz="3200" b="0" dirty="0">
                <a:solidFill>
                  <a:srgbClr val="000000"/>
                </a:solidFill>
                <a:latin typeface="+mj-lt"/>
                <a:ea typeface="Batang" pitchFamily="18" charset="-127"/>
                <a:cs typeface="Arial" pitchFamily="34" charset="0"/>
              </a:rPr>
              <a:t>) et des ribosomes </a:t>
            </a:r>
          </a:p>
          <a:p>
            <a:pPr marL="514350" indent="-514350" eaLnBrk="1" hangingPunct="1">
              <a:buFontTx/>
              <a:buAutoNum type="alphaLcPeriod"/>
              <a:defRPr/>
            </a:pPr>
            <a:endParaRPr lang="fr-FR" sz="3200" b="0" dirty="0">
              <a:solidFill>
                <a:srgbClr val="000000"/>
              </a:solidFill>
              <a:latin typeface="+mj-lt"/>
              <a:ea typeface="Batang" pitchFamily="18" charset="-127"/>
              <a:cs typeface="Arial" pitchFamily="34" charset="0"/>
            </a:endParaRPr>
          </a:p>
          <a:p>
            <a:pPr marL="514350" indent="-514350" eaLnBrk="1" hangingPunct="1">
              <a:buFontTx/>
              <a:buAutoNum type="alphaLcPeriod"/>
              <a:defRPr/>
            </a:pPr>
            <a:r>
              <a:rPr lang="fr-FR" sz="3200" b="0" dirty="0">
                <a:solidFill>
                  <a:srgbClr val="000000"/>
                </a:solidFill>
                <a:latin typeface="+mj-lt"/>
                <a:ea typeface="Batang" pitchFamily="18" charset="-127"/>
                <a:cs typeface="Arial" pitchFamily="34" charset="0"/>
              </a:rPr>
              <a:t>Est un évènement qui se produit dans le noyau</a:t>
            </a:r>
          </a:p>
          <a:p>
            <a:pPr marL="514350" indent="-514350" eaLnBrk="1" hangingPunct="1">
              <a:buFontTx/>
              <a:buAutoNum type="alphaLcPeriod"/>
              <a:defRPr/>
            </a:pPr>
            <a:endParaRPr lang="fr-FR" sz="3200" b="0" dirty="0">
              <a:solidFill>
                <a:srgbClr val="000000"/>
              </a:solidFill>
              <a:latin typeface="+mj-lt"/>
              <a:ea typeface="Batang" pitchFamily="18" charset="-127"/>
              <a:cs typeface="Arial" pitchFamily="34" charset="0"/>
            </a:endParaRPr>
          </a:p>
          <a:p>
            <a:pPr marL="514350" indent="-514350" eaLnBrk="1" hangingPunct="1">
              <a:buFontTx/>
              <a:buAutoNum type="alphaLcPeriod"/>
              <a:defRPr/>
            </a:pPr>
            <a:r>
              <a:rPr lang="fr-FR" sz="3200" b="0" dirty="0">
                <a:solidFill>
                  <a:srgbClr val="000000"/>
                </a:solidFill>
                <a:latin typeface="+mj-lt"/>
                <a:ea typeface="Batang" pitchFamily="18" charset="-127"/>
                <a:cs typeface="Arial" pitchFamily="34" charset="0"/>
              </a:rPr>
              <a:t>Nécessite la disponibilité des acides aminés (apportés par l’ARN de </a:t>
            </a:r>
            <a:r>
              <a:rPr lang="fr-FR" sz="3200" b="0" dirty="0" err="1">
                <a:solidFill>
                  <a:srgbClr val="000000"/>
                </a:solidFill>
                <a:latin typeface="+mj-lt"/>
                <a:ea typeface="Batang" pitchFamily="18" charset="-127"/>
                <a:cs typeface="Arial" pitchFamily="34" charset="0"/>
              </a:rPr>
              <a:t>tranfert</a:t>
            </a:r>
            <a:r>
              <a:rPr lang="fr-FR" sz="3200" b="0" dirty="0">
                <a:solidFill>
                  <a:srgbClr val="000000"/>
                </a:solidFill>
                <a:latin typeface="+mj-lt"/>
                <a:ea typeface="Batang" pitchFamily="18" charset="-127"/>
                <a:cs typeface="Arial" pitchFamily="34" charset="0"/>
              </a:rPr>
              <a:t>)</a:t>
            </a:r>
          </a:p>
          <a:p>
            <a:pPr marL="514350" indent="-514350" eaLnBrk="1" hangingPunct="1">
              <a:buFontTx/>
              <a:buAutoNum type="alphaLcPeriod"/>
              <a:defRPr/>
            </a:pPr>
            <a:r>
              <a:rPr lang="fr-FR" sz="3200" b="0" dirty="0">
                <a:solidFill>
                  <a:srgbClr val="000000"/>
                </a:solidFill>
                <a:latin typeface="+mj-lt"/>
                <a:ea typeface="Batang" pitchFamily="18" charset="-127"/>
                <a:cs typeface="Arial" pitchFamily="34" charset="0"/>
              </a:rPr>
              <a:t>Se fait à partir de l’ADN génomique </a:t>
            </a:r>
            <a:endParaRPr lang="fr-FR" sz="3200" b="0" dirty="0">
              <a:solidFill>
                <a:srgbClr val="000000"/>
              </a:solidFill>
              <a:latin typeface="+mj-lt"/>
              <a:ea typeface="Batang" pitchFamily="18" charset="-127"/>
              <a:cs typeface="Times New Roman" pitchFamily="18" charset="0"/>
            </a:endParaRPr>
          </a:p>
          <a:p>
            <a:pPr marL="514350" indent="-514350" eaLnBrk="1" hangingPunct="1">
              <a:buFontTx/>
              <a:buAutoNum type="alphaLcPeriod"/>
              <a:defRPr/>
            </a:pPr>
            <a:endParaRPr lang="fr-FR" sz="3200" b="0" dirty="0">
              <a:solidFill>
                <a:srgbClr val="000000"/>
              </a:solidFill>
              <a:latin typeface="+mj-lt"/>
              <a:ea typeface="Batang" pitchFamily="18" charset="-127"/>
              <a:cs typeface="Times New Roman" pitchFamily="18" charset="0"/>
            </a:endParaRPr>
          </a:p>
          <a:p>
            <a:pPr marL="514350" indent="-514350" eaLnBrk="1" hangingPunct="1">
              <a:buFontTx/>
              <a:buAutoNum type="alphaLcPeriod"/>
              <a:defRPr/>
            </a:pPr>
            <a:r>
              <a:rPr lang="fr-FR" sz="3200" b="0" dirty="0">
                <a:solidFill>
                  <a:srgbClr val="000000"/>
                </a:solidFill>
                <a:latin typeface="+mj-lt"/>
                <a:ea typeface="Batang" pitchFamily="18" charset="-127"/>
                <a:cs typeface="Times New Roman" pitchFamily="18" charset="0"/>
              </a:rPr>
              <a:t>Est un phénomène spécifique des eucaryotes</a:t>
            </a:r>
          </a:p>
          <a:p>
            <a:pPr marL="514350" indent="-514350" eaLnBrk="1" hangingPunct="1">
              <a:defRPr/>
            </a:pPr>
            <a:r>
              <a:rPr lang="fr-FR" sz="3200" dirty="0">
                <a:solidFill>
                  <a:srgbClr val="FF0000"/>
                </a:solidFill>
                <a:latin typeface="+mj-lt"/>
                <a:ea typeface="Batang" pitchFamily="18" charset="-127"/>
                <a:cs typeface="Times New Roman" pitchFamily="18" charset="0"/>
              </a:rPr>
              <a:t>Réponse : a  c</a:t>
            </a:r>
            <a:r>
              <a:rPr lang="fr-FR" sz="3200" b="0" dirty="0">
                <a:solidFill>
                  <a:srgbClr val="FF0000"/>
                </a:solidFill>
                <a:latin typeface="+mj-lt"/>
                <a:cs typeface="Arial"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1">
                                            <p:txEl>
                                              <p:pRg st="10" end="10"/>
                                            </p:txEl>
                                          </p:spTgt>
                                        </p:tgtEl>
                                        <p:attrNameLst>
                                          <p:attrName>style.visibility</p:attrName>
                                        </p:attrNameLst>
                                      </p:cBhvr>
                                      <p:to>
                                        <p:strVal val="visible"/>
                                      </p:to>
                                    </p:set>
                                    <p:animEffect transition="in" filter="blinds(horizontal)">
                                      <p:cBhvr>
                                        <p:cTn id="7" dur="500"/>
                                        <p:tgtEl>
                                          <p:spTgt spid="5632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
          <p:cNvSpPr>
            <a:spLocks noChangeArrowheads="1"/>
          </p:cNvSpPr>
          <p:nvPr/>
        </p:nvSpPr>
        <p:spPr bwMode="auto">
          <a:xfrm>
            <a:off x="285750" y="428625"/>
            <a:ext cx="8572500" cy="6186488"/>
          </a:xfrm>
          <a:prstGeom prst="rect">
            <a:avLst/>
          </a:prstGeom>
          <a:noFill/>
          <a:ln w="9525">
            <a:noFill/>
            <a:miter lim="800000"/>
            <a:headEnd/>
            <a:tailEnd/>
          </a:ln>
        </p:spPr>
        <p:txBody>
          <a:bodyPr>
            <a:spAutoFit/>
          </a:bodyPr>
          <a:lstStyle/>
          <a:p>
            <a:r>
              <a:rPr lang="fr-FR" altLang="fr-FR" sz="3600" dirty="0">
                <a:latin typeface="Times New Roman" pitchFamily="18" charset="0"/>
                <a:cs typeface="Times New Roman" pitchFamily="18" charset="0"/>
              </a:rPr>
              <a:t>La trisomie 21 est</a:t>
            </a:r>
          </a:p>
          <a:p>
            <a:r>
              <a:rPr lang="fr-FR" altLang="fr-FR" sz="3600" b="0" dirty="0">
                <a:latin typeface="Times New Roman" pitchFamily="18" charset="0"/>
                <a:cs typeface="Times New Roman" pitchFamily="18" charset="0"/>
              </a:rPr>
              <a:t/>
            </a:r>
            <a:br>
              <a:rPr lang="fr-FR" altLang="fr-FR" sz="3600" b="0" dirty="0">
                <a:latin typeface="Times New Roman" pitchFamily="18" charset="0"/>
                <a:cs typeface="Times New Roman" pitchFamily="18" charset="0"/>
              </a:rPr>
            </a:br>
            <a:r>
              <a:rPr lang="fr-FR" altLang="fr-FR" sz="3600" b="0" dirty="0">
                <a:latin typeface="Times New Roman" pitchFamily="18" charset="0"/>
                <a:cs typeface="Times New Roman" pitchFamily="18" charset="0"/>
              </a:rPr>
              <a:t>a- Une maladie génique</a:t>
            </a:r>
            <a:br>
              <a:rPr lang="fr-FR" altLang="fr-FR" sz="3600" b="0" dirty="0">
                <a:latin typeface="Times New Roman" pitchFamily="18" charset="0"/>
                <a:cs typeface="Times New Roman" pitchFamily="18" charset="0"/>
              </a:rPr>
            </a:br>
            <a:r>
              <a:rPr lang="fr-FR" altLang="fr-FR" sz="3600" b="0" dirty="0">
                <a:latin typeface="Times New Roman" pitchFamily="18" charset="0"/>
                <a:cs typeface="Times New Roman" pitchFamily="18" charset="0"/>
              </a:rPr>
              <a:t>b- Une anomalie chromosomique</a:t>
            </a:r>
            <a:br>
              <a:rPr lang="fr-FR" altLang="fr-FR" sz="3600" b="0" dirty="0">
                <a:latin typeface="Times New Roman" pitchFamily="18" charset="0"/>
                <a:cs typeface="Times New Roman" pitchFamily="18" charset="0"/>
              </a:rPr>
            </a:br>
            <a:r>
              <a:rPr lang="fr-FR" altLang="fr-FR" sz="3600" b="0" dirty="0">
                <a:latin typeface="Times New Roman" pitchFamily="18" charset="0"/>
                <a:cs typeface="Times New Roman" pitchFamily="18" charset="0"/>
              </a:rPr>
              <a:t>c- Due à un déroulement anormal de la méiose</a:t>
            </a:r>
            <a:br>
              <a:rPr lang="fr-FR" altLang="fr-FR" sz="3600" b="0" dirty="0">
                <a:latin typeface="Times New Roman" pitchFamily="18" charset="0"/>
                <a:cs typeface="Times New Roman" pitchFamily="18" charset="0"/>
              </a:rPr>
            </a:br>
            <a:r>
              <a:rPr lang="fr-FR" altLang="fr-FR" sz="3600" b="0" dirty="0">
                <a:latin typeface="Times New Roman" pitchFamily="18" charset="0"/>
                <a:cs typeface="Times New Roman" pitchFamily="18" charset="0"/>
              </a:rPr>
              <a:t>d- Due à un déroulement anormal de la grossesse</a:t>
            </a:r>
          </a:p>
          <a:p>
            <a:endParaRPr lang="fr-FR" altLang="fr-FR" sz="3600" b="0" dirty="0">
              <a:latin typeface="Times New Roman" pitchFamily="18" charset="0"/>
              <a:cs typeface="Times New Roman" pitchFamily="18" charset="0"/>
            </a:endParaRPr>
          </a:p>
          <a:p>
            <a:r>
              <a:rPr lang="fr-FR" altLang="fr-FR" sz="3600" b="0" dirty="0">
                <a:solidFill>
                  <a:srgbClr val="FF0000"/>
                </a:solidFill>
                <a:latin typeface="Times New Roman" pitchFamily="18" charset="0"/>
                <a:cs typeface="Times New Roman" pitchFamily="18" charset="0"/>
              </a:rPr>
              <a:t>Réponse : b c</a:t>
            </a:r>
            <a:br>
              <a:rPr lang="fr-FR" altLang="fr-FR" sz="3600" b="0" dirty="0">
                <a:solidFill>
                  <a:srgbClr val="FF0000"/>
                </a:solidFill>
                <a:latin typeface="Times New Roman" pitchFamily="18" charset="0"/>
                <a:cs typeface="Times New Roman" pitchFamily="18" charset="0"/>
              </a:rPr>
            </a:br>
            <a:endParaRPr lang="fr-FR" altLang="fr-FR" sz="3600" b="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698">
                                            <p:txEl>
                                              <p:pRg st="3" end="3"/>
                                            </p:txEl>
                                          </p:spTgt>
                                        </p:tgtEl>
                                        <p:attrNameLst>
                                          <p:attrName>style.visibility</p:attrName>
                                        </p:attrNameLst>
                                      </p:cBhvr>
                                      <p:to>
                                        <p:strVal val="visible"/>
                                      </p:to>
                                    </p:set>
                                    <p:animEffect transition="in" filter="blinds(horizontal)">
                                      <p:cBhvr>
                                        <p:cTn id="7" dur="500"/>
                                        <p:tgtEl>
                                          <p:spTgt spid="1576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1"/>
          <p:cNvSpPr>
            <a:spLocks noChangeArrowheads="1"/>
          </p:cNvSpPr>
          <p:nvPr/>
        </p:nvSpPr>
        <p:spPr bwMode="auto">
          <a:xfrm>
            <a:off x="214313" y="500063"/>
            <a:ext cx="8429625" cy="6002337"/>
          </a:xfrm>
          <a:prstGeom prst="rect">
            <a:avLst/>
          </a:prstGeom>
          <a:noFill/>
          <a:ln w="9525">
            <a:noFill/>
            <a:miter lim="800000"/>
            <a:headEnd/>
            <a:tailEnd/>
          </a:ln>
        </p:spPr>
        <p:txBody>
          <a:bodyPr>
            <a:spAutoFit/>
          </a:bodyPr>
          <a:lstStyle/>
          <a:p>
            <a:r>
              <a:rPr lang="fr-FR" altLang="fr-FR" sz="3200" dirty="0">
                <a:latin typeface="Times New Roman" pitchFamily="18" charset="0"/>
                <a:cs typeface="Times New Roman" pitchFamily="18" charset="0"/>
              </a:rPr>
              <a:t>Si le spermatozoïde fécondant comporte deux chromosomes n° 21 et un chromosome sexuel X, l’enfant obtenu est</a:t>
            </a:r>
          </a:p>
          <a:p>
            <a:r>
              <a:rPr lang="fr-FR" altLang="fr-FR" sz="3200" dirty="0">
                <a:latin typeface="Times New Roman" pitchFamily="18" charset="0"/>
                <a:cs typeface="Times New Roman" pitchFamily="18" charset="0"/>
              </a:rPr>
              <a:t/>
            </a:r>
            <a:br>
              <a:rPr lang="fr-FR" altLang="fr-FR" sz="320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a- Un garçon normal</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b- Une fille normale</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c- Un garçon trisomique</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d- Une fille trisomique</a:t>
            </a:r>
          </a:p>
          <a:p>
            <a:endParaRPr lang="fr-FR" altLang="fr-FR" sz="3200" b="0" dirty="0">
              <a:latin typeface="Times New Roman" pitchFamily="18" charset="0"/>
              <a:cs typeface="Times New Roman" pitchFamily="18" charset="0"/>
            </a:endParaRPr>
          </a:p>
          <a:p>
            <a:endParaRPr lang="fr-FR" altLang="fr-FR" sz="3200" b="0" dirty="0">
              <a:latin typeface="Times New Roman" pitchFamily="18" charset="0"/>
              <a:cs typeface="Times New Roman" pitchFamily="18" charset="0"/>
            </a:endParaRPr>
          </a:p>
          <a:p>
            <a:r>
              <a:rPr lang="fr-FR" altLang="fr-FR" sz="3200" b="0" dirty="0">
                <a:solidFill>
                  <a:srgbClr val="FF0000"/>
                </a:solidFill>
                <a:latin typeface="Times New Roman" pitchFamily="18" charset="0"/>
                <a:cs typeface="Times New Roman" pitchFamily="18" charset="0"/>
              </a:rPr>
              <a:t>Réponse : d</a:t>
            </a:r>
            <a:r>
              <a:rPr lang="fr-FR" altLang="fr-FR" sz="3200" b="0" dirty="0">
                <a:latin typeface="Times New Roman" pitchFamily="18" charset="0"/>
                <a:cs typeface="Times New Roman" pitchFamily="18" charset="0"/>
              </a:rPr>
              <a:t/>
            </a:r>
            <a:br>
              <a:rPr lang="fr-FR" altLang="fr-FR" sz="3200" b="0" dirty="0">
                <a:latin typeface="Times New Roman" pitchFamily="18" charset="0"/>
                <a:cs typeface="Times New Roman" pitchFamily="18" charset="0"/>
              </a:rPr>
            </a:br>
            <a:endParaRPr lang="fr-FR" altLang="fr-FR" sz="3200" b="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2">
                                            <p:txEl>
                                              <p:pRg st="4" end="4"/>
                                            </p:txEl>
                                          </p:spTgt>
                                        </p:tgtEl>
                                        <p:attrNameLst>
                                          <p:attrName>style.visibility</p:attrName>
                                        </p:attrNameLst>
                                      </p:cBhvr>
                                      <p:to>
                                        <p:strVal val="visible"/>
                                      </p:to>
                                    </p:set>
                                    <p:animEffect transition="in" filter="blinds(horizontal)">
                                      <p:cBhvr>
                                        <p:cTn id="7" dur="500"/>
                                        <p:tgtEl>
                                          <p:spTgt spid="1587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
          <p:cNvSpPr>
            <a:spLocks noChangeArrowheads="1"/>
          </p:cNvSpPr>
          <p:nvPr/>
        </p:nvSpPr>
        <p:spPr bwMode="auto">
          <a:xfrm>
            <a:off x="0" y="0"/>
            <a:ext cx="9144000" cy="6002338"/>
          </a:xfrm>
          <a:prstGeom prst="rect">
            <a:avLst/>
          </a:prstGeom>
          <a:noFill/>
          <a:ln w="9525">
            <a:noFill/>
            <a:miter lim="800000"/>
            <a:headEnd/>
            <a:tailEnd/>
          </a:ln>
        </p:spPr>
        <p:txBody>
          <a:bodyPr anchor="ctr">
            <a:spAutoFit/>
          </a:bodyPr>
          <a:lstStyle/>
          <a:p>
            <a:pPr eaLnBrk="1" hangingPunct="1"/>
            <a:r>
              <a:rPr lang="fr-FR" altLang="fr-FR" sz="3200" dirty="0">
                <a:latin typeface="Times New Roman" pitchFamily="18" charset="0"/>
                <a:cs typeface="Times New Roman" pitchFamily="18" charset="0"/>
              </a:rPr>
              <a:t>On appelle homozygote pour un gène :</a:t>
            </a:r>
          </a:p>
          <a:p>
            <a:pPr eaLnBrk="1" hangingPunct="1"/>
            <a:r>
              <a:rPr lang="fr-FR" altLang="fr-FR" sz="3200" b="0" dirty="0">
                <a:latin typeface="Times New Roman" pitchFamily="18" charset="0"/>
                <a:cs typeface="Times New Roman" pitchFamily="18" charset="0"/>
              </a:rPr>
              <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a. des individus ayant le même phénotype déterminé par ce gène.</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b. des individus ayant un même allèle du gène en deux exemplaires.</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c. des individus ayant au moins un allèle récessif du gène.</a:t>
            </a:r>
            <a:br>
              <a:rPr lang="fr-FR" altLang="fr-FR" sz="3200" b="0" dirty="0">
                <a:latin typeface="Times New Roman" pitchFamily="18" charset="0"/>
                <a:cs typeface="Times New Roman" pitchFamily="18" charset="0"/>
              </a:rPr>
            </a:br>
            <a:r>
              <a:rPr lang="fr-FR" altLang="fr-FR" sz="3200" b="0" dirty="0">
                <a:latin typeface="Times New Roman" pitchFamily="18" charset="0"/>
                <a:cs typeface="Times New Roman" pitchFamily="18" charset="0"/>
              </a:rPr>
              <a:t>d. des individus présentant une seule forme </a:t>
            </a:r>
            <a:r>
              <a:rPr lang="fr-FR" altLang="fr-FR" sz="3200" b="0" dirty="0" err="1">
                <a:latin typeface="Times New Roman" pitchFamily="18" charset="0"/>
                <a:cs typeface="Times New Roman" pitchFamily="18" charset="0"/>
              </a:rPr>
              <a:t>allélique</a:t>
            </a:r>
            <a:r>
              <a:rPr lang="fr-FR" altLang="fr-FR" sz="3200" b="0" dirty="0">
                <a:latin typeface="Times New Roman" pitchFamily="18" charset="0"/>
                <a:cs typeface="Times New Roman" pitchFamily="18" charset="0"/>
              </a:rPr>
              <a:t> du gène.</a:t>
            </a:r>
          </a:p>
          <a:p>
            <a:pPr eaLnBrk="1" hangingPunct="1"/>
            <a:endParaRPr lang="fr-FR" altLang="fr-FR" sz="3200" b="0" dirty="0">
              <a:latin typeface="Times New Roman" pitchFamily="18" charset="0"/>
              <a:cs typeface="Times New Roman" pitchFamily="18" charset="0"/>
            </a:endParaRPr>
          </a:p>
          <a:p>
            <a:pPr eaLnBrk="1" hangingPunct="1"/>
            <a:r>
              <a:rPr lang="fr-FR" altLang="fr-FR" sz="3200" b="0" dirty="0">
                <a:solidFill>
                  <a:srgbClr val="FF0000"/>
                </a:solidFill>
                <a:latin typeface="Times New Roman" pitchFamily="18" charset="0"/>
                <a:cs typeface="Times New Roman" pitchFamily="18" charset="0"/>
              </a:rPr>
              <a:t>Réponse : b  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0770">
                                            <p:txEl>
                                              <p:pRg st="3" end="3"/>
                                            </p:txEl>
                                          </p:spTgt>
                                        </p:tgtEl>
                                        <p:attrNameLst>
                                          <p:attrName>style.visibility</p:attrName>
                                        </p:attrNameLst>
                                      </p:cBhvr>
                                      <p:to>
                                        <p:strVal val="visible"/>
                                      </p:to>
                                    </p:set>
                                    <p:animEffect transition="in" filter="blinds(horizontal)">
                                      <p:cBhvr>
                                        <p:cTn id="7" dur="500"/>
                                        <p:tgtEl>
                                          <p:spTgt spid="1607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7072338"/>
          </a:xfrm>
        </p:spPr>
        <p:txBody>
          <a:bodyPr/>
          <a:lstStyle/>
          <a:p>
            <a:pPr lvl="0">
              <a:buNone/>
            </a:pPr>
            <a:r>
              <a:rPr lang="fr-FR" b="1" dirty="0" smtClean="0"/>
              <a:t>Une anomalie récessive liée au chromosome sexuel X est transmise </a:t>
            </a:r>
          </a:p>
          <a:p>
            <a:pPr lvl="0">
              <a:buNone/>
            </a:pPr>
            <a:r>
              <a:rPr lang="fr-FR" b="1" dirty="0" smtClean="0"/>
              <a:t/>
            </a:r>
            <a:br>
              <a:rPr lang="fr-FR" b="1" dirty="0" smtClean="0"/>
            </a:br>
            <a:r>
              <a:rPr lang="fr-FR" dirty="0" smtClean="0"/>
              <a:t>a- Des parents phénotypiquement sains à tous les garçons</a:t>
            </a:r>
            <a:br>
              <a:rPr lang="fr-FR" dirty="0" smtClean="0"/>
            </a:br>
            <a:r>
              <a:rPr lang="fr-FR" dirty="0" smtClean="0"/>
              <a:t>b- D’une mère phénotypiquement saine à tous ses fils</a:t>
            </a:r>
            <a:br>
              <a:rPr lang="fr-FR" dirty="0" smtClean="0"/>
            </a:br>
            <a:r>
              <a:rPr lang="fr-FR" dirty="0" smtClean="0"/>
              <a:t>c- D’un père phénotypiquement atteint à ses fils</a:t>
            </a:r>
            <a:br>
              <a:rPr lang="fr-FR" dirty="0" smtClean="0"/>
            </a:br>
            <a:r>
              <a:rPr lang="fr-FR" dirty="0" smtClean="0"/>
              <a:t>d- D’une mère atteinte à tous ses garçons</a:t>
            </a:r>
          </a:p>
          <a:p>
            <a:endParaRPr lang="fr-FR" dirty="0" smtClean="0"/>
          </a:p>
          <a:p>
            <a:r>
              <a:rPr lang="fr-FR" dirty="0" smtClean="0"/>
              <a:t>Réponse : 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Dans le cas d’une anomalie héréditaire, si un couple atteint a donné une fille saine, l’anomalie est</a:t>
            </a:r>
            <a:r>
              <a:rPr lang="fr-FR" dirty="0" smtClean="0"/>
              <a:t/>
            </a:r>
            <a:br>
              <a:rPr lang="fr-FR" dirty="0" smtClean="0"/>
            </a:br>
            <a:r>
              <a:rPr lang="fr-FR" dirty="0" smtClean="0"/>
              <a:t>a- Récessive </a:t>
            </a:r>
            <a:r>
              <a:rPr lang="fr-FR" dirty="0" err="1" smtClean="0"/>
              <a:t>autosomale</a:t>
            </a:r>
            <a:r>
              <a:rPr lang="fr-FR" dirty="0" smtClean="0"/>
              <a:t/>
            </a:r>
            <a:br>
              <a:rPr lang="fr-FR" dirty="0" smtClean="0"/>
            </a:br>
            <a:r>
              <a:rPr lang="fr-FR" dirty="0" smtClean="0"/>
              <a:t>b- Récessive liée au sexe</a:t>
            </a:r>
            <a:br>
              <a:rPr lang="fr-FR" dirty="0" smtClean="0"/>
            </a:br>
            <a:r>
              <a:rPr lang="fr-FR" dirty="0" smtClean="0"/>
              <a:t>c- Dominante </a:t>
            </a:r>
            <a:r>
              <a:rPr lang="fr-FR" dirty="0" err="1" smtClean="0"/>
              <a:t>autosomale</a:t>
            </a:r>
            <a:r>
              <a:rPr lang="fr-FR" dirty="0" smtClean="0"/>
              <a:t/>
            </a:r>
            <a:br>
              <a:rPr lang="fr-FR" dirty="0" smtClean="0"/>
            </a:br>
            <a:r>
              <a:rPr lang="fr-FR" dirty="0" smtClean="0"/>
              <a:t>d- Dominante liée au sexe</a:t>
            </a:r>
          </a:p>
          <a:p>
            <a:endParaRPr lang="fr-FR" dirty="0" smtClean="0"/>
          </a:p>
          <a:p>
            <a:r>
              <a:rPr lang="fr-FR" dirty="0" smtClean="0"/>
              <a:t>Réponse : c</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 Dans le cas d’un gène récessif lié à X</a:t>
            </a:r>
            <a:br>
              <a:rPr lang="fr-FR" b="1" dirty="0" smtClean="0"/>
            </a:br>
            <a:r>
              <a:rPr lang="fr-FR" dirty="0" smtClean="0"/>
              <a:t>a- Les enfants d’un couple sain sont toujours sains</a:t>
            </a:r>
            <a:br>
              <a:rPr lang="fr-FR" dirty="0" smtClean="0"/>
            </a:br>
            <a:r>
              <a:rPr lang="fr-FR" dirty="0" smtClean="0"/>
              <a:t>b- Les enfants d’un couple atteint sont toujours atteints</a:t>
            </a:r>
            <a:br>
              <a:rPr lang="fr-FR" dirty="0" smtClean="0"/>
            </a:br>
            <a:r>
              <a:rPr lang="fr-FR" dirty="0" smtClean="0"/>
              <a:t>c- Les garçons d’un couple sain sont toujours sains</a:t>
            </a:r>
            <a:br>
              <a:rPr lang="fr-FR" dirty="0" smtClean="0"/>
            </a:br>
            <a:r>
              <a:rPr lang="fr-FR" dirty="0" smtClean="0"/>
              <a:t>d- Les filles d’un couple sain sont toujours saines</a:t>
            </a:r>
          </a:p>
          <a:p>
            <a:endParaRPr lang="fr-FR" dirty="0" smtClean="0"/>
          </a:p>
          <a:p>
            <a:r>
              <a:rPr lang="fr-FR" dirty="0" smtClean="0"/>
              <a:t>Réponse : b, d</a:t>
            </a:r>
          </a:p>
          <a:p>
            <a:pPr>
              <a:buNone/>
            </a:pP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La trisomie 21 </a:t>
            </a:r>
            <a:br>
              <a:rPr lang="fr-FR" b="1" dirty="0" smtClean="0"/>
            </a:br>
            <a:r>
              <a:rPr lang="fr-FR" dirty="0" smtClean="0"/>
              <a:t>a- Est surtout d’origine paternelle</a:t>
            </a:r>
            <a:br>
              <a:rPr lang="fr-FR" dirty="0" smtClean="0"/>
            </a:br>
            <a:r>
              <a:rPr lang="fr-FR" dirty="0" smtClean="0"/>
              <a:t>b- Est due essentiellement à une division équationnelle anormale</a:t>
            </a:r>
            <a:br>
              <a:rPr lang="fr-FR" dirty="0" smtClean="0"/>
            </a:br>
            <a:r>
              <a:rPr lang="fr-FR" dirty="0" smtClean="0"/>
              <a:t>c- Est due essentiellement à une division réductionnelle anormale</a:t>
            </a:r>
            <a:br>
              <a:rPr lang="fr-FR" dirty="0" smtClean="0"/>
            </a:br>
            <a:r>
              <a:rPr lang="fr-FR" dirty="0" smtClean="0"/>
              <a:t>d- Est surtout d’origine maternelle </a:t>
            </a:r>
          </a:p>
          <a:p>
            <a:endParaRPr lang="fr-FR" dirty="0" smtClean="0"/>
          </a:p>
          <a:p>
            <a:r>
              <a:rPr lang="fr-FR" dirty="0" smtClean="0"/>
              <a:t>Réponse : c, d</a:t>
            </a:r>
          </a:p>
          <a:p>
            <a:pPr>
              <a:buNone/>
            </a:pPr>
            <a:endParaRPr lang="fr-FR"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 Une maladie dominante </a:t>
            </a:r>
            <a:r>
              <a:rPr lang="fr-FR" b="1" dirty="0" err="1" smtClean="0"/>
              <a:t>autosomale</a:t>
            </a:r>
            <a:r>
              <a:rPr lang="fr-FR" b="1" dirty="0" smtClean="0"/>
              <a:t/>
            </a:r>
            <a:br>
              <a:rPr lang="fr-FR" b="1" dirty="0" smtClean="0"/>
            </a:br>
            <a:r>
              <a:rPr lang="fr-FR" dirty="0" smtClean="0"/>
              <a:t>a- Ne s’exprime que chez les sujets portant l’allèle muté à l’état homozygote</a:t>
            </a:r>
            <a:br>
              <a:rPr lang="fr-FR" dirty="0" smtClean="0"/>
            </a:br>
            <a:r>
              <a:rPr lang="fr-FR" dirty="0" smtClean="0"/>
              <a:t>b- Se manifeste chez le père ou la mère d’un sujet atteint</a:t>
            </a:r>
            <a:br>
              <a:rPr lang="fr-FR" dirty="0" smtClean="0"/>
            </a:br>
            <a:r>
              <a:rPr lang="fr-FR" dirty="0" smtClean="0"/>
              <a:t>c- S’exprime chez tous les enfants ayant un parent malade</a:t>
            </a:r>
            <a:br>
              <a:rPr lang="fr-FR" dirty="0" smtClean="0"/>
            </a:br>
            <a:r>
              <a:rPr lang="fr-FR" dirty="0" smtClean="0"/>
              <a:t>d- S’exprime chez tous les enfants d’un couple atteint</a:t>
            </a:r>
          </a:p>
          <a:p>
            <a:endParaRPr lang="fr-FR" dirty="0" smtClean="0"/>
          </a:p>
          <a:p>
            <a:r>
              <a:rPr lang="fr-FR" dirty="0" smtClean="0"/>
              <a:t>Réponse : b</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 L’analyse d’ADN d’un père atteint d’une maladie héréditaire montre qu’il présente l’allèle normal et l’allèle muté. Cette maladie est</a:t>
            </a:r>
            <a:br>
              <a:rPr lang="fr-FR" b="1" dirty="0" smtClean="0"/>
            </a:br>
            <a:r>
              <a:rPr lang="fr-FR" dirty="0" smtClean="0"/>
              <a:t>a- Récessive </a:t>
            </a:r>
            <a:r>
              <a:rPr lang="fr-FR" dirty="0" err="1" smtClean="0"/>
              <a:t>autosomale</a:t>
            </a:r>
            <a:r>
              <a:rPr lang="fr-FR" dirty="0" smtClean="0"/>
              <a:t/>
            </a:r>
            <a:br>
              <a:rPr lang="fr-FR" dirty="0" smtClean="0"/>
            </a:br>
            <a:r>
              <a:rPr lang="fr-FR" dirty="0" smtClean="0"/>
              <a:t>b- Dominante </a:t>
            </a:r>
            <a:r>
              <a:rPr lang="fr-FR" dirty="0" err="1" smtClean="0"/>
              <a:t>autosomale</a:t>
            </a:r>
            <a:r>
              <a:rPr lang="fr-FR" dirty="0" smtClean="0"/>
              <a:t/>
            </a:r>
            <a:br>
              <a:rPr lang="fr-FR" dirty="0" smtClean="0"/>
            </a:br>
            <a:r>
              <a:rPr lang="fr-FR" dirty="0" smtClean="0"/>
              <a:t>c- Dominante lié à X</a:t>
            </a:r>
            <a:br>
              <a:rPr lang="fr-FR" dirty="0" smtClean="0"/>
            </a:br>
            <a:r>
              <a:rPr lang="fr-FR" dirty="0" smtClean="0"/>
              <a:t>d- Récessive lié à X</a:t>
            </a:r>
          </a:p>
          <a:p>
            <a:endParaRPr lang="fr-FR" dirty="0" smtClean="0"/>
          </a:p>
          <a:p>
            <a:r>
              <a:rPr lang="fr-FR" dirty="0" smtClean="0"/>
              <a:t>Réponse : b</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Un sujet hétérozygote pour un gène pathologique dominant à pénétrance complète:</a:t>
            </a:r>
            <a:endParaRPr lang="fr-FR" dirty="0" smtClean="0"/>
          </a:p>
          <a:p>
            <a:pPr lvl="0">
              <a:buNone/>
            </a:pPr>
            <a:r>
              <a:rPr lang="fr-FR" dirty="0" smtClean="0"/>
              <a:t>A- Est porteur sain de la maladie</a:t>
            </a:r>
          </a:p>
          <a:p>
            <a:pPr lvl="0">
              <a:buNone/>
            </a:pPr>
            <a:r>
              <a:rPr lang="fr-FR" dirty="0" smtClean="0"/>
              <a:t>B-Présente un génotype normal</a:t>
            </a:r>
          </a:p>
          <a:p>
            <a:pPr lvl="0">
              <a:buNone/>
            </a:pPr>
            <a:r>
              <a:rPr lang="fr-FR" dirty="0" err="1" smtClean="0"/>
              <a:t>C-Présente</a:t>
            </a:r>
            <a:r>
              <a:rPr lang="fr-FR" dirty="0" smtClean="0"/>
              <a:t> un phénotype normal</a:t>
            </a:r>
          </a:p>
          <a:p>
            <a:pPr lvl="0">
              <a:buNone/>
            </a:pPr>
            <a:r>
              <a:rPr lang="fr-FR" dirty="0" err="1" smtClean="0"/>
              <a:t>D-Est</a:t>
            </a:r>
            <a:r>
              <a:rPr lang="fr-FR" dirty="0" smtClean="0"/>
              <a:t> malade</a:t>
            </a:r>
          </a:p>
          <a:p>
            <a:pPr>
              <a:buNone/>
            </a:pPr>
            <a:r>
              <a:rPr lang="fr-FR" dirty="0" smtClean="0"/>
              <a:t> </a:t>
            </a:r>
          </a:p>
          <a:p>
            <a:r>
              <a:rPr lang="fr-FR" dirty="0" smtClean="0"/>
              <a:t>Réponse : d</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A laquelle des propositions suivantes correspond la définition d’un locus</a:t>
            </a:r>
            <a:endParaRPr lang="fr-FR" dirty="0" smtClean="0"/>
          </a:p>
          <a:p>
            <a:pPr lvl="0">
              <a:buNone/>
            </a:pPr>
            <a:r>
              <a:rPr lang="fr-FR" dirty="0" smtClean="0"/>
              <a:t>A-Ensemble de gènes responsables d’une malformation congénitale </a:t>
            </a:r>
          </a:p>
          <a:p>
            <a:pPr lvl="0">
              <a:buNone/>
            </a:pPr>
            <a:r>
              <a:rPr lang="fr-FR" dirty="0" smtClean="0"/>
              <a:t>B-Variante d’un gène donné </a:t>
            </a:r>
          </a:p>
          <a:p>
            <a:pPr lvl="0">
              <a:buNone/>
            </a:pPr>
            <a:r>
              <a:rPr lang="fr-FR" dirty="0" smtClean="0"/>
              <a:t>C-Position d’un gène sur un chromosome </a:t>
            </a:r>
          </a:p>
          <a:p>
            <a:pPr lvl="0">
              <a:buNone/>
            </a:pPr>
            <a:r>
              <a:rPr lang="fr-FR" dirty="0" smtClean="0"/>
              <a:t>D-Ensemble des gènes d’une cellule</a:t>
            </a:r>
          </a:p>
          <a:p>
            <a:endParaRPr lang="fr-FR" dirty="0" smtClean="0"/>
          </a:p>
          <a:p>
            <a:r>
              <a:rPr lang="fr-FR" dirty="0" smtClean="0"/>
              <a:t>Réponse : c</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Les chromosomes :</a:t>
            </a:r>
            <a:endParaRPr lang="fr-FR" dirty="0" smtClean="0"/>
          </a:p>
          <a:p>
            <a:pPr>
              <a:buNone/>
            </a:pPr>
            <a:r>
              <a:rPr lang="fr-FR" dirty="0" smtClean="0"/>
              <a:t>a. sont toujours visibles dans le noyau d'une cellule, </a:t>
            </a:r>
          </a:p>
          <a:p>
            <a:pPr>
              <a:buNone/>
            </a:pPr>
            <a:r>
              <a:rPr lang="fr-FR" dirty="0" smtClean="0"/>
              <a:t>b. peuvent être classés par paires, </a:t>
            </a:r>
          </a:p>
          <a:p>
            <a:pPr>
              <a:buNone/>
            </a:pPr>
            <a:r>
              <a:rPr lang="fr-FR" dirty="0" smtClean="0"/>
              <a:t>c. sont le support de l'information génétique, </a:t>
            </a:r>
          </a:p>
          <a:p>
            <a:pPr>
              <a:buNone/>
            </a:pPr>
            <a:r>
              <a:rPr lang="fr-FR" dirty="0" smtClean="0"/>
              <a:t>d. ne sont visibles que lorsque la cellule se divise.</a:t>
            </a:r>
          </a:p>
          <a:p>
            <a:endParaRPr lang="fr-FR" dirty="0" smtClean="0"/>
          </a:p>
          <a:p>
            <a:r>
              <a:rPr lang="fr-FR" dirty="0" smtClean="0"/>
              <a:t>Réponse : b c d</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Un gène :</a:t>
            </a:r>
            <a:endParaRPr lang="fr-FR" dirty="0" smtClean="0"/>
          </a:p>
          <a:p>
            <a:pPr>
              <a:buNone/>
            </a:pPr>
            <a:r>
              <a:rPr lang="fr-FR" dirty="0" smtClean="0"/>
              <a:t>a. correspond à un chromosome, </a:t>
            </a:r>
          </a:p>
          <a:p>
            <a:pPr>
              <a:buNone/>
            </a:pPr>
            <a:r>
              <a:rPr lang="fr-FR" dirty="0" smtClean="0"/>
              <a:t>b. est une portion d'ADN, </a:t>
            </a:r>
          </a:p>
          <a:p>
            <a:pPr>
              <a:buNone/>
            </a:pPr>
            <a:r>
              <a:rPr lang="fr-FR" dirty="0" smtClean="0"/>
              <a:t>c. détermine l'expression d'un caractère héréditaire, </a:t>
            </a:r>
          </a:p>
          <a:p>
            <a:pPr>
              <a:buNone/>
            </a:pPr>
            <a:r>
              <a:rPr lang="fr-FR" dirty="0" smtClean="0"/>
              <a:t>d. occupe les mêmes positions sur chacun des deux chromosomes d'une paire.</a:t>
            </a:r>
          </a:p>
          <a:p>
            <a:endParaRPr lang="fr-FR" dirty="0" smtClean="0"/>
          </a:p>
          <a:p>
            <a:r>
              <a:rPr lang="fr-FR" dirty="0" smtClean="0"/>
              <a:t>Réponse : b c d</a:t>
            </a:r>
          </a:p>
          <a:p>
            <a:endParaRPr lang="fr-FR" dirty="0" smtClean="0"/>
          </a:p>
          <a:p>
            <a:pPr>
              <a:buNone/>
            </a:pP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5107577"/>
          </a:xfrm>
        </p:spPr>
        <p:txBody>
          <a:bodyPr/>
          <a:lstStyle/>
          <a:p>
            <a:pPr lvl="0">
              <a:buNone/>
            </a:pPr>
            <a:r>
              <a:rPr lang="fr-FR" b="1" dirty="0" smtClean="0"/>
              <a:t>Une femme </a:t>
            </a:r>
            <a:r>
              <a:rPr lang="fr-FR" b="1" dirty="0" err="1" smtClean="0"/>
              <a:t>phénylcétonurique</a:t>
            </a:r>
            <a:r>
              <a:rPr lang="fr-FR" b="1" dirty="0" smtClean="0"/>
              <a:t> (AR) traitée épouse un homme hétérozygote pour la phénylcétonurie. Quel pourcentage d’enfants nés de cette union auront un génotype normal? </a:t>
            </a:r>
            <a:endParaRPr lang="fr-FR" sz="2800" dirty="0" smtClean="0"/>
          </a:p>
          <a:p>
            <a:pPr lvl="1">
              <a:buNone/>
            </a:pPr>
            <a:r>
              <a:rPr lang="fr-FR" dirty="0" smtClean="0"/>
              <a:t>A- 0% </a:t>
            </a:r>
            <a:endParaRPr lang="fr-FR" sz="2400" dirty="0" smtClean="0"/>
          </a:p>
          <a:p>
            <a:pPr lvl="1">
              <a:buNone/>
            </a:pPr>
            <a:r>
              <a:rPr lang="fr-FR" dirty="0" smtClean="0"/>
              <a:t>B- 100 % </a:t>
            </a:r>
            <a:endParaRPr lang="fr-FR" sz="2400" dirty="0" smtClean="0"/>
          </a:p>
          <a:p>
            <a:pPr lvl="1">
              <a:buNone/>
            </a:pPr>
            <a:r>
              <a:rPr lang="fr-FR" dirty="0" smtClean="0"/>
              <a:t>C-25% </a:t>
            </a:r>
            <a:endParaRPr lang="fr-FR" sz="2400" dirty="0" smtClean="0"/>
          </a:p>
          <a:p>
            <a:pPr lvl="1">
              <a:buNone/>
            </a:pPr>
            <a:r>
              <a:rPr lang="fr-FR" dirty="0" smtClean="0"/>
              <a:t>D-50 % </a:t>
            </a:r>
          </a:p>
          <a:p>
            <a:pPr lvl="1">
              <a:buNone/>
            </a:pPr>
            <a:endParaRPr lang="fr-FR" sz="2400" dirty="0" smtClean="0"/>
          </a:p>
          <a:p>
            <a:r>
              <a:rPr lang="fr-FR" dirty="0" smtClean="0"/>
              <a:t>Réponse : a</a:t>
            </a:r>
            <a:endParaRPr lang="fr-FR" sz="2800" dirty="0" smtClean="0"/>
          </a:p>
        </p:txBody>
      </p:sp>
      <p:graphicFrame>
        <p:nvGraphicFramePr>
          <p:cNvPr id="4" name="Tableau 3"/>
          <p:cNvGraphicFramePr>
            <a:graphicFrameLocks noGrp="1"/>
          </p:cNvGraphicFramePr>
          <p:nvPr/>
        </p:nvGraphicFramePr>
        <p:xfrm>
          <a:off x="2648893" y="4771222"/>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err="1">
                          <a:latin typeface="Times New Roman"/>
                          <a:ea typeface="Calibri"/>
                          <a:cs typeface="Arial"/>
                        </a:rPr>
                        <a:t>a</a:t>
                      </a:r>
                      <a:r>
                        <a:rPr lang="fr-FR" sz="2000" dirty="0" err="1" smtClean="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err="1">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Les termes de : pénétrance et expressivité se rapportent spécialement au mode de transmission </a:t>
            </a:r>
            <a:endParaRPr lang="fr-FR" sz="2800" dirty="0" smtClean="0"/>
          </a:p>
          <a:p>
            <a:pPr lvl="1">
              <a:buNone/>
            </a:pPr>
            <a:r>
              <a:rPr lang="fr-FR" dirty="0" smtClean="0"/>
              <a:t>A-Autosomique dominant </a:t>
            </a:r>
            <a:endParaRPr lang="fr-FR" sz="2400" dirty="0" smtClean="0"/>
          </a:p>
          <a:p>
            <a:pPr lvl="1">
              <a:buNone/>
            </a:pPr>
            <a:r>
              <a:rPr lang="fr-FR" dirty="0" smtClean="0"/>
              <a:t>B-Autosomique récessif </a:t>
            </a:r>
            <a:endParaRPr lang="fr-FR" sz="2400" dirty="0" smtClean="0"/>
          </a:p>
          <a:p>
            <a:pPr lvl="1">
              <a:buNone/>
            </a:pPr>
            <a:r>
              <a:rPr lang="fr-FR" dirty="0" smtClean="0"/>
              <a:t>C-Lié à X </a:t>
            </a:r>
            <a:endParaRPr lang="fr-FR" sz="2400" dirty="0" smtClean="0"/>
          </a:p>
          <a:p>
            <a:pPr lvl="1">
              <a:buNone/>
            </a:pPr>
            <a:r>
              <a:rPr lang="fr-FR" dirty="0" smtClean="0"/>
              <a:t>D-Plurifactoriel </a:t>
            </a:r>
          </a:p>
          <a:p>
            <a:pPr lvl="1">
              <a:buNone/>
            </a:pPr>
            <a:endParaRPr lang="fr-FR" sz="2400" dirty="0" smtClean="0"/>
          </a:p>
          <a:p>
            <a:r>
              <a:rPr lang="fr-FR" dirty="0" smtClean="0"/>
              <a:t>Réponse : a</a:t>
            </a:r>
            <a:endParaRPr lang="fr-FR" sz="2800" dirty="0" smtClean="0"/>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6858000"/>
          </a:xfrm>
        </p:spPr>
        <p:txBody>
          <a:bodyPr/>
          <a:lstStyle/>
          <a:p>
            <a:pPr lvl="0">
              <a:buNone/>
            </a:pPr>
            <a:r>
              <a:rPr lang="fr-FR" b="1" dirty="0" smtClean="0"/>
              <a:t>La reproduction sexuée :</a:t>
            </a:r>
            <a:endParaRPr lang="fr-FR" dirty="0" smtClean="0"/>
          </a:p>
          <a:p>
            <a:pPr>
              <a:buNone/>
            </a:pPr>
            <a:r>
              <a:rPr lang="fr-FR" dirty="0" smtClean="0"/>
              <a:t>a. conserve le caryotype de l'espèce, </a:t>
            </a:r>
          </a:p>
          <a:p>
            <a:pPr>
              <a:buNone/>
            </a:pPr>
            <a:r>
              <a:rPr lang="fr-FR" dirty="0" smtClean="0"/>
              <a:t>b. réunit au hasard les chromosomes maternels et paternels, </a:t>
            </a:r>
          </a:p>
          <a:p>
            <a:pPr>
              <a:buNone/>
            </a:pPr>
            <a:r>
              <a:rPr lang="fr-FR" dirty="0" smtClean="0"/>
              <a:t>c. conserve les caractères des parents de génération en génération, </a:t>
            </a:r>
          </a:p>
          <a:p>
            <a:pPr>
              <a:buNone/>
            </a:pPr>
            <a:r>
              <a:rPr lang="fr-FR" dirty="0" smtClean="0"/>
              <a:t>d. permet aux enfants d'avoir des caractères différents de leurs parents.</a:t>
            </a:r>
          </a:p>
          <a:p>
            <a:endParaRPr lang="fr-FR" dirty="0" smtClean="0"/>
          </a:p>
          <a:p>
            <a:r>
              <a:rPr lang="fr-FR" dirty="0" smtClean="0"/>
              <a:t>Réponse : a b d</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3785652"/>
          </a:xfrm>
          <a:prstGeom prst="rect">
            <a:avLst/>
          </a:prstGeom>
        </p:spPr>
        <p:txBody>
          <a:bodyPr wrap="square">
            <a:spAutoFit/>
          </a:bodyPr>
          <a:lstStyle/>
          <a:p>
            <a:r>
              <a:rPr lang="fr-FR" sz="2400" b="1" dirty="0" smtClean="0">
                <a:latin typeface="Times New Roman" pitchFamily="18" charset="0"/>
                <a:ea typeface="Calibri" pitchFamily="34" charset="0"/>
                <a:cs typeface="Times New Roman" pitchFamily="18" charset="0"/>
              </a:rPr>
              <a:t>Quel est le risque de mucoviscidose (AR) pour un enfant à naître dont l’un des frères est atteint?</a:t>
            </a:r>
          </a:p>
          <a:p>
            <a:endParaRPr lang="fr-FR" sz="2400" dirty="0" smtClean="0">
              <a:latin typeface="Times New Roman" pitchFamily="18" charset="0"/>
              <a:ea typeface="Calibri" pitchFamily="34" charset="0"/>
              <a:cs typeface="Times New Roman" pitchFamily="18" charset="0"/>
            </a:endParaRPr>
          </a:p>
          <a:p>
            <a:r>
              <a:rPr lang="fr-FR" sz="2400" dirty="0" smtClean="0">
                <a:latin typeface="Times New Roman" pitchFamily="18" charset="0"/>
                <a:ea typeface="Calibri" pitchFamily="34" charset="0"/>
                <a:cs typeface="Times New Roman" pitchFamily="18" charset="0"/>
              </a:rPr>
              <a:t>a) 0</a:t>
            </a:r>
          </a:p>
          <a:p>
            <a:r>
              <a:rPr lang="fr-FR" sz="2400" dirty="0" smtClean="0">
                <a:latin typeface="Times New Roman" pitchFamily="18" charset="0"/>
                <a:ea typeface="Calibri" pitchFamily="34" charset="0"/>
                <a:cs typeface="Times New Roman" pitchFamily="18" charset="0"/>
              </a:rPr>
              <a:t>b) 0,25</a:t>
            </a:r>
          </a:p>
          <a:p>
            <a:r>
              <a:rPr lang="fr-FR" sz="2400" dirty="0" smtClean="0">
                <a:latin typeface="Times New Roman" pitchFamily="18" charset="0"/>
                <a:ea typeface="Calibri" pitchFamily="34" charset="0"/>
                <a:cs typeface="Times New Roman" pitchFamily="18" charset="0"/>
              </a:rPr>
              <a:t>c) 0,50</a:t>
            </a:r>
          </a:p>
          <a:p>
            <a:r>
              <a:rPr lang="fr-FR" sz="2400" dirty="0" smtClean="0">
                <a:latin typeface="Times New Roman" pitchFamily="18" charset="0"/>
                <a:ea typeface="Calibri" pitchFamily="34" charset="0"/>
                <a:cs typeface="Times New Roman" pitchFamily="18" charset="0"/>
              </a:rPr>
              <a:t>d) 0,75</a:t>
            </a:r>
          </a:p>
          <a:p>
            <a:r>
              <a:rPr lang="fr-FR" sz="2400" dirty="0" smtClean="0">
                <a:latin typeface="Times New Roman" pitchFamily="18" charset="0"/>
                <a:ea typeface="Calibri" pitchFamily="34" charset="0"/>
                <a:cs typeface="Times New Roman" pitchFamily="18" charset="0"/>
              </a:rPr>
              <a:t>e) 1</a:t>
            </a:r>
          </a:p>
          <a:p>
            <a:endParaRPr lang="fr-FR" sz="2400" dirty="0" smtClean="0">
              <a:latin typeface="Times New Roman" pitchFamily="18" charset="0"/>
              <a:ea typeface="Calibri" pitchFamily="34" charset="0"/>
              <a:cs typeface="Times New Roman" pitchFamily="18" charset="0"/>
            </a:endParaRPr>
          </a:p>
          <a:p>
            <a:r>
              <a:rPr lang="fr-FR" sz="2400" dirty="0" smtClean="0">
                <a:solidFill>
                  <a:srgbClr val="FF0000"/>
                </a:solidFill>
                <a:latin typeface="Times New Roman" pitchFamily="18" charset="0"/>
                <a:ea typeface="Calibri" pitchFamily="34" charset="0"/>
                <a:cs typeface="Times New Roman" pitchFamily="18" charset="0"/>
              </a:rPr>
              <a:t>Réponse : b</a:t>
            </a:r>
            <a:endParaRPr lang="fr-FR" sz="2400" dirty="0">
              <a:solidFill>
                <a:srgbClr val="FF0000"/>
              </a:solidFill>
              <a:latin typeface="Times New Roman" pitchFamily="18" charset="0"/>
              <a:ea typeface="Calibri" pitchFamily="34" charset="0"/>
              <a:cs typeface="Times New Roman" pitchFamily="18" charset="0"/>
            </a:endParaRPr>
          </a:p>
        </p:txBody>
      </p:sp>
      <p:graphicFrame>
        <p:nvGraphicFramePr>
          <p:cNvPr id="3" name="Tableau 2"/>
          <p:cNvGraphicFramePr>
            <a:graphicFrameLocks noGrp="1"/>
          </p:cNvGraphicFramePr>
          <p:nvPr/>
        </p:nvGraphicFramePr>
        <p:xfrm>
          <a:off x="1643042" y="4000505"/>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err="1">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1"/>
          <p:cNvSpPr>
            <a:spLocks noChangeArrowheads="1"/>
          </p:cNvSpPr>
          <p:nvPr/>
        </p:nvSpPr>
        <p:spPr bwMode="auto">
          <a:xfrm>
            <a:off x="214282" y="714918"/>
            <a:ext cx="844981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400" dirty="0" smtClean="0">
                <a:latin typeface="Times New Roman" panose="02020603050405020304" pitchFamily="18" charset="0"/>
                <a:ea typeface="Calibri" panose="020F0502020204030204" pitchFamily="34" charset="0"/>
                <a:cs typeface="Times New Roman" panose="02020603050405020304" pitchFamily="18" charset="0"/>
              </a:rPr>
              <a:t>Quelle </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est la probabilit</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 pour un homme h</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mophile (R liée X)</a:t>
            </a:r>
          </a:p>
          <a:p>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 atteint d</a:t>
            </a:r>
            <a:r>
              <a:rPr lang="fr-FR" altLang="fr-FR" sz="2400" dirty="0">
                <a:latin typeface="Calibri" panose="020F0502020204030204" pitchFamily="34" charset="0"/>
                <a:ea typeface="Calibri" panose="020F0502020204030204" pitchFamily="34" charset="0"/>
                <a:cs typeface="Times New Roman" panose="02020603050405020304" pitchFamily="18" charset="0"/>
              </a:rPr>
              <a:t>’</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avoir un fils h</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mophile</a:t>
            </a:r>
            <a:r>
              <a:rPr lang="fr-FR" altLang="fr-FR" sz="2400" dirty="0" smtClean="0">
                <a:latin typeface="Times New Roman" panose="02020603050405020304" pitchFamily="18" charset="0"/>
                <a:ea typeface="Calibri" panose="020F0502020204030204" pitchFamily="34" charset="0"/>
                <a:cs typeface="Times New Roman" panose="02020603050405020304" pitchFamily="18" charset="0"/>
              </a:rPr>
              <a:t>?</a:t>
            </a:r>
          </a:p>
          <a:p>
            <a:endParaRPr lang="fr-FR" altLang="fr-FR" sz="2400" dirty="0">
              <a:latin typeface="Times New Roman" panose="02020603050405020304" pitchFamily="18" charset="0"/>
              <a:ea typeface="Calibri" panose="020F0502020204030204" pitchFamily="34" charset="0"/>
              <a:cs typeface="Times New Roman" panose="02020603050405020304" pitchFamily="18" charset="0"/>
            </a:endParaRPr>
          </a:p>
          <a:p>
            <a:endParaRPr lang="fr-FR" altLang="fr-FR" sz="240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a) 100 %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b) 50 %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c) 3,3 %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d) 25 %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e) 0 %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ponse</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 </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 e</a:t>
            </a:r>
            <a:endParaRPr lang="fr-FR" altLang="fr-FR" sz="2400" b="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6021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3602">
                                            <p:txEl>
                                              <p:pRg st="9" end="9"/>
                                            </p:txEl>
                                          </p:spTgt>
                                        </p:tgtEl>
                                        <p:attrNameLst>
                                          <p:attrName>style.visibility</p:attrName>
                                        </p:attrNameLst>
                                      </p:cBhvr>
                                      <p:to>
                                        <p:strVal val="visible"/>
                                      </p:to>
                                    </p:set>
                                    <p:animEffect transition="in" filter="fade">
                                      <p:cBhvr>
                                        <p:cTn id="7" dur="2000"/>
                                        <p:tgtEl>
                                          <p:spTgt spid="15360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1"/>
          <p:cNvSpPr>
            <a:spLocks noChangeArrowheads="1"/>
          </p:cNvSpPr>
          <p:nvPr/>
        </p:nvSpPr>
        <p:spPr bwMode="auto">
          <a:xfrm>
            <a:off x="71650" y="336552"/>
            <a:ext cx="792935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000" dirty="0"/>
          </a:p>
          <a:p>
            <a:r>
              <a:rPr lang="fr-FR" altLang="fr-FR" sz="2000" dirty="0"/>
              <a:t>Pierre a une cataracte congénitale se </a:t>
            </a:r>
            <a:r>
              <a:rPr lang="fr-FR" altLang="fr-FR" sz="2000" dirty="0" smtClean="0"/>
              <a:t>transmettant selon </a:t>
            </a:r>
            <a:r>
              <a:rPr lang="fr-FR" altLang="fr-FR" sz="2000" dirty="0"/>
              <a:t>le mode dominant autosomique. La </a:t>
            </a:r>
            <a:r>
              <a:rPr lang="fr-FR" altLang="fr-FR" sz="2000" dirty="0" smtClean="0"/>
              <a:t>pénétrance est complète. Sa sœur </a:t>
            </a:r>
            <a:r>
              <a:rPr lang="fr-FR" altLang="fr-FR" sz="2000" dirty="0"/>
              <a:t>Jeanne est </a:t>
            </a:r>
            <a:r>
              <a:rPr lang="fr-FR" altLang="fr-FR" sz="2000" dirty="0" smtClean="0"/>
              <a:t>indemne. Quel </a:t>
            </a:r>
            <a:r>
              <a:rPr lang="fr-FR" altLang="fr-FR" sz="2000" dirty="0"/>
              <a:t>est le risque pour les enfants de Jeanne </a:t>
            </a:r>
            <a:r>
              <a:rPr lang="fr-FR" altLang="fr-FR" sz="2000" dirty="0" smtClean="0"/>
              <a:t>d’être porteurs </a:t>
            </a:r>
            <a:r>
              <a:rPr lang="fr-FR" altLang="fr-FR" sz="2000" dirty="0"/>
              <a:t>de cataracte?</a:t>
            </a:r>
          </a:p>
          <a:p>
            <a:r>
              <a:rPr lang="fr-FR" altLang="fr-FR" sz="2000" b="0" dirty="0"/>
              <a:t> </a:t>
            </a:r>
          </a:p>
          <a:p>
            <a:r>
              <a:rPr lang="fr-FR" altLang="fr-FR" sz="2000" b="0" dirty="0"/>
              <a:t>A - 100%</a:t>
            </a:r>
          </a:p>
          <a:p>
            <a:r>
              <a:rPr lang="fr-FR" altLang="fr-FR" sz="2000" b="0" dirty="0"/>
              <a:t>B - 50 %</a:t>
            </a:r>
          </a:p>
          <a:p>
            <a:r>
              <a:rPr lang="fr-FR" altLang="fr-FR" sz="2000" b="0" dirty="0"/>
              <a:t>C - 25 %</a:t>
            </a:r>
          </a:p>
          <a:p>
            <a:r>
              <a:rPr lang="fr-FR" altLang="fr-FR" sz="2000" b="0" dirty="0"/>
              <a:t>D - 10 %</a:t>
            </a:r>
          </a:p>
          <a:p>
            <a:r>
              <a:rPr lang="fr-FR" altLang="fr-FR" sz="2000" b="0" dirty="0"/>
              <a:t>E - O %</a:t>
            </a:r>
          </a:p>
          <a:p>
            <a:endParaRPr lang="fr-FR" altLang="fr-FR" sz="2000" b="0" dirty="0"/>
          </a:p>
          <a:p>
            <a:r>
              <a:rPr lang="fr-FR" altLang="fr-FR" sz="2000" b="0" dirty="0" err="1"/>
              <a:t>Rép</a:t>
            </a:r>
            <a:r>
              <a:rPr lang="fr-FR" altLang="fr-FR" sz="2000" b="0" dirty="0"/>
              <a:t> : E</a:t>
            </a:r>
          </a:p>
        </p:txBody>
      </p:sp>
    </p:spTree>
    <p:extLst>
      <p:ext uri="{BB962C8B-B14F-4D97-AF65-F5344CB8AC3E}">
        <p14:creationId xmlns:p14="http://schemas.microsoft.com/office/powerpoint/2010/main" val="202390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0466">
                                            <p:txEl>
                                              <p:pRg st="9" end="9"/>
                                            </p:txEl>
                                          </p:spTgt>
                                        </p:tgtEl>
                                        <p:attrNameLst>
                                          <p:attrName>style.visibility</p:attrName>
                                        </p:attrNameLst>
                                      </p:cBhvr>
                                      <p:to>
                                        <p:strVal val="visible"/>
                                      </p:to>
                                    </p:set>
                                    <p:animEffect transition="in" filter="fade">
                                      <p:cBhvr>
                                        <p:cTn id="7" dur="2000"/>
                                        <p:tgtEl>
                                          <p:spTgt spid="19046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ChangeArrowheads="1"/>
          </p:cNvSpPr>
          <p:nvPr/>
        </p:nvSpPr>
        <p:spPr bwMode="auto">
          <a:xfrm>
            <a:off x="143302" y="518619"/>
            <a:ext cx="7857698"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000" dirty="0"/>
          </a:p>
          <a:p>
            <a:r>
              <a:rPr lang="fr-FR" altLang="fr-FR" sz="2000" dirty="0"/>
              <a:t>Un homme hémophile (R liée à X) se marie avec une femme non conductrice, les enfants de cette union seront:</a:t>
            </a:r>
          </a:p>
          <a:p>
            <a:endParaRPr lang="fr-FR" altLang="fr-FR" sz="2000" dirty="0"/>
          </a:p>
          <a:p>
            <a:r>
              <a:rPr lang="fr-FR" altLang="fr-FR" sz="2000" b="0" dirty="0"/>
              <a:t>A - Tous hémophiles</a:t>
            </a:r>
          </a:p>
          <a:p>
            <a:r>
              <a:rPr lang="fr-FR" altLang="fr-FR" sz="2000" b="0" dirty="0"/>
              <a:t>B - Tous les garçons hémophiles, toutes les filles saines</a:t>
            </a:r>
          </a:p>
          <a:p>
            <a:r>
              <a:rPr lang="fr-FR" altLang="fr-FR" sz="2000" b="0" dirty="0"/>
              <a:t>C - Toutes les filles conductrices, tous les garçons sains</a:t>
            </a:r>
          </a:p>
          <a:p>
            <a:r>
              <a:rPr lang="fr-FR" altLang="fr-FR" sz="2000" b="0" dirty="0"/>
              <a:t>D - Tous les garçons conducteurs, toutes les filles normales</a:t>
            </a:r>
          </a:p>
          <a:p>
            <a:r>
              <a:rPr lang="fr-FR" altLang="fr-FR" sz="2000" b="0" dirty="0"/>
              <a:t>E - Tous les enfants génotypiquement sains</a:t>
            </a:r>
          </a:p>
          <a:p>
            <a:endParaRPr lang="fr-FR" altLang="fr-FR" sz="2000" b="0" dirty="0"/>
          </a:p>
          <a:p>
            <a:r>
              <a:rPr lang="fr-FR" altLang="fr-FR" sz="2000" b="0" dirty="0" err="1"/>
              <a:t>Rép</a:t>
            </a:r>
            <a:r>
              <a:rPr lang="fr-FR" altLang="fr-FR" sz="2000" b="0" dirty="0"/>
              <a:t> : C</a:t>
            </a:r>
          </a:p>
        </p:txBody>
      </p:sp>
      <p:graphicFrame>
        <p:nvGraphicFramePr>
          <p:cNvPr id="3" name="Tableau 2"/>
          <p:cNvGraphicFramePr>
            <a:graphicFrameLocks noGrp="1"/>
          </p:cNvGraphicFramePr>
          <p:nvPr/>
        </p:nvGraphicFramePr>
        <p:xfrm>
          <a:off x="1643042" y="4000505"/>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262371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4562">
                                            <p:txEl>
                                              <p:pRg st="9" end="9"/>
                                            </p:txEl>
                                          </p:spTgt>
                                        </p:tgtEl>
                                        <p:attrNameLst>
                                          <p:attrName>style.visibility</p:attrName>
                                        </p:attrNameLst>
                                      </p:cBhvr>
                                      <p:to>
                                        <p:strVal val="visible"/>
                                      </p:to>
                                    </p:set>
                                    <p:animEffect transition="in" filter="fade">
                                      <p:cBhvr>
                                        <p:cTn id="7" dur="2000"/>
                                        <p:tgtEl>
                                          <p:spTgt spid="194562">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
          <p:cNvSpPr>
            <a:spLocks noChangeArrowheads="1"/>
          </p:cNvSpPr>
          <p:nvPr/>
        </p:nvSpPr>
        <p:spPr bwMode="auto">
          <a:xfrm>
            <a:off x="0" y="788781"/>
            <a:ext cx="9144000" cy="5262979"/>
          </a:xfrm>
          <a:prstGeom prst="rect">
            <a:avLst/>
          </a:prstGeom>
          <a:noFill/>
          <a:ln w="12700" cap="sq">
            <a:noFill/>
            <a:miter lim="800000"/>
            <a:headEnd type="none" w="sm" len="sm"/>
            <a:tailEnd type="none" w="sm" len="sm"/>
          </a:ln>
        </p:spPr>
        <p:txBody>
          <a:bodyPr wrap="square" anchor="ctr">
            <a:spAutoFit/>
          </a:bodyPr>
          <a:lstStyle/>
          <a:p>
            <a:pPr>
              <a:defRPr/>
            </a:pPr>
            <a:r>
              <a:rPr lang="fr-FR" sz="2800" b="1" dirty="0" smtClean="0">
                <a:solidFill>
                  <a:srgbClr val="000000"/>
                </a:solidFill>
                <a:cs typeface="Times New Roman" pitchFamily="18" charset="0"/>
              </a:rPr>
              <a:t> </a:t>
            </a:r>
            <a:r>
              <a:rPr lang="fr-FR" sz="2800" b="1" dirty="0">
                <a:solidFill>
                  <a:srgbClr val="000000"/>
                </a:solidFill>
                <a:cs typeface="Times New Roman" pitchFamily="18" charset="0"/>
              </a:rPr>
              <a:t>La constitution génétique d’un individu est </a:t>
            </a:r>
            <a:r>
              <a:rPr lang="fr-FR" sz="2800" b="1" dirty="0" smtClean="0">
                <a:solidFill>
                  <a:srgbClr val="000000"/>
                </a:solidFill>
                <a:cs typeface="Times New Roman" pitchFamily="18" charset="0"/>
              </a:rPr>
              <a:t>appelée</a:t>
            </a:r>
          </a:p>
          <a:p>
            <a:pPr>
              <a:defRPr/>
            </a:pPr>
            <a:endParaRPr lang="fr-FR" sz="2800" b="1" dirty="0">
              <a:solidFill>
                <a:srgbClr val="000000"/>
              </a:solidFill>
              <a:cs typeface="Times New Roman" pitchFamily="18" charset="0"/>
            </a:endParaRPr>
          </a:p>
          <a:p>
            <a:pPr>
              <a:defRPr/>
            </a:pPr>
            <a:r>
              <a:rPr lang="fr-FR" sz="2800" b="1" dirty="0" smtClean="0">
                <a:solidFill>
                  <a:srgbClr val="000000"/>
                </a:solidFill>
                <a:cs typeface="Times New Roman" pitchFamily="18" charset="0"/>
              </a:rPr>
              <a:t> </a:t>
            </a:r>
            <a:endParaRPr lang="fr-FR" sz="2800" b="1" dirty="0"/>
          </a:p>
          <a:p>
            <a:pPr marL="514350" indent="-514350">
              <a:buFontTx/>
              <a:buAutoNum type="alphaUcPeriod"/>
              <a:defRPr/>
            </a:pPr>
            <a:r>
              <a:rPr lang="fr-FR" sz="2800" b="0" dirty="0">
                <a:solidFill>
                  <a:srgbClr val="000000"/>
                </a:solidFill>
                <a:cs typeface="Times New Roman" pitchFamily="18" charset="0"/>
              </a:rPr>
              <a:t>Phénotype</a:t>
            </a:r>
            <a:endParaRPr lang="fr-FR" sz="2800" b="0" dirty="0">
              <a:solidFill>
                <a:srgbClr val="000000"/>
              </a:solidFill>
              <a:cs typeface="Arial" charset="0"/>
            </a:endParaRPr>
          </a:p>
          <a:p>
            <a:pPr marL="514350" indent="-514350">
              <a:buFontTx/>
              <a:buAutoNum type="alphaUcPeriod"/>
              <a:defRPr/>
            </a:pPr>
            <a:r>
              <a:rPr lang="fr-FR" sz="2800" b="0" dirty="0">
                <a:solidFill>
                  <a:srgbClr val="000000"/>
                </a:solidFill>
                <a:cs typeface="Times New Roman" pitchFamily="18" charset="0"/>
              </a:rPr>
              <a:t>Locus</a:t>
            </a:r>
            <a:endParaRPr lang="fr-FR" sz="2800" b="0" dirty="0">
              <a:solidFill>
                <a:srgbClr val="000000"/>
              </a:solidFill>
              <a:cs typeface="Arial" charset="0"/>
            </a:endParaRPr>
          </a:p>
          <a:p>
            <a:pPr marL="514350" indent="-514350">
              <a:buFontTx/>
              <a:buAutoNum type="alphaUcPeriod"/>
              <a:defRPr/>
            </a:pPr>
            <a:r>
              <a:rPr lang="fr-FR" sz="2800" b="0" dirty="0">
                <a:solidFill>
                  <a:srgbClr val="000000"/>
                </a:solidFill>
                <a:cs typeface="Times New Roman" pitchFamily="18" charset="0"/>
              </a:rPr>
              <a:t>Allèle</a:t>
            </a:r>
            <a:endParaRPr lang="fr-FR" sz="2800" b="0" dirty="0">
              <a:solidFill>
                <a:srgbClr val="000000"/>
              </a:solidFill>
              <a:cs typeface="Arial" charset="0"/>
            </a:endParaRPr>
          </a:p>
          <a:p>
            <a:pPr marL="514350" indent="-514350">
              <a:buFontTx/>
              <a:buAutoNum type="alphaUcPeriod"/>
              <a:defRPr/>
            </a:pPr>
            <a:r>
              <a:rPr lang="fr-FR" sz="2800" b="0" dirty="0">
                <a:solidFill>
                  <a:srgbClr val="000000"/>
                </a:solidFill>
                <a:cs typeface="Times New Roman" pitchFamily="18" charset="0"/>
              </a:rPr>
              <a:t>Génotype</a:t>
            </a:r>
            <a:endParaRPr lang="fr-FR" sz="2800" b="0" dirty="0">
              <a:solidFill>
                <a:srgbClr val="000000"/>
              </a:solidFill>
              <a:cs typeface="Arial" charset="0"/>
            </a:endParaRPr>
          </a:p>
          <a:p>
            <a:pPr marL="514350" indent="-514350">
              <a:buFontTx/>
              <a:buAutoNum type="alphaUcPeriod"/>
              <a:defRPr/>
            </a:pPr>
            <a:r>
              <a:rPr lang="fr-FR" sz="2800" b="0" dirty="0">
                <a:solidFill>
                  <a:srgbClr val="000000"/>
                </a:solidFill>
                <a:cs typeface="Times New Roman" pitchFamily="18" charset="0"/>
              </a:rPr>
              <a:t>Gène</a:t>
            </a:r>
          </a:p>
          <a:p>
            <a:pPr marL="514350" indent="-514350">
              <a:buFontTx/>
              <a:buAutoNum type="alphaUcPeriod"/>
              <a:defRPr/>
            </a:pPr>
            <a:endParaRPr lang="fr-FR" sz="2800" dirty="0">
              <a:solidFill>
                <a:srgbClr val="000000"/>
              </a:solidFill>
              <a:cs typeface="Times New Roman" pitchFamily="18" charset="0"/>
            </a:endParaRPr>
          </a:p>
          <a:p>
            <a:pPr marL="514350" indent="-514350">
              <a:defRPr/>
            </a:pPr>
            <a:r>
              <a:rPr lang="fr-FR" sz="2800" dirty="0" err="1">
                <a:solidFill>
                  <a:srgbClr val="000000"/>
                </a:solidFill>
                <a:cs typeface="Times New Roman" pitchFamily="18" charset="0"/>
              </a:rPr>
              <a:t>Rép</a:t>
            </a:r>
            <a:r>
              <a:rPr lang="fr-FR" sz="2800" dirty="0">
                <a:solidFill>
                  <a:srgbClr val="000000"/>
                </a:solidFill>
                <a:cs typeface="Times New Roman" pitchFamily="18" charset="0"/>
              </a:rPr>
              <a:t> : D</a:t>
            </a:r>
            <a:endParaRPr lang="fr-FR" sz="2800" dirty="0"/>
          </a:p>
          <a:p>
            <a:pPr>
              <a:defRPr/>
            </a:pPr>
            <a:endParaRPr lang="fr-FR" sz="2800" dirty="0"/>
          </a:p>
        </p:txBody>
      </p:sp>
    </p:spTree>
    <p:extLst>
      <p:ext uri="{BB962C8B-B14F-4D97-AF65-F5344CB8AC3E}">
        <p14:creationId xmlns:p14="http://schemas.microsoft.com/office/powerpoint/2010/main" val="4245727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6194">
                                            <p:txEl>
                                              <p:pRg st="9" end="9"/>
                                            </p:txEl>
                                          </p:spTgt>
                                        </p:tgtEl>
                                        <p:attrNameLst>
                                          <p:attrName>style.visibility</p:attrName>
                                        </p:attrNameLst>
                                      </p:cBhvr>
                                      <p:to>
                                        <p:strVal val="visible"/>
                                      </p:to>
                                    </p:set>
                                    <p:animEffect transition="in" filter="fade">
                                      <p:cBhvr>
                                        <p:cTn id="7" dur="2000"/>
                                        <p:tgtEl>
                                          <p:spTgt spid="13619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
          <p:cNvSpPr>
            <a:spLocks noChangeArrowheads="1"/>
          </p:cNvSpPr>
          <p:nvPr/>
        </p:nvSpPr>
        <p:spPr bwMode="auto">
          <a:xfrm>
            <a:off x="428596" y="394504"/>
            <a:ext cx="850112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 </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La consanguinit</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 augmente le risque de</a:t>
            </a:r>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a:t>
            </a:r>
          </a:p>
          <a:p>
            <a:endParaRPr lang="fr-FR" altLang="fr-FR" sz="280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a) Non-disjonction m</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iotique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b) Trisomie 21</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c) Maladie r</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cessive autosomique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d) Maladie dominante autosomique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e) Mutation dans la descendance</a:t>
            </a:r>
          </a:p>
          <a:p>
            <a:endParaRPr lang="fr-FR" altLang="fr-FR" sz="2800" b="0" dirty="0">
              <a:latin typeface="Times New Roman" panose="02020603050405020304" pitchFamily="18" charset="0"/>
              <a:ea typeface="Calibri" panose="020F0502020204030204" pitchFamily="34" charset="0"/>
              <a:cs typeface="Times New Roman" panose="02020603050405020304" pitchFamily="18" charset="0"/>
            </a:endParaRPr>
          </a:p>
          <a:p>
            <a:endParaRPr lang="fr-FR" altLang="fr-FR" sz="2800" b="0" dirty="0">
              <a:ea typeface="Calibri" panose="020F0502020204030204" pitchFamily="34" charset="0"/>
              <a:cs typeface="Times New Roman" panose="02020603050405020304" pitchFamily="18" charset="0"/>
            </a:endParaRPr>
          </a:p>
        </p:txBody>
      </p:sp>
      <p:sp>
        <p:nvSpPr>
          <p:cNvPr id="154627" name="Rectangle 2"/>
          <p:cNvSpPr>
            <a:spLocks noChangeArrowheads="1"/>
          </p:cNvSpPr>
          <p:nvPr/>
        </p:nvSpPr>
        <p:spPr bwMode="auto">
          <a:xfrm>
            <a:off x="1143001" y="3627151"/>
            <a:ext cx="21130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32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32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3200" b="0" dirty="0">
                <a:latin typeface="Times New Roman" panose="02020603050405020304" pitchFamily="18" charset="0"/>
                <a:ea typeface="Calibri" panose="020F0502020204030204" pitchFamily="34" charset="0"/>
                <a:cs typeface="Times New Roman" panose="02020603050405020304" pitchFamily="18" charset="0"/>
              </a:rPr>
              <a:t>ponse</a:t>
            </a:r>
            <a:r>
              <a:rPr lang="fr-FR" altLang="fr-FR" sz="3200" b="0" dirty="0">
                <a:latin typeface="Calibri" panose="020F0502020204030204" pitchFamily="34" charset="0"/>
                <a:ea typeface="Calibri" panose="020F0502020204030204" pitchFamily="34" charset="0"/>
                <a:cs typeface="Times New Roman" panose="02020603050405020304" pitchFamily="18" charset="0"/>
              </a:rPr>
              <a:t> </a:t>
            </a:r>
            <a:r>
              <a:rPr lang="fr-FR" altLang="fr-FR" sz="3200" b="0" dirty="0">
                <a:latin typeface="Times New Roman" panose="02020603050405020304" pitchFamily="18" charset="0"/>
                <a:ea typeface="Calibri" panose="020F0502020204030204" pitchFamily="34" charset="0"/>
                <a:cs typeface="Times New Roman" panose="02020603050405020304" pitchFamily="18" charset="0"/>
              </a:rPr>
              <a:t>: c</a:t>
            </a:r>
            <a:endParaRPr lang="fr-FR" altLang="fr-FR" sz="3200" b="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6721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fade">
                                      <p:cBhvr>
                                        <p:cTn id="7" dur="2000"/>
                                        <p:tgtEl>
                                          <p:spTgt spid="1546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1"/>
          <p:cNvSpPr>
            <a:spLocks noChangeArrowheads="1"/>
          </p:cNvSpPr>
          <p:nvPr/>
        </p:nvSpPr>
        <p:spPr bwMode="auto">
          <a:xfrm>
            <a:off x="214282" y="360697"/>
            <a:ext cx="857256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Un </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gar</a:t>
            </a:r>
            <a:r>
              <a:rPr lang="fr-FR" altLang="fr-FR" sz="2800" dirty="0">
                <a:latin typeface="Calibri" panose="020F0502020204030204" pitchFamily="34" charset="0"/>
                <a:ea typeface="Calibri" panose="020F0502020204030204" pitchFamily="34" charset="0"/>
                <a:cs typeface="Times New Roman" panose="02020603050405020304" pitchFamily="18" charset="0"/>
              </a:rPr>
              <a:t>ç</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on est atteint d</a:t>
            </a:r>
            <a:r>
              <a:rPr lang="fr-FR" altLang="fr-FR" sz="2800" dirty="0">
                <a:latin typeface="Calibri" panose="020F0502020204030204" pitchFamily="34" charset="0"/>
                <a:ea typeface="Calibri" panose="020F0502020204030204" pitchFamily="34" charset="0"/>
                <a:cs typeface="Times New Roman" panose="02020603050405020304" pitchFamily="18" charset="0"/>
              </a:rPr>
              <a:t>’</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h</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mophilie (R liée X). Cette affection peut g</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n</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tiquement se retrouver </a:t>
            </a:r>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chez</a:t>
            </a:r>
          </a:p>
          <a:p>
            <a:endParaRPr lang="fr-FR" altLang="fr-FR" sz="2800" dirty="0">
              <a:latin typeface="Times New Roman" panose="02020603050405020304" pitchFamily="18" charset="0"/>
              <a:ea typeface="Calibri" panose="020F0502020204030204" pitchFamily="34" charset="0"/>
              <a:cs typeface="Times New Roman" panose="02020603050405020304" pitchFamily="18" charset="0"/>
            </a:endParaRPr>
          </a:p>
          <a:p>
            <a:endParaRPr lang="fr-FR" altLang="fr-FR" sz="280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a) Fr</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b) P</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c) Grand-p</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 maternel</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d) Fils d</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un oncle maternel</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e) Fils d</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une tante paternelle</a:t>
            </a:r>
            <a:endParaRPr lang="fr-FR" altLang="fr-FR" sz="2800" b="0" dirty="0">
              <a:ea typeface="Calibri" panose="020F0502020204030204" pitchFamily="34" charset="0"/>
              <a:cs typeface="Times New Roman" panose="02020603050405020304" pitchFamily="18" charset="0"/>
            </a:endParaRPr>
          </a:p>
          <a:p>
            <a:endParaRPr lang="fr-FR" altLang="fr-FR" sz="2800" b="0" dirty="0">
              <a:latin typeface="Times New Roman" panose="02020603050405020304" pitchFamily="18" charset="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ponse</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 </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a c</a:t>
            </a:r>
            <a:endParaRPr lang="fr-FR" altLang="fr-FR" sz="2800" b="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6790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5650">
                                            <p:txEl>
                                              <p:pRg st="9" end="9"/>
                                            </p:txEl>
                                          </p:spTgt>
                                        </p:tgtEl>
                                        <p:attrNameLst>
                                          <p:attrName>style.visibility</p:attrName>
                                        </p:attrNameLst>
                                      </p:cBhvr>
                                      <p:to>
                                        <p:strVal val="visible"/>
                                      </p:to>
                                    </p:set>
                                    <p:animEffect transition="in" filter="fade">
                                      <p:cBhvr>
                                        <p:cTn id="7" dur="2000"/>
                                        <p:tgtEl>
                                          <p:spTgt spid="15565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1"/>
          <p:cNvSpPr>
            <a:spLocks noChangeArrowheads="1"/>
          </p:cNvSpPr>
          <p:nvPr/>
        </p:nvSpPr>
        <p:spPr bwMode="auto">
          <a:xfrm>
            <a:off x="0" y="1377994"/>
            <a:ext cx="892971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tabLst>
                <a:tab pos="785813" algn="l"/>
              </a:tabLst>
              <a:defRPr sz="1000" b="1">
                <a:solidFill>
                  <a:schemeClr val="tx1"/>
                </a:solidFill>
                <a:latin typeface="Verdana" panose="020B0604030504040204" pitchFamily="34" charset="0"/>
              </a:defRPr>
            </a:lvl1pPr>
            <a:lvl2pPr marL="742950" indent="-285750">
              <a:tabLst>
                <a:tab pos="785813" algn="l"/>
              </a:tabLst>
              <a:defRPr sz="1000" b="1">
                <a:solidFill>
                  <a:schemeClr val="tx1"/>
                </a:solidFill>
                <a:latin typeface="Verdana" panose="020B0604030504040204" pitchFamily="34" charset="0"/>
              </a:defRPr>
            </a:lvl2pPr>
            <a:lvl3pPr marL="1143000" indent="-228600">
              <a:tabLst>
                <a:tab pos="785813" algn="l"/>
              </a:tabLst>
              <a:defRPr sz="1000" b="1">
                <a:solidFill>
                  <a:schemeClr val="tx1"/>
                </a:solidFill>
                <a:latin typeface="Verdana" panose="020B0604030504040204" pitchFamily="34" charset="0"/>
              </a:defRPr>
            </a:lvl3pPr>
            <a:lvl4pPr marL="1600200" indent="-228600">
              <a:tabLst>
                <a:tab pos="785813" algn="l"/>
              </a:tabLst>
              <a:defRPr sz="1000" b="1">
                <a:solidFill>
                  <a:schemeClr val="tx1"/>
                </a:solidFill>
                <a:latin typeface="Verdana" panose="020B0604030504040204" pitchFamily="34" charset="0"/>
              </a:defRPr>
            </a:lvl4pPr>
            <a:lvl5pPr marL="2057400" indent="-228600">
              <a:tabLst>
                <a:tab pos="785813" algn="l"/>
              </a:tabLst>
              <a:defRPr sz="1000" b="1">
                <a:solidFill>
                  <a:schemeClr val="tx1"/>
                </a:solidFill>
                <a:latin typeface="Verdana" panose="020B0604030504040204" pitchFamily="34" charset="0"/>
              </a:defRPr>
            </a:lvl5pPr>
            <a:lvl6pPr marL="2514600" indent="-228600" eaLnBrk="0" fontAlgn="base" hangingPunct="0">
              <a:spcBef>
                <a:spcPct val="0"/>
              </a:spcBef>
              <a:spcAft>
                <a:spcPct val="0"/>
              </a:spcAft>
              <a:tabLst>
                <a:tab pos="785813" algn="l"/>
              </a:tabLst>
              <a:defRPr sz="1000" b="1">
                <a:solidFill>
                  <a:schemeClr val="tx1"/>
                </a:solidFill>
                <a:latin typeface="Verdana" panose="020B0604030504040204" pitchFamily="34" charset="0"/>
              </a:defRPr>
            </a:lvl6pPr>
            <a:lvl7pPr marL="2971800" indent="-228600" eaLnBrk="0" fontAlgn="base" hangingPunct="0">
              <a:spcBef>
                <a:spcPct val="0"/>
              </a:spcBef>
              <a:spcAft>
                <a:spcPct val="0"/>
              </a:spcAft>
              <a:tabLst>
                <a:tab pos="785813" algn="l"/>
              </a:tabLst>
              <a:defRPr sz="1000" b="1">
                <a:solidFill>
                  <a:schemeClr val="tx1"/>
                </a:solidFill>
                <a:latin typeface="Verdana" panose="020B0604030504040204" pitchFamily="34" charset="0"/>
              </a:defRPr>
            </a:lvl7pPr>
            <a:lvl8pPr marL="3429000" indent="-228600" eaLnBrk="0" fontAlgn="base" hangingPunct="0">
              <a:spcBef>
                <a:spcPct val="0"/>
              </a:spcBef>
              <a:spcAft>
                <a:spcPct val="0"/>
              </a:spcAft>
              <a:tabLst>
                <a:tab pos="785813" algn="l"/>
              </a:tabLst>
              <a:defRPr sz="1000" b="1">
                <a:solidFill>
                  <a:schemeClr val="tx1"/>
                </a:solidFill>
                <a:latin typeface="Verdana" panose="020B0604030504040204" pitchFamily="34" charset="0"/>
              </a:defRPr>
            </a:lvl8pPr>
            <a:lvl9pPr marL="3886200" indent="-228600" eaLnBrk="0" fontAlgn="base" hangingPunct="0">
              <a:spcBef>
                <a:spcPct val="0"/>
              </a:spcBef>
              <a:spcAft>
                <a:spcPct val="0"/>
              </a:spcAft>
              <a:tabLst>
                <a:tab pos="785813" algn="l"/>
              </a:tabLst>
              <a:defRPr sz="1000" b="1">
                <a:solidFill>
                  <a:schemeClr val="tx1"/>
                </a:solidFill>
                <a:latin typeface="Verdana" panose="020B0604030504040204" pitchFamily="34" charset="0"/>
              </a:defRPr>
            </a:lvl9pPr>
          </a:lstStyle>
          <a:p>
            <a:r>
              <a:rPr lang="fr-FR" altLang="fr-FR" sz="2400" dirty="0" smtClean="0">
                <a:latin typeface="Times New Roman" panose="02020603050405020304" pitchFamily="18" charset="0"/>
                <a:ea typeface="Calibri" panose="020F0502020204030204" pitchFamily="34" charset="0"/>
                <a:cs typeface="Times New Roman" panose="02020603050405020304" pitchFamily="18" charset="0"/>
              </a:rPr>
              <a:t>Un </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sujet h</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t</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rozygote pour un g</a:t>
            </a:r>
            <a:r>
              <a:rPr lang="fr-FR" altLang="fr-FR" sz="2400" dirty="0">
                <a:latin typeface="Calibri" panose="020F0502020204030204" pitchFamily="34" charset="0"/>
                <a:ea typeface="Calibri" panose="020F0502020204030204" pitchFamily="34" charset="0"/>
                <a:cs typeface="Times New Roman" panose="02020603050405020304" pitchFamily="18" charset="0"/>
              </a:rPr>
              <a:t>è</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ne pathologique dominant </a:t>
            </a:r>
            <a:r>
              <a:rPr lang="fr-FR" altLang="fr-FR" sz="2400" dirty="0">
                <a:latin typeface="Calibri" panose="020F0502020204030204" pitchFamily="34" charset="0"/>
                <a:ea typeface="Calibri" panose="020F0502020204030204" pitchFamily="34" charset="0"/>
                <a:cs typeface="Times New Roman" panose="02020603050405020304" pitchFamily="18" charset="0"/>
              </a:rPr>
              <a:t>à</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 p</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n</a:t>
            </a:r>
            <a:r>
              <a:rPr lang="fr-FR" altLang="fr-FR" sz="240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trance compl</a:t>
            </a:r>
            <a:r>
              <a:rPr lang="fr-FR" altLang="fr-FR" sz="2400" dirty="0">
                <a:latin typeface="Calibri" panose="020F0502020204030204" pitchFamily="34" charset="0"/>
                <a:ea typeface="Calibri" panose="020F0502020204030204" pitchFamily="34" charset="0"/>
                <a:cs typeface="Times New Roman" panose="02020603050405020304" pitchFamily="18" charset="0"/>
              </a:rPr>
              <a:t>è</a:t>
            </a:r>
            <a:r>
              <a:rPr lang="fr-FR" altLang="fr-FR" sz="2400" dirty="0">
                <a:latin typeface="Times New Roman" panose="02020603050405020304" pitchFamily="18" charset="0"/>
                <a:ea typeface="Calibri" panose="020F0502020204030204" pitchFamily="34" charset="0"/>
                <a:cs typeface="Times New Roman" panose="02020603050405020304" pitchFamily="18" charset="0"/>
              </a:rPr>
              <a:t>te</a:t>
            </a:r>
            <a:r>
              <a:rPr lang="fr-FR" altLang="fr-FR" sz="2400" dirty="0" smtClean="0">
                <a:latin typeface="Times New Roman" panose="02020603050405020304" pitchFamily="18" charset="0"/>
                <a:ea typeface="Calibri" panose="020F0502020204030204" pitchFamily="34" charset="0"/>
                <a:cs typeface="Times New Roman" panose="02020603050405020304" pitchFamily="18" charset="0"/>
              </a:rPr>
              <a:t>:</a:t>
            </a:r>
          </a:p>
          <a:p>
            <a:endParaRPr lang="fr-FR" altLang="fr-FR" sz="240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a) Est porteur sain de la maladie</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b) Pr</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sente un g</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notype normal</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c) Pr</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sente un ph</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notype normal</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d) Est malade</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e) Est obligatoirement de sexe masculin</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	</a:t>
            </a:r>
            <a:endParaRPr lang="fr-FR" altLang="fr-FR" sz="2400" b="0" dirty="0">
              <a:ea typeface="Calibri" panose="020F0502020204030204" pitchFamily="34" charset="0"/>
              <a:cs typeface="Times New Roman" panose="02020603050405020304" pitchFamily="18" charset="0"/>
            </a:endParaRPr>
          </a:p>
          <a:p>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4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400" b="0" dirty="0">
                <a:latin typeface="Times New Roman" panose="02020603050405020304" pitchFamily="18" charset="0"/>
                <a:ea typeface="Calibri" panose="020F0502020204030204" pitchFamily="34" charset="0"/>
                <a:cs typeface="Times New Roman" panose="02020603050405020304" pitchFamily="18" charset="0"/>
              </a:rPr>
              <a:t>ponse d</a:t>
            </a:r>
            <a:endParaRPr lang="fr-FR" altLang="fr-FR" sz="2400" b="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1051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6674">
                                            <p:txEl>
                                              <p:pRg st="8" end="8"/>
                                            </p:txEl>
                                          </p:spTgt>
                                        </p:tgtEl>
                                        <p:attrNameLst>
                                          <p:attrName>style.visibility</p:attrName>
                                        </p:attrNameLst>
                                      </p:cBhvr>
                                      <p:to>
                                        <p:strVal val="visible"/>
                                      </p:to>
                                    </p:set>
                                    <p:animEffect transition="in" filter="fade">
                                      <p:cBhvr>
                                        <p:cTn id="7" dur="2000"/>
                                        <p:tgtEl>
                                          <p:spTgt spid="15667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
          <p:cNvSpPr>
            <a:spLocks noChangeArrowheads="1"/>
          </p:cNvSpPr>
          <p:nvPr/>
        </p:nvSpPr>
        <p:spPr bwMode="auto">
          <a:xfrm>
            <a:off x="214282" y="1007146"/>
            <a:ext cx="8929718"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 </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Dans l</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tude d</a:t>
            </a:r>
            <a:r>
              <a:rPr lang="fr-FR" altLang="fr-FR" sz="2800" dirty="0">
                <a:latin typeface="Calibri" panose="020F0502020204030204" pitchFamily="34" charset="0"/>
                <a:ea typeface="Calibri" panose="020F0502020204030204" pitchFamily="34" charset="0"/>
                <a:cs typeface="Times New Roman" panose="02020603050405020304" pitchFamily="18" charset="0"/>
              </a:rPr>
              <a:t>’</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un arbre g</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n</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alogique, un seul des crit</a:t>
            </a:r>
            <a:r>
              <a:rPr lang="fr-FR" altLang="fr-FR" sz="280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res suivants est sp</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cifique de l</a:t>
            </a:r>
            <a:r>
              <a:rPr lang="fr-FR" altLang="fr-FR" sz="2800" dirty="0">
                <a:latin typeface="Calibri" panose="020F0502020204030204" pitchFamily="34" charset="0"/>
                <a:ea typeface="Calibri" panose="020F0502020204030204" pitchFamily="34" charset="0"/>
                <a:cs typeface="Times New Roman" panose="02020603050405020304" pitchFamily="18" charset="0"/>
              </a:rPr>
              <a:t>’</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h</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dit</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 autosomique dominante. Lequel?</a:t>
            </a:r>
          </a:p>
          <a:p>
            <a:endParaRPr lang="fr-FR" altLang="fr-FR" sz="280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a</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 Transmission du caract</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re malade de la m</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re </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à</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 sa fille</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b) Transmission du caract</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 malade du p</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 </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à</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son fils</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c) Transmission du caract</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 malade de la m</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re </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à</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son fils</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d) </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Transmission du caract</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re malade du p</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è</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re </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à</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 sa fille</a:t>
            </a:r>
          </a:p>
          <a:p>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e</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Sujets atteints </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à</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 chaque g</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n</a:t>
            </a:r>
            <a:r>
              <a:rPr lang="fr-FR" altLang="fr-FR" sz="2800" b="0" dirty="0" smtClean="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ration</a:t>
            </a:r>
            <a:endParaRPr lang="fr-FR" altLang="fr-FR" sz="2800" b="0" dirty="0">
              <a:latin typeface="Times New Roman" panose="02020603050405020304" pitchFamily="18" charset="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ponse</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 </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a:t>
            </a:r>
            <a:r>
              <a:rPr lang="fr-FR" altLang="fr-FR" sz="2800" b="0" dirty="0" smtClean="0">
                <a:latin typeface="Times New Roman" panose="02020603050405020304" pitchFamily="18" charset="0"/>
                <a:ea typeface="Calibri" panose="020F0502020204030204" pitchFamily="34" charset="0"/>
                <a:cs typeface="Times New Roman" panose="02020603050405020304" pitchFamily="18" charset="0"/>
              </a:rPr>
              <a:t>e</a:t>
            </a:r>
            <a:endParaRPr lang="fr-FR" altLang="fr-FR" sz="2800" b="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7389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7698">
                                            <p:txEl>
                                              <p:pRg st="7" end="7"/>
                                            </p:txEl>
                                          </p:spTgt>
                                        </p:tgtEl>
                                        <p:attrNameLst>
                                          <p:attrName>style.visibility</p:attrName>
                                        </p:attrNameLst>
                                      </p:cBhvr>
                                      <p:to>
                                        <p:strVal val="visible"/>
                                      </p:to>
                                    </p:set>
                                    <p:animEffect transition="in" filter="fade">
                                      <p:cBhvr>
                                        <p:cTn id="7" dur="2000"/>
                                        <p:tgtEl>
                                          <p:spTgt spid="15769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1"/>
          <p:cNvSpPr>
            <a:spLocks noChangeArrowheads="1"/>
          </p:cNvSpPr>
          <p:nvPr/>
        </p:nvSpPr>
        <p:spPr bwMode="auto">
          <a:xfrm>
            <a:off x="142844" y="0"/>
            <a:ext cx="900115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800" dirty="0" smtClean="0">
                <a:latin typeface="Times New Roman" panose="02020603050405020304" pitchFamily="18" charset="0"/>
                <a:ea typeface="Calibri" panose="020F0502020204030204" pitchFamily="34" charset="0"/>
                <a:cs typeface="Times New Roman" panose="02020603050405020304" pitchFamily="18" charset="0"/>
              </a:rPr>
              <a:t> </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Le fr</a:t>
            </a:r>
            <a:r>
              <a:rPr lang="fr-FR" altLang="fr-FR" sz="2800" dirty="0">
                <a:latin typeface="Calibri" panose="020F0502020204030204" pitchFamily="34" charset="0"/>
                <a:ea typeface="Calibri" panose="020F0502020204030204" pitchFamily="34" charset="0"/>
                <a:cs typeface="Times New Roman" panose="02020603050405020304" pitchFamily="18" charset="0"/>
              </a:rPr>
              <a:t>è</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re sain d</a:t>
            </a:r>
            <a:r>
              <a:rPr lang="fr-FR" altLang="fr-FR" sz="2800" dirty="0">
                <a:latin typeface="Calibri" panose="020F0502020204030204" pitchFamily="34" charset="0"/>
                <a:ea typeface="Calibri" panose="020F0502020204030204" pitchFamily="34" charset="0"/>
                <a:cs typeface="Times New Roman" panose="02020603050405020304" pitchFamily="18" charset="0"/>
              </a:rPr>
              <a:t>’</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un enfant </a:t>
            </a:r>
            <a:r>
              <a:rPr lang="fr-FR" altLang="fr-FR" sz="2800" dirty="0" err="1">
                <a:latin typeface="Times New Roman" panose="02020603050405020304" pitchFamily="18" charset="0"/>
                <a:ea typeface="Calibri" panose="020F0502020204030204" pitchFamily="34" charset="0"/>
                <a:cs typeface="Times New Roman" panose="02020603050405020304" pitchFamily="18" charset="0"/>
              </a:rPr>
              <a:t>ph</a:t>
            </a:r>
            <a:r>
              <a:rPr lang="fr-FR" altLang="fr-FR" sz="2800" dirty="0" err="1">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err="1">
                <a:latin typeface="Times New Roman" panose="02020603050405020304" pitchFamily="18" charset="0"/>
                <a:ea typeface="Calibri" panose="020F0502020204030204" pitchFamily="34" charset="0"/>
                <a:cs typeface="Times New Roman" panose="02020603050405020304" pitchFamily="18" charset="0"/>
              </a:rPr>
              <a:t>nylc</a:t>
            </a:r>
            <a:r>
              <a:rPr lang="fr-FR" altLang="fr-FR" sz="2800" dirty="0" err="1">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err="1">
                <a:latin typeface="Times New Roman" panose="02020603050405020304" pitchFamily="18" charset="0"/>
                <a:ea typeface="Calibri" panose="020F0502020204030204" pitchFamily="34" charset="0"/>
                <a:cs typeface="Times New Roman" panose="02020603050405020304" pitchFamily="18" charset="0"/>
              </a:rPr>
              <a:t>tonurique</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 (AR) a une probabilit</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 d</a:t>
            </a:r>
            <a:r>
              <a:rPr lang="fr-FR" altLang="fr-FR" sz="2800" dirty="0">
                <a:latin typeface="Calibri" panose="020F0502020204030204" pitchFamily="34" charset="0"/>
                <a:ea typeface="Calibri" panose="020F0502020204030204" pitchFamily="34" charset="0"/>
                <a:cs typeface="Times New Roman" panose="02020603050405020304" pitchFamily="18" charset="0"/>
              </a:rPr>
              <a:t>’</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être h</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t</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rozygote </a:t>
            </a:r>
            <a:r>
              <a:rPr lang="fr-FR" altLang="fr-FR" sz="280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gale </a:t>
            </a:r>
            <a:r>
              <a:rPr lang="fr-FR" altLang="fr-FR" sz="2800" dirty="0">
                <a:latin typeface="Calibri" panose="020F0502020204030204" pitchFamily="34" charset="0"/>
                <a:ea typeface="Calibri" panose="020F0502020204030204" pitchFamily="34" charset="0"/>
                <a:cs typeface="Times New Roman" panose="02020603050405020304" pitchFamily="18" charset="0"/>
              </a:rPr>
              <a:t>à </a:t>
            </a:r>
            <a:r>
              <a:rPr lang="fr-FR" altLang="fr-FR" sz="2800" dirty="0">
                <a:latin typeface="Times New Roman" panose="02020603050405020304" pitchFamily="18" charset="0"/>
                <a:ea typeface="Calibri" panose="020F0502020204030204" pitchFamily="34" charset="0"/>
                <a:cs typeface="Times New Roman" panose="02020603050405020304" pitchFamily="18" charset="0"/>
              </a:rPr>
              <a:t>:</a:t>
            </a:r>
          </a:p>
          <a:p>
            <a:endParaRPr lang="fr-FR" altLang="fr-FR" sz="280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a) 0</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b) 1</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c) 1/2</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d) 1/4</a:t>
            </a:r>
            <a:endParaRPr lang="fr-FR" altLang="fr-FR" sz="2800" b="0" dirty="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e) 2/3</a:t>
            </a:r>
            <a:endParaRPr lang="fr-FR" altLang="fr-FR" sz="2800" b="0" dirty="0">
              <a:ea typeface="Calibri" panose="020F0502020204030204" pitchFamily="34" charset="0"/>
              <a:cs typeface="Times New Roman" panose="02020603050405020304" pitchFamily="18" charset="0"/>
            </a:endParaRPr>
          </a:p>
          <a:p>
            <a:endParaRPr lang="fr-FR" altLang="fr-FR" sz="2800" b="0" dirty="0">
              <a:latin typeface="Times New Roman" panose="02020603050405020304" pitchFamily="18" charset="0"/>
              <a:ea typeface="Calibri" panose="020F0502020204030204" pitchFamily="34" charset="0"/>
              <a:cs typeface="Times New Roman" panose="02020603050405020304" pitchFamily="18" charset="0"/>
            </a:endParaRPr>
          </a:p>
          <a:p>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R</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é</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ponse</a:t>
            </a:r>
            <a:r>
              <a:rPr lang="fr-FR" altLang="fr-FR" sz="2800" b="0" dirty="0">
                <a:latin typeface="Calibri" panose="020F0502020204030204" pitchFamily="34" charset="0"/>
                <a:ea typeface="Calibri" panose="020F0502020204030204" pitchFamily="34" charset="0"/>
                <a:cs typeface="Times New Roman" panose="02020603050405020304" pitchFamily="18" charset="0"/>
              </a:rPr>
              <a:t> </a:t>
            </a:r>
            <a:r>
              <a:rPr lang="fr-FR" altLang="fr-FR" sz="2800" b="0" dirty="0">
                <a:latin typeface="Times New Roman" panose="02020603050405020304" pitchFamily="18" charset="0"/>
                <a:ea typeface="Calibri" panose="020F0502020204030204" pitchFamily="34" charset="0"/>
                <a:cs typeface="Times New Roman" panose="02020603050405020304" pitchFamily="18" charset="0"/>
              </a:rPr>
              <a:t>: e</a:t>
            </a:r>
            <a:endParaRPr lang="fr-FR" altLang="fr-FR" sz="2800" b="0" dirty="0">
              <a:ea typeface="Calibri" panose="020F0502020204030204" pitchFamily="34" charset="0"/>
              <a:cs typeface="Times New Roman" panose="02020603050405020304" pitchFamily="18" charset="0"/>
            </a:endParaRPr>
          </a:p>
        </p:txBody>
      </p:sp>
      <p:graphicFrame>
        <p:nvGraphicFramePr>
          <p:cNvPr id="3" name="Tableau 2"/>
          <p:cNvGraphicFramePr>
            <a:graphicFrameLocks noGrp="1"/>
          </p:cNvGraphicFramePr>
          <p:nvPr/>
        </p:nvGraphicFramePr>
        <p:xfrm>
          <a:off x="2466011" y="4627529"/>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err="1">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27984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8722">
                                            <p:txEl>
                                              <p:pRg st="8" end="8"/>
                                            </p:txEl>
                                          </p:spTgt>
                                        </p:tgtEl>
                                        <p:attrNameLst>
                                          <p:attrName>style.visibility</p:attrName>
                                        </p:attrNameLst>
                                      </p:cBhvr>
                                      <p:to>
                                        <p:strVal val="visible"/>
                                      </p:to>
                                    </p:set>
                                    <p:animEffect transition="in" filter="fade">
                                      <p:cBhvr>
                                        <p:cTn id="7" dur="2000"/>
                                        <p:tgtEl>
                                          <p:spTgt spid="158722">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1"/>
          <p:cNvSpPr>
            <a:spLocks noChangeArrowheads="1"/>
          </p:cNvSpPr>
          <p:nvPr/>
        </p:nvSpPr>
        <p:spPr bwMode="auto">
          <a:xfrm>
            <a:off x="0" y="1487610"/>
            <a:ext cx="892971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400" dirty="0" smtClean="0">
                <a:latin typeface="Arial" panose="020B0604020202020204" pitchFamily="34" charset="0"/>
                <a:ea typeface="Arial Unicode MS" panose="020B0604020202020204" pitchFamily="34" charset="-128"/>
                <a:cs typeface="Arial Unicode MS" panose="020B0604020202020204" pitchFamily="34" charset="-128"/>
              </a:rPr>
              <a:t>Un </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spermatozo</a:t>
            </a:r>
            <a:r>
              <a:rPr lang="fr-FR" altLang="fr-FR" sz="2400" dirty="0">
                <a:ea typeface="Arial Unicode MS" panose="020B0604020202020204" pitchFamily="34" charset="-128"/>
                <a:cs typeface="Arial Unicode MS" panose="020B0604020202020204" pitchFamily="34" charset="-128"/>
              </a:rPr>
              <a:t>ï</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de humain normal contient</a:t>
            </a:r>
            <a:r>
              <a:rPr lang="fr-FR" altLang="fr-FR" sz="2400" dirty="0">
                <a:ea typeface="Arial Unicode MS" panose="020B0604020202020204" pitchFamily="34" charset="-128"/>
                <a:cs typeface="Arial Unicode MS" panose="020B0604020202020204" pitchFamily="34" charset="-128"/>
              </a:rPr>
              <a:t> </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40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A) - 23 chromosomes au total,</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B) - 2 chromosomes sexuels,</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C) - 46 chromosomes au total,</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D) - 1 chromosome sexuel.</a:t>
            </a:r>
          </a:p>
          <a:p>
            <a:endParaRPr lang="fr-FR" altLang="fr-FR" sz="24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Réponse : A, D</a:t>
            </a:r>
            <a:endParaRPr lang="fr-FR" altLang="fr-FR" sz="2400" b="0" dirty="0"/>
          </a:p>
        </p:txBody>
      </p:sp>
    </p:spTree>
    <p:extLst>
      <p:ext uri="{BB962C8B-B14F-4D97-AF65-F5344CB8AC3E}">
        <p14:creationId xmlns:p14="http://schemas.microsoft.com/office/powerpoint/2010/main" val="4187875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9746">
                                            <p:txEl>
                                              <p:pRg st="7" end="7"/>
                                            </p:txEl>
                                          </p:spTgt>
                                        </p:tgtEl>
                                        <p:attrNameLst>
                                          <p:attrName>style.visibility</p:attrName>
                                        </p:attrNameLst>
                                      </p:cBhvr>
                                      <p:to>
                                        <p:strVal val="visible"/>
                                      </p:to>
                                    </p:set>
                                    <p:animEffect transition="in" filter="fade">
                                      <p:cBhvr>
                                        <p:cTn id="7" dur="2000"/>
                                        <p:tgtEl>
                                          <p:spTgt spid="15974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1"/>
          <p:cNvSpPr>
            <a:spLocks noChangeArrowheads="1"/>
          </p:cNvSpPr>
          <p:nvPr/>
        </p:nvSpPr>
        <p:spPr bwMode="auto">
          <a:xfrm>
            <a:off x="0" y="457371"/>
            <a:ext cx="9054141"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000" dirty="0"/>
          </a:p>
          <a:p>
            <a:r>
              <a:rPr lang="fr-FR" altLang="fr-FR" sz="2000" dirty="0" smtClean="0">
                <a:latin typeface="Arial" panose="020B0604020202020204" pitchFamily="34" charset="0"/>
                <a:ea typeface="Arial Unicode MS" panose="020B0604020202020204" pitchFamily="34" charset="-128"/>
                <a:cs typeface="Arial Unicode MS" panose="020B0604020202020204" pitchFamily="34" charset="-128"/>
              </a:rPr>
              <a:t>Les </a:t>
            </a:r>
            <a:r>
              <a:rPr lang="fr-FR" altLang="fr-FR" sz="2000" dirty="0">
                <a:latin typeface="Arial" panose="020B0604020202020204" pitchFamily="34" charset="0"/>
                <a:ea typeface="Arial Unicode MS" panose="020B0604020202020204" pitchFamily="34" charset="-128"/>
                <a:cs typeface="Arial Unicode MS" panose="020B0604020202020204" pitchFamily="34" charset="-128"/>
              </a:rPr>
              <a:t>cellules reproductrices</a:t>
            </a:r>
            <a:r>
              <a:rPr lang="fr-FR" altLang="fr-FR" sz="2000" dirty="0">
                <a:ea typeface="Arial Unicode MS" panose="020B0604020202020204" pitchFamily="34" charset="-128"/>
                <a:cs typeface="Arial Unicode MS" panose="020B0604020202020204" pitchFamily="34" charset="-128"/>
              </a:rPr>
              <a:t> </a:t>
            </a:r>
            <a:r>
              <a:rPr lang="fr-FR" altLang="fr-FR" sz="20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00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A) - comportent 23 chromosomes,</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B) - comportent la totalit</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 de l'information g</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tique de l</a:t>
            </a:r>
            <a:r>
              <a:rPr lang="fr-FR" altLang="fr-FR" sz="2000" b="0" dirty="0">
                <a:ea typeface="Arial Unicode MS" panose="020B0604020202020204" pitchFamily="34" charset="-128"/>
                <a:cs typeface="Arial Unicode MS" panose="020B0604020202020204" pitchFamily="34" charset="-128"/>
              </a:rPr>
              <a:t>’</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individu qui</a:t>
            </a:r>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 les a produites,</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C) - comportent toutes les mêmes informations g</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tiques,</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D) - sont issues d'une division cellulaire particuli</a:t>
            </a:r>
            <a:r>
              <a:rPr lang="fr-FR" altLang="fr-FR" sz="2000" b="0" dirty="0">
                <a:ea typeface="Arial Unicode MS" panose="020B0604020202020204" pitchFamily="34" charset="-128"/>
                <a:cs typeface="Arial Unicode MS" panose="020B0604020202020204" pitchFamily="34" charset="-128"/>
              </a:rPr>
              <a:t>è</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re qui s</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pare </a:t>
            </a:r>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au hasard les chromosomes d'une même paire</a:t>
            </a:r>
            <a:r>
              <a:rPr lang="fr-FR" altLang="fr-FR" sz="2000" b="0" dirty="0" smtClean="0">
                <a:latin typeface="Arial" panose="020B0604020202020204" pitchFamily="34" charset="0"/>
                <a:ea typeface="Arial Unicode MS" panose="020B0604020202020204" pitchFamily="34" charset="-128"/>
                <a:cs typeface="Arial Unicode MS" panose="020B0604020202020204" pitchFamily="34" charset="-128"/>
              </a:rPr>
              <a:t>.</a:t>
            </a:r>
          </a:p>
          <a:p>
            <a:r>
              <a:rPr lang="fr-FR" altLang="fr-FR" sz="2000" b="0" dirty="0" smtClean="0">
                <a:latin typeface="Arial" panose="020B0604020202020204" pitchFamily="34" charset="0"/>
                <a:ea typeface="Arial Unicode MS" panose="020B0604020202020204" pitchFamily="34" charset="-128"/>
                <a:cs typeface="Arial Unicode MS" panose="020B0604020202020204" pitchFamily="34" charset="-128"/>
              </a:rPr>
              <a:t>E)- poss</a:t>
            </a:r>
            <a:r>
              <a:rPr lang="fr-FR" altLang="fr-FR" sz="2000" b="0" dirty="0" smtClean="0">
                <a:ea typeface="Arial Unicode MS" panose="020B0604020202020204" pitchFamily="34" charset="-128"/>
                <a:cs typeface="Arial Unicode MS" panose="020B0604020202020204" pitchFamily="34" charset="-128"/>
              </a:rPr>
              <a:t>è</a:t>
            </a:r>
            <a:r>
              <a:rPr lang="fr-FR" altLang="fr-FR" sz="2000" b="0" dirty="0" smtClean="0">
                <a:latin typeface="Arial" panose="020B0604020202020204" pitchFamily="34" charset="0"/>
                <a:ea typeface="Arial Unicode MS" panose="020B0604020202020204" pitchFamily="34" charset="-128"/>
                <a:cs typeface="Arial Unicode MS" panose="020B0604020202020204" pitchFamily="34" charset="-128"/>
              </a:rPr>
              <a:t>dent 2 chromosomes sexuels.</a:t>
            </a:r>
          </a:p>
          <a:p>
            <a:endParaRPr lang="fr-FR" altLang="fr-FR" sz="2000" b="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0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Réponse : A D</a:t>
            </a:r>
            <a:endParaRPr lang="fr-FR" altLang="fr-FR" sz="2000" b="0" dirty="0"/>
          </a:p>
        </p:txBody>
      </p:sp>
    </p:spTree>
    <p:extLst>
      <p:ext uri="{BB962C8B-B14F-4D97-AF65-F5344CB8AC3E}">
        <p14:creationId xmlns:p14="http://schemas.microsoft.com/office/powerpoint/2010/main" val="1550003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1794">
                                            <p:txEl>
                                              <p:pRg st="12" end="12"/>
                                            </p:txEl>
                                          </p:spTgt>
                                        </p:tgtEl>
                                        <p:attrNameLst>
                                          <p:attrName>style.visibility</p:attrName>
                                        </p:attrNameLst>
                                      </p:cBhvr>
                                      <p:to>
                                        <p:strVal val="visible"/>
                                      </p:to>
                                    </p:set>
                                    <p:animEffect transition="in" filter="fade">
                                      <p:cBhvr>
                                        <p:cTn id="7" dur="2000"/>
                                        <p:tgtEl>
                                          <p:spTgt spid="16179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1"/>
          <p:cNvSpPr>
            <a:spLocks noChangeArrowheads="1"/>
          </p:cNvSpPr>
          <p:nvPr/>
        </p:nvSpPr>
        <p:spPr bwMode="auto">
          <a:xfrm>
            <a:off x="357158" y="944412"/>
            <a:ext cx="8501122"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800" dirty="0"/>
          </a:p>
          <a:p>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Un caryotype</a:t>
            </a:r>
            <a:r>
              <a:rPr lang="fr-FR" altLang="fr-FR" sz="2800" dirty="0">
                <a:ea typeface="Arial Unicode MS" panose="020B0604020202020204" pitchFamily="34" charset="-128"/>
                <a:cs typeface="Arial Unicode MS" panose="020B0604020202020204" pitchFamily="34" charset="-128"/>
              </a:rPr>
              <a:t> </a:t>
            </a:r>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80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 - est la repr</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sentation des chromosomes pr</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sents dans le noyau des cellules,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B) - comporte le même nombre de chromosomes chez toutes les esp</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 - permet de r</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v</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ler une anomalie du nombre de chromosomes,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 - est r</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alis</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a:t>
            </a:r>
            <a:r>
              <a:rPr lang="fr-FR" altLang="fr-FR" sz="2800" b="0" dirty="0">
                <a:ea typeface="Arial Unicode MS" panose="020B0604020202020204" pitchFamily="34" charset="-128"/>
                <a:cs typeface="Arial Unicode MS" panose="020B0604020202020204" pitchFamily="34" charset="-128"/>
              </a:rPr>
              <a:t>à</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partir de cellules en division.</a:t>
            </a: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8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 A C D</a:t>
            </a:r>
            <a:endParaRPr lang="fr-FR" altLang="fr-FR" sz="2800" b="0" dirty="0"/>
          </a:p>
          <a:p>
            <a:endParaRPr lang="fr-FR" altLang="fr-FR" sz="2800" b="0" dirty="0"/>
          </a:p>
        </p:txBody>
      </p:sp>
    </p:spTree>
    <p:extLst>
      <p:ext uri="{BB962C8B-B14F-4D97-AF65-F5344CB8AC3E}">
        <p14:creationId xmlns:p14="http://schemas.microsoft.com/office/powerpoint/2010/main" val="2505397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3842">
                                            <p:txEl>
                                              <p:pRg st="8" end="8"/>
                                            </p:txEl>
                                          </p:spTgt>
                                        </p:tgtEl>
                                        <p:attrNameLst>
                                          <p:attrName>style.visibility</p:attrName>
                                        </p:attrNameLst>
                                      </p:cBhvr>
                                      <p:to>
                                        <p:strVal val="visible"/>
                                      </p:to>
                                    </p:set>
                                    <p:animEffect transition="in" filter="fade">
                                      <p:cBhvr>
                                        <p:cTn id="7" dur="2000"/>
                                        <p:tgtEl>
                                          <p:spTgt spid="16384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
          <p:cNvSpPr>
            <a:spLocks noChangeArrowheads="1"/>
          </p:cNvSpPr>
          <p:nvPr/>
        </p:nvSpPr>
        <p:spPr bwMode="auto">
          <a:xfrm>
            <a:off x="214282" y="873462"/>
            <a:ext cx="8715436"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400" dirty="0"/>
          </a:p>
          <a:p>
            <a:r>
              <a:rPr lang="fr-FR" altLang="fr-FR" sz="2400" dirty="0" smtClean="0">
                <a:latin typeface="Arial" panose="020B0604020202020204" pitchFamily="34" charset="0"/>
                <a:ea typeface="Arial Unicode MS" panose="020B0604020202020204" pitchFamily="34" charset="-128"/>
                <a:cs typeface="Arial Unicode MS" panose="020B0604020202020204" pitchFamily="34" charset="-128"/>
              </a:rPr>
              <a:t>Les </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caract</a:t>
            </a:r>
            <a:r>
              <a:rPr lang="fr-FR" altLang="fr-FR" sz="2400" dirty="0">
                <a:ea typeface="Arial Unicode MS" panose="020B0604020202020204" pitchFamily="34" charset="-128"/>
                <a:cs typeface="Arial Unicode MS" panose="020B0604020202020204" pitchFamily="34" charset="-128"/>
              </a:rPr>
              <a:t>è</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res d'un individu</a:t>
            </a:r>
            <a:r>
              <a:rPr lang="fr-FR" altLang="fr-FR" sz="2400" dirty="0">
                <a:ea typeface="Arial Unicode MS" panose="020B0604020202020204" pitchFamily="34" charset="-128"/>
                <a:cs typeface="Arial Unicode MS" panose="020B0604020202020204" pitchFamily="34" charset="-128"/>
              </a:rPr>
              <a:t> </a:t>
            </a:r>
            <a:r>
              <a:rPr lang="fr-FR" altLang="fr-FR" sz="24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40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40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A) - sont tous h</a:t>
            </a:r>
            <a:r>
              <a:rPr lang="fr-FR" altLang="fr-FR" sz="2400" b="0" dirty="0">
                <a:ea typeface="Arial Unicode MS" panose="020B0604020202020204" pitchFamily="34" charset="-128"/>
                <a:cs typeface="Arial Unicode MS" panose="020B0604020202020204" pitchFamily="34" charset="-128"/>
              </a:rPr>
              <a:t>é</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r</a:t>
            </a:r>
            <a:r>
              <a:rPr lang="fr-FR" altLang="fr-FR" sz="2400" b="0" dirty="0">
                <a:ea typeface="Arial Unicode MS" panose="020B0604020202020204" pitchFamily="34" charset="-128"/>
                <a:cs typeface="Arial Unicode MS" panose="020B0604020202020204" pitchFamily="34" charset="-128"/>
              </a:rPr>
              <a:t>é</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ditaires,</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B) - ne d</a:t>
            </a:r>
            <a:r>
              <a:rPr lang="fr-FR" altLang="fr-FR" sz="2400" b="0" dirty="0">
                <a:ea typeface="Arial Unicode MS" panose="020B0604020202020204" pitchFamily="34" charset="-128"/>
                <a:cs typeface="Arial Unicode MS" panose="020B0604020202020204" pitchFamily="34" charset="-128"/>
              </a:rPr>
              <a:t>é</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pendent que des all</a:t>
            </a:r>
            <a:r>
              <a:rPr lang="fr-FR" altLang="fr-FR" sz="2400" b="0" dirty="0">
                <a:ea typeface="Arial Unicode MS" panose="020B0604020202020204" pitchFamily="34" charset="-128"/>
                <a:cs typeface="Arial Unicode MS" panose="020B0604020202020204" pitchFamily="34" charset="-128"/>
              </a:rPr>
              <a:t>è</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les re</a:t>
            </a:r>
            <a:r>
              <a:rPr lang="fr-FR" altLang="fr-FR" sz="2400" b="0" dirty="0">
                <a:ea typeface="Arial Unicode MS" panose="020B0604020202020204" pitchFamily="34" charset="-128"/>
                <a:cs typeface="Arial Unicode MS" panose="020B0604020202020204" pitchFamily="34" charset="-128"/>
              </a:rPr>
              <a:t>ç</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us des parents,</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C) - r</a:t>
            </a:r>
            <a:r>
              <a:rPr lang="fr-FR" altLang="fr-FR" sz="2400" b="0" dirty="0">
                <a:ea typeface="Arial Unicode MS" panose="020B0604020202020204" pitchFamily="34" charset="-128"/>
                <a:cs typeface="Arial Unicode MS" panose="020B0604020202020204" pitchFamily="34" charset="-128"/>
              </a:rPr>
              <a:t>é</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sultent des associations entre les all</a:t>
            </a:r>
            <a:r>
              <a:rPr lang="fr-FR" altLang="fr-FR" sz="2400" b="0" dirty="0">
                <a:ea typeface="Arial Unicode MS" panose="020B0604020202020204" pitchFamily="34" charset="-128"/>
                <a:cs typeface="Arial Unicode MS" panose="020B0604020202020204" pitchFamily="34" charset="-128"/>
              </a:rPr>
              <a:t>è</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les des parents,</a:t>
            </a:r>
            <a:endParaRPr lang="fr-FR" altLang="fr-FR" sz="2400" b="0" dirty="0"/>
          </a:p>
          <a:p>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D) - peuvent d</a:t>
            </a:r>
            <a:r>
              <a:rPr lang="fr-FR" altLang="fr-FR" sz="2400" b="0" dirty="0">
                <a:ea typeface="Arial Unicode MS" panose="020B0604020202020204" pitchFamily="34" charset="-128"/>
                <a:cs typeface="Arial Unicode MS" panose="020B0604020202020204" pitchFamily="34" charset="-128"/>
              </a:rPr>
              <a:t>é</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pendre de l'environnement.</a:t>
            </a:r>
          </a:p>
          <a:p>
            <a:endParaRPr lang="fr-FR" altLang="fr-FR" sz="24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4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 C D</a:t>
            </a:r>
            <a:endParaRPr lang="fr-FR" altLang="fr-FR" sz="2400" b="0" dirty="0"/>
          </a:p>
          <a:p>
            <a:endParaRPr lang="fr-FR" altLang="fr-FR" dirty="0"/>
          </a:p>
        </p:txBody>
      </p:sp>
    </p:spTree>
    <p:extLst>
      <p:ext uri="{BB962C8B-B14F-4D97-AF65-F5344CB8AC3E}">
        <p14:creationId xmlns:p14="http://schemas.microsoft.com/office/powerpoint/2010/main" val="2108608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5890">
                                            <p:txEl>
                                              <p:pRg st="9" end="9"/>
                                            </p:txEl>
                                          </p:spTgt>
                                        </p:tgtEl>
                                        <p:attrNameLst>
                                          <p:attrName>style.visibility</p:attrName>
                                        </p:attrNameLst>
                                      </p:cBhvr>
                                      <p:to>
                                        <p:strVal val="visible"/>
                                      </p:to>
                                    </p:set>
                                    <p:animEffect transition="in" filter="fade">
                                      <p:cBhvr>
                                        <p:cTn id="7" dur="2000"/>
                                        <p:tgtEl>
                                          <p:spTgt spid="16589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1"/>
          <p:cNvSpPr>
            <a:spLocks noChangeArrowheads="1"/>
          </p:cNvSpPr>
          <p:nvPr/>
        </p:nvSpPr>
        <p:spPr bwMode="auto">
          <a:xfrm>
            <a:off x="0" y="0"/>
            <a:ext cx="9144000"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000" dirty="0"/>
          </a:p>
          <a:p>
            <a:r>
              <a:rPr lang="fr-FR" altLang="fr-FR" sz="2000" dirty="0" smtClean="0">
                <a:latin typeface="Arial" panose="020B0604020202020204" pitchFamily="34" charset="0"/>
                <a:ea typeface="Arial Unicode MS" panose="020B0604020202020204" pitchFamily="34" charset="-128"/>
                <a:cs typeface="Arial Unicode MS" panose="020B0604020202020204" pitchFamily="34" charset="-128"/>
              </a:rPr>
              <a:t>Toutes </a:t>
            </a:r>
            <a:r>
              <a:rPr lang="fr-FR" altLang="fr-FR" sz="2000" dirty="0">
                <a:latin typeface="Arial" panose="020B0604020202020204" pitchFamily="34" charset="0"/>
                <a:ea typeface="Arial Unicode MS" panose="020B0604020202020204" pitchFamily="34" charset="-128"/>
                <a:cs typeface="Arial Unicode MS" panose="020B0604020202020204" pitchFamily="34" charset="-128"/>
              </a:rPr>
              <a:t>les cellules de l'organisme</a:t>
            </a:r>
            <a:r>
              <a:rPr lang="fr-FR" altLang="fr-FR" sz="2000" dirty="0">
                <a:ea typeface="Arial Unicode MS" panose="020B0604020202020204" pitchFamily="34" charset="-128"/>
                <a:cs typeface="Arial Unicode MS" panose="020B0604020202020204" pitchFamily="34" charset="-128"/>
              </a:rPr>
              <a:t> </a:t>
            </a:r>
            <a:r>
              <a:rPr lang="fr-FR" altLang="fr-FR" sz="20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00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00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A) - poss</a:t>
            </a:r>
            <a:r>
              <a:rPr lang="fr-FR" altLang="fr-FR" sz="2000" b="0" dirty="0">
                <a:ea typeface="Arial Unicode MS" panose="020B0604020202020204" pitchFamily="34" charset="-128"/>
                <a:cs typeface="Arial Unicode MS" panose="020B0604020202020204" pitchFamily="34" charset="-128"/>
              </a:rPr>
              <a:t>è</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dent la même information g</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tique que la cellule </a:t>
            </a:r>
            <a:r>
              <a:rPr lang="fr-FR" altLang="fr-FR" sz="2000" b="0" dirty="0">
                <a:ea typeface="Arial Unicode MS" panose="020B0604020202020204" pitchFamily="34" charset="-128"/>
                <a:cs typeface="Arial Unicode MS" panose="020B0604020202020204" pitchFamily="34" charset="-128"/>
              </a:rPr>
              <a:t>œ</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uf dont elles proviennent,</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B) - poss</a:t>
            </a:r>
            <a:r>
              <a:rPr lang="fr-FR" altLang="fr-FR" sz="2000" b="0" dirty="0">
                <a:ea typeface="Arial Unicode MS" panose="020B0604020202020204" pitchFamily="34" charset="-128"/>
                <a:cs typeface="Arial Unicode MS" panose="020B0604020202020204" pitchFamily="34" charset="-128"/>
              </a:rPr>
              <a:t>è</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dent la même information g</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000" b="0" dirty="0">
                <a:ea typeface="Arial Unicode MS" panose="020B0604020202020204" pitchFamily="34" charset="-128"/>
                <a:cs typeface="Arial Unicode MS" panose="020B0604020202020204" pitchFamily="34" charset="-128"/>
              </a:rPr>
              <a:t>é</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tique que la cellule </a:t>
            </a:r>
            <a:r>
              <a:rPr lang="fr-FR" altLang="fr-FR" sz="2000" b="0" dirty="0">
                <a:ea typeface="Arial Unicode MS" panose="020B0604020202020204" pitchFamily="34" charset="-128"/>
                <a:cs typeface="Arial Unicode MS" panose="020B0604020202020204" pitchFamily="34" charset="-128"/>
              </a:rPr>
              <a:t>œ</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uf </a:t>
            </a:r>
            <a:r>
              <a:rPr lang="fr-FR" altLang="fr-FR" sz="2000" b="0" dirty="0">
                <a:ea typeface="Arial Unicode MS" panose="020B0604020202020204" pitchFamily="34" charset="-128"/>
                <a:cs typeface="Arial Unicode MS" panose="020B0604020202020204" pitchFamily="34" charset="-128"/>
              </a:rPr>
              <a:t>à</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 l'exception des cellules reproductrices,</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C) - expriment l'ensemble des g</a:t>
            </a:r>
            <a:r>
              <a:rPr lang="fr-FR" altLang="fr-FR" sz="2000" b="0" dirty="0">
                <a:ea typeface="Arial Unicode MS" panose="020B0604020202020204" pitchFamily="34" charset="-128"/>
                <a:cs typeface="Arial Unicode MS" panose="020B0604020202020204" pitchFamily="34" charset="-128"/>
              </a:rPr>
              <a:t>è</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nes,</a:t>
            </a:r>
            <a:endParaRPr lang="fr-FR" altLang="fr-FR" sz="2000" b="0" dirty="0"/>
          </a:p>
          <a:p>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D) - n'expriment qu'une partie des g</a:t>
            </a:r>
            <a:r>
              <a:rPr lang="fr-FR" altLang="fr-FR" sz="2000" b="0" dirty="0">
                <a:ea typeface="Arial Unicode MS" panose="020B0604020202020204" pitchFamily="34" charset="-128"/>
                <a:cs typeface="Arial Unicode MS" panose="020B0604020202020204" pitchFamily="34" charset="-128"/>
              </a:rPr>
              <a:t>è</a:t>
            </a:r>
            <a:r>
              <a:rPr lang="fr-FR" altLang="fr-FR" sz="2000" b="0" dirty="0">
                <a:latin typeface="Arial" panose="020B0604020202020204" pitchFamily="34" charset="0"/>
                <a:ea typeface="Arial Unicode MS" panose="020B0604020202020204" pitchFamily="34" charset="-128"/>
                <a:cs typeface="Arial Unicode MS" panose="020B0604020202020204" pitchFamily="34" charset="-128"/>
              </a:rPr>
              <a:t>nes</a:t>
            </a:r>
            <a:endParaRPr lang="fr-FR" altLang="fr-FR" sz="1100" b="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1100" b="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4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4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400" b="0" dirty="0">
                <a:latin typeface="Arial" panose="020B0604020202020204" pitchFamily="34" charset="0"/>
                <a:ea typeface="Arial Unicode MS" panose="020B0604020202020204" pitchFamily="34" charset="-128"/>
                <a:cs typeface="Arial Unicode MS" panose="020B0604020202020204" pitchFamily="34" charset="-128"/>
              </a:rPr>
              <a:t> : B  D</a:t>
            </a:r>
          </a:p>
        </p:txBody>
      </p:sp>
    </p:spTree>
    <p:extLst>
      <p:ext uri="{BB962C8B-B14F-4D97-AF65-F5344CB8AC3E}">
        <p14:creationId xmlns:p14="http://schemas.microsoft.com/office/powerpoint/2010/main" val="783134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7938">
                                            <p:txEl>
                                              <p:pRg st="10" end="10"/>
                                            </p:txEl>
                                          </p:spTgt>
                                        </p:tgtEl>
                                        <p:attrNameLst>
                                          <p:attrName>style.visibility</p:attrName>
                                        </p:attrNameLst>
                                      </p:cBhvr>
                                      <p:to>
                                        <p:strVal val="visible"/>
                                      </p:to>
                                    </p:set>
                                    <p:animEffect transition="in" filter="fade">
                                      <p:cBhvr>
                                        <p:cTn id="7" dur="2000"/>
                                        <p:tgtEl>
                                          <p:spTgt spid="16793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1"/>
          <p:cNvSpPr>
            <a:spLocks noChangeArrowheads="1"/>
          </p:cNvSpPr>
          <p:nvPr/>
        </p:nvSpPr>
        <p:spPr bwMode="auto">
          <a:xfrm>
            <a:off x="214282" y="-7456"/>
            <a:ext cx="871543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800" dirty="0"/>
          </a:p>
          <a:p>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Dans le noyau d’une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cellule humaine </a:t>
            </a:r>
            <a:r>
              <a:rPr lang="fr-FR" altLang="fr-FR" sz="2800" dirty="0">
                <a:ea typeface="Arial Unicode MS" panose="020B0604020202020204" pitchFamily="34" charset="-128"/>
                <a:cs typeface="Arial Unicode MS" panose="020B0604020202020204" pitchFamily="34" charset="-128"/>
              </a:rPr>
              <a:t> </a:t>
            </a:r>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80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80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 - il y a toujours 46 chromosomes,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B) - il y a toujours des chromosomes sexuels,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 - les all</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les d</a:t>
            </a:r>
            <a:r>
              <a:rPr lang="fr-FR" altLang="fr-FR" sz="2800" b="0" dirty="0">
                <a:ea typeface="Arial Unicode MS" panose="020B0604020202020204" pitchFamily="34" charset="-128"/>
                <a:cs typeface="Arial Unicode MS" panose="020B0604020202020204" pitchFamily="34" charset="-128"/>
              </a:rPr>
              <a:t>’</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un g</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ne peuvent être identiques,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 - les all</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les d'un g</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ne sont forc</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ment diff</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rents.</a:t>
            </a: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8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 B C</a:t>
            </a:r>
            <a:endParaRPr lang="fr-FR" altLang="fr-FR" sz="2800" b="0" dirty="0"/>
          </a:p>
        </p:txBody>
      </p:sp>
    </p:spTree>
    <p:extLst>
      <p:ext uri="{BB962C8B-B14F-4D97-AF65-F5344CB8AC3E}">
        <p14:creationId xmlns:p14="http://schemas.microsoft.com/office/powerpoint/2010/main" val="12314275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2034">
                                            <p:txEl>
                                              <p:pRg st="9" end="9"/>
                                            </p:txEl>
                                          </p:spTgt>
                                        </p:tgtEl>
                                        <p:attrNameLst>
                                          <p:attrName>style.visibility</p:attrName>
                                        </p:attrNameLst>
                                      </p:cBhvr>
                                      <p:to>
                                        <p:strVal val="visible"/>
                                      </p:to>
                                    </p:set>
                                    <p:animEffect transition="in" filter="fade">
                                      <p:cBhvr>
                                        <p:cTn id="7" dur="2000"/>
                                        <p:tgtEl>
                                          <p:spTgt spid="17203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1"/>
          <p:cNvSpPr>
            <a:spLocks noChangeArrowheads="1"/>
          </p:cNvSpPr>
          <p:nvPr/>
        </p:nvSpPr>
        <p:spPr bwMode="auto">
          <a:xfrm>
            <a:off x="142844" y="309161"/>
            <a:ext cx="8858312"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800" dirty="0"/>
          </a:p>
          <a:p>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Mon p</a:t>
            </a:r>
            <a:r>
              <a:rPr lang="fr-FR" altLang="fr-FR" sz="2800" dirty="0">
                <a:ea typeface="Arial Unicode MS" panose="020B0604020202020204" pitchFamily="34" charset="-128"/>
                <a:cs typeface="Arial Unicode MS" panose="020B0604020202020204" pitchFamily="34" charset="-128"/>
              </a:rPr>
              <a:t>è</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re est de groupe sanguin A et ma m</a:t>
            </a:r>
            <a:r>
              <a:rPr lang="fr-FR" altLang="fr-FR" sz="2800" dirty="0">
                <a:ea typeface="Arial Unicode MS" panose="020B0604020202020204" pitchFamily="34" charset="-128"/>
                <a:cs typeface="Arial Unicode MS" panose="020B0604020202020204" pitchFamily="34" charset="-128"/>
              </a:rPr>
              <a:t>è</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re est de groupe sanguin B</a:t>
            </a:r>
            <a:r>
              <a:rPr lang="fr-FR" altLang="fr-FR" sz="2800" dirty="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80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 - je ne peux pas être de groupe sanguin O,</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B) - je ne peux être que de groupe sanguin AB,</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 - je peux être de groupe sanguin A,</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 - je peux être de groupe sanguin B</a:t>
            </a:r>
            <a:r>
              <a:rPr lang="fr-FR" altLang="fr-FR" sz="2800" b="0" dirty="0" smtClean="0">
                <a:latin typeface="Arial" panose="020B0604020202020204" pitchFamily="34" charset="0"/>
                <a:ea typeface="Arial Unicode MS" panose="020B0604020202020204" pitchFamily="34" charset="-128"/>
                <a:cs typeface="Arial Unicode MS" panose="020B0604020202020204" pitchFamily="34" charset="-128"/>
              </a:rPr>
              <a:t>.</a:t>
            </a:r>
          </a:p>
          <a:p>
            <a:r>
              <a:rPr lang="fr-FR" altLang="fr-FR" sz="2800" b="0" dirty="0" smtClean="0">
                <a:latin typeface="Arial" panose="020B0604020202020204" pitchFamily="34" charset="0"/>
                <a:ea typeface="Arial Unicode MS" panose="020B0604020202020204" pitchFamily="34" charset="-128"/>
                <a:cs typeface="Arial Unicode MS" panose="020B0604020202020204" pitchFamily="34" charset="-128"/>
              </a:rPr>
              <a:t>E) - je peux être de groupe sanguin AB.</a:t>
            </a: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8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 C </a:t>
            </a:r>
            <a:r>
              <a:rPr lang="fr-FR" altLang="fr-FR" sz="2800" b="0" dirty="0" smtClean="0">
                <a:latin typeface="Arial" panose="020B0604020202020204" pitchFamily="34" charset="0"/>
                <a:ea typeface="Arial Unicode MS" panose="020B0604020202020204" pitchFamily="34" charset="-128"/>
                <a:cs typeface="Arial Unicode MS" panose="020B0604020202020204" pitchFamily="34" charset="-128"/>
              </a:rPr>
              <a:t>D E</a:t>
            </a:r>
            <a:endParaRPr lang="fr-FR" altLang="fr-FR" sz="2800" b="0" dirty="0"/>
          </a:p>
        </p:txBody>
      </p:sp>
    </p:spTree>
    <p:extLst>
      <p:ext uri="{BB962C8B-B14F-4D97-AF65-F5344CB8AC3E}">
        <p14:creationId xmlns:p14="http://schemas.microsoft.com/office/powerpoint/2010/main" val="2728011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4082">
                                            <p:txEl>
                                              <p:pRg st="10" end="10"/>
                                            </p:txEl>
                                          </p:spTgt>
                                        </p:tgtEl>
                                        <p:attrNameLst>
                                          <p:attrName>style.visibility</p:attrName>
                                        </p:attrNameLst>
                                      </p:cBhvr>
                                      <p:to>
                                        <p:strVal val="visible"/>
                                      </p:to>
                                    </p:set>
                                    <p:animEffect transition="in" filter="fade">
                                      <p:cBhvr>
                                        <p:cTn id="7" dur="2000"/>
                                        <p:tgtEl>
                                          <p:spTgt spid="17408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1"/>
          <p:cNvSpPr>
            <a:spLocks noChangeArrowheads="1"/>
          </p:cNvSpPr>
          <p:nvPr/>
        </p:nvSpPr>
        <p:spPr bwMode="auto">
          <a:xfrm>
            <a:off x="285720" y="187940"/>
            <a:ext cx="8643998"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800" dirty="0"/>
          </a:p>
          <a:p>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La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reproduction sexu</a:t>
            </a:r>
            <a:r>
              <a:rPr lang="fr-FR" altLang="fr-FR" sz="2800" dirty="0">
                <a:ea typeface="Arial Unicode MS" panose="020B0604020202020204" pitchFamily="34" charset="-128"/>
                <a:cs typeface="Arial Unicode MS" panose="020B0604020202020204" pitchFamily="34" charset="-128"/>
              </a:rPr>
              <a:t>é</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e permet un brassage g</a:t>
            </a:r>
            <a:r>
              <a:rPr lang="fr-FR" altLang="fr-FR" sz="2800" dirty="0">
                <a:ea typeface="Arial Unicode MS" panose="020B0604020202020204" pitchFamily="34" charset="-128"/>
                <a:cs typeface="Arial Unicode MS" panose="020B0604020202020204" pitchFamily="34" charset="-128"/>
              </a:rPr>
              <a:t>é</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800" dirty="0">
                <a:ea typeface="Arial Unicode MS" panose="020B0604020202020204" pitchFamily="34" charset="-128"/>
                <a:cs typeface="Arial Unicode MS" panose="020B0604020202020204" pitchFamily="34" charset="-128"/>
              </a:rPr>
              <a:t>é</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tique car les cellules reproductrices</a:t>
            </a:r>
            <a:r>
              <a:rPr lang="fr-FR" altLang="fr-FR" sz="2800" dirty="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80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 - poss</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dent toutes la même information g</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tique,</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B) - poss</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dent chacune la moiti</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de l'information g</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tique d'un individu,</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 - poss</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dent au hasard un all</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le de chaque g</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ne,</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 - se rencontrent au hasard lors de la f</a:t>
            </a:r>
            <a:r>
              <a:rPr lang="fr-FR" altLang="fr-FR" sz="2800" b="0" dirty="0">
                <a:ea typeface="Arial Unicode MS" panose="020B0604020202020204" pitchFamily="34" charset="-128"/>
                <a:cs typeface="Arial Unicode MS" panose="020B0604020202020204" pitchFamily="34" charset="-128"/>
              </a:rPr>
              <a:t>é</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condation.</a:t>
            </a: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8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 B  C  D</a:t>
            </a:r>
            <a:endParaRPr lang="fr-FR" altLang="fr-FR" sz="2800" b="0" dirty="0"/>
          </a:p>
        </p:txBody>
      </p:sp>
    </p:spTree>
    <p:extLst>
      <p:ext uri="{BB962C8B-B14F-4D97-AF65-F5344CB8AC3E}">
        <p14:creationId xmlns:p14="http://schemas.microsoft.com/office/powerpoint/2010/main" val="2592352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8178">
                                            <p:txEl>
                                              <p:pRg st="8" end="8"/>
                                            </p:txEl>
                                          </p:spTgt>
                                        </p:tgtEl>
                                        <p:attrNameLst>
                                          <p:attrName>style.visibility</p:attrName>
                                        </p:attrNameLst>
                                      </p:cBhvr>
                                      <p:to>
                                        <p:strVal val="visible"/>
                                      </p:to>
                                    </p:set>
                                    <p:animEffect transition="in" filter="fade">
                                      <p:cBhvr>
                                        <p:cTn id="7" dur="2000"/>
                                        <p:tgtEl>
                                          <p:spTgt spid="17817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1"/>
          <p:cNvSpPr>
            <a:spLocks noChangeArrowheads="1"/>
          </p:cNvSpPr>
          <p:nvPr/>
        </p:nvSpPr>
        <p:spPr bwMode="auto">
          <a:xfrm>
            <a:off x="428596" y="670869"/>
            <a:ext cx="8429684"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nchor="ctr">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endParaRPr lang="fr-FR" altLang="fr-FR" sz="2800" dirty="0"/>
          </a:p>
          <a:p>
            <a:r>
              <a:rPr lang="fr-FR" altLang="fr-FR" sz="2800" dirty="0" smtClean="0">
                <a:latin typeface="Arial" panose="020B0604020202020204" pitchFamily="34" charset="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Les chromosomes se trouvent</a:t>
            </a:r>
            <a:r>
              <a:rPr lang="fr-FR" altLang="fr-FR" sz="2800" dirty="0">
                <a:ea typeface="Arial Unicode MS" panose="020B0604020202020204" pitchFamily="34" charset="-128"/>
                <a:cs typeface="Arial Unicode MS" panose="020B0604020202020204" pitchFamily="34" charset="-128"/>
              </a:rPr>
              <a:t> </a:t>
            </a:r>
            <a:r>
              <a:rPr lang="fr-FR" altLang="fr-FR" sz="2800" dirty="0">
                <a:latin typeface="Arial" panose="020B0604020202020204" pitchFamily="34" charset="0"/>
                <a:ea typeface="Arial Unicode MS" panose="020B0604020202020204" pitchFamily="34" charset="-128"/>
                <a:cs typeface="Arial Unicode MS" panose="020B0604020202020204" pitchFamily="34" charset="-128"/>
              </a:rPr>
              <a:t>:</a:t>
            </a:r>
          </a:p>
          <a:p>
            <a:endParaRPr lang="fr-FR" altLang="fr-FR" sz="280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A) - dans les all</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les,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B) - dans le noyau,</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C) - dans les g</a:t>
            </a:r>
            <a:r>
              <a:rPr lang="fr-FR" altLang="fr-FR" sz="2800" b="0" dirty="0">
                <a:ea typeface="Arial Unicode MS" panose="020B0604020202020204" pitchFamily="34" charset="-128"/>
                <a:cs typeface="Arial Unicode MS" panose="020B0604020202020204" pitchFamily="34" charset="-128"/>
              </a:rPr>
              <a:t>è</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nes,</a:t>
            </a:r>
            <a:endParaRPr lang="fr-FR" altLang="fr-FR" sz="2800" b="0" dirty="0"/>
          </a:p>
          <a:p>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D) - dans les cellules</a:t>
            </a:r>
            <a:r>
              <a:rPr lang="fr-FR" altLang="fr-FR" sz="2800" b="0" dirty="0" smtClean="0">
                <a:latin typeface="Arial" panose="020B0604020202020204" pitchFamily="34" charset="0"/>
                <a:ea typeface="Arial Unicode MS" panose="020B0604020202020204" pitchFamily="34" charset="-128"/>
                <a:cs typeface="Arial Unicode MS" panose="020B0604020202020204" pitchFamily="34" charset="-128"/>
              </a:rPr>
              <a:t>.</a:t>
            </a:r>
          </a:p>
          <a:p>
            <a:r>
              <a:rPr lang="fr-FR" altLang="fr-FR" sz="2800" b="0" dirty="0" smtClean="0">
                <a:latin typeface="Arial" panose="020B0604020202020204" pitchFamily="34" charset="0"/>
                <a:ea typeface="Arial Unicode MS" panose="020B0604020202020204" pitchFamily="34" charset="-128"/>
                <a:cs typeface="Arial Unicode MS" panose="020B0604020202020204" pitchFamily="34" charset="-128"/>
              </a:rPr>
              <a:t>E) – sur des locus</a:t>
            </a:r>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endParaRPr lang="fr-FR" altLang="fr-FR" sz="2800" b="0" dirty="0">
              <a:latin typeface="Arial" panose="020B0604020202020204" pitchFamily="34" charset="0"/>
              <a:ea typeface="Arial Unicode MS" panose="020B0604020202020204" pitchFamily="34" charset="-128"/>
              <a:cs typeface="Arial Unicode MS" panose="020B0604020202020204" pitchFamily="34" charset="-128"/>
            </a:endParaRPr>
          </a:p>
          <a:p>
            <a:r>
              <a:rPr lang="fr-FR" altLang="fr-FR" sz="2800" b="0" dirty="0" err="1">
                <a:latin typeface="Arial" panose="020B0604020202020204" pitchFamily="34" charset="0"/>
                <a:ea typeface="Arial Unicode MS" panose="020B0604020202020204" pitchFamily="34" charset="-128"/>
                <a:cs typeface="Arial Unicode MS" panose="020B0604020202020204" pitchFamily="34" charset="-128"/>
              </a:rPr>
              <a:t>Rép</a:t>
            </a:r>
            <a:r>
              <a:rPr lang="fr-FR" altLang="fr-FR" sz="2800" b="0" dirty="0">
                <a:latin typeface="Arial" panose="020B0604020202020204" pitchFamily="34" charset="0"/>
                <a:ea typeface="Arial Unicode MS" panose="020B0604020202020204" pitchFamily="34" charset="-128"/>
                <a:cs typeface="Arial Unicode MS" panose="020B0604020202020204" pitchFamily="34" charset="-128"/>
              </a:rPr>
              <a:t>: B  D</a:t>
            </a:r>
            <a:endParaRPr lang="fr-FR" altLang="fr-FR" sz="2800" b="0" dirty="0"/>
          </a:p>
        </p:txBody>
      </p:sp>
    </p:spTree>
    <p:extLst>
      <p:ext uri="{BB962C8B-B14F-4D97-AF65-F5344CB8AC3E}">
        <p14:creationId xmlns:p14="http://schemas.microsoft.com/office/powerpoint/2010/main" val="2354620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0226">
                                            <p:txEl>
                                              <p:pRg st="9" end="9"/>
                                            </p:txEl>
                                          </p:spTgt>
                                        </p:tgtEl>
                                        <p:attrNameLst>
                                          <p:attrName>style.visibility</p:attrName>
                                        </p:attrNameLst>
                                      </p:cBhvr>
                                      <p:to>
                                        <p:strVal val="visible"/>
                                      </p:to>
                                    </p:set>
                                    <p:animEffect transition="in" filter="fade">
                                      <p:cBhvr>
                                        <p:cTn id="7" dur="2000"/>
                                        <p:tgtEl>
                                          <p:spTgt spid="18022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76367" y="709687"/>
            <a:ext cx="772463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000" b="1">
                <a:solidFill>
                  <a:schemeClr val="tx1"/>
                </a:solidFill>
                <a:latin typeface="Verdana" panose="020B0604030504040204" pitchFamily="34" charset="0"/>
              </a:defRPr>
            </a:lvl1pPr>
            <a:lvl2pPr marL="742950" indent="-285750">
              <a:defRPr sz="1000" b="1">
                <a:solidFill>
                  <a:schemeClr val="tx1"/>
                </a:solidFill>
                <a:latin typeface="Verdana" panose="020B0604030504040204" pitchFamily="34" charset="0"/>
              </a:defRPr>
            </a:lvl2pPr>
            <a:lvl3pPr marL="1143000" indent="-228600">
              <a:defRPr sz="1000" b="1">
                <a:solidFill>
                  <a:schemeClr val="tx1"/>
                </a:solidFill>
                <a:latin typeface="Verdana" panose="020B0604030504040204" pitchFamily="34" charset="0"/>
              </a:defRPr>
            </a:lvl3pPr>
            <a:lvl4pPr marL="1600200" indent="-228600">
              <a:defRPr sz="1000" b="1">
                <a:solidFill>
                  <a:schemeClr val="tx1"/>
                </a:solidFill>
                <a:latin typeface="Verdana" panose="020B0604030504040204" pitchFamily="34" charset="0"/>
              </a:defRPr>
            </a:lvl4pPr>
            <a:lvl5pPr marL="2057400" indent="-228600">
              <a:defRPr sz="1000" b="1">
                <a:solidFill>
                  <a:schemeClr val="tx1"/>
                </a:solidFill>
                <a:latin typeface="Verdana" panose="020B0604030504040204" pitchFamily="34" charset="0"/>
              </a:defRPr>
            </a:lvl5pPr>
            <a:lvl6pPr marL="2514600" indent="-228600" eaLnBrk="0" fontAlgn="base" hangingPunct="0">
              <a:spcBef>
                <a:spcPct val="0"/>
              </a:spcBef>
              <a:spcAft>
                <a:spcPct val="0"/>
              </a:spcAft>
              <a:defRPr sz="1000" b="1">
                <a:solidFill>
                  <a:schemeClr val="tx1"/>
                </a:solidFill>
                <a:latin typeface="Verdana" panose="020B0604030504040204" pitchFamily="34" charset="0"/>
              </a:defRPr>
            </a:lvl6pPr>
            <a:lvl7pPr marL="2971800" indent="-228600" eaLnBrk="0" fontAlgn="base" hangingPunct="0">
              <a:spcBef>
                <a:spcPct val="0"/>
              </a:spcBef>
              <a:spcAft>
                <a:spcPct val="0"/>
              </a:spcAft>
              <a:defRPr sz="1000" b="1">
                <a:solidFill>
                  <a:schemeClr val="tx1"/>
                </a:solidFill>
                <a:latin typeface="Verdana" panose="020B0604030504040204" pitchFamily="34" charset="0"/>
              </a:defRPr>
            </a:lvl7pPr>
            <a:lvl8pPr marL="3429000" indent="-228600" eaLnBrk="0" fontAlgn="base" hangingPunct="0">
              <a:spcBef>
                <a:spcPct val="0"/>
              </a:spcBef>
              <a:spcAft>
                <a:spcPct val="0"/>
              </a:spcAft>
              <a:defRPr sz="1000" b="1">
                <a:solidFill>
                  <a:schemeClr val="tx1"/>
                </a:solidFill>
                <a:latin typeface="Verdana" panose="020B0604030504040204" pitchFamily="34" charset="0"/>
              </a:defRPr>
            </a:lvl8pPr>
            <a:lvl9pPr marL="3886200" indent="-228600" eaLnBrk="0" fontAlgn="base" hangingPunct="0">
              <a:spcBef>
                <a:spcPct val="0"/>
              </a:spcBef>
              <a:spcAft>
                <a:spcPct val="0"/>
              </a:spcAft>
              <a:defRPr sz="1000" b="1">
                <a:solidFill>
                  <a:schemeClr val="tx1"/>
                </a:solidFill>
                <a:latin typeface="Verdana" panose="020B0604030504040204" pitchFamily="34" charset="0"/>
              </a:defRPr>
            </a:lvl9pPr>
          </a:lstStyle>
          <a:p>
            <a:r>
              <a:rPr lang="fr-FR" altLang="fr-FR" sz="2400" dirty="0" smtClean="0"/>
              <a:t>Deux </a:t>
            </a:r>
            <a:r>
              <a:rPr lang="fr-FR" altLang="fr-FR" sz="2400" dirty="0"/>
              <a:t>achondroplases s’épousent</a:t>
            </a:r>
          </a:p>
          <a:p>
            <a:r>
              <a:rPr lang="fr-FR" altLang="fr-FR" sz="2400" dirty="0"/>
              <a:t>(l’affection est dominante autosomique).</a:t>
            </a:r>
          </a:p>
          <a:p>
            <a:r>
              <a:rPr lang="fr-FR" altLang="fr-FR" sz="2400" dirty="0"/>
              <a:t>Quelle est la probabilité de concevoir un enfant atteint dans ce couple</a:t>
            </a:r>
            <a:r>
              <a:rPr lang="fr-FR" altLang="fr-FR" sz="2400" dirty="0" smtClean="0"/>
              <a:t>?</a:t>
            </a:r>
          </a:p>
          <a:p>
            <a:endParaRPr lang="fr-FR" altLang="fr-FR" sz="2400" dirty="0"/>
          </a:p>
          <a:p>
            <a:r>
              <a:rPr lang="fr-FR" altLang="fr-FR" sz="2400" b="0" dirty="0"/>
              <a:t>A - O %</a:t>
            </a:r>
          </a:p>
          <a:p>
            <a:r>
              <a:rPr lang="fr-FR" altLang="fr-FR" sz="2400" b="0" dirty="0"/>
              <a:t>B - 25 %</a:t>
            </a:r>
          </a:p>
          <a:p>
            <a:r>
              <a:rPr lang="fr-FR" altLang="fr-FR" sz="2400" b="0" dirty="0"/>
              <a:t>C - 50 %</a:t>
            </a:r>
          </a:p>
          <a:p>
            <a:r>
              <a:rPr lang="fr-FR" altLang="fr-FR" sz="2400" b="0" dirty="0"/>
              <a:t>D - 75 %</a:t>
            </a:r>
          </a:p>
          <a:p>
            <a:r>
              <a:rPr lang="fr-FR" altLang="fr-FR" sz="2400" b="0" dirty="0"/>
              <a:t>E - 100 %</a:t>
            </a:r>
          </a:p>
          <a:p>
            <a:endParaRPr lang="fr-FR" altLang="fr-FR" sz="2400" b="0" dirty="0"/>
          </a:p>
          <a:p>
            <a:r>
              <a:rPr lang="fr-FR" altLang="fr-FR" sz="2400" b="0" dirty="0" err="1"/>
              <a:t>Rép</a:t>
            </a:r>
            <a:r>
              <a:rPr lang="fr-FR" altLang="fr-FR" sz="2400" b="0" dirty="0"/>
              <a:t> : D</a:t>
            </a:r>
          </a:p>
        </p:txBody>
      </p:sp>
      <p:graphicFrame>
        <p:nvGraphicFramePr>
          <p:cNvPr id="5" name="Tableau 4"/>
          <p:cNvGraphicFramePr>
            <a:graphicFrameLocks noGrp="1"/>
          </p:cNvGraphicFramePr>
          <p:nvPr/>
        </p:nvGraphicFramePr>
        <p:xfrm>
          <a:off x="2466011" y="4627529"/>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a:latin typeface="Times New Roman"/>
                          <a:ea typeface="Calibri"/>
                          <a:cs typeface="Arial"/>
                        </a:rPr>
                        <a:t>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a:latin typeface="Times New Roman"/>
                          <a:ea typeface="Calibri"/>
                          <a:cs typeface="Arial"/>
                        </a:rPr>
                        <a:t>aA</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err="1">
                          <a:latin typeface="Times New Roman"/>
                          <a:ea typeface="Calibri"/>
                          <a:cs typeface="Arial"/>
                        </a:rPr>
                        <a:t>aa</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26536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animEffect transition="in" filter="fade">
                                      <p:cBhvr>
                                        <p:cTn id="7" dur="2000"/>
                                        <p:tgtEl>
                                          <p:spTgt spid="4">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5895" y="818956"/>
            <a:ext cx="8424080" cy="2628092"/>
          </a:xfrm>
          <a:prstGeom prst="rect">
            <a:avLst/>
          </a:prstGeom>
        </p:spPr>
        <p:txBody>
          <a:bodyPr wrap="square">
            <a:spAutoFit/>
          </a:bodyPr>
          <a:lstStyle/>
          <a:p>
            <a:pPr>
              <a:lnSpc>
                <a:spcPct val="107000"/>
              </a:lnSpc>
              <a:spcAft>
                <a:spcPts val="0"/>
              </a:spcAft>
            </a:pPr>
            <a:endParaRPr lang="fr-FR"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fr-FR" sz="2000" b="1" smtClean="0">
                <a:latin typeface="Calibri" panose="020F0502020204030204" pitchFamily="34" charset="0"/>
                <a:ea typeface="Calibri" panose="020F0502020204030204" pitchFamily="34" charset="0"/>
                <a:cs typeface="Arial" panose="020B0604020202020204" pitchFamily="34" charset="0"/>
              </a:rPr>
              <a:t>Dans l’hémophilie A, quelle est la probabilité pour une fille d’hémophile d’avoir un sujet atteint parmi ses enfants?</a:t>
            </a:r>
            <a:endParaRPr lang="fr-FR" sz="3600" b="1"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fr-FR" sz="2000" smtClean="0">
                <a:latin typeface="Calibri" panose="020F0502020204030204" pitchFamily="34" charset="0"/>
                <a:ea typeface="Calibri" panose="020F0502020204030204" pitchFamily="34" charset="0"/>
                <a:cs typeface="Arial" panose="020B0604020202020204" pitchFamily="34" charset="0"/>
              </a:rPr>
              <a:t>A - 100 %</a:t>
            </a:r>
            <a:endParaRPr lang="fr-FR" sz="3600"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fr-FR" sz="2000" smtClean="0">
                <a:latin typeface="Calibri" panose="020F0502020204030204" pitchFamily="34" charset="0"/>
                <a:ea typeface="Calibri" panose="020F0502020204030204" pitchFamily="34" charset="0"/>
                <a:cs typeface="Arial" panose="020B0604020202020204" pitchFamily="34" charset="0"/>
              </a:rPr>
              <a:t>B - 50 %</a:t>
            </a:r>
            <a:endParaRPr lang="fr-FR" sz="3600"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fr-FR" sz="2000" smtClean="0">
                <a:latin typeface="Calibri" panose="020F0502020204030204" pitchFamily="34" charset="0"/>
                <a:ea typeface="Calibri" panose="020F0502020204030204" pitchFamily="34" charset="0"/>
                <a:cs typeface="Arial" panose="020B0604020202020204" pitchFamily="34" charset="0"/>
              </a:rPr>
              <a:t>C - 33 %</a:t>
            </a:r>
            <a:endParaRPr lang="fr-FR" sz="3600"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0"/>
              </a:spcAft>
            </a:pPr>
            <a:r>
              <a:rPr lang="fr-FR" sz="2000" smtClean="0">
                <a:latin typeface="Calibri" panose="020F0502020204030204" pitchFamily="34" charset="0"/>
                <a:ea typeface="Calibri" panose="020F0502020204030204" pitchFamily="34" charset="0"/>
                <a:cs typeface="Arial" panose="020B0604020202020204" pitchFamily="34" charset="0"/>
              </a:rPr>
              <a:t>D - 25 %</a:t>
            </a:r>
            <a:endParaRPr lang="fr-FR" sz="3600"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smtClean="0">
                <a:latin typeface="Calibri" panose="020F0502020204030204" pitchFamily="34" charset="0"/>
                <a:ea typeface="Calibri" panose="020F0502020204030204" pitchFamily="34" charset="0"/>
                <a:cs typeface="Arial" panose="020B0604020202020204" pitchFamily="34" charset="0"/>
              </a:rPr>
              <a:t>E - O %</a:t>
            </a:r>
            <a:endParaRPr lang="fr-FR" sz="3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Rectangle 2"/>
          <p:cNvSpPr/>
          <p:nvPr/>
        </p:nvSpPr>
        <p:spPr>
          <a:xfrm>
            <a:off x="921217" y="3662350"/>
            <a:ext cx="1125947" cy="400110"/>
          </a:xfrm>
          <a:prstGeom prst="rect">
            <a:avLst/>
          </a:prstGeom>
        </p:spPr>
        <p:txBody>
          <a:bodyPr wrap="square">
            <a:spAutoFit/>
          </a:bodyPr>
          <a:lstStyle/>
          <a:p>
            <a:r>
              <a:rPr lang="fr-FR" sz="2000" dirty="0" err="1" smtClean="0">
                <a:latin typeface="Times New Roman" panose="02020603050405020304" pitchFamily="18" charset="0"/>
              </a:rPr>
              <a:t>Rép</a:t>
            </a:r>
            <a:r>
              <a:rPr lang="fr-FR" sz="2000" dirty="0" smtClean="0">
                <a:latin typeface="Times New Roman" panose="02020603050405020304" pitchFamily="18" charset="0"/>
              </a:rPr>
              <a:t> : D</a:t>
            </a:r>
            <a:endParaRPr lang="fr-FR" sz="2000" dirty="0"/>
          </a:p>
        </p:txBody>
      </p:sp>
      <p:graphicFrame>
        <p:nvGraphicFramePr>
          <p:cNvPr id="4" name="Tableau 3"/>
          <p:cNvGraphicFramePr>
            <a:graphicFrameLocks noGrp="1"/>
          </p:cNvGraphicFramePr>
          <p:nvPr/>
        </p:nvGraphicFramePr>
        <p:xfrm>
          <a:off x="2479074" y="4705907"/>
          <a:ext cx="6385342" cy="2000262"/>
        </p:xfrm>
        <a:graphic>
          <a:graphicData uri="http://schemas.openxmlformats.org/drawingml/2006/table">
            <a:tbl>
              <a:tblPr/>
              <a:tblGrid>
                <a:gridCol w="4221145"/>
                <a:gridCol w="1190721"/>
                <a:gridCol w="973476"/>
              </a:tblGrid>
              <a:tr h="666754">
                <a:tc>
                  <a:txBody>
                    <a:bodyPr/>
                    <a:lstStyle/>
                    <a:p>
                      <a:pPr>
                        <a:lnSpc>
                          <a:spcPct val="115000"/>
                        </a:lnSpc>
                        <a:spcAft>
                          <a:spcPts val="0"/>
                        </a:spcAft>
                      </a:pPr>
                      <a:r>
                        <a:rPr lang="fr-FR" sz="2000" dirty="0" smtClean="0">
                          <a:latin typeface="Times New Roman"/>
                          <a:ea typeface="Calibri"/>
                          <a:cs typeface="Arial"/>
                        </a:rPr>
                        <a:t>♀                                                        </a:t>
                      </a:r>
                      <a:r>
                        <a:rPr lang="fr-FR" sz="2000" dirty="0">
                          <a:latin typeface="Times New Roman"/>
                          <a:ea typeface="Calibri"/>
                          <a:cs typeface="Arial"/>
                        </a:rPr>
                        <a: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754">
                <a:tc>
                  <a:txBody>
                    <a:bodyPr/>
                    <a:lstStyle/>
                    <a:p>
                      <a:pPr>
                        <a:lnSpc>
                          <a:spcPct val="115000"/>
                        </a:lnSpc>
                        <a:spcAft>
                          <a:spcPts val="0"/>
                        </a:spcAft>
                      </a:pPr>
                      <a:r>
                        <a:rPr lang="fr-FR" sz="2000" dirty="0" smtClean="0">
                          <a:latin typeface="Times New Roman"/>
                          <a:ea typeface="Calibri"/>
                          <a:cs typeface="Arial"/>
                        </a:rPr>
                        <a:t>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XY</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dirty="0" smtClean="0">
                          <a:latin typeface="Times New Roman"/>
                          <a:ea typeface="Calibri"/>
                          <a:cs typeface="Arial"/>
                        </a:rPr>
                        <a:t>XX</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69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0" y="243840"/>
            <a:ext cx="9144000" cy="4524315"/>
          </a:xfrm>
          <a:prstGeom prst="rect">
            <a:avLst/>
          </a:prstGeom>
          <a:noFill/>
        </p:spPr>
        <p:txBody>
          <a:bodyPr wrap="square" rtlCol="0">
            <a:spAutoFit/>
          </a:bodyPr>
          <a:lstStyle/>
          <a:p>
            <a:r>
              <a:rPr lang="fr-FR" sz="3200" dirty="0" smtClean="0"/>
              <a:t>Le promoteur est : </a:t>
            </a:r>
            <a:r>
              <a:rPr lang="fr-FR" sz="3200" b="0" dirty="0" smtClean="0"/>
              <a:t>(</a:t>
            </a:r>
            <a:r>
              <a:rPr lang="fr-FR" sz="3200" b="0" dirty="0" err="1" smtClean="0"/>
              <a:t>oran</a:t>
            </a:r>
            <a:r>
              <a:rPr lang="fr-FR" sz="3200" b="0" dirty="0" smtClean="0"/>
              <a:t> février 2022)</a:t>
            </a:r>
          </a:p>
          <a:p>
            <a:endParaRPr lang="fr-FR" sz="3200" b="0" dirty="0" smtClean="0"/>
          </a:p>
          <a:p>
            <a:pPr>
              <a:buFont typeface="Wingdings" pitchFamily="2" charset="2"/>
              <a:buChar char="§"/>
            </a:pPr>
            <a:r>
              <a:rPr lang="fr-FR" sz="3200" b="0" dirty="0" smtClean="0"/>
              <a:t>A. une séquence d’ADN</a:t>
            </a:r>
          </a:p>
          <a:p>
            <a:pPr>
              <a:buFont typeface="Wingdings" pitchFamily="2" charset="2"/>
              <a:buChar char="§"/>
            </a:pPr>
            <a:r>
              <a:rPr lang="fr-FR" sz="3200" b="0" dirty="0" smtClean="0"/>
              <a:t>B. une séquence d’ARN</a:t>
            </a:r>
          </a:p>
          <a:p>
            <a:pPr>
              <a:buFont typeface="Wingdings" pitchFamily="2" charset="2"/>
              <a:buChar char="§"/>
            </a:pPr>
            <a:r>
              <a:rPr lang="fr-FR" sz="3200" b="0" dirty="0" smtClean="0"/>
              <a:t>C. Situé en aval du gène</a:t>
            </a:r>
          </a:p>
          <a:p>
            <a:pPr>
              <a:buFont typeface="Wingdings" pitchFamily="2" charset="2"/>
              <a:buChar char="§"/>
            </a:pPr>
            <a:r>
              <a:rPr lang="fr-FR" sz="3200" b="0" dirty="0" smtClean="0"/>
              <a:t>D. le site de fixation de l’ARN polymérase</a:t>
            </a:r>
          </a:p>
          <a:p>
            <a:pPr>
              <a:buFont typeface="Wingdings" pitchFamily="2" charset="2"/>
              <a:buChar char="§"/>
            </a:pPr>
            <a:r>
              <a:rPr lang="fr-FR" sz="3200" b="0" dirty="0" smtClean="0"/>
              <a:t>E. le site de fixation de l’ADN polymérase</a:t>
            </a:r>
          </a:p>
          <a:p>
            <a:pPr>
              <a:buFont typeface="Wingdings" pitchFamily="2" charset="2"/>
              <a:buChar char="§"/>
            </a:pPr>
            <a:endParaRPr lang="fr-FR" sz="3200" b="0" dirty="0" smtClean="0"/>
          </a:p>
          <a:p>
            <a:r>
              <a:rPr lang="fr-FR" sz="3200" b="0" dirty="0" smtClean="0"/>
              <a:t>Réponse : A D</a:t>
            </a:r>
            <a:endParaRPr lang="fr-F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blinds(horizontal)">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5509200"/>
          </a:xfrm>
          <a:prstGeom prst="rect">
            <a:avLst/>
          </a:prstGeom>
        </p:spPr>
        <p:txBody>
          <a:bodyPr wrap="square">
            <a:spAutoFit/>
          </a:bodyPr>
          <a:lstStyle/>
          <a:p>
            <a:r>
              <a:rPr lang="fr-FR" sz="3200" b="1" dirty="0" smtClean="0">
                <a:latin typeface="Times New Roman" pitchFamily="18" charset="0"/>
                <a:cs typeface="Times New Roman" pitchFamily="18" charset="0"/>
              </a:rPr>
              <a:t>Choisissez la(les) proposition(s) en faveur d’une pathologie héréditaire récessive liée au chromosome X:</a:t>
            </a:r>
          </a:p>
          <a:p>
            <a:endParaRPr lang="fr-FR" sz="3200" dirty="0" smtClean="0">
              <a:latin typeface="Times New Roman" pitchFamily="18" charset="0"/>
              <a:cs typeface="Times New Roman" pitchFamily="18" charset="0"/>
            </a:endParaRPr>
          </a:p>
          <a:p>
            <a:r>
              <a:rPr lang="fr-FR" sz="3200" b="0" dirty="0" smtClean="0">
                <a:latin typeface="Times New Roman" pitchFamily="18" charset="0"/>
                <a:cs typeface="Times New Roman" pitchFamily="18" charset="0"/>
              </a:rPr>
              <a:t>A - 50 % des garçons sont atteints</a:t>
            </a:r>
          </a:p>
          <a:p>
            <a:r>
              <a:rPr lang="fr-FR" sz="3200" b="0" dirty="0" smtClean="0">
                <a:latin typeface="Times New Roman" pitchFamily="18" charset="0"/>
                <a:cs typeface="Times New Roman" pitchFamily="18" charset="0"/>
              </a:rPr>
              <a:t>B - Pathologie identique chez un oncle maternel</a:t>
            </a:r>
          </a:p>
          <a:p>
            <a:r>
              <a:rPr lang="fr-FR" sz="3200" b="0" dirty="0" smtClean="0">
                <a:latin typeface="Times New Roman" pitchFamily="18" charset="0"/>
                <a:cs typeface="Times New Roman" pitchFamily="18" charset="0"/>
              </a:rPr>
              <a:t>C - Pathologie identique chez l’un des deux parents</a:t>
            </a:r>
          </a:p>
          <a:p>
            <a:r>
              <a:rPr lang="fr-FR" sz="3200" b="0" dirty="0" smtClean="0">
                <a:latin typeface="Times New Roman" pitchFamily="18" charset="0"/>
                <a:cs typeface="Times New Roman" pitchFamily="18" charset="0"/>
              </a:rPr>
              <a:t>D - 25 % des filles sont conductrices</a:t>
            </a:r>
          </a:p>
          <a:p>
            <a:r>
              <a:rPr lang="fr-FR" sz="3200" b="0" dirty="0" smtClean="0">
                <a:latin typeface="Times New Roman" pitchFamily="18" charset="0"/>
                <a:cs typeface="Times New Roman" pitchFamily="18" charset="0"/>
              </a:rPr>
              <a:t>E - Consanguinité parentale</a:t>
            </a: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A  B</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477875"/>
          </a:xfrm>
          <a:prstGeom prst="rect">
            <a:avLst/>
          </a:prstGeom>
        </p:spPr>
        <p:txBody>
          <a:bodyPr wrap="square">
            <a:spAutoFit/>
          </a:bodyPr>
          <a:lstStyle/>
          <a:p>
            <a:pPr algn="just"/>
            <a:r>
              <a:rPr lang="fr-FR" sz="2000" b="1" dirty="0" smtClean="0">
                <a:latin typeface="Times New Roman" pitchFamily="18" charset="0"/>
                <a:cs typeface="Times New Roman" pitchFamily="18" charset="0"/>
              </a:rPr>
              <a:t>La </a:t>
            </a:r>
            <a:r>
              <a:rPr lang="fr-FR" sz="2000" b="1" dirty="0" err="1" smtClean="0">
                <a:latin typeface="Times New Roman" pitchFamily="18" charset="0"/>
                <a:cs typeface="Times New Roman" pitchFamily="18" charset="0"/>
              </a:rPr>
              <a:t>neuro-fibromatose</a:t>
            </a:r>
            <a:r>
              <a:rPr lang="fr-FR" sz="2000" b="1" dirty="0" smtClean="0">
                <a:latin typeface="Times New Roman" pitchFamily="18" charset="0"/>
                <a:cs typeface="Times New Roman" pitchFamily="18" charset="0"/>
              </a:rPr>
              <a:t> de Recklinghausen est une </a:t>
            </a:r>
            <a:r>
              <a:rPr lang="fr-FR" sz="2000" b="1" dirty="0" err="1" smtClean="0">
                <a:latin typeface="Times New Roman" pitchFamily="18" charset="0"/>
                <a:cs typeface="Times New Roman" pitchFamily="18" charset="0"/>
              </a:rPr>
              <a:t>phacomatose</a:t>
            </a:r>
            <a:r>
              <a:rPr lang="fr-FR" sz="2000" b="1" dirty="0" smtClean="0">
                <a:latin typeface="Times New Roman" pitchFamily="18" charset="0"/>
                <a:cs typeface="Times New Roman" pitchFamily="18" charset="0"/>
              </a:rPr>
              <a:t> héréditaire à transmission autosomique dominante. Si un des deux parents est atteint, le risque pour la descendance comporte:</a:t>
            </a:r>
          </a:p>
          <a:p>
            <a:endParaRPr lang="fr-FR" sz="2000" dirty="0" smtClean="0">
              <a:latin typeface="Times New Roman" pitchFamily="18" charset="0"/>
              <a:cs typeface="Times New Roman" pitchFamily="18" charset="0"/>
            </a:endParaRPr>
          </a:p>
          <a:p>
            <a:r>
              <a:rPr lang="fr-FR" sz="2000" dirty="0" smtClean="0">
                <a:latin typeface="Times New Roman" pitchFamily="18" charset="0"/>
                <a:cs typeface="Times New Roman" pitchFamily="18" charset="0"/>
              </a:rPr>
              <a:t>A - Tous les enfants seront atteints</a:t>
            </a:r>
          </a:p>
          <a:p>
            <a:r>
              <a:rPr lang="fr-FR" sz="2000" dirty="0" smtClean="0">
                <a:latin typeface="Times New Roman" pitchFamily="18" charset="0"/>
                <a:cs typeface="Times New Roman" pitchFamily="18" charset="0"/>
              </a:rPr>
              <a:t>B - Un sujet sur quatre sera atteint en moyenne à la deuxième génération</a:t>
            </a:r>
          </a:p>
          <a:p>
            <a:r>
              <a:rPr lang="fr-FR" sz="2000" dirty="0" smtClean="0">
                <a:latin typeface="Times New Roman" pitchFamily="18" charset="0"/>
                <a:cs typeface="Times New Roman" pitchFamily="18" charset="0"/>
              </a:rPr>
              <a:t>C - Tous les enfants auront des signes mineurs de la maladie</a:t>
            </a:r>
          </a:p>
          <a:p>
            <a:r>
              <a:rPr lang="fr-FR" sz="2000" dirty="0" smtClean="0">
                <a:latin typeface="Times New Roman" pitchFamily="18" charset="0"/>
                <a:cs typeface="Times New Roman" pitchFamily="18" charset="0"/>
              </a:rPr>
              <a:t>D - Tous les enfants seront Indemnes</a:t>
            </a:r>
          </a:p>
          <a:p>
            <a:r>
              <a:rPr lang="fr-FR" sz="2000" dirty="0" smtClean="0">
                <a:latin typeface="Times New Roman" pitchFamily="18" charset="0"/>
                <a:cs typeface="Times New Roman" pitchFamily="18" charset="0"/>
              </a:rPr>
              <a:t>E - Un enfant sur deux en moyenne sera atteint</a:t>
            </a:r>
          </a:p>
          <a:p>
            <a:endParaRPr lang="fr-FR" sz="2000" dirty="0" smtClean="0">
              <a:latin typeface="Times New Roman" pitchFamily="18" charset="0"/>
              <a:cs typeface="Times New Roman" pitchFamily="18" charset="0"/>
            </a:endParaRPr>
          </a:p>
          <a:p>
            <a:r>
              <a:rPr lang="fr-FR" sz="2000" dirty="0" smtClean="0">
                <a:solidFill>
                  <a:srgbClr val="FF0000"/>
                </a:solidFill>
                <a:latin typeface="Times New Roman" pitchFamily="18" charset="0"/>
                <a:cs typeface="Times New Roman" pitchFamily="18" charset="0"/>
              </a:rPr>
              <a:t>Réponse : B E</a:t>
            </a:r>
            <a:endParaRPr lang="fr-FR" sz="2000" dirty="0">
              <a:solidFill>
                <a:srgbClr val="FF0000"/>
              </a:solidFill>
              <a:latin typeface="Times New Roman" pitchFamily="18" charset="0"/>
              <a:cs typeface="Times New Roman" pitchFamily="18" charset="0"/>
            </a:endParaRPr>
          </a:p>
        </p:txBody>
      </p:sp>
      <p:graphicFrame>
        <p:nvGraphicFramePr>
          <p:cNvPr id="3" name="Tableau 2"/>
          <p:cNvGraphicFramePr>
            <a:graphicFrameLocks noGrp="1"/>
          </p:cNvGraphicFramePr>
          <p:nvPr/>
        </p:nvGraphicFramePr>
        <p:xfrm>
          <a:off x="107504" y="4005063"/>
          <a:ext cx="3024336" cy="1584177"/>
        </p:xfrm>
        <a:graphic>
          <a:graphicData uri="http://schemas.openxmlformats.org/drawingml/2006/table">
            <a:tbl>
              <a:tblPr/>
              <a:tblGrid>
                <a:gridCol w="1999291"/>
                <a:gridCol w="563970"/>
                <a:gridCol w="461075"/>
              </a:tblGrid>
              <a:tr h="528059">
                <a:tc>
                  <a:txBody>
                    <a:bodyPr/>
                    <a:lstStyle/>
                    <a:p>
                      <a:pPr>
                        <a:lnSpc>
                          <a:spcPct val="115000"/>
                        </a:lnSpc>
                        <a:spcAft>
                          <a:spcPts val="0"/>
                        </a:spcAft>
                      </a:pPr>
                      <a:r>
                        <a:rPr lang="fr-FR" sz="2000" b="1" dirty="0">
                          <a:latin typeface="Times New Roman"/>
                          <a:ea typeface="Calibri"/>
                          <a:cs typeface="Arial"/>
                        </a:rPr>
                        <a:t>♀                      ♂</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a:latin typeface="Times New Roman"/>
                          <a:ea typeface="Calibri"/>
                          <a:cs typeface="Arial"/>
                        </a:rPr>
                        <a:t>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a:latin typeface="Times New Roman"/>
                          <a:ea typeface="Calibri"/>
                          <a:cs typeface="Arial"/>
                        </a:rPr>
                        <a:t>a</a:t>
                      </a:r>
                      <a:endParaRPr lang="fr-FR" sz="1100" b="1">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2000" b="1" dirty="0" smtClean="0">
                          <a:latin typeface="Times New Roman"/>
                          <a:ea typeface="Calibri"/>
                          <a:cs typeface="Arial"/>
                        </a:rPr>
                        <a:t>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smtClean="0">
                          <a:latin typeface="Times New Roman"/>
                          <a:ea typeface="Calibri"/>
                          <a:cs typeface="Arial"/>
                        </a:rPr>
                        <a:t>Aa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err="1" smtClean="0">
                          <a:latin typeface="Times New Roman"/>
                          <a:ea typeface="Calibri"/>
                          <a:cs typeface="Arial"/>
                        </a:rPr>
                        <a:t>aa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2000" b="1">
                          <a:latin typeface="Times New Roman"/>
                          <a:ea typeface="Calibri"/>
                          <a:cs typeface="Arial"/>
                        </a:rPr>
                        <a:t>a</a:t>
                      </a:r>
                      <a:endParaRPr lang="fr-FR" sz="1100" b="1">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err="1">
                          <a:latin typeface="Times New Roman"/>
                          <a:ea typeface="Calibri"/>
                          <a:cs typeface="Arial"/>
                        </a:rPr>
                        <a:t>aA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err="1">
                          <a:latin typeface="Times New Roman"/>
                          <a:ea typeface="Calibri"/>
                          <a:cs typeface="Arial"/>
                        </a:rPr>
                        <a:t>aa</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6625" name="AutoShape 1"/>
          <p:cNvSpPr>
            <a:spLocks noChangeShapeType="1"/>
          </p:cNvSpPr>
          <p:nvPr/>
        </p:nvSpPr>
        <p:spPr bwMode="auto">
          <a:xfrm>
            <a:off x="323528" y="4077072"/>
            <a:ext cx="1728192" cy="43204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graphicFrame>
        <p:nvGraphicFramePr>
          <p:cNvPr id="6" name="Tableau 5"/>
          <p:cNvGraphicFramePr>
            <a:graphicFrameLocks noGrp="1"/>
          </p:cNvGraphicFramePr>
          <p:nvPr/>
        </p:nvGraphicFramePr>
        <p:xfrm>
          <a:off x="3419871" y="4005062"/>
          <a:ext cx="5040562" cy="1584177"/>
        </p:xfrm>
        <a:graphic>
          <a:graphicData uri="http://schemas.openxmlformats.org/drawingml/2006/table">
            <a:tbl>
              <a:tblPr/>
              <a:tblGrid>
                <a:gridCol w="576065"/>
                <a:gridCol w="543451"/>
                <a:gridCol w="559758"/>
                <a:gridCol w="559758"/>
                <a:gridCol w="560306"/>
                <a:gridCol w="560306"/>
                <a:gridCol w="560306"/>
                <a:gridCol w="560306"/>
                <a:gridCol w="560306"/>
              </a:tblGrid>
              <a:tr h="528059">
                <a:tc>
                  <a:txBody>
                    <a:bodyPr/>
                    <a:lstStyle/>
                    <a:p>
                      <a:pPr>
                        <a:lnSpc>
                          <a:spcPct val="115000"/>
                        </a:lnSpc>
                        <a:spcAft>
                          <a:spcPts val="0"/>
                        </a:spcAft>
                      </a:pP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1800" b="1" dirty="0">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1800" b="1">
                          <a:latin typeface="Times New Roman" pitchFamily="18" charset="0"/>
                          <a:ea typeface="Calibri"/>
                          <a:cs typeface="Times New Roman" pitchFamily="18" charset="0"/>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a:latin typeface="Times New Roman" pitchFamily="18" charset="0"/>
                          <a:ea typeface="Calibri"/>
                          <a:cs typeface="Times New Roman" pitchFamily="18" charset="0"/>
                        </a:rPr>
                        <a:t>Aa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800" b="1" dirty="0" err="1">
                          <a:latin typeface="Times New Roman" pitchFamily="18" charset="0"/>
                          <a:ea typeface="Calibri"/>
                          <a:cs typeface="Times New Roman" pitchFamily="18" charset="0"/>
                        </a:rPr>
                        <a:t>aa</a:t>
                      </a:r>
                      <a:endParaRPr lang="fr-FR" sz="1800" b="1" dirty="0">
                        <a:latin typeface="Times New Roman" pitchFamily="18" charset="0"/>
                        <a:ea typeface="Calibri"/>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AutoShape 1"/>
          <p:cNvSpPr>
            <a:spLocks noChangeShapeType="1"/>
          </p:cNvSpPr>
          <p:nvPr/>
        </p:nvSpPr>
        <p:spPr bwMode="auto">
          <a:xfrm>
            <a:off x="3491880" y="4077072"/>
            <a:ext cx="504056" cy="43204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blinds(horizontal)">
                                      <p:cBhvr>
                                        <p:cTn id="1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001643"/>
          </a:xfrm>
          <a:prstGeom prst="rect">
            <a:avLst/>
          </a:prstGeom>
        </p:spPr>
        <p:txBody>
          <a:bodyPr wrap="square">
            <a:spAutoFit/>
          </a:bodyPr>
          <a:lstStyle/>
          <a:p>
            <a:r>
              <a:rPr lang="fr-FR" sz="3200" b="1" dirty="0" smtClean="0">
                <a:latin typeface="Times New Roman" pitchFamily="18" charset="0"/>
                <a:cs typeface="Times New Roman" pitchFamily="18" charset="0"/>
              </a:rPr>
              <a:t>Deux parents normaux consanguins ont eu un garçon et une fille atteints de la même maladie enzymatique jusque là inconnue dans la famille.</a:t>
            </a:r>
          </a:p>
          <a:p>
            <a:r>
              <a:rPr lang="fr-FR" sz="3200" b="1" dirty="0" smtClean="0">
                <a:latin typeface="Times New Roman" pitchFamily="18" charset="0"/>
                <a:cs typeface="Times New Roman" pitchFamily="18" charset="0"/>
              </a:rPr>
              <a:t>De quel type d’hérédité s’agit t-il?</a:t>
            </a:r>
          </a:p>
          <a:p>
            <a:endParaRPr lang="fr-FR" sz="3200" dirty="0" smtClean="0">
              <a:latin typeface="Times New Roman" pitchFamily="18" charset="0"/>
              <a:cs typeface="Times New Roman" pitchFamily="18" charset="0"/>
            </a:endParaRPr>
          </a:p>
          <a:p>
            <a:r>
              <a:rPr lang="fr-FR" sz="3200" dirty="0" smtClean="0">
                <a:latin typeface="Times New Roman" pitchFamily="18" charset="0"/>
                <a:cs typeface="Times New Roman" pitchFamily="18" charset="0"/>
              </a:rPr>
              <a:t>A - Autosomique dominante</a:t>
            </a:r>
          </a:p>
          <a:p>
            <a:r>
              <a:rPr lang="fr-FR" sz="3200" dirty="0" smtClean="0">
                <a:latin typeface="Times New Roman" pitchFamily="18" charset="0"/>
                <a:cs typeface="Times New Roman" pitchFamily="18" charset="0"/>
              </a:rPr>
              <a:t>B - Autosomique dominante avec défaut de pénétrance</a:t>
            </a:r>
          </a:p>
          <a:p>
            <a:r>
              <a:rPr lang="fr-FR" sz="3200" dirty="0" smtClean="0">
                <a:latin typeface="Times New Roman" pitchFamily="18" charset="0"/>
                <a:cs typeface="Times New Roman" pitchFamily="18" charset="0"/>
              </a:rPr>
              <a:t>C - Autosomique récessive</a:t>
            </a:r>
          </a:p>
          <a:p>
            <a:r>
              <a:rPr lang="fr-FR" sz="3200" dirty="0" smtClean="0">
                <a:latin typeface="Times New Roman" pitchFamily="18" charset="0"/>
                <a:cs typeface="Times New Roman" pitchFamily="18" charset="0"/>
              </a:rPr>
              <a:t>D - Récessive liée aux chromosomes sexuels</a:t>
            </a:r>
          </a:p>
          <a:p>
            <a:r>
              <a:rPr lang="fr-FR" sz="3200" dirty="0" smtClean="0">
                <a:latin typeface="Times New Roman" pitchFamily="18" charset="0"/>
                <a:cs typeface="Times New Roman" pitchFamily="18" charset="0"/>
              </a:rPr>
              <a:t>E - Hérédité multifactorielle</a:t>
            </a: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 C</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16758"/>
          </a:xfrm>
          <a:prstGeom prst="rect">
            <a:avLst/>
          </a:prstGeom>
        </p:spPr>
        <p:txBody>
          <a:bodyPr wrap="square">
            <a:spAutoFit/>
          </a:bodyPr>
          <a:lstStyle/>
          <a:p>
            <a:r>
              <a:rPr lang="fr-FR" sz="3200" b="1" dirty="0" smtClean="0">
                <a:latin typeface="Times New Roman" pitchFamily="18" charset="0"/>
                <a:cs typeface="Times New Roman" pitchFamily="18" charset="0"/>
              </a:rPr>
              <a:t>Les conductrices obligatoires de l’hémophilie (R liée à X) sont :</a:t>
            </a:r>
          </a:p>
          <a:p>
            <a:endParaRPr lang="fr-FR" sz="3200" dirty="0" smtClean="0">
              <a:latin typeface="Times New Roman" pitchFamily="18" charset="0"/>
              <a:cs typeface="Times New Roman" pitchFamily="18" charset="0"/>
            </a:endParaRPr>
          </a:p>
          <a:p>
            <a:r>
              <a:rPr lang="fr-FR" sz="3200" dirty="0" smtClean="0">
                <a:latin typeface="Times New Roman" pitchFamily="18" charset="0"/>
                <a:cs typeface="Times New Roman" pitchFamily="18" charset="0"/>
              </a:rPr>
              <a:t>A - Les filles d’hémophiles</a:t>
            </a:r>
          </a:p>
          <a:p>
            <a:r>
              <a:rPr lang="fr-FR" sz="3200" dirty="0" smtClean="0">
                <a:latin typeface="Times New Roman" pitchFamily="18" charset="0"/>
                <a:cs typeface="Times New Roman" pitchFamily="18" charset="0"/>
              </a:rPr>
              <a:t>B - Les sœurs d’hémophiles</a:t>
            </a:r>
          </a:p>
          <a:p>
            <a:r>
              <a:rPr lang="fr-FR" sz="3200" dirty="0" smtClean="0">
                <a:latin typeface="Times New Roman" pitchFamily="18" charset="0"/>
                <a:cs typeface="Times New Roman" pitchFamily="18" charset="0"/>
              </a:rPr>
              <a:t>C - Les mères de conductrices de l’hémophilie</a:t>
            </a:r>
          </a:p>
          <a:p>
            <a:r>
              <a:rPr lang="fr-FR" sz="3200" dirty="0" smtClean="0">
                <a:latin typeface="Times New Roman" pitchFamily="18" charset="0"/>
                <a:cs typeface="Times New Roman" pitchFamily="18" charset="0"/>
              </a:rPr>
              <a:t>D - Les mères de deux garçons hémophiles</a:t>
            </a:r>
          </a:p>
          <a:p>
            <a:endParaRPr lang="fr-FR" sz="3200" dirty="0" smtClean="0">
              <a:latin typeface="Times New Roman" pitchFamily="18" charset="0"/>
              <a:cs typeface="Times New Roman" pitchFamily="18" charset="0"/>
            </a:endParaRP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 A D</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001643"/>
          </a:xfrm>
          <a:prstGeom prst="rect">
            <a:avLst/>
          </a:prstGeom>
        </p:spPr>
        <p:txBody>
          <a:bodyPr wrap="square">
            <a:spAutoFit/>
          </a:bodyPr>
          <a:lstStyle/>
          <a:p>
            <a:r>
              <a:rPr lang="fr-FR" sz="3200" b="1" dirty="0" smtClean="0">
                <a:latin typeface="Times New Roman" pitchFamily="18" charset="0"/>
                <a:cs typeface="Times New Roman" pitchFamily="18" charset="0"/>
              </a:rPr>
              <a:t>Pierre a un albinisme oculaire. Le mode de transmission est récessif lié à X. Quel est le risque que ses enfants soient atteints de la même affection?</a:t>
            </a:r>
          </a:p>
          <a:p>
            <a:endParaRPr lang="fr-FR" sz="3200" dirty="0" smtClean="0">
              <a:latin typeface="Times New Roman" pitchFamily="18" charset="0"/>
              <a:cs typeface="Times New Roman" pitchFamily="18" charset="0"/>
            </a:endParaRPr>
          </a:p>
          <a:p>
            <a:r>
              <a:rPr lang="fr-FR" sz="3200" dirty="0" smtClean="0">
                <a:latin typeface="Times New Roman" pitchFamily="18" charset="0"/>
                <a:cs typeface="Times New Roman" pitchFamily="18" charset="0"/>
              </a:rPr>
              <a:t>A - 1</a:t>
            </a:r>
          </a:p>
          <a:p>
            <a:r>
              <a:rPr lang="fr-FR" sz="3200" dirty="0" smtClean="0">
                <a:latin typeface="Times New Roman" pitchFamily="18" charset="0"/>
                <a:cs typeface="Times New Roman" pitchFamily="18" charset="0"/>
              </a:rPr>
              <a:t>B - 1/2</a:t>
            </a:r>
          </a:p>
          <a:p>
            <a:r>
              <a:rPr lang="fr-FR" sz="3200" dirty="0" smtClean="0">
                <a:latin typeface="Times New Roman" pitchFamily="18" charset="0"/>
                <a:cs typeface="Times New Roman" pitchFamily="18" charset="0"/>
              </a:rPr>
              <a:t>C - 1/4</a:t>
            </a:r>
          </a:p>
          <a:p>
            <a:r>
              <a:rPr lang="fr-FR" sz="3200" dirty="0" smtClean="0">
                <a:latin typeface="Times New Roman" pitchFamily="18" charset="0"/>
                <a:cs typeface="Times New Roman" pitchFamily="18" charset="0"/>
              </a:rPr>
              <a:t>D - 1/8</a:t>
            </a:r>
          </a:p>
          <a:p>
            <a:r>
              <a:rPr lang="fr-FR" sz="3200" dirty="0" smtClean="0">
                <a:latin typeface="Times New Roman" pitchFamily="18" charset="0"/>
                <a:cs typeface="Times New Roman" pitchFamily="18" charset="0"/>
              </a:rPr>
              <a:t>E – O</a:t>
            </a: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 E</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785652"/>
          </a:xfrm>
          <a:prstGeom prst="rect">
            <a:avLst/>
          </a:prstGeom>
        </p:spPr>
        <p:txBody>
          <a:bodyPr wrap="square">
            <a:spAutoFit/>
          </a:bodyPr>
          <a:lstStyle/>
          <a:p>
            <a:r>
              <a:rPr lang="fr-FR" sz="2400" b="1" dirty="0" smtClean="0">
                <a:latin typeface="Times New Roman" pitchFamily="18" charset="0"/>
                <a:cs typeface="Times New Roman" pitchFamily="18" charset="0"/>
              </a:rPr>
              <a:t>Un homme hémophile (R liée à X) se marie avec une femme non conductrice, les enfants de cette union seront:</a:t>
            </a:r>
          </a:p>
          <a:p>
            <a:endParaRPr lang="fr-FR" sz="2400" dirty="0" smtClean="0">
              <a:latin typeface="Times New Roman" pitchFamily="18" charset="0"/>
              <a:cs typeface="Times New Roman" pitchFamily="18" charset="0"/>
            </a:endParaRPr>
          </a:p>
          <a:p>
            <a:r>
              <a:rPr lang="fr-FR" sz="2400" dirty="0" smtClean="0">
                <a:latin typeface="Times New Roman" pitchFamily="18" charset="0"/>
                <a:cs typeface="Times New Roman" pitchFamily="18" charset="0"/>
              </a:rPr>
              <a:t>A - Tous hémophiles</a:t>
            </a:r>
          </a:p>
          <a:p>
            <a:r>
              <a:rPr lang="fr-FR" sz="2400" dirty="0" smtClean="0">
                <a:latin typeface="Times New Roman" pitchFamily="18" charset="0"/>
                <a:cs typeface="Times New Roman" pitchFamily="18" charset="0"/>
              </a:rPr>
              <a:t>B - Tous les garçons hémophiles, toutes les filles saines</a:t>
            </a:r>
          </a:p>
          <a:p>
            <a:r>
              <a:rPr lang="fr-FR" sz="2400" dirty="0" smtClean="0">
                <a:latin typeface="Times New Roman" pitchFamily="18" charset="0"/>
                <a:cs typeface="Times New Roman" pitchFamily="18" charset="0"/>
              </a:rPr>
              <a:t>C - Toutes les filles conductrices, tous les garçons sains</a:t>
            </a:r>
          </a:p>
          <a:p>
            <a:r>
              <a:rPr lang="fr-FR" sz="2400" dirty="0" smtClean="0">
                <a:latin typeface="Times New Roman" pitchFamily="18" charset="0"/>
                <a:cs typeface="Times New Roman" pitchFamily="18" charset="0"/>
              </a:rPr>
              <a:t>D - Tous les garçons conducteurs, toutes les filles normales</a:t>
            </a:r>
          </a:p>
          <a:p>
            <a:r>
              <a:rPr lang="fr-FR" sz="2400" dirty="0" smtClean="0">
                <a:latin typeface="Times New Roman" pitchFamily="18" charset="0"/>
                <a:cs typeface="Times New Roman" pitchFamily="18" charset="0"/>
              </a:rPr>
              <a:t>E - Tous les enfants génotypiquement sains</a:t>
            </a:r>
          </a:p>
          <a:p>
            <a:endParaRPr lang="fr-FR" sz="2400" dirty="0" smtClean="0">
              <a:latin typeface="Times New Roman" pitchFamily="18" charset="0"/>
              <a:cs typeface="Times New Roman" pitchFamily="18" charset="0"/>
            </a:endParaRPr>
          </a:p>
          <a:p>
            <a:r>
              <a:rPr lang="fr-FR" sz="2400" dirty="0" smtClean="0">
                <a:latin typeface="Times New Roman" pitchFamily="18" charset="0"/>
                <a:cs typeface="Times New Roman" pitchFamily="18" charset="0"/>
              </a:rPr>
              <a:t>Réponse : C</a:t>
            </a:r>
            <a:endParaRPr lang="fr-FR" sz="2400" dirty="0">
              <a:latin typeface="Times New Roman" pitchFamily="18" charset="0"/>
              <a:cs typeface="Times New Roman" pitchFamily="18" charset="0"/>
            </a:endParaRPr>
          </a:p>
        </p:txBody>
      </p:sp>
      <p:graphicFrame>
        <p:nvGraphicFramePr>
          <p:cNvPr id="3" name="Tableau 2"/>
          <p:cNvGraphicFramePr>
            <a:graphicFrameLocks noGrp="1"/>
          </p:cNvGraphicFramePr>
          <p:nvPr/>
        </p:nvGraphicFramePr>
        <p:xfrm>
          <a:off x="2771800" y="4365103"/>
          <a:ext cx="3024336" cy="1584177"/>
        </p:xfrm>
        <a:graphic>
          <a:graphicData uri="http://schemas.openxmlformats.org/drawingml/2006/table">
            <a:tbl>
              <a:tblPr/>
              <a:tblGrid>
                <a:gridCol w="1999291"/>
                <a:gridCol w="563970"/>
                <a:gridCol w="461075"/>
              </a:tblGrid>
              <a:tr h="528059">
                <a:tc>
                  <a:txBody>
                    <a:bodyPr/>
                    <a:lstStyle/>
                    <a:p>
                      <a:pPr>
                        <a:lnSpc>
                          <a:spcPct val="115000"/>
                        </a:lnSpc>
                        <a:spcAft>
                          <a:spcPts val="0"/>
                        </a:spcAft>
                      </a:pPr>
                      <a:r>
                        <a:rPr lang="fr-FR" sz="2000" b="1" dirty="0">
                          <a:latin typeface="Times New Roman"/>
                          <a:ea typeface="Calibri"/>
                          <a:cs typeface="Arial"/>
                        </a:rPr>
                        <a:t>♀                      ♂</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a:latin typeface="Times New Roman"/>
                          <a:ea typeface="Calibri"/>
                          <a:cs typeface="Arial"/>
                        </a:rPr>
                        <a:t>Y</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a:latin typeface="Times New Roman"/>
                          <a:ea typeface="Calibri"/>
                          <a:cs typeface="Arial"/>
                        </a:rPr>
                        <a:t>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2000" b="1" dirty="0" smtClean="0">
                          <a:latin typeface="Times New Roman"/>
                          <a:ea typeface="Calibri"/>
                          <a:cs typeface="Arial"/>
                        </a:rPr>
                        <a:t>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err="1" smtClean="0">
                          <a:latin typeface="Times New Roman"/>
                          <a:ea typeface="Calibri"/>
                          <a:cs typeface="Arial"/>
                        </a:rPr>
                        <a:t>Y</a:t>
                      </a:r>
                      <a:r>
                        <a:rPr lang="fr-FR" sz="2000" b="1" baseline="0" dirty="0" err="1" smtClean="0">
                          <a:latin typeface="Times New Roman"/>
                          <a:ea typeface="Calibri"/>
                          <a:cs typeface="Arial"/>
                        </a:rPr>
                        <a:t>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smtClean="0">
                          <a:latin typeface="Times New Roman"/>
                          <a:ea typeface="Calibri"/>
                          <a:cs typeface="Arial"/>
                        </a:rPr>
                        <a:t>Xx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8059">
                <a:tc>
                  <a:txBody>
                    <a:bodyPr/>
                    <a:lstStyle/>
                    <a:p>
                      <a:pPr>
                        <a:lnSpc>
                          <a:spcPct val="115000"/>
                        </a:lnSpc>
                        <a:spcAft>
                          <a:spcPts val="0"/>
                        </a:spcAft>
                      </a:pPr>
                      <a:r>
                        <a:rPr lang="fr-FR" sz="2000" b="1" dirty="0">
                          <a:latin typeface="Times New Roman"/>
                          <a:ea typeface="Calibri"/>
                          <a:cs typeface="Arial"/>
                        </a:rPr>
                        <a:t>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err="1" smtClean="0">
                          <a:latin typeface="Times New Roman"/>
                          <a:ea typeface="Calibri"/>
                          <a:cs typeface="Arial"/>
                        </a:rPr>
                        <a:t>Yx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2000" b="1" dirty="0" smtClean="0">
                          <a:latin typeface="Times New Roman"/>
                          <a:ea typeface="Calibri"/>
                          <a:cs typeface="Arial"/>
                        </a:rPr>
                        <a:t>Xx</a:t>
                      </a:r>
                      <a:endParaRPr lang="fr-FR" sz="1100" b="1"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6494085"/>
          </a:xfrm>
          <a:prstGeom prst="rect">
            <a:avLst/>
          </a:prstGeom>
        </p:spPr>
        <p:txBody>
          <a:bodyPr wrap="square">
            <a:spAutoFit/>
          </a:bodyPr>
          <a:lstStyle/>
          <a:p>
            <a:r>
              <a:rPr lang="fr-FR" sz="3200" b="1" dirty="0" smtClean="0">
                <a:latin typeface="Times New Roman" pitchFamily="18" charset="0"/>
                <a:cs typeface="Times New Roman" pitchFamily="18" charset="0"/>
              </a:rPr>
              <a:t>Parmi les caractéristiques de l’hérédité autosomique dominante on trouve tout ou partie des propositions suivantes</a:t>
            </a:r>
          </a:p>
          <a:p>
            <a:endParaRPr lang="fr-FR" sz="3200" dirty="0" smtClean="0">
              <a:latin typeface="Times New Roman" pitchFamily="18" charset="0"/>
              <a:cs typeface="Times New Roman" pitchFamily="18" charset="0"/>
            </a:endParaRPr>
          </a:p>
          <a:p>
            <a:r>
              <a:rPr lang="fr-FR" sz="3200" dirty="0" smtClean="0">
                <a:latin typeface="Times New Roman" pitchFamily="18" charset="0"/>
                <a:cs typeface="Times New Roman" pitchFamily="18" charset="0"/>
              </a:rPr>
              <a:t>A - Un sujet atteint a obligatoirement l’un des parents atteint</a:t>
            </a:r>
          </a:p>
          <a:p>
            <a:r>
              <a:rPr lang="fr-FR" sz="3200" dirty="0" smtClean="0">
                <a:latin typeface="Times New Roman" pitchFamily="18" charset="0"/>
                <a:cs typeface="Times New Roman" pitchFamily="18" charset="0"/>
              </a:rPr>
              <a:t>B - Dans une fratrie 50 % des sujets sont atteints</a:t>
            </a:r>
          </a:p>
          <a:p>
            <a:r>
              <a:rPr lang="fr-FR" sz="3200" dirty="0" smtClean="0">
                <a:latin typeface="Times New Roman" pitchFamily="18" charset="0"/>
                <a:cs typeface="Times New Roman" pitchFamily="18" charset="0"/>
              </a:rPr>
              <a:t>C - La maladie a toujours la même gravité dans une famille</a:t>
            </a:r>
          </a:p>
          <a:p>
            <a:r>
              <a:rPr lang="fr-FR" sz="3200" dirty="0" smtClean="0">
                <a:latin typeface="Times New Roman" pitchFamily="18" charset="0"/>
                <a:cs typeface="Times New Roman" pitchFamily="18" charset="0"/>
              </a:rPr>
              <a:t>D - Les deux sexes sont atteints</a:t>
            </a:r>
          </a:p>
          <a:p>
            <a:r>
              <a:rPr lang="fr-FR" sz="3200" dirty="0" smtClean="0">
                <a:latin typeface="Times New Roman" pitchFamily="18" charset="0"/>
                <a:cs typeface="Times New Roman" pitchFamily="18" charset="0"/>
              </a:rPr>
              <a:t>E - La consanguinité intervient</a:t>
            </a: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 B  D</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6494085"/>
          </a:xfrm>
          <a:prstGeom prst="rect">
            <a:avLst/>
          </a:prstGeom>
        </p:spPr>
        <p:txBody>
          <a:bodyPr wrap="square">
            <a:spAutoFit/>
          </a:bodyPr>
          <a:lstStyle/>
          <a:p>
            <a:r>
              <a:rPr lang="fr-FR" sz="3200" b="1" dirty="0" smtClean="0">
                <a:latin typeface="Times New Roman" pitchFamily="18" charset="0"/>
                <a:cs typeface="Times New Roman" pitchFamily="18" charset="0"/>
              </a:rPr>
              <a:t>Parmi les propositions concernant l’hérédité récessive liée à X, indiquer celle(s) qui est (sont) erroné(e)s</a:t>
            </a:r>
          </a:p>
          <a:p>
            <a:endParaRPr lang="fr-FR" sz="3200" dirty="0" smtClean="0">
              <a:latin typeface="Times New Roman" pitchFamily="18" charset="0"/>
              <a:cs typeface="Times New Roman" pitchFamily="18" charset="0"/>
            </a:endParaRPr>
          </a:p>
          <a:p>
            <a:r>
              <a:rPr lang="fr-FR" sz="3200" dirty="0" smtClean="0">
                <a:latin typeface="Times New Roman" pitchFamily="18" charset="0"/>
                <a:cs typeface="Times New Roman" pitchFamily="18" charset="0"/>
              </a:rPr>
              <a:t>A - Les femmes sont normales ou conductrices</a:t>
            </a:r>
          </a:p>
          <a:p>
            <a:r>
              <a:rPr lang="fr-FR" sz="3200" dirty="0" smtClean="0">
                <a:latin typeface="Times New Roman" pitchFamily="18" charset="0"/>
                <a:cs typeface="Times New Roman" pitchFamily="18" charset="0"/>
              </a:rPr>
              <a:t>B - Une femme conductrice transmet la maladie à tous ses garçons</a:t>
            </a:r>
          </a:p>
          <a:p>
            <a:r>
              <a:rPr lang="fr-FR" sz="3200" dirty="0" smtClean="0">
                <a:latin typeface="Times New Roman" pitchFamily="18" charset="0"/>
                <a:cs typeface="Times New Roman" pitchFamily="18" charset="0"/>
              </a:rPr>
              <a:t>C - Les garçons atteints peuvent avoir un grand-père également atteint de la même affection</a:t>
            </a:r>
          </a:p>
          <a:p>
            <a:r>
              <a:rPr lang="fr-FR" sz="3200" dirty="0" smtClean="0">
                <a:latin typeface="Times New Roman" pitchFamily="18" charset="0"/>
                <a:cs typeface="Times New Roman" pitchFamily="18" charset="0"/>
              </a:rPr>
              <a:t>D - La moitié des filles d’un homme atteint sont conductrices</a:t>
            </a:r>
          </a:p>
          <a:p>
            <a:endParaRPr lang="fr-FR" sz="3200" dirty="0" smtClean="0">
              <a:latin typeface="Times New Roman" pitchFamily="18" charset="0"/>
              <a:cs typeface="Times New Roman" pitchFamily="18" charset="0"/>
            </a:endParaRPr>
          </a:p>
          <a:p>
            <a:r>
              <a:rPr lang="fr-FR" sz="3200" dirty="0" smtClean="0">
                <a:solidFill>
                  <a:srgbClr val="FF0000"/>
                </a:solidFill>
                <a:latin typeface="Times New Roman" pitchFamily="18" charset="0"/>
                <a:cs typeface="Times New Roman" pitchFamily="18" charset="0"/>
              </a:rPr>
              <a:t>Réponse : B  D</a:t>
            </a:r>
            <a:endParaRPr lang="fr-FR" sz="3200"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sz="3200" b="1" dirty="0" smtClean="0"/>
              <a:t>Dans une maladie à transmission </a:t>
            </a:r>
            <a:r>
              <a:rPr lang="fr-FR" sz="3200" b="1" dirty="0" err="1" smtClean="0"/>
              <a:t>autosomale</a:t>
            </a:r>
            <a:r>
              <a:rPr lang="fr-FR" sz="3200" b="1" dirty="0" smtClean="0"/>
              <a:t> récessive (	</a:t>
            </a:r>
            <a:r>
              <a:rPr lang="fr-FR" sz="3200" b="1" dirty="0" err="1" smtClean="0"/>
              <a:t>oran</a:t>
            </a:r>
            <a:r>
              <a:rPr lang="fr-FR" sz="3200" b="1" dirty="0" smtClean="0"/>
              <a:t> 2022)</a:t>
            </a:r>
            <a:endParaRPr lang="fr-FR" sz="3200" b="1" dirty="0"/>
          </a:p>
        </p:txBody>
      </p:sp>
      <p:sp>
        <p:nvSpPr>
          <p:cNvPr id="3" name="Espace réservé du contenu 2"/>
          <p:cNvSpPr>
            <a:spLocks noGrp="1"/>
          </p:cNvSpPr>
          <p:nvPr>
            <p:ph idx="1"/>
          </p:nvPr>
        </p:nvSpPr>
        <p:spPr>
          <a:xfrm>
            <a:off x="457200" y="1310640"/>
            <a:ext cx="8229600" cy="4525963"/>
          </a:xfrm>
        </p:spPr>
        <p:txBody>
          <a:bodyPr/>
          <a:lstStyle/>
          <a:p>
            <a:r>
              <a:rPr lang="fr-FR" sz="2800" dirty="0" smtClean="0"/>
              <a:t>A. la maladie peut être </a:t>
            </a:r>
            <a:r>
              <a:rPr lang="fr-FR" sz="2800" dirty="0" smtClean="0">
                <a:solidFill>
                  <a:srgbClr val="FF0000"/>
                </a:solidFill>
              </a:rPr>
              <a:t>transmise</a:t>
            </a:r>
            <a:r>
              <a:rPr lang="fr-FR" sz="2800" dirty="0" smtClean="0"/>
              <a:t> par un homme ou une femme</a:t>
            </a:r>
          </a:p>
          <a:p>
            <a:r>
              <a:rPr lang="fr-FR" sz="2800" dirty="0" smtClean="0"/>
              <a:t>B. le risque pour un hétérozygote d’avoir un </a:t>
            </a:r>
            <a:r>
              <a:rPr lang="fr-FR" sz="2800" dirty="0" smtClean="0">
                <a:solidFill>
                  <a:srgbClr val="FF0000"/>
                </a:solidFill>
              </a:rPr>
              <a:t>enfant atteint</a:t>
            </a:r>
            <a:r>
              <a:rPr lang="fr-FR" sz="2800" dirty="0" smtClean="0"/>
              <a:t> est de ½</a:t>
            </a:r>
          </a:p>
          <a:p>
            <a:r>
              <a:rPr lang="fr-FR" sz="2800" dirty="0" smtClean="0"/>
              <a:t>C. le risque pour un malade d’avoir un </a:t>
            </a:r>
            <a:r>
              <a:rPr lang="fr-FR" sz="2800" dirty="0" smtClean="0">
                <a:solidFill>
                  <a:srgbClr val="FF0000"/>
                </a:solidFill>
              </a:rPr>
              <a:t>enfant atteint </a:t>
            </a:r>
            <a:r>
              <a:rPr lang="fr-FR" sz="2800" dirty="0" smtClean="0"/>
              <a:t>est de 100%</a:t>
            </a:r>
          </a:p>
          <a:p>
            <a:r>
              <a:rPr lang="fr-FR" sz="2800" dirty="0" smtClean="0"/>
              <a:t>D. le risque pour un couple d’hétérozygotes d’avoir un enfant malade est de ¼</a:t>
            </a:r>
          </a:p>
          <a:p>
            <a:r>
              <a:rPr lang="fr-FR" sz="2800" dirty="0" smtClean="0"/>
              <a:t>E. le risque pour un couple hétérozygote  d’avoir un enfant porteur sain est de 2/3</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001643"/>
          </a:xfrm>
          <a:prstGeom prst="rect">
            <a:avLst/>
          </a:prstGeom>
        </p:spPr>
        <p:txBody>
          <a:bodyPr wrap="square">
            <a:spAutoFit/>
          </a:bodyPr>
          <a:lstStyle/>
          <a:p>
            <a:pPr algn="ctr"/>
            <a:r>
              <a:rPr lang="fr-FR" sz="2400" dirty="0" smtClean="0">
                <a:solidFill>
                  <a:srgbClr val="FF0000"/>
                </a:solidFill>
                <a:latin typeface="Times New Roman" pitchFamily="18" charset="0"/>
                <a:cs typeface="Times New Roman" pitchFamily="18" charset="0"/>
              </a:rPr>
              <a:t>Maladies autosomiques dominantes</a:t>
            </a:r>
          </a:p>
          <a:p>
            <a:endParaRPr lang="fr-FR" sz="2400" b="0" dirty="0" smtClean="0">
              <a:latin typeface="Times New Roman" pitchFamily="18" charset="0"/>
              <a:cs typeface="Times New Roman" pitchFamily="18" charset="0"/>
            </a:endParaRPr>
          </a:p>
          <a:p>
            <a:r>
              <a:rPr lang="fr-FR" sz="2400" b="0" dirty="0" smtClean="0">
                <a:latin typeface="Times New Roman" pitchFamily="18" charset="0"/>
                <a:cs typeface="Times New Roman" pitchFamily="18" charset="0"/>
              </a:rPr>
              <a:t>Une maladie est transmise selon le mode autosomique dominant si le gène en cause est porté par un autosome et si la présence d'un seul allèle muté suffit pour que la maladie se manifeste. Les individus hétérozygotes (</a:t>
            </a:r>
            <a:r>
              <a:rPr lang="fr-FR" sz="2400" b="0" i="1" dirty="0" smtClean="0">
                <a:latin typeface="Times New Roman" pitchFamily="18" charset="0"/>
                <a:cs typeface="Times New Roman" pitchFamily="18" charset="0"/>
              </a:rPr>
              <a:t>A/a) pour le gène en </a:t>
            </a:r>
            <a:r>
              <a:rPr lang="fr-FR" sz="2400" b="0" dirty="0" smtClean="0">
                <a:latin typeface="Times New Roman" pitchFamily="18" charset="0"/>
                <a:cs typeface="Times New Roman" pitchFamily="18" charset="0"/>
              </a:rPr>
              <a:t>cause sont malades. Généralement, les individus homozygotes (</a:t>
            </a:r>
            <a:r>
              <a:rPr lang="fr-FR" sz="2400" b="0" i="1" dirty="0" smtClean="0">
                <a:latin typeface="Times New Roman" pitchFamily="18" charset="0"/>
                <a:cs typeface="Times New Roman" pitchFamily="18" charset="0"/>
              </a:rPr>
              <a:t>A/A), s'ils sont viables, sont plus sévèrement atteints par la </a:t>
            </a:r>
            <a:r>
              <a:rPr lang="fr-FR" sz="2400" b="0" dirty="0" smtClean="0">
                <a:latin typeface="Times New Roman" pitchFamily="18" charset="0"/>
                <a:cs typeface="Times New Roman" pitchFamily="18" charset="0"/>
              </a:rPr>
              <a:t>maladie; </a:t>
            </a:r>
            <a:r>
              <a:rPr lang="fr-FR" sz="2400" b="0" u="sng" dirty="0" smtClean="0">
                <a:latin typeface="Times New Roman" pitchFamily="18" charset="0"/>
                <a:cs typeface="Times New Roman" pitchFamily="18" charset="0"/>
              </a:rPr>
              <a:t>ils sont si rares </a:t>
            </a:r>
            <a:r>
              <a:rPr lang="fr-FR" sz="2400" b="0" dirty="0" smtClean="0">
                <a:latin typeface="Times New Roman" pitchFamily="18" charset="0"/>
                <a:cs typeface="Times New Roman" pitchFamily="18" charset="0"/>
              </a:rPr>
              <a:t>qu'on peut considérer que tous les atteints sont, sauf exception, </a:t>
            </a:r>
            <a:r>
              <a:rPr lang="fr-FR" sz="2400" b="0" u="sng" dirty="0" smtClean="0">
                <a:latin typeface="Times New Roman" pitchFamily="18" charset="0"/>
                <a:cs typeface="Times New Roman" pitchFamily="18" charset="0"/>
              </a:rPr>
              <a:t>hétérozygotes.</a:t>
            </a:r>
          </a:p>
          <a:p>
            <a:endParaRPr lang="fr-FR" sz="2400" dirty="0" smtClean="0">
              <a:latin typeface="Times New Roman" pitchFamily="18" charset="0"/>
              <a:cs typeface="Times New Roman" pitchFamily="18" charset="0"/>
            </a:endParaRPr>
          </a:p>
          <a:p>
            <a:endParaRPr lang="fr-FR" sz="2400" dirty="0" smtClean="0">
              <a:latin typeface="Times New Roman" pitchFamily="18" charset="0"/>
              <a:cs typeface="Times New Roman" pitchFamily="18" charset="0"/>
            </a:endParaRPr>
          </a:p>
          <a:p>
            <a:endParaRPr lang="fr-FR" sz="2400" dirty="0" smtClean="0">
              <a:latin typeface="Times New Roman" pitchFamily="18" charset="0"/>
              <a:cs typeface="Times New Roman" pitchFamily="18" charset="0"/>
            </a:endParaRPr>
          </a:p>
          <a:p>
            <a:r>
              <a:rPr lang="fr-FR" sz="2400" dirty="0" smtClean="0">
                <a:latin typeface="Times New Roman" pitchFamily="18" charset="0"/>
                <a:cs typeface="Times New Roman" pitchFamily="18" charset="0"/>
              </a:rPr>
              <a:t>A chaque grossesse,</a:t>
            </a:r>
          </a:p>
          <a:p>
            <a:r>
              <a:rPr lang="fr-FR" sz="2400" dirty="0" smtClean="0">
                <a:latin typeface="Times New Roman" pitchFamily="18" charset="0"/>
                <a:cs typeface="Times New Roman" pitchFamily="18" charset="0"/>
              </a:rPr>
              <a:t>le risque que l'enfant soit </a:t>
            </a:r>
          </a:p>
          <a:p>
            <a:r>
              <a:rPr lang="fr-FR" sz="2400" dirty="0" smtClean="0">
                <a:latin typeface="Times New Roman" pitchFamily="18" charset="0"/>
                <a:cs typeface="Times New Roman" pitchFamily="18" charset="0"/>
              </a:rPr>
              <a:t>malade est de 50%</a:t>
            </a:r>
          </a:p>
          <a:p>
            <a:endParaRPr lang="fr-FR" sz="2400" dirty="0">
              <a:latin typeface="Times New Roman" pitchFamily="18" charset="0"/>
              <a:cs typeface="Times New Roman" pitchFamily="18" charset="0"/>
            </a:endParaRPr>
          </a:p>
        </p:txBody>
      </p:sp>
      <p:pic>
        <p:nvPicPr>
          <p:cNvPr id="261122" name="Picture 2"/>
          <p:cNvPicPr>
            <a:picLocks noChangeAspect="1" noChangeArrowheads="1"/>
          </p:cNvPicPr>
          <p:nvPr/>
        </p:nvPicPr>
        <p:blipFill>
          <a:blip r:embed="rId2"/>
          <a:srcRect/>
          <a:stretch>
            <a:fillRect/>
          </a:stretch>
        </p:blipFill>
        <p:spPr bwMode="auto">
          <a:xfrm>
            <a:off x="5120640" y="3765388"/>
            <a:ext cx="4022409" cy="30716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5240"/>
            <a:ext cx="9144000" cy="3416320"/>
          </a:xfrm>
          <a:prstGeom prst="rect">
            <a:avLst/>
          </a:prstGeom>
        </p:spPr>
        <p:txBody>
          <a:bodyPr wrap="square">
            <a:spAutoFit/>
          </a:bodyPr>
          <a:lstStyle/>
          <a:p>
            <a:pPr algn="ctr"/>
            <a:r>
              <a:rPr lang="fr-FR" sz="2400" dirty="0" smtClean="0">
                <a:solidFill>
                  <a:srgbClr val="FF0000"/>
                </a:solidFill>
                <a:latin typeface="Times New Roman" pitchFamily="18" charset="0"/>
                <a:cs typeface="Times New Roman" pitchFamily="18" charset="0"/>
              </a:rPr>
              <a:t>Maladies autosomiques dominantes</a:t>
            </a:r>
          </a:p>
          <a:p>
            <a:pPr algn="ctr"/>
            <a:endParaRPr lang="fr-FR" sz="2400" dirty="0" smtClean="0">
              <a:solidFill>
                <a:srgbClr val="FF0000"/>
              </a:solidFill>
              <a:latin typeface="Times New Roman" pitchFamily="18" charset="0"/>
              <a:cs typeface="Times New Roman" pitchFamily="18" charset="0"/>
            </a:endParaRPr>
          </a:p>
          <a:p>
            <a:r>
              <a:rPr lang="fr-FR" sz="2400" dirty="0" smtClean="0">
                <a:solidFill>
                  <a:srgbClr val="FF0000"/>
                </a:solidFill>
                <a:latin typeface="Times New Roman" pitchFamily="18" charset="0"/>
                <a:cs typeface="Times New Roman" pitchFamily="18" charset="0"/>
              </a:rPr>
              <a:t>Risques pour la descendance</a:t>
            </a:r>
          </a:p>
          <a:p>
            <a:endParaRPr lang="fr-FR" sz="2400" dirty="0" smtClean="0">
              <a:solidFill>
                <a:srgbClr val="FF0000"/>
              </a:solidFill>
              <a:latin typeface="Times New Roman" pitchFamily="18" charset="0"/>
              <a:cs typeface="Times New Roman" pitchFamily="18" charset="0"/>
            </a:endParaRPr>
          </a:p>
          <a:p>
            <a:r>
              <a:rPr lang="fr-FR" sz="2400" b="0" dirty="0" smtClean="0">
                <a:latin typeface="Times New Roman" pitchFamily="18" charset="0"/>
                <a:cs typeface="Times New Roman" pitchFamily="18" charset="0"/>
              </a:rPr>
              <a:t>Chacun des individus malades a un risque de </a:t>
            </a:r>
            <a:r>
              <a:rPr lang="fr-FR" sz="2400" dirty="0" smtClean="0">
                <a:solidFill>
                  <a:srgbClr val="FF0000"/>
                </a:solidFill>
                <a:latin typeface="Times New Roman" pitchFamily="18" charset="0"/>
                <a:cs typeface="Times New Roman" pitchFamily="18" charset="0"/>
              </a:rPr>
              <a:t>50%</a:t>
            </a:r>
            <a:r>
              <a:rPr lang="fr-FR" sz="2400" b="0" dirty="0" smtClean="0">
                <a:latin typeface="Times New Roman" pitchFamily="18" charset="0"/>
                <a:cs typeface="Times New Roman" pitchFamily="18" charset="0"/>
              </a:rPr>
              <a:t> de "transmettre" la maladie à chaque nouvelle grossesse.</a:t>
            </a:r>
          </a:p>
          <a:p>
            <a:endParaRPr lang="fr-FR" sz="2400" b="0" dirty="0" smtClean="0">
              <a:latin typeface="Times New Roman" pitchFamily="18" charset="0"/>
              <a:cs typeface="Times New Roman" pitchFamily="18" charset="0"/>
            </a:endParaRPr>
          </a:p>
          <a:p>
            <a:r>
              <a:rPr lang="fr-FR" sz="2400" b="0" dirty="0" smtClean="0">
                <a:latin typeface="Times New Roman" pitchFamily="18" charset="0"/>
                <a:cs typeface="Times New Roman" pitchFamily="18" charset="0"/>
              </a:rPr>
              <a:t>Chacun des individus sains a un risque de </a:t>
            </a:r>
            <a:r>
              <a:rPr lang="fr-FR" sz="2400" dirty="0" smtClean="0">
                <a:solidFill>
                  <a:srgbClr val="FF0000"/>
                </a:solidFill>
                <a:latin typeface="Times New Roman" pitchFamily="18" charset="0"/>
                <a:cs typeface="Times New Roman" pitchFamily="18" charset="0"/>
              </a:rPr>
              <a:t>0%</a:t>
            </a:r>
            <a:r>
              <a:rPr lang="fr-FR" sz="2400" b="0" dirty="0" smtClean="0">
                <a:latin typeface="Times New Roman" pitchFamily="18" charset="0"/>
                <a:cs typeface="Times New Roman" pitchFamily="18" charset="0"/>
              </a:rPr>
              <a:t> de "transmettre" la maladie à chaque nouvelle grossesse.</a:t>
            </a:r>
            <a:endParaRPr lang="fr-FR" sz="2400" b="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3477875"/>
          </a:xfrm>
          <a:prstGeom prst="rect">
            <a:avLst/>
          </a:prstGeom>
        </p:spPr>
        <p:txBody>
          <a:bodyPr wrap="square">
            <a:spAutoFit/>
          </a:bodyPr>
          <a:lstStyle/>
          <a:p>
            <a:pPr algn="ctr"/>
            <a:r>
              <a:rPr lang="fr-FR" sz="2000" dirty="0" smtClean="0">
                <a:solidFill>
                  <a:srgbClr val="FF0000"/>
                </a:solidFill>
                <a:latin typeface="Times New Roman" pitchFamily="18" charset="0"/>
                <a:cs typeface="Times New Roman" pitchFamily="18" charset="0"/>
              </a:rPr>
              <a:t>Maladies autosomiques récessives</a:t>
            </a:r>
          </a:p>
          <a:p>
            <a:endParaRPr lang="fr-FR" sz="2000" dirty="0" smtClean="0">
              <a:latin typeface="Times New Roman" pitchFamily="18" charset="0"/>
              <a:cs typeface="Times New Roman" pitchFamily="18" charset="0"/>
            </a:endParaRPr>
          </a:p>
          <a:p>
            <a:r>
              <a:rPr lang="fr-FR" sz="2000" b="0" dirty="0" smtClean="0">
                <a:latin typeface="Times New Roman" pitchFamily="18" charset="0"/>
                <a:cs typeface="Times New Roman" pitchFamily="18" charset="0"/>
              </a:rPr>
              <a:t>Une maladie est transmise selon le mode autosomique récessif si le gène en cause est porté par un autosome et si la présence de deux allèles mutés du gène est nécessaire pour que la maladie se manifeste. Les malades sont homozygotes pour le gène en cause.</a:t>
            </a:r>
            <a:r>
              <a:rPr lang="fr-FR" sz="2000" dirty="0" smtClean="0"/>
              <a:t> </a:t>
            </a:r>
            <a:endParaRPr lang="fr-FR" sz="2000" dirty="0" smtClean="0">
              <a:latin typeface="Times New Roman" pitchFamily="18" charset="0"/>
              <a:cs typeface="Times New Roman" pitchFamily="18" charset="0"/>
            </a:endParaRPr>
          </a:p>
          <a:p>
            <a:pPr>
              <a:buFont typeface="Arial" pitchFamily="34" charset="0"/>
              <a:buChar char="•"/>
            </a:pPr>
            <a:r>
              <a:rPr lang="fr-FR" sz="2000" b="0" dirty="0" smtClean="0">
                <a:latin typeface="Times New Roman" pitchFamily="18" charset="0"/>
                <a:cs typeface="Times New Roman" pitchFamily="18" charset="0"/>
              </a:rPr>
              <a:t>Le risque de "transmettre" la maladie pour une personne homozygote malade (a/a) ou pour une personne hétérozygote sain (A/a) dépend du statut de son conjoint.</a:t>
            </a:r>
          </a:p>
          <a:p>
            <a:pPr>
              <a:buFont typeface="Arial" pitchFamily="34" charset="0"/>
              <a:buChar char="•"/>
            </a:pPr>
            <a:r>
              <a:rPr lang="fr-FR" sz="2000" b="0" dirty="0" smtClean="0">
                <a:latin typeface="Times New Roman" pitchFamily="18" charset="0"/>
                <a:cs typeface="Times New Roman" pitchFamily="18" charset="0"/>
              </a:rPr>
              <a:t>Le risque de "transmettre" la maladie pour une personne homozygote saine (A/A) est nul.</a:t>
            </a:r>
          </a:p>
          <a:p>
            <a:endParaRPr lang="fr-FR" sz="2000" b="0" dirty="0" smtClean="0">
              <a:latin typeface="Times New Roman" pitchFamily="18" charset="0"/>
              <a:cs typeface="Times New Roman" pitchFamily="18" charset="0"/>
            </a:endParaRPr>
          </a:p>
          <a:p>
            <a:endParaRPr lang="fr-FR" sz="2000" b="0" dirty="0">
              <a:latin typeface="Times New Roman" pitchFamily="18" charset="0"/>
              <a:cs typeface="Times New Roman" pitchFamily="18" charset="0"/>
            </a:endParaRPr>
          </a:p>
        </p:txBody>
      </p:sp>
      <p:sp>
        <p:nvSpPr>
          <p:cNvPr id="7" name="Rectangle 6"/>
          <p:cNvSpPr/>
          <p:nvPr/>
        </p:nvSpPr>
        <p:spPr>
          <a:xfrm>
            <a:off x="0" y="2773680"/>
            <a:ext cx="9144000" cy="707886"/>
          </a:xfrm>
          <a:prstGeom prst="rect">
            <a:avLst/>
          </a:prstGeom>
        </p:spPr>
        <p:txBody>
          <a:bodyPr wrap="square">
            <a:spAutoFit/>
          </a:bodyPr>
          <a:lstStyle/>
          <a:p>
            <a:r>
              <a:rPr lang="fr-FR" sz="2000" dirty="0" smtClean="0">
                <a:latin typeface="Times New Roman" pitchFamily="18" charset="0"/>
                <a:cs typeface="Times New Roman" pitchFamily="18" charset="0"/>
              </a:rPr>
              <a:t>Pour les individus malades </a:t>
            </a:r>
            <a:r>
              <a:rPr lang="fr-FR" sz="2000" b="0" dirty="0" smtClean="0">
                <a:latin typeface="Times New Roman" pitchFamily="18" charset="0"/>
                <a:cs typeface="Times New Roman" pitchFamily="18" charset="0"/>
              </a:rPr>
              <a:t>:  Homozygote malade / Homozygote sain</a:t>
            </a:r>
          </a:p>
          <a:p>
            <a:r>
              <a:rPr lang="fr-FR" sz="2000" dirty="0" smtClean="0">
                <a:latin typeface="Times New Roman" pitchFamily="18" charset="0"/>
                <a:cs typeface="Times New Roman" pitchFamily="18" charset="0"/>
              </a:rPr>
              <a:t>Le plus souvent</a:t>
            </a:r>
            <a:r>
              <a:rPr lang="fr-FR" sz="2000" b="0" dirty="0" smtClean="0">
                <a:latin typeface="Times New Roman" pitchFamily="18" charset="0"/>
                <a:cs typeface="Times New Roman" pitchFamily="18" charset="0"/>
              </a:rPr>
              <a:t>, un individu malade épouse un homozygote sain.</a:t>
            </a:r>
            <a:endParaRPr lang="fr-FR" sz="2000" b="0" dirty="0">
              <a:latin typeface="Times New Roman" pitchFamily="18" charset="0"/>
              <a:cs typeface="Times New Roman" pitchFamily="18" charset="0"/>
            </a:endParaRPr>
          </a:p>
        </p:txBody>
      </p:sp>
      <p:pic>
        <p:nvPicPr>
          <p:cNvPr id="262146" name="Picture 2"/>
          <p:cNvPicPr>
            <a:picLocks noChangeAspect="1" noChangeArrowheads="1"/>
          </p:cNvPicPr>
          <p:nvPr/>
        </p:nvPicPr>
        <p:blipFill>
          <a:blip r:embed="rId2"/>
          <a:srcRect/>
          <a:stretch>
            <a:fillRect/>
          </a:stretch>
        </p:blipFill>
        <p:spPr bwMode="auto">
          <a:xfrm>
            <a:off x="4937761" y="3541776"/>
            <a:ext cx="4159568" cy="3327654"/>
          </a:xfrm>
          <a:prstGeom prst="rect">
            <a:avLst/>
          </a:prstGeom>
          <a:noFill/>
          <a:ln w="9525">
            <a:noFill/>
            <a:miter lim="800000"/>
            <a:headEnd/>
            <a:tailEnd/>
          </a:ln>
          <a:effectLst/>
        </p:spPr>
      </p:pic>
      <p:sp>
        <p:nvSpPr>
          <p:cNvPr id="9" name="Rectangle 8"/>
          <p:cNvSpPr/>
          <p:nvPr/>
        </p:nvSpPr>
        <p:spPr>
          <a:xfrm>
            <a:off x="60960" y="3958977"/>
            <a:ext cx="4572000" cy="1938992"/>
          </a:xfrm>
          <a:prstGeom prst="rect">
            <a:avLst/>
          </a:prstGeom>
        </p:spPr>
        <p:txBody>
          <a:bodyPr>
            <a:spAutoFit/>
          </a:bodyPr>
          <a:lstStyle/>
          <a:p>
            <a:r>
              <a:rPr lang="fr-FR" sz="2400" dirty="0" smtClean="0">
                <a:latin typeface="Times New Roman" pitchFamily="18" charset="0"/>
                <a:cs typeface="Times New Roman" pitchFamily="18" charset="0"/>
              </a:rPr>
              <a:t>A chaque grossesse, le risque que l'enfant soit malade est de 0% :</a:t>
            </a:r>
          </a:p>
          <a:p>
            <a:r>
              <a:rPr lang="fr-FR" sz="2400" dirty="0" smtClean="0">
                <a:latin typeface="Times New Roman" pitchFamily="18" charset="0"/>
                <a:cs typeface="Times New Roman" pitchFamily="18" charset="0"/>
              </a:rPr>
              <a:t>Aucun enfant ne sera malade, ils seront tous hétérozygotes, porteurs sains.</a:t>
            </a:r>
            <a:endParaRPr lang="fr-FR"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1631216"/>
          </a:xfrm>
          <a:prstGeom prst="rect">
            <a:avLst/>
          </a:prstGeom>
        </p:spPr>
        <p:txBody>
          <a:bodyPr wrap="square">
            <a:spAutoFit/>
          </a:bodyPr>
          <a:lstStyle/>
          <a:p>
            <a:pPr algn="ctr"/>
            <a:r>
              <a:rPr lang="fr-FR" sz="2000" dirty="0" smtClean="0">
                <a:solidFill>
                  <a:srgbClr val="FF0000"/>
                </a:solidFill>
                <a:latin typeface="Times New Roman" pitchFamily="18" charset="0"/>
                <a:cs typeface="Times New Roman" pitchFamily="18" charset="0"/>
              </a:rPr>
              <a:t>Maladies autosomiques récessives</a:t>
            </a:r>
          </a:p>
          <a:p>
            <a:pPr algn="ctr"/>
            <a:endParaRPr lang="fr-FR" sz="2000" dirty="0" smtClean="0">
              <a:solidFill>
                <a:srgbClr val="FF0000"/>
              </a:solidFill>
              <a:latin typeface="Times New Roman" pitchFamily="18" charset="0"/>
              <a:cs typeface="Times New Roman" pitchFamily="18" charset="0"/>
            </a:endParaRPr>
          </a:p>
          <a:p>
            <a:pPr algn="ctr"/>
            <a:r>
              <a:rPr lang="fr-FR" sz="2000" dirty="0" smtClean="0">
                <a:latin typeface="Times New Roman" pitchFamily="18" charset="0"/>
                <a:cs typeface="Times New Roman" pitchFamily="18" charset="0"/>
              </a:rPr>
              <a:t>Homozygote malade / Hétérozygote</a:t>
            </a:r>
          </a:p>
          <a:p>
            <a:pPr algn="ctr"/>
            <a:endParaRPr lang="fr-FR" sz="2000" dirty="0" smtClean="0">
              <a:latin typeface="Times New Roman" pitchFamily="18" charset="0"/>
              <a:cs typeface="Times New Roman" pitchFamily="18" charset="0"/>
            </a:endParaRPr>
          </a:p>
          <a:p>
            <a:pPr algn="ctr"/>
            <a:r>
              <a:rPr lang="fr-FR" sz="2000" dirty="0" smtClean="0">
                <a:latin typeface="Times New Roman" pitchFamily="18" charset="0"/>
                <a:cs typeface="Times New Roman" pitchFamily="18" charset="0"/>
              </a:rPr>
              <a:t>Plus rarement, un individu malade épouse un hétérozygote sain.</a:t>
            </a:r>
            <a:endParaRPr lang="fr-FR" sz="2000" dirty="0">
              <a:latin typeface="Times New Roman" pitchFamily="18" charset="0"/>
              <a:cs typeface="Times New Roman" pitchFamily="18" charset="0"/>
            </a:endParaRPr>
          </a:p>
        </p:txBody>
      </p:sp>
      <p:pic>
        <p:nvPicPr>
          <p:cNvPr id="263170" name="Picture 2"/>
          <p:cNvPicPr>
            <a:picLocks noChangeAspect="1" noChangeArrowheads="1"/>
          </p:cNvPicPr>
          <p:nvPr/>
        </p:nvPicPr>
        <p:blipFill>
          <a:blip r:embed="rId2"/>
          <a:srcRect/>
          <a:stretch>
            <a:fillRect/>
          </a:stretch>
        </p:blipFill>
        <p:spPr bwMode="auto">
          <a:xfrm>
            <a:off x="4054793" y="1987296"/>
            <a:ext cx="4692967" cy="4565904"/>
          </a:xfrm>
          <a:prstGeom prst="rect">
            <a:avLst/>
          </a:prstGeom>
          <a:noFill/>
          <a:ln w="9525">
            <a:noFill/>
            <a:miter lim="800000"/>
            <a:headEnd/>
            <a:tailEnd/>
          </a:ln>
          <a:effectLst/>
        </p:spPr>
      </p:pic>
      <p:sp>
        <p:nvSpPr>
          <p:cNvPr id="7" name="Rectangle 6"/>
          <p:cNvSpPr/>
          <p:nvPr/>
        </p:nvSpPr>
        <p:spPr>
          <a:xfrm>
            <a:off x="-30480" y="2893665"/>
            <a:ext cx="4572000" cy="1384995"/>
          </a:xfrm>
          <a:prstGeom prst="rect">
            <a:avLst/>
          </a:prstGeom>
        </p:spPr>
        <p:txBody>
          <a:bodyPr>
            <a:spAutoFit/>
          </a:bodyPr>
          <a:lstStyle/>
          <a:p>
            <a:r>
              <a:rPr lang="fr-FR" sz="2800" dirty="0" smtClean="0">
                <a:latin typeface="Times New Roman" pitchFamily="18" charset="0"/>
                <a:cs typeface="Times New Roman" pitchFamily="18" charset="0"/>
              </a:rPr>
              <a:t>A chaque grossesse, le risque que l'enfant soit malade est de 50%</a:t>
            </a:r>
            <a:endParaRPr lang="fr-FR"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1938992"/>
          </a:xfrm>
          <a:prstGeom prst="rect">
            <a:avLst/>
          </a:prstGeom>
        </p:spPr>
        <p:txBody>
          <a:bodyPr wrap="square">
            <a:spAutoFit/>
          </a:bodyPr>
          <a:lstStyle/>
          <a:p>
            <a:pPr algn="ctr"/>
            <a:r>
              <a:rPr lang="fr-FR" sz="2000" dirty="0" smtClean="0">
                <a:solidFill>
                  <a:srgbClr val="FF0000"/>
                </a:solidFill>
                <a:latin typeface="Times New Roman" pitchFamily="18" charset="0"/>
                <a:cs typeface="Times New Roman" pitchFamily="18" charset="0"/>
              </a:rPr>
              <a:t>Maladies autosomiques récessives</a:t>
            </a:r>
          </a:p>
          <a:p>
            <a:pPr algn="ctr"/>
            <a:endParaRPr lang="fr-FR" sz="2000" dirty="0" smtClean="0">
              <a:solidFill>
                <a:srgbClr val="FF0000"/>
              </a:solidFill>
              <a:latin typeface="Times New Roman" pitchFamily="18" charset="0"/>
              <a:cs typeface="Times New Roman" pitchFamily="18" charset="0"/>
            </a:endParaRPr>
          </a:p>
          <a:p>
            <a:pPr algn="ctr"/>
            <a:r>
              <a:rPr lang="fr-FR" sz="2000" dirty="0" smtClean="0">
                <a:latin typeface="Times New Roman" pitchFamily="18" charset="0"/>
                <a:cs typeface="Times New Roman" pitchFamily="18" charset="0"/>
              </a:rPr>
              <a:t>Homozygote malade / Homozygote malade</a:t>
            </a:r>
          </a:p>
          <a:p>
            <a:pPr algn="ctr"/>
            <a:endParaRPr lang="fr-FR" sz="2000" dirty="0" smtClean="0">
              <a:latin typeface="Times New Roman" pitchFamily="18" charset="0"/>
              <a:cs typeface="Times New Roman" pitchFamily="18" charset="0"/>
            </a:endParaRPr>
          </a:p>
          <a:p>
            <a:pPr algn="ctr"/>
            <a:r>
              <a:rPr lang="fr-FR" sz="2000" dirty="0" smtClean="0">
                <a:latin typeface="Times New Roman" pitchFamily="18" charset="0"/>
                <a:cs typeface="Times New Roman" pitchFamily="18" charset="0"/>
              </a:rPr>
              <a:t>L'union de deux sujets malades est exceptionnelle mais possible</a:t>
            </a:r>
          </a:p>
          <a:p>
            <a:pPr algn="ctr"/>
            <a:r>
              <a:rPr lang="fr-FR" sz="2000" dirty="0" smtClean="0">
                <a:latin typeface="Times New Roman" pitchFamily="18" charset="0"/>
                <a:cs typeface="Times New Roman" pitchFamily="18" charset="0"/>
              </a:rPr>
              <a:t>(rencontre dans les associations, structures spécialisées, etc.).</a:t>
            </a:r>
            <a:endParaRPr lang="fr-FR" sz="2000" dirty="0">
              <a:latin typeface="Times New Roman" pitchFamily="18" charset="0"/>
              <a:cs typeface="Times New Roman" pitchFamily="18" charset="0"/>
            </a:endParaRPr>
          </a:p>
        </p:txBody>
      </p:sp>
      <p:pic>
        <p:nvPicPr>
          <p:cNvPr id="264194" name="Picture 2"/>
          <p:cNvPicPr>
            <a:picLocks noChangeAspect="1" noChangeArrowheads="1"/>
          </p:cNvPicPr>
          <p:nvPr/>
        </p:nvPicPr>
        <p:blipFill>
          <a:blip r:embed="rId2"/>
          <a:srcRect/>
          <a:stretch>
            <a:fillRect/>
          </a:stretch>
        </p:blipFill>
        <p:spPr bwMode="auto">
          <a:xfrm>
            <a:off x="3262313" y="2215514"/>
            <a:ext cx="5637847" cy="4429125"/>
          </a:xfrm>
          <a:prstGeom prst="rect">
            <a:avLst/>
          </a:prstGeom>
          <a:noFill/>
          <a:ln w="9525">
            <a:noFill/>
            <a:miter lim="800000"/>
            <a:headEnd/>
            <a:tailEnd/>
          </a:ln>
          <a:effectLst/>
        </p:spPr>
      </p:pic>
      <p:sp>
        <p:nvSpPr>
          <p:cNvPr id="7" name="Rectangle 6"/>
          <p:cNvSpPr/>
          <p:nvPr/>
        </p:nvSpPr>
        <p:spPr>
          <a:xfrm>
            <a:off x="15240" y="3244185"/>
            <a:ext cx="4572000" cy="707886"/>
          </a:xfrm>
          <a:prstGeom prst="rect">
            <a:avLst/>
          </a:prstGeom>
        </p:spPr>
        <p:txBody>
          <a:bodyPr>
            <a:spAutoFit/>
          </a:bodyPr>
          <a:lstStyle/>
          <a:p>
            <a:r>
              <a:rPr lang="fr-FR" sz="2000" dirty="0" smtClean="0">
                <a:latin typeface="Times New Roman" pitchFamily="18" charset="0"/>
                <a:cs typeface="Times New Roman" pitchFamily="18" charset="0"/>
              </a:rPr>
              <a:t>A chaque grossesse, le risque que l'enfant soit malade est de 100%</a:t>
            </a:r>
            <a:endParaRPr lang="fr-FR"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sz="3200" b="1" dirty="0" smtClean="0"/>
              <a:t>Dans une maladie à transmission </a:t>
            </a:r>
            <a:r>
              <a:rPr lang="fr-FR" sz="3200" b="1" dirty="0" err="1" smtClean="0"/>
              <a:t>autosomale</a:t>
            </a:r>
            <a:r>
              <a:rPr lang="fr-FR" sz="3200" b="1" dirty="0" smtClean="0"/>
              <a:t> récessive (	</a:t>
            </a:r>
            <a:r>
              <a:rPr lang="fr-FR" sz="3200" b="1" dirty="0" err="1" smtClean="0"/>
              <a:t>oran</a:t>
            </a:r>
            <a:r>
              <a:rPr lang="fr-FR" sz="3200" b="1" dirty="0" smtClean="0"/>
              <a:t> 2022)</a:t>
            </a:r>
            <a:endParaRPr lang="fr-FR" sz="3200" b="1" dirty="0"/>
          </a:p>
        </p:txBody>
      </p:sp>
      <p:sp>
        <p:nvSpPr>
          <p:cNvPr id="3" name="Espace réservé du contenu 2"/>
          <p:cNvSpPr>
            <a:spLocks noGrp="1"/>
          </p:cNvSpPr>
          <p:nvPr>
            <p:ph idx="1"/>
          </p:nvPr>
        </p:nvSpPr>
        <p:spPr>
          <a:xfrm>
            <a:off x="457200" y="1310640"/>
            <a:ext cx="8229600" cy="4525963"/>
          </a:xfrm>
        </p:spPr>
        <p:txBody>
          <a:bodyPr/>
          <a:lstStyle/>
          <a:p>
            <a:r>
              <a:rPr lang="fr-FR" sz="2800" dirty="0" smtClean="0"/>
              <a:t>A. la maladie peut être </a:t>
            </a:r>
            <a:r>
              <a:rPr lang="fr-FR" sz="2800" dirty="0" smtClean="0">
                <a:solidFill>
                  <a:srgbClr val="FF0000"/>
                </a:solidFill>
              </a:rPr>
              <a:t>transmise</a:t>
            </a:r>
            <a:r>
              <a:rPr lang="fr-FR" sz="2800" dirty="0" smtClean="0"/>
              <a:t> par un homme ou une femme</a:t>
            </a:r>
          </a:p>
          <a:p>
            <a:r>
              <a:rPr lang="fr-FR" sz="2800" dirty="0" smtClean="0"/>
              <a:t>B. le risque pour un hétérozygote d’avoir un </a:t>
            </a:r>
            <a:r>
              <a:rPr lang="fr-FR" sz="2800" dirty="0" smtClean="0">
                <a:solidFill>
                  <a:srgbClr val="FF0000"/>
                </a:solidFill>
              </a:rPr>
              <a:t>enfant atteint</a:t>
            </a:r>
            <a:r>
              <a:rPr lang="fr-FR" sz="2800" dirty="0" smtClean="0"/>
              <a:t> est de ½</a:t>
            </a:r>
          </a:p>
          <a:p>
            <a:r>
              <a:rPr lang="fr-FR" sz="2800" dirty="0" smtClean="0"/>
              <a:t>C. le risque pour un malade d’avoir un </a:t>
            </a:r>
            <a:r>
              <a:rPr lang="fr-FR" sz="2800" dirty="0" smtClean="0">
                <a:solidFill>
                  <a:srgbClr val="FF0000"/>
                </a:solidFill>
              </a:rPr>
              <a:t>enfant atteint </a:t>
            </a:r>
            <a:r>
              <a:rPr lang="fr-FR" sz="2800" dirty="0" smtClean="0"/>
              <a:t>est de 100%</a:t>
            </a:r>
          </a:p>
          <a:p>
            <a:r>
              <a:rPr lang="fr-FR" sz="2800" dirty="0" smtClean="0"/>
              <a:t>D. le risque pour un couple d’hétérozygotes d’avoir un enfant malade est de ¼</a:t>
            </a:r>
          </a:p>
          <a:p>
            <a:r>
              <a:rPr lang="fr-FR" sz="2800" dirty="0" smtClean="0"/>
              <a:t>E. le risque pour un couple hétérozygote  d’avoir un enfant porteur sain est de 2/3</a:t>
            </a:r>
          </a:p>
          <a:p>
            <a:pPr>
              <a:buNone/>
            </a:pPr>
            <a:r>
              <a:rPr lang="fr-FR" sz="2800" b="1" dirty="0" smtClean="0"/>
              <a:t>Réponse : A  D </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4832092"/>
          </a:xfrm>
          <a:prstGeom prst="rect">
            <a:avLst/>
          </a:prstGeom>
        </p:spPr>
        <p:txBody>
          <a:bodyPr wrap="square">
            <a:spAutoFit/>
          </a:bodyPr>
          <a:lstStyle/>
          <a:p>
            <a:r>
              <a:rPr lang="fr-FR" sz="2800" dirty="0" smtClean="0">
                <a:latin typeface="Times New Roman" pitchFamily="18" charset="0"/>
                <a:cs typeface="Times New Roman" pitchFamily="18" charset="0"/>
              </a:rPr>
              <a:t>Les conséquences de la fécondation sont (RF) ( Alger 2021)</a:t>
            </a:r>
          </a:p>
          <a:p>
            <a:r>
              <a:rPr lang="fr-FR" sz="2800" dirty="0" smtClean="0">
                <a:latin typeface="Times New Roman" pitchFamily="18" charset="0"/>
                <a:cs typeface="Times New Roman" pitchFamily="18" charset="0"/>
              </a:rPr>
              <a:t/>
            </a:r>
            <a:br>
              <a:rPr lang="fr-FR" sz="280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A. La constitution d’un nombre haploïde de chromosomes </a:t>
            </a:r>
            <a:br>
              <a:rPr lang="fr-FR" sz="2800" b="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B. La détermination du sexe du zygote </a:t>
            </a:r>
            <a:br>
              <a:rPr lang="fr-FR" sz="2800" b="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C. Le sexe du zygote résulte du </a:t>
            </a:r>
            <a:r>
              <a:rPr lang="fr-FR" sz="2800" b="0" dirty="0" err="1" smtClean="0">
                <a:latin typeface="Times New Roman" pitchFamily="18" charset="0"/>
                <a:cs typeface="Times New Roman" pitchFamily="18" charset="0"/>
              </a:rPr>
              <a:t>gonosome</a:t>
            </a:r>
            <a:r>
              <a:rPr lang="fr-FR" sz="2800" b="0" dirty="0" smtClean="0">
                <a:latin typeface="Times New Roman" pitchFamily="18" charset="0"/>
                <a:cs typeface="Times New Roman" pitchFamily="18" charset="0"/>
              </a:rPr>
              <a:t> contenu dans le spermatozoïde </a:t>
            </a:r>
            <a:br>
              <a:rPr lang="fr-FR" sz="2800" b="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D. La formation, par recombinaison génique, d’un nouveau génome différent de ceux des parents </a:t>
            </a:r>
            <a:br>
              <a:rPr lang="fr-FR" sz="2800" b="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E. L’initiation à la segmentation </a:t>
            </a:r>
            <a:br>
              <a:rPr lang="fr-FR" sz="2800" b="0" dirty="0" smtClean="0">
                <a:latin typeface="Times New Roman" pitchFamily="18" charset="0"/>
                <a:cs typeface="Times New Roman" pitchFamily="18" charset="0"/>
              </a:rPr>
            </a:br>
            <a:r>
              <a:rPr lang="fr-FR" sz="2800" b="0" dirty="0" smtClean="0">
                <a:latin typeface="Times New Roman" pitchFamily="18" charset="0"/>
                <a:cs typeface="Times New Roman" pitchFamily="18" charset="0"/>
              </a:rPr>
              <a:t/>
            </a:r>
            <a:br>
              <a:rPr lang="fr-FR" sz="2800" b="0" dirty="0" smtClean="0">
                <a:latin typeface="Times New Roman" pitchFamily="18" charset="0"/>
                <a:cs typeface="Times New Roman" pitchFamily="18" charset="0"/>
              </a:rPr>
            </a:br>
            <a:endParaRPr lang="fr-FR" sz="2800" b="0" dirty="0">
              <a:latin typeface="Times New Roman" pitchFamily="18" charset="0"/>
              <a:cs typeface="Times New Roman" pitchFamily="18" charset="0"/>
            </a:endParaRPr>
          </a:p>
        </p:txBody>
      </p:sp>
      <p:sp>
        <p:nvSpPr>
          <p:cNvPr id="6" name="Rectangle 5"/>
          <p:cNvSpPr/>
          <p:nvPr/>
        </p:nvSpPr>
        <p:spPr>
          <a:xfrm>
            <a:off x="47472" y="4509850"/>
            <a:ext cx="1759456" cy="461665"/>
          </a:xfrm>
          <a:prstGeom prst="rect">
            <a:avLst/>
          </a:prstGeom>
        </p:spPr>
        <p:txBody>
          <a:bodyPr wrap="none">
            <a:spAutoFit/>
          </a:bodyPr>
          <a:lstStyle/>
          <a:p>
            <a:r>
              <a:rPr lang="fr-FR" sz="2400" dirty="0" smtClean="0">
                <a:latin typeface="Times New Roman" pitchFamily="18" charset="0"/>
                <a:cs typeface="Times New Roman" pitchFamily="18" charset="0"/>
              </a:rPr>
              <a:t>Réponse : A</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4678204"/>
          </a:xfrm>
          <a:prstGeom prst="rect">
            <a:avLst/>
          </a:prstGeom>
        </p:spPr>
        <p:txBody>
          <a:bodyPr wrap="square">
            <a:spAutoFit/>
          </a:bodyPr>
          <a:lstStyle/>
          <a:p>
            <a:endParaRPr lang="fr-FR" dirty="0" smtClean="0"/>
          </a:p>
          <a:p>
            <a:r>
              <a:rPr lang="fr-FR" sz="2400" dirty="0" smtClean="0">
                <a:latin typeface="Times New Roman" pitchFamily="18" charset="0"/>
                <a:cs typeface="Times New Roman" pitchFamily="18" charset="0"/>
              </a:rPr>
              <a:t>La régulation </a:t>
            </a:r>
            <a:r>
              <a:rPr lang="fr-FR" sz="2400" dirty="0" err="1" smtClean="0">
                <a:latin typeface="Times New Roman" pitchFamily="18" charset="0"/>
                <a:cs typeface="Times New Roman" pitchFamily="18" charset="0"/>
              </a:rPr>
              <a:t>transcriptionnelle</a:t>
            </a:r>
            <a:r>
              <a:rPr lang="fr-FR" sz="2400" dirty="0" smtClean="0">
                <a:latin typeface="Times New Roman" pitchFamily="18" charset="0"/>
                <a:cs typeface="Times New Roman" pitchFamily="18" charset="0"/>
              </a:rPr>
              <a:t> par épissage alternatif (RF) (Alger 2021)</a:t>
            </a:r>
          </a:p>
          <a:p>
            <a:r>
              <a:rPr lang="fr-FR" sz="2400" dirty="0" smtClean="0">
                <a:latin typeface="Times New Roman" pitchFamily="18" charset="0"/>
                <a:cs typeface="Times New Roman" pitchFamily="18" charset="0"/>
              </a:rPr>
              <a:t> </a:t>
            </a:r>
          </a:p>
          <a:p>
            <a:r>
              <a:rPr lang="fr-FR" sz="2400" b="0" dirty="0" smtClean="0">
                <a:latin typeface="Times New Roman" pitchFamily="18" charset="0"/>
                <a:cs typeface="Times New Roman" pitchFamily="18" charset="0"/>
              </a:rPr>
              <a:t>A. Conduit à la production de plusieurs ARN messagers matures différents à partir d’un seul gène </a:t>
            </a:r>
          </a:p>
          <a:p>
            <a:r>
              <a:rPr lang="fr-FR" sz="2400" b="0" dirty="0" smtClean="0">
                <a:latin typeface="Times New Roman" pitchFamily="18" charset="0"/>
                <a:cs typeface="Times New Roman" pitchFamily="18" charset="0"/>
              </a:rPr>
              <a:t>B. Prévient la synthèse de protéines tronquées </a:t>
            </a:r>
          </a:p>
          <a:p>
            <a:r>
              <a:rPr lang="fr-FR" sz="2400" b="0" dirty="0" smtClean="0">
                <a:latin typeface="Times New Roman" pitchFamily="18" charset="0"/>
                <a:cs typeface="Times New Roman" pitchFamily="18" charset="0"/>
              </a:rPr>
              <a:t>C. Aboutit à la synthèse d’une protéine identique à partir de plusieurs gènes différents </a:t>
            </a:r>
          </a:p>
          <a:p>
            <a:r>
              <a:rPr lang="fr-FR" sz="2400" b="0" dirty="0" smtClean="0">
                <a:latin typeface="Times New Roman" pitchFamily="18" charset="0"/>
                <a:cs typeface="Times New Roman" pitchFamily="18" charset="0"/>
              </a:rPr>
              <a:t>D. Contrôle la production d’ARN messagers de tailles différentes à partir d’un seul gène </a:t>
            </a:r>
          </a:p>
          <a:p>
            <a:r>
              <a:rPr lang="fr-FR" sz="2400" b="0" dirty="0" smtClean="0">
                <a:latin typeface="Times New Roman" pitchFamily="18" charset="0"/>
                <a:cs typeface="Times New Roman" pitchFamily="18" charset="0"/>
              </a:rPr>
              <a:t>E. N’intervient pas dans la régulation post-</a:t>
            </a:r>
            <a:r>
              <a:rPr lang="fr-FR" sz="2400" b="0" dirty="0" err="1" smtClean="0">
                <a:latin typeface="Times New Roman" pitchFamily="18" charset="0"/>
                <a:cs typeface="Times New Roman" pitchFamily="18" charset="0"/>
              </a:rPr>
              <a:t>transcriptionnelle</a:t>
            </a:r>
            <a:r>
              <a:rPr lang="fr-FR" sz="2400" b="0" dirty="0" smtClean="0">
                <a:latin typeface="Times New Roman" pitchFamily="18" charset="0"/>
                <a:cs typeface="Times New Roman" pitchFamily="18" charset="0"/>
              </a:rPr>
              <a:t> </a:t>
            </a:r>
          </a:p>
          <a:p>
            <a:endParaRPr lang="fr-FR" sz="2400" b="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20040"/>
            <a:ext cx="9144000" cy="5632311"/>
          </a:xfrm>
          <a:prstGeom prst="rect">
            <a:avLst/>
          </a:prstGeom>
        </p:spPr>
        <p:txBody>
          <a:bodyPr wrap="square">
            <a:spAutoFit/>
          </a:bodyPr>
          <a:lstStyle/>
          <a:p>
            <a:r>
              <a:rPr lang="fr-FR" sz="2400" dirty="0" smtClean="0">
                <a:solidFill>
                  <a:srgbClr val="FF0000"/>
                </a:solidFill>
                <a:latin typeface="Times New Roman" pitchFamily="18" charset="0"/>
                <a:cs typeface="Times New Roman" pitchFamily="18" charset="0"/>
              </a:rPr>
              <a:t>Épissage alternatif :</a:t>
            </a:r>
          </a:p>
          <a:p>
            <a:endParaRPr lang="fr-FR" sz="2400" dirty="0" smtClean="0">
              <a:latin typeface="Times New Roman" pitchFamily="18" charset="0"/>
              <a:cs typeface="Times New Roman" pitchFamily="18" charset="0"/>
            </a:endParaRPr>
          </a:p>
          <a:p>
            <a:pPr>
              <a:buFont typeface="Arial" pitchFamily="34" charset="0"/>
              <a:buChar char="•"/>
            </a:pPr>
            <a:r>
              <a:rPr lang="fr-FR" sz="2400" b="0" dirty="0" smtClean="0">
                <a:latin typeface="Times New Roman" pitchFamily="18" charset="0"/>
                <a:cs typeface="Times New Roman" pitchFamily="18" charset="0"/>
              </a:rPr>
              <a:t>L'épissage alternatif est une partie de l'expression génique qui permet à un gène de coder pour plusieurs protéines. La sélection et le choix des exons exprimés conduisent à un brin d'</a:t>
            </a:r>
            <a:r>
              <a:rPr lang="fr-FR" sz="2400" b="0" dirty="0" err="1" smtClean="0">
                <a:latin typeface="Times New Roman" pitchFamily="18" charset="0"/>
                <a:cs typeface="Times New Roman" pitchFamily="18" charset="0"/>
              </a:rPr>
              <a:t>ARNm</a:t>
            </a:r>
            <a:r>
              <a:rPr lang="fr-FR" sz="2400" b="0" dirty="0" smtClean="0">
                <a:latin typeface="Times New Roman" pitchFamily="18" charset="0"/>
                <a:cs typeface="Times New Roman" pitchFamily="18" charset="0"/>
              </a:rPr>
              <a:t> qui a une série d'exons différente de la séquence d'ADN d'origine.</a:t>
            </a:r>
          </a:p>
          <a:p>
            <a:pPr>
              <a:buFont typeface="Arial" pitchFamily="34" charset="0"/>
              <a:buChar char="•"/>
            </a:pPr>
            <a:r>
              <a:rPr lang="fr-FR" sz="2400" b="0" dirty="0" smtClean="0">
                <a:latin typeface="Times New Roman" pitchFamily="18" charset="0"/>
                <a:cs typeface="Times New Roman" pitchFamily="18" charset="0"/>
              </a:rPr>
              <a:t>Après transcription, le brin d'</a:t>
            </a:r>
            <a:r>
              <a:rPr lang="fr-FR" sz="2400" b="0" dirty="0" err="1" smtClean="0">
                <a:latin typeface="Times New Roman" pitchFamily="18" charset="0"/>
                <a:cs typeface="Times New Roman" pitchFamily="18" charset="0"/>
              </a:rPr>
              <a:t>ARNm</a:t>
            </a:r>
            <a:r>
              <a:rPr lang="fr-FR" sz="2400" b="0" dirty="0" smtClean="0">
                <a:latin typeface="Times New Roman" pitchFamily="18" charset="0"/>
                <a:cs typeface="Times New Roman" pitchFamily="18" charset="0"/>
              </a:rPr>
              <a:t> produit contient à la fois des exons et des introns. </a:t>
            </a:r>
          </a:p>
          <a:p>
            <a:pPr>
              <a:buFont typeface="Arial" pitchFamily="34" charset="0"/>
              <a:buChar char="•"/>
            </a:pPr>
            <a:r>
              <a:rPr lang="fr-FR" sz="2400" b="0" dirty="0" smtClean="0">
                <a:latin typeface="Times New Roman" pitchFamily="18" charset="0"/>
                <a:cs typeface="Times New Roman" pitchFamily="18" charset="0"/>
              </a:rPr>
              <a:t>Le brin est coupé au site d'épissage, entre un exon et un intron, et les introns sont découpés. </a:t>
            </a:r>
          </a:p>
          <a:p>
            <a:pPr>
              <a:buFont typeface="Arial" pitchFamily="34" charset="0"/>
              <a:buChar char="•"/>
            </a:pPr>
            <a:r>
              <a:rPr lang="fr-FR" sz="2400" b="0" dirty="0" smtClean="0">
                <a:latin typeface="Times New Roman" pitchFamily="18" charset="0"/>
                <a:cs typeface="Times New Roman" pitchFamily="18" charset="0"/>
              </a:rPr>
              <a:t>Selon la protéine à fabriquer, certains des exons peuvent également être supprimés. </a:t>
            </a:r>
          </a:p>
          <a:p>
            <a:pPr>
              <a:buFont typeface="Arial" pitchFamily="34" charset="0"/>
              <a:buChar char="•"/>
            </a:pPr>
            <a:r>
              <a:rPr lang="fr-FR" sz="2400" b="0" dirty="0" smtClean="0">
                <a:latin typeface="Times New Roman" pitchFamily="18" charset="0"/>
                <a:cs typeface="Times New Roman" pitchFamily="18" charset="0"/>
              </a:rPr>
              <a:t>Les exons restants sont cousus ensemble pour former la séquence finale d'</a:t>
            </a:r>
            <a:r>
              <a:rPr lang="fr-FR" sz="2400" b="0" dirty="0" err="1" smtClean="0">
                <a:latin typeface="Times New Roman" pitchFamily="18" charset="0"/>
                <a:cs typeface="Times New Roman" pitchFamily="18" charset="0"/>
              </a:rPr>
              <a:t>ARNm</a:t>
            </a:r>
            <a:r>
              <a:rPr lang="fr-FR" sz="2400" b="0" dirty="0" smtClean="0">
                <a:latin typeface="Times New Roman" pitchFamily="18" charset="0"/>
                <a:cs typeface="Times New Roman" pitchFamily="18" charset="0"/>
              </a:rPr>
              <a:t>. </a:t>
            </a:r>
          </a:p>
          <a:p>
            <a:pPr>
              <a:buFont typeface="Arial" pitchFamily="34" charset="0"/>
              <a:buChar char="•"/>
            </a:pPr>
            <a:r>
              <a:rPr lang="fr-FR" sz="2400" b="0" dirty="0" smtClean="0">
                <a:latin typeface="Times New Roman" pitchFamily="18" charset="0"/>
                <a:cs typeface="Times New Roman" pitchFamily="18" charset="0"/>
              </a:rPr>
              <a:t>Cette séquence est traduite en une protéine.</a:t>
            </a:r>
            <a:endParaRPr lang="fr-FR" sz="2400" b="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aquaportail.com/pictures2201/epissage-alternatif.jpg"/>
          <p:cNvPicPr>
            <a:picLocks noChangeAspect="1" noChangeArrowheads="1"/>
          </p:cNvPicPr>
          <p:nvPr/>
        </p:nvPicPr>
        <p:blipFill>
          <a:blip r:embed="rId2"/>
          <a:srcRect/>
          <a:stretch>
            <a:fillRect/>
          </a:stretch>
        </p:blipFill>
        <p:spPr bwMode="auto">
          <a:xfrm>
            <a:off x="658495" y="137160"/>
            <a:ext cx="7601585" cy="4130040"/>
          </a:xfrm>
          <a:prstGeom prst="rect">
            <a:avLst/>
          </a:prstGeom>
          <a:noFill/>
        </p:spPr>
      </p:pic>
      <p:sp>
        <p:nvSpPr>
          <p:cNvPr id="6" name="Rectangle 5"/>
          <p:cNvSpPr/>
          <p:nvPr/>
        </p:nvSpPr>
        <p:spPr>
          <a:xfrm>
            <a:off x="0" y="4765209"/>
            <a:ext cx="9144000" cy="1569660"/>
          </a:xfrm>
          <a:prstGeom prst="rect">
            <a:avLst/>
          </a:prstGeom>
        </p:spPr>
        <p:txBody>
          <a:bodyPr wrap="square">
            <a:spAutoFit/>
          </a:bodyPr>
          <a:lstStyle/>
          <a:p>
            <a:r>
              <a:rPr lang="fr-FR" sz="2400" b="0" dirty="0" smtClean="0">
                <a:latin typeface="Times New Roman" pitchFamily="18" charset="0"/>
                <a:cs typeface="Times New Roman" pitchFamily="18" charset="0"/>
              </a:rPr>
              <a:t>L'épissage alternatif permet de laisser différentes combinaisons d'exons dans la molécule d'</a:t>
            </a:r>
            <a:r>
              <a:rPr lang="fr-FR" sz="2400" b="0" dirty="0" err="1" smtClean="0">
                <a:latin typeface="Times New Roman" pitchFamily="18" charset="0"/>
                <a:cs typeface="Times New Roman" pitchFamily="18" charset="0"/>
              </a:rPr>
              <a:t>ARNm</a:t>
            </a:r>
            <a:r>
              <a:rPr lang="fr-FR" sz="2400" b="0" dirty="0" smtClean="0">
                <a:latin typeface="Times New Roman" pitchFamily="18" charset="0"/>
                <a:cs typeface="Times New Roman" pitchFamily="18" charset="0"/>
              </a:rPr>
              <a:t> finale. </a:t>
            </a:r>
          </a:p>
          <a:p>
            <a:r>
              <a:rPr lang="fr-FR" sz="2400" b="0" dirty="0" smtClean="0">
                <a:latin typeface="Times New Roman" pitchFamily="18" charset="0"/>
                <a:cs typeface="Times New Roman" pitchFamily="18" charset="0"/>
              </a:rPr>
              <a:t>Étant donné que la séquence de bases du brin d'</a:t>
            </a:r>
            <a:r>
              <a:rPr lang="fr-FR" sz="2400" b="0" dirty="0" err="1" smtClean="0">
                <a:latin typeface="Times New Roman" pitchFamily="18" charset="0"/>
                <a:cs typeface="Times New Roman" pitchFamily="18" charset="0"/>
              </a:rPr>
              <a:t>ARNm</a:t>
            </a:r>
            <a:r>
              <a:rPr lang="fr-FR" sz="2400" b="0" dirty="0" smtClean="0">
                <a:latin typeface="Times New Roman" pitchFamily="18" charset="0"/>
                <a:cs typeface="Times New Roman" pitchFamily="18" charset="0"/>
              </a:rPr>
              <a:t> final change, la protéine résultante change également : c'est une protéine </a:t>
            </a:r>
            <a:r>
              <a:rPr lang="fr-FR" sz="2400" b="0" dirty="0" err="1" smtClean="0">
                <a:latin typeface="Times New Roman" pitchFamily="18" charset="0"/>
                <a:cs typeface="Times New Roman" pitchFamily="18" charset="0"/>
              </a:rPr>
              <a:t>isoforme</a:t>
            </a:r>
            <a:r>
              <a:rPr lang="fr-FR" sz="2400" b="0" dirty="0" smtClean="0">
                <a:latin typeface="Times New Roman" pitchFamily="18" charset="0"/>
                <a:cs typeface="Times New Roman" pitchFamily="18" charset="0"/>
              </a:rPr>
              <a:t>.</a:t>
            </a:r>
            <a:endParaRPr lang="fr-FR"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5632311"/>
          </a:xfrm>
          <a:prstGeom prst="rect">
            <a:avLst/>
          </a:prstGeom>
        </p:spPr>
        <p:txBody>
          <a:bodyPr wrap="square">
            <a:spAutoFit/>
          </a:bodyPr>
          <a:lstStyle/>
          <a:p>
            <a:endParaRPr lang="fr-FR" sz="2400" dirty="0" smtClean="0">
              <a:solidFill>
                <a:srgbClr val="FF0000"/>
              </a:solidFill>
              <a:latin typeface="Times New Roman" pitchFamily="18" charset="0"/>
              <a:cs typeface="Times New Roman" pitchFamily="18" charset="0"/>
            </a:endParaRPr>
          </a:p>
          <a:p>
            <a:r>
              <a:rPr lang="fr-FR" sz="2400" dirty="0" smtClean="0">
                <a:solidFill>
                  <a:srgbClr val="FF0000"/>
                </a:solidFill>
                <a:latin typeface="Times New Roman" pitchFamily="18" charset="0"/>
                <a:cs typeface="Times New Roman" pitchFamily="18" charset="0"/>
              </a:rPr>
              <a:t>Épissage de l’ARN :</a:t>
            </a:r>
            <a:r>
              <a:rPr lang="fr-FR" sz="2400" dirty="0" smtClean="0">
                <a:latin typeface="Times New Roman" pitchFamily="18" charset="0"/>
                <a:cs typeface="Times New Roman" pitchFamily="18" charset="0"/>
              </a:rPr>
              <a:t> </a:t>
            </a:r>
          </a:p>
          <a:p>
            <a:endParaRPr lang="fr-FR" sz="2400" dirty="0" smtClean="0">
              <a:latin typeface="Times New Roman" pitchFamily="18" charset="0"/>
              <a:cs typeface="Times New Roman" pitchFamily="18" charset="0"/>
            </a:endParaRPr>
          </a:p>
          <a:p>
            <a:r>
              <a:rPr lang="fr-FR" sz="2400" b="0" dirty="0" smtClean="0">
                <a:latin typeface="Times New Roman" pitchFamily="18" charset="0"/>
                <a:cs typeface="Times New Roman" pitchFamily="18" charset="0"/>
              </a:rPr>
              <a:t>Un </a:t>
            </a:r>
            <a:r>
              <a:rPr lang="fr-FR" sz="2400" dirty="0" smtClean="0">
                <a:latin typeface="Times New Roman" pitchFamily="18" charset="0"/>
                <a:cs typeface="Times New Roman" pitchFamily="18" charset="0"/>
              </a:rPr>
              <a:t>épissage</a:t>
            </a:r>
            <a:r>
              <a:rPr lang="fr-FR" sz="2400" b="0" dirty="0" smtClean="0">
                <a:latin typeface="Times New Roman" pitchFamily="18" charset="0"/>
                <a:cs typeface="Times New Roman" pitchFamily="18" charset="0"/>
              </a:rPr>
              <a:t> correspond à une action de traitement du transcrit primaire (ARN) d'un gène par un complexe d'enzymes, consistant à retirer toutes les séquences d'introns et aboutissant à la production d'un ARN messager dirigeant la synthèse d'une protéine qui lui correspond</a:t>
            </a:r>
          </a:p>
          <a:p>
            <a:endParaRPr lang="fr-FR" sz="2400" b="0" dirty="0" smtClean="0">
              <a:latin typeface="Times New Roman" pitchFamily="18" charset="0"/>
              <a:cs typeface="Times New Roman" pitchFamily="18" charset="0"/>
            </a:endParaRPr>
          </a:p>
          <a:p>
            <a:r>
              <a:rPr lang="fr-FR" sz="2400" dirty="0" smtClean="0">
                <a:solidFill>
                  <a:srgbClr val="FF0000"/>
                </a:solidFill>
                <a:latin typeface="Times New Roman" pitchFamily="18" charset="0"/>
                <a:cs typeface="Times New Roman" pitchFamily="18" charset="0"/>
              </a:rPr>
              <a:t>Épissage des protéines</a:t>
            </a:r>
            <a:r>
              <a:rPr lang="fr-FR" sz="2400" b="0" dirty="0" smtClean="0">
                <a:latin typeface="Times New Roman" pitchFamily="18" charset="0"/>
                <a:cs typeface="Times New Roman" pitchFamily="18" charset="0"/>
              </a:rPr>
              <a:t> : processus d'épissage post-traductionnel d'une protéine précurseur. Ce processus implique l'élimination d'une séquence d'acides aminés de la chaîne polypeptidique pour générer une protéine mature.</a:t>
            </a:r>
          </a:p>
          <a:p>
            <a:endParaRPr lang="fr-FR" sz="2400" b="0" dirty="0" smtClean="0">
              <a:latin typeface="Times New Roman" pitchFamily="18" charset="0"/>
              <a:cs typeface="Times New Roman" pitchFamily="18" charset="0"/>
            </a:endParaRPr>
          </a:p>
          <a:p>
            <a:r>
              <a:rPr lang="fr-FR" sz="2400" dirty="0" smtClean="0">
                <a:solidFill>
                  <a:srgbClr val="FF0000"/>
                </a:solidFill>
                <a:latin typeface="Times New Roman" pitchFamily="18" charset="0"/>
                <a:cs typeface="Times New Roman" pitchFamily="18" charset="0"/>
              </a:rPr>
              <a:t>Épissage de l'ADN</a:t>
            </a:r>
            <a:r>
              <a:rPr lang="fr-FR" sz="2400" b="0" dirty="0" smtClean="0">
                <a:latin typeface="Times New Roman" pitchFamily="18" charset="0"/>
                <a:cs typeface="Times New Roman" pitchFamily="18" charset="0"/>
              </a:rPr>
              <a:t> : procédé consistant à attacher par covalence deux fragments d'ADN double brin, catalysés par une ADN ligase.</a:t>
            </a:r>
            <a:endParaRPr lang="fr-FR" sz="2400" b="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5047536"/>
          </a:xfrm>
          <a:prstGeom prst="rect">
            <a:avLst/>
          </a:prstGeom>
        </p:spPr>
        <p:txBody>
          <a:bodyPr wrap="square">
            <a:spAutoFit/>
          </a:bodyPr>
          <a:lstStyle/>
          <a:p>
            <a:endParaRPr lang="fr-FR" dirty="0" smtClean="0"/>
          </a:p>
          <a:p>
            <a:r>
              <a:rPr lang="fr-FR" sz="2400" dirty="0" smtClean="0">
                <a:latin typeface="Times New Roman" pitchFamily="18" charset="0"/>
                <a:cs typeface="Times New Roman" pitchFamily="18" charset="0"/>
              </a:rPr>
              <a:t>La régulation </a:t>
            </a:r>
            <a:r>
              <a:rPr lang="fr-FR" sz="2400" dirty="0" err="1" smtClean="0">
                <a:latin typeface="Times New Roman" pitchFamily="18" charset="0"/>
                <a:cs typeface="Times New Roman" pitchFamily="18" charset="0"/>
              </a:rPr>
              <a:t>transcriptionnelle</a:t>
            </a:r>
            <a:r>
              <a:rPr lang="fr-FR" sz="2400" dirty="0" smtClean="0">
                <a:latin typeface="Times New Roman" pitchFamily="18" charset="0"/>
                <a:cs typeface="Times New Roman" pitchFamily="18" charset="0"/>
              </a:rPr>
              <a:t> par épissage alternatif (RF) (Alger 2021)</a:t>
            </a:r>
          </a:p>
          <a:p>
            <a:r>
              <a:rPr lang="fr-FR" sz="2400" dirty="0" smtClean="0">
                <a:latin typeface="Times New Roman" pitchFamily="18" charset="0"/>
                <a:cs typeface="Times New Roman" pitchFamily="18" charset="0"/>
              </a:rPr>
              <a:t> </a:t>
            </a:r>
          </a:p>
          <a:p>
            <a:r>
              <a:rPr lang="fr-FR" sz="2400" b="0" dirty="0" smtClean="0">
                <a:latin typeface="Times New Roman" pitchFamily="18" charset="0"/>
                <a:cs typeface="Times New Roman" pitchFamily="18" charset="0"/>
              </a:rPr>
              <a:t>A. Conduit à la production de plusieurs ARN messagers matures différents à partir d’un seul gène </a:t>
            </a:r>
          </a:p>
          <a:p>
            <a:r>
              <a:rPr lang="fr-FR" sz="2400" b="0" dirty="0" smtClean="0">
                <a:latin typeface="Times New Roman" pitchFamily="18" charset="0"/>
                <a:cs typeface="Times New Roman" pitchFamily="18" charset="0"/>
              </a:rPr>
              <a:t>B. Prévient la synthèse de protéines tronquées </a:t>
            </a:r>
          </a:p>
          <a:p>
            <a:r>
              <a:rPr lang="fr-FR" sz="2400" b="0" dirty="0" smtClean="0">
                <a:latin typeface="Times New Roman" pitchFamily="18" charset="0"/>
                <a:cs typeface="Times New Roman" pitchFamily="18" charset="0"/>
              </a:rPr>
              <a:t>C. Aboutit à la synthèse d’une protéine identique à partir de plusieurs gènes différents </a:t>
            </a:r>
          </a:p>
          <a:p>
            <a:r>
              <a:rPr lang="fr-FR" sz="2400" b="0" dirty="0" smtClean="0">
                <a:latin typeface="Times New Roman" pitchFamily="18" charset="0"/>
                <a:cs typeface="Times New Roman" pitchFamily="18" charset="0"/>
              </a:rPr>
              <a:t>D. Contrôle la production d’ARN messagers de tailles différentes à partir d’un seul gène </a:t>
            </a:r>
          </a:p>
          <a:p>
            <a:r>
              <a:rPr lang="fr-FR" sz="2400" b="0" dirty="0" smtClean="0">
                <a:latin typeface="Times New Roman" pitchFamily="18" charset="0"/>
                <a:cs typeface="Times New Roman" pitchFamily="18" charset="0"/>
              </a:rPr>
              <a:t>E. N’intervient pas dans la régulation post-</a:t>
            </a:r>
            <a:r>
              <a:rPr lang="fr-FR" sz="2400" b="0" dirty="0" err="1" smtClean="0">
                <a:latin typeface="Times New Roman" pitchFamily="18" charset="0"/>
                <a:cs typeface="Times New Roman" pitchFamily="18" charset="0"/>
              </a:rPr>
              <a:t>transcriptionnelle</a:t>
            </a:r>
            <a:r>
              <a:rPr lang="fr-FR" sz="2400" b="0" dirty="0" smtClean="0">
                <a:latin typeface="Times New Roman" pitchFamily="18" charset="0"/>
                <a:cs typeface="Times New Roman" pitchFamily="18" charset="0"/>
              </a:rPr>
              <a:t> </a:t>
            </a:r>
          </a:p>
          <a:p>
            <a:endParaRPr lang="fr-FR" sz="2400" b="0" dirty="0" smtClean="0">
              <a:latin typeface="Times New Roman" pitchFamily="18" charset="0"/>
              <a:cs typeface="Times New Roman" pitchFamily="18" charset="0"/>
            </a:endParaRPr>
          </a:p>
          <a:p>
            <a:r>
              <a:rPr lang="fr-FR" sz="2400" dirty="0" smtClean="0">
                <a:latin typeface="Times New Roman" pitchFamily="18" charset="0"/>
                <a:cs typeface="Times New Roman" pitchFamily="18" charset="0"/>
              </a:rPr>
              <a:t>Réponse :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Effect transition="in" filter="blinds(horizontal)">
                                      <p:cBhvr>
                                        <p:cTn id="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21076</TotalTime>
  <Words>2817</Words>
  <Application>Microsoft Office PowerPoint</Application>
  <PresentationFormat>Affichage à l'écran (4:3)</PresentationFormat>
  <Paragraphs>718</Paragraphs>
  <Slides>65</Slides>
  <Notes>17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65</vt:i4>
      </vt:variant>
    </vt:vector>
  </HeadingPairs>
  <TitlesOfParts>
    <vt:vector size="73" baseType="lpstr">
      <vt:lpstr>Arial Unicode MS</vt:lpstr>
      <vt:lpstr>Batang</vt:lpstr>
      <vt:lpstr>Arial</vt:lpstr>
      <vt:lpstr>Calibri</vt:lpstr>
      <vt:lpstr>Times New Roman</vt:lpstr>
      <vt:lpstr>Verdana</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Dans une maladie à transmission autosomale récessive ( oran 2022)</vt:lpstr>
      <vt:lpstr>Présentation PowerPoint</vt:lpstr>
      <vt:lpstr>Présentation PowerPoint</vt:lpstr>
      <vt:lpstr>Présentation PowerPoint</vt:lpstr>
      <vt:lpstr>Présentation PowerPoint</vt:lpstr>
      <vt:lpstr>Présentation PowerPoint</vt:lpstr>
      <vt:lpstr>Dans une maladie à transmission autosomale récessive ( oran 2022)</vt:lpstr>
      <vt:lpstr>Présentation PowerPoint</vt:lpstr>
      <vt:lpstr>Présentation PowerPoint</vt:lpstr>
      <vt:lpstr>Présentation PowerPoint</vt:lpstr>
      <vt:lpstr>Présentation PowerPoint</vt:lpstr>
      <vt:lpstr>Présentation PowerPoint</vt:lpstr>
      <vt:lpstr>Présentation PowerPoint</vt:lpstr>
    </vt:vector>
  </TitlesOfParts>
  <Company>Oak Ridge National Laboratory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2MI</dc:creator>
  <cp:lastModifiedBy>x</cp:lastModifiedBy>
  <cp:revision>1118</cp:revision>
  <cp:lastPrinted>2003-03-24T12:24:59Z</cp:lastPrinted>
  <dcterms:created xsi:type="dcterms:W3CDTF">2001-08-15T18:31:31Z</dcterms:created>
  <dcterms:modified xsi:type="dcterms:W3CDTF">2023-10-07T08:34:24Z</dcterms:modified>
</cp:coreProperties>
</file>