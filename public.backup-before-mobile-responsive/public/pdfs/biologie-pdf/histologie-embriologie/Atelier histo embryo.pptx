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41.xml.rels" ContentType="application/vnd.openxmlformats-package.relationships+xml"/>
  <Override PartName="/ppt/slides/_rels/slide39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_rels/presentation.xml.rels" ContentType="application/vnd.openxmlformats-package.relationships+xml"/>
  <Override PartName="/ppt/media/image10.png" ContentType="image/png"/>
  <Override PartName="/ppt/media/image6.jpeg" ContentType="image/jpeg"/>
  <Override PartName="/ppt/media/image1.png" ContentType="image/png"/>
  <Override PartName="/ppt/media/image9.gif" ContentType="image/gif"/>
  <Override PartName="/ppt/media/image8.jpeg" ContentType="image/jpeg"/>
  <Override PartName="/ppt/media/image11.jpeg" ContentType="image/jpeg"/>
  <Override PartName="/ppt/media/image13.png" ContentType="image/png"/>
  <Override PartName="/ppt/media/image5.jpeg" ContentType="image/jpeg"/>
  <Override PartName="/ppt/media/image21.png" ContentType="image/png"/>
  <Override PartName="/ppt/media/image19.png" ContentType="image/png"/>
  <Override PartName="/ppt/media/image2.jpeg" ContentType="image/jpeg"/>
  <Override PartName="/ppt/media/image20.png" ContentType="image/png"/>
  <Override PartName="/ppt/media/image18.png" ContentType="image/png"/>
  <Override PartName="/ppt/media/image16.jpeg" ContentType="image/jpeg"/>
  <Override PartName="/ppt/media/image14.png" ContentType="image/png"/>
  <Override PartName="/ppt/media/image15.png" ContentType="image/png"/>
  <Override PartName="/ppt/media/image3.gif" ContentType="image/gif"/>
  <Override PartName="/ppt/media/image17.jpeg" ContentType="image/jpeg"/>
  <Override PartName="/ppt/media/image7.png" ContentType="image/png"/>
  <Override PartName="/ppt/media/image4.gif" ContentType="image/gif"/>
  <Override PartName="/ppt/media/image1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C79E4-3371-4AB8-9DC5-E9326E2C87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F3ABB4-DF7D-4F74-8862-9DD87504D8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AB161CF-F910-458A-A7B0-3C6AD138F3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45E90DC-F5CC-4FF8-9359-D161EDAAD6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04CADBA-6472-4296-9B5D-41BED9B60B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CE7B3F4-E10F-46B9-B2C6-E2989D4B01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6940D57-59B8-48EC-A011-E3B34CB865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7ADC581-71B6-4AAE-BDE5-FA8750C790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9E76E43-2260-4D59-A2A8-D75C26ADCE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AC43C06-7A62-40E2-A788-1841A329B6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E21F77E-CB61-4E2E-A195-4C6F27864C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A15540-C539-48AA-AB2F-AAF67A397158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3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F44700-B887-4EE8-977B-A1CB766461C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EADF52-BF84-4A29-AFA1-FD72B380655A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3B99B-FF2D-4D26-ABA3-182176A061E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4000" spc="-1" strike="noStrike" cap="all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Cliquez pour modifier les styles du texte du masque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192B63-9693-4E74-834A-B824669E4EFB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AF3948-0FA0-40E6-8D15-9B8BEB777E56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D42D90-01BE-49F9-81BF-0BDE8700CCB6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20098E-C9F3-418B-B8B7-DB2697B75CE6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0D1EA5-9D79-4E4F-BD52-486D08F0652E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AFC624-C583-4174-A506-DF52679A8445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Calibri"/>
              </a:rPr>
              <a:t>Cliquez pour modifier le style du titre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Cliquez pour modifier les styles du texte du masque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04ADFD-DFFD-432F-A33F-12146396A552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2018160"/>
          </a:xfrm>
          <a:prstGeom prst="rect">
            <a:avLst/>
          </a:prstGeom>
          <a:solidFill>
            <a:srgbClr val="ffff00"/>
          </a:solidFill>
          <a:ln w="25560">
            <a:solidFill>
              <a:schemeClr val="accent2"/>
            </a:solidFill>
            <a:round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428760" y="379080"/>
            <a:ext cx="8429400" cy="447984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 u="sng">
                <a:solidFill>
                  <a:srgbClr val="ff0000"/>
                </a:solidFill>
                <a:uFillTx/>
                <a:latin typeface="Times New Roman"/>
                <a:ea typeface="Calibri"/>
              </a:rPr>
              <a:t>1)- La FSH est une hormone qui stimule 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743040" indent="-743040" defTabSz="914400">
              <a:lnSpc>
                <a:spcPct val="100000"/>
              </a:lnSpc>
              <a:buClr>
                <a:srgbClr val="ff0000"/>
              </a:buClr>
              <a:buFont typeface="OpenSymbol"/>
              <a:buAutoNum type="alphaUcParenR"/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Times New Roman"/>
                <a:ea typeface="Calibri"/>
              </a:rPr>
              <a:t>Les cellules de Sertoli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Times New Roman"/>
                <a:ea typeface="Calibri"/>
              </a:rPr>
              <a:t>B) La multiplication des cellules du corps jaune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Times New Roman"/>
                <a:ea typeface="Calibri"/>
              </a:rPr>
              <a:t>C) La croissance des follicules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Times New Roman"/>
                <a:ea typeface="Calibri"/>
              </a:rPr>
              <a:t>D) La multiplication des cellules de la granulosa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Times New Roman"/>
                <a:ea typeface="Calibri"/>
              </a:rPr>
              <a:t>E) La spermatogenèse</a:t>
            </a:r>
            <a:r>
              <a:rPr b="1" lang="fr-FR" sz="3600" spc="-1" strike="noStrike">
                <a:solidFill>
                  <a:srgbClr val="ff0000"/>
                </a:solidFill>
                <a:latin typeface="Arial"/>
                <a:ea typeface="Calibri"/>
              </a:rPr>
              <a:t> 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285840" y="514440"/>
            <a:ext cx="821484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Times New Roman"/>
                <a:ea typeface="Calibri"/>
              </a:rPr>
              <a:t>2) La LH est une hormone qui active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A-La spermatogénèse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B- L’ABP(androgène baiding protéine)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Times New Roman"/>
                <a:ea typeface="Calibri"/>
              </a:rPr>
              <a:t>C- L’ inhibine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Times New Roman"/>
                <a:ea typeface="Calibri"/>
              </a:rPr>
              <a:t>D- L’ovulation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Times New Roman"/>
                <a:ea typeface="Calibri"/>
              </a:rPr>
              <a:t>E- Lutéinisation et formation du corps jaune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 descr=""/>
          <p:cNvPicPr/>
          <p:nvPr/>
        </p:nvPicPr>
        <p:blipFill>
          <a:blip r:embed="rId1"/>
          <a:srcRect l="15921" t="16599" r="20934" b="22849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285840" y="667440"/>
            <a:ext cx="8572320" cy="50284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3) A propos de l’ovogenèse 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A- S</a:t>
            </a: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e déroule dans le stroma ovarien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B- Elle se poursuit jusqu’à la mort de la femme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C- Se déroule dans la médullaire ovarienne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D- Elle est sous contrôle de FSH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E- Elle présente quatre stades :(multiplication, croissance, maturation et différentiation)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D:\Administrateur\Mes documents\2e10237b47_ovaire_DR.jpg"/>
          <p:cNvPicPr/>
          <p:nvPr/>
        </p:nvPicPr>
        <p:blipFill>
          <a:blip r:embed="rId1"/>
          <a:stretch/>
        </p:blipFill>
        <p:spPr>
          <a:xfrm>
            <a:off x="0" y="357120"/>
            <a:ext cx="8929440" cy="607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C:\Documents and Settings\Administrateur\Mes documents\ovog.gif"/>
          <p:cNvPicPr/>
          <p:nvPr/>
        </p:nvPicPr>
        <p:blipFill>
          <a:blip r:embed="rId1"/>
          <a:stretch/>
        </p:blipFill>
        <p:spPr>
          <a:xfrm>
            <a:off x="142920" y="260640"/>
            <a:ext cx="9000720" cy="6239880"/>
          </a:xfrm>
          <a:prstGeom prst="rect">
            <a:avLst/>
          </a:prstGeom>
          <a:ln w="0">
            <a:noFill/>
          </a:ln>
        </p:spPr>
      </p:pic>
      <p:sp>
        <p:nvSpPr>
          <p:cNvPr id="75" name="ZoneTexte 2"/>
          <p:cNvSpPr/>
          <p:nvPr/>
        </p:nvSpPr>
        <p:spPr>
          <a:xfrm>
            <a:off x="683640" y="4941000"/>
            <a:ext cx="79164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2n, 2q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ZoneTexte 3"/>
          <p:cNvSpPr/>
          <p:nvPr/>
        </p:nvSpPr>
        <p:spPr>
          <a:xfrm>
            <a:off x="2988000" y="4941000"/>
            <a:ext cx="7916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2n,4q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ZoneTexte 4"/>
          <p:cNvSpPr/>
          <p:nvPr/>
        </p:nvSpPr>
        <p:spPr>
          <a:xfrm>
            <a:off x="5148000" y="5445360"/>
            <a:ext cx="7916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n, 2q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ZoneTexte 5"/>
          <p:cNvSpPr/>
          <p:nvPr/>
        </p:nvSpPr>
        <p:spPr>
          <a:xfrm>
            <a:off x="7452360" y="4941000"/>
            <a:ext cx="5756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n,q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ZoneTexte 6"/>
          <p:cNvSpPr/>
          <p:nvPr/>
        </p:nvSpPr>
        <p:spPr>
          <a:xfrm>
            <a:off x="7884360" y="404640"/>
            <a:ext cx="10080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méiose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214200" y="379080"/>
            <a:ext cx="8357760" cy="447984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4) Parmi les cellules suivantes la ou les quelle(s) a ou ont achevée(s) sa ou leur méiose ?: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A- L’ovocyte du follicule secondaire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B- Le spermatozoïde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C- L’ovocyte du follicule de DeGraaf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D- L’ovocyte de l’ovulation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E- L’ovocyte après la fécondation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357120" y="590760"/>
            <a:ext cx="8214840" cy="393120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5) La première semaine du développement embryonnaire se caractérise par 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A- La migration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B- La segmentation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C- La pré-gastrulation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D- La constitution du Blastocyste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E- La neurulation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 descr="C:\Documents and Settings\Administrateur\Mes documents\premiere_semaine.gif"/>
          <p:cNvPicPr/>
          <p:nvPr/>
        </p:nvPicPr>
        <p:blipFill>
          <a:blip r:embed="rId1"/>
          <a:stretch/>
        </p:blipFill>
        <p:spPr>
          <a:xfrm>
            <a:off x="323640" y="571320"/>
            <a:ext cx="8640720" cy="521460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83" name="ZoneTexte 2"/>
          <p:cNvSpPr/>
          <p:nvPr/>
        </p:nvSpPr>
        <p:spPr>
          <a:xfrm>
            <a:off x="1357920" y="6021360"/>
            <a:ext cx="731808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1 semaine du dvp embryonnaire:  -</a:t>
            </a:r>
            <a:r>
              <a:rPr b="1" lang="fr-FR" sz="1800" spc="-1" strike="noStrike" u="sng">
                <a:solidFill>
                  <a:srgbClr val="ff0000"/>
                </a:solidFill>
                <a:uFillTx/>
                <a:latin typeface="Calibri"/>
              </a:rPr>
              <a:t>segmentation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fr-FR" sz="1800" spc="-1" strike="noStrike" u="sng">
                <a:solidFill>
                  <a:srgbClr val="ff0000"/>
                </a:solidFill>
                <a:uFillTx/>
                <a:latin typeface="Calibri"/>
              </a:rPr>
              <a:t>                                                              </a:t>
            </a:r>
            <a:r>
              <a:rPr b="1" lang="fr-FR" sz="1800" spc="-1" strike="noStrike" u="sng">
                <a:solidFill>
                  <a:srgbClr val="ff0000"/>
                </a:solidFill>
                <a:uFillTx/>
                <a:latin typeface="Calibri"/>
              </a:rPr>
              <a:t>-migration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2" descr="F:\formation-du-blastocyste2-blkqx.jpg"/>
          <p:cNvPicPr/>
          <p:nvPr/>
        </p:nvPicPr>
        <p:blipFill>
          <a:blip r:embed="rId1"/>
          <a:stretch/>
        </p:blipFill>
        <p:spPr>
          <a:xfrm>
            <a:off x="323640" y="404640"/>
            <a:ext cx="8568720" cy="581004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000000">
                <a:alpha val="43000"/>
              </a:srgbClr>
            </a:outerShdw>
          </a:effectLst>
        </p:spPr>
      </p:pic>
      <p:sp>
        <p:nvSpPr>
          <p:cNvPr id="85" name="ZoneTexte 2"/>
          <p:cNvSpPr/>
          <p:nvPr/>
        </p:nvSpPr>
        <p:spPr>
          <a:xfrm>
            <a:off x="6660360" y="1340640"/>
            <a:ext cx="232236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Bouton embryonnaire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ZoneTexte 3"/>
          <p:cNvSpPr/>
          <p:nvPr/>
        </p:nvSpPr>
        <p:spPr>
          <a:xfrm>
            <a:off x="3278520" y="5445360"/>
            <a:ext cx="24030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Blastocyste au 5 jour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357120" y="590760"/>
            <a:ext cx="8286480" cy="393120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6) Quelles sont les dérivés du mésoblaste latéral ?: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A- Le Sclérotome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B- La Splanchnopleure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C- Le myotome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 Narrow"/>
                <a:ea typeface="바탕"/>
              </a:rPr>
              <a:t>D- Le dermatome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0000"/>
                </a:solidFill>
                <a:latin typeface="Arial Narrow"/>
                <a:ea typeface="바탕"/>
              </a:rPr>
              <a:t>E- La somatopleure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214200" y="452520"/>
            <a:ext cx="8429400" cy="49687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7) Les somites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A- Se forment de façon synchrone de part et d’autre de la chorde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B- S’individualisent de la région postérieure vers la région antérieure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C- Comporte le dermatome, myotome et Sclerotome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D- A partir du Sclérotome se forme   les os du squelette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E- Donnent naissance aux néphrotomes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1" descr="ev mésoblaste4.jpg"/>
          <p:cNvPicPr/>
          <p:nvPr/>
        </p:nvPicPr>
        <p:blipFill>
          <a:blip r:embed="rId1"/>
          <a:stretch/>
        </p:blipFill>
        <p:spPr>
          <a:xfrm>
            <a:off x="395640" y="260640"/>
            <a:ext cx="8064360" cy="6264360"/>
          </a:xfrm>
          <a:prstGeom prst="rect">
            <a:avLst/>
          </a:prstGeom>
          <a:ln w="9525">
            <a:noFill/>
          </a:ln>
        </p:spPr>
      </p:pic>
      <p:sp>
        <p:nvSpPr>
          <p:cNvPr id="90" name="ZoneTexte 2"/>
          <p:cNvSpPr/>
          <p:nvPr/>
        </p:nvSpPr>
        <p:spPr>
          <a:xfrm>
            <a:off x="1979640" y="116640"/>
            <a:ext cx="716400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1) Mésoblaste para axial : somites( sclérotome , myotome, dermotome)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1" name="Connecteur droit avec flèche 4"/>
          <p:cNvCxnSpPr/>
          <p:nvPr/>
        </p:nvCxnSpPr>
        <p:spPr>
          <a:xfrm flipH="1">
            <a:off x="3563640" y="476640"/>
            <a:ext cx="216360" cy="86436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92" name="ZoneTexte 6"/>
          <p:cNvSpPr/>
          <p:nvPr/>
        </p:nvSpPr>
        <p:spPr>
          <a:xfrm>
            <a:off x="6228360" y="2061000"/>
            <a:ext cx="2915280" cy="91260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2)Mésoblaste intermédiaire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Appareil urinaire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Connecteur droit avec flèche 8"/>
          <p:cNvCxnSpPr/>
          <p:nvPr/>
        </p:nvCxnSpPr>
        <p:spPr>
          <a:xfrm flipH="1">
            <a:off x="4499640" y="2204640"/>
            <a:ext cx="1656720" cy="22572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94" name="ZoneTexte 10"/>
          <p:cNvSpPr/>
          <p:nvPr/>
        </p:nvSpPr>
        <p:spPr>
          <a:xfrm>
            <a:off x="5724000" y="3861000"/>
            <a:ext cx="223200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3) Mésoblaste latéral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" name="Connecteur droit avec flèche 12"/>
          <p:cNvCxnSpPr>
            <a:stCxn id="94" idx="1"/>
          </p:cNvCxnSpPr>
          <p:nvPr/>
        </p:nvCxnSpPr>
        <p:spPr>
          <a:xfrm flipH="1" flipV="1">
            <a:off x="4860000" y="2924640"/>
            <a:ext cx="864360" cy="125568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96" name="Connecteur droit avec flèche 15"/>
          <p:cNvCxnSpPr>
            <a:stCxn id="94" idx="1"/>
          </p:cNvCxnSpPr>
          <p:nvPr/>
        </p:nvCxnSpPr>
        <p:spPr>
          <a:xfrm flipH="1" flipV="1">
            <a:off x="4716000" y="3356640"/>
            <a:ext cx="1008360" cy="82368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467640" y="491040"/>
            <a:ext cx="785772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8) L’ectoderme est à l’origine de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"/>
                <a:ea typeface="바탕"/>
              </a:rPr>
              <a:t>A- </a:t>
            </a: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La ligne primitive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바탕"/>
              </a:rPr>
              <a:t>B- </a:t>
            </a: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L’allantoïde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C- neuro- ectoderme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D- système nerveux central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E- système nerveux périphérique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8" descr="h2a2_ligneprim.gif"/>
          <p:cNvPicPr/>
          <p:nvPr/>
        </p:nvPicPr>
        <p:blipFill>
          <a:blip r:embed="rId1"/>
          <a:stretch/>
        </p:blipFill>
        <p:spPr>
          <a:xfrm>
            <a:off x="0" y="31680"/>
            <a:ext cx="9143640" cy="642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1" descr="3ème semaine 03.jpg"/>
          <p:cNvPicPr/>
          <p:nvPr/>
        </p:nvPicPr>
        <p:blipFill>
          <a:blip r:embed="rId1"/>
          <a:srcRect l="0" t="0" r="0" b="23016"/>
          <a:stretch/>
        </p:blipFill>
        <p:spPr>
          <a:xfrm>
            <a:off x="0" y="116640"/>
            <a:ext cx="8892000" cy="674100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179640" y="592920"/>
            <a:ext cx="8784720" cy="44809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10) Les gonocytes primordiaux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A- Apparaissent dans le mésenchyme extra-embryonnaire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B- Apparaissent dans la lame choriale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C- Migrent ultérieurement dans l’ébauche génitale (testicule et ovaire)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D- Apparaissent dans l’allantoïde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E- Sont à l’origine des cellules souches (spermatogonies, ovogonies)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2" descr="C:\Documents and Settings\Administrateur\Mes documents\Mes images\13allantoide.gif"/>
          <p:cNvPicPr/>
          <p:nvPr/>
        </p:nvPicPr>
        <p:blipFill>
          <a:blip r:embed="rId1"/>
          <a:stretch/>
        </p:blipFill>
        <p:spPr>
          <a:xfrm>
            <a:off x="743400" y="548640"/>
            <a:ext cx="8424720" cy="5524200"/>
          </a:xfrm>
          <a:prstGeom prst="rect">
            <a:avLst/>
          </a:prstGeom>
          <a:ln w="0">
            <a:noFill/>
          </a:ln>
        </p:spPr>
      </p:pic>
      <p:sp>
        <p:nvSpPr>
          <p:cNvPr id="102" name="ZoneTexte 2"/>
          <p:cNvSpPr/>
          <p:nvPr/>
        </p:nvSpPr>
        <p:spPr>
          <a:xfrm>
            <a:off x="6084000" y="1845000"/>
            <a:ext cx="3059640" cy="146124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MEE: mésenchyme extra embryonnaire: ou se forment les gonocytes primordiaux(spermatogonies ovogonies)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3" name="Connecteur droit avec flèche 4"/>
          <p:cNvCxnSpPr>
            <a:stCxn id="102" idx="1"/>
          </p:cNvCxnSpPr>
          <p:nvPr/>
        </p:nvCxnSpPr>
        <p:spPr>
          <a:xfrm flipH="1" flipV="1">
            <a:off x="5580000" y="2492640"/>
            <a:ext cx="504360" cy="8316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104" name="Connecteur droit avec flèche 11"/>
          <p:cNvCxnSpPr/>
          <p:nvPr/>
        </p:nvCxnSpPr>
        <p:spPr>
          <a:xfrm flipH="1" flipV="1">
            <a:off x="5220000" y="2996640"/>
            <a:ext cx="1296360" cy="57672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105" name="ZoneTexte 13"/>
          <p:cNvSpPr/>
          <p:nvPr/>
        </p:nvSpPr>
        <p:spPr>
          <a:xfrm>
            <a:off x="6516360" y="5445360"/>
            <a:ext cx="165600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Lame choriale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" name="Connecteur droit avec flèche 15"/>
          <p:cNvCxnSpPr>
            <a:stCxn id="105" idx="1"/>
          </p:cNvCxnSpPr>
          <p:nvPr/>
        </p:nvCxnSpPr>
        <p:spPr>
          <a:xfrm flipH="1" flipV="1">
            <a:off x="4860000" y="5157000"/>
            <a:ext cx="1656720" cy="60768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107" name="ZoneTexte 17"/>
          <p:cNvSpPr/>
          <p:nvPr/>
        </p:nvSpPr>
        <p:spPr>
          <a:xfrm>
            <a:off x="5220000" y="692640"/>
            <a:ext cx="187200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Lame amniotique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" name="Connecteur droit avec flèche 19"/>
          <p:cNvCxnSpPr/>
          <p:nvPr/>
        </p:nvCxnSpPr>
        <p:spPr>
          <a:xfrm flipH="1">
            <a:off x="4572000" y="836640"/>
            <a:ext cx="648360" cy="64836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109" name="ZoneTexte 22"/>
          <p:cNvSpPr/>
          <p:nvPr/>
        </p:nvSpPr>
        <p:spPr>
          <a:xfrm>
            <a:off x="395640" y="6073200"/>
            <a:ext cx="194400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chemeClr val="dk1"/>
                </a:solidFill>
                <a:latin typeface="Calibri"/>
              </a:rPr>
              <a:t>Lame ombilicale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" name="Connecteur droit avec flèche 24"/>
          <p:cNvCxnSpPr>
            <a:stCxn id="109" idx="0"/>
          </p:cNvCxnSpPr>
          <p:nvPr/>
        </p:nvCxnSpPr>
        <p:spPr>
          <a:xfrm flipV="1">
            <a:off x="1367640" y="5157000"/>
            <a:ext cx="1188360" cy="91656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357120" y="374040"/>
            <a:ext cx="8000640" cy="35053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11) Parmi ces structures, les quelles constituent les annexes embryonnaires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A- L’endoblaste (entoblaste)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B- Bouton embryonnaire (embryoblaste)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C- L’amnios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D- Syncytiotrophoblaste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E- Cytotrophoblaste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285840" y="871560"/>
            <a:ext cx="814356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12) L’ampoule tubaire est le lieu de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A- La pré- gastrulation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B- La gastrulation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C- La fécondation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D- La segmentation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E- La dé-capacitation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357120" y="378720"/>
            <a:ext cx="8214840" cy="44809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13) Concernant l’endomètre utérin, cochez-la ou les réponse(s) exacte(s)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A- Formé par deux couches : fonctionnelle et résiduelle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B- Assure la nidation du blastocyste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C- Les glandes endocervicales occupent la partie postéro-supérieure utérine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D- Sensible à la sécrétion de l’ocytocine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E- Son épithélium est pseudo stratifié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642960" y="316080"/>
            <a:ext cx="8143560" cy="44809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 Narrow"/>
                <a:ea typeface="바탕"/>
              </a:rPr>
              <a:t>14) Concernant la cellule de Sertoli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A- Se localise entre les tubes séminifères testiculaires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B- Est sensible à la sécrétion de la LH pour un bon déroulement de la spermatogénèse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C- Permet la spermiation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 Narrow"/>
                <a:ea typeface="바탕"/>
              </a:rPr>
              <a:t>D- Assure la sécrétion de l’inhibine et AMH (hormone antimüllérienne)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 Narrow"/>
                <a:ea typeface="바탕"/>
              </a:rPr>
              <a:t>E- Assure la Nutrition des celles de Leydig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2" descr=""/>
          <p:cNvPicPr/>
          <p:nvPr/>
        </p:nvPicPr>
        <p:blipFill>
          <a:blip r:embed="rId1"/>
          <a:stretch/>
        </p:blipFill>
        <p:spPr>
          <a:xfrm>
            <a:off x="0" y="285840"/>
            <a:ext cx="9143640" cy="6571800"/>
          </a:xfrm>
          <a:prstGeom prst="rect">
            <a:avLst/>
          </a:prstGeom>
          <a:ln cap="sq" w="127000">
            <a:solidFill>
              <a:srgbClr val="7030a0"/>
            </a:solidFill>
            <a:miter/>
          </a:ln>
          <a:effectLst>
            <a:outerShdw algn="tl" blurRad="57240" dir="2700000" dist="50402" rotWithShape="0">
              <a:srgbClr val="000000">
                <a:alpha val="40000"/>
              </a:srgbClr>
            </a:outerShdw>
          </a:effectLst>
        </p:spPr>
      </p:pic>
      <p:sp>
        <p:nvSpPr>
          <p:cNvPr id="116" name="ZoneTexte 2"/>
          <p:cNvSpPr/>
          <p:nvPr/>
        </p:nvSpPr>
        <p:spPr>
          <a:xfrm>
            <a:off x="6300360" y="908640"/>
            <a:ext cx="2843280" cy="11869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Tube séminifère :(fonction exocrine :spermatogenèse)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7" name="Connecteur droit avec flèche 4"/>
          <p:cNvCxnSpPr>
            <a:stCxn id="116" idx="2"/>
          </p:cNvCxnSpPr>
          <p:nvPr/>
        </p:nvCxnSpPr>
        <p:spPr>
          <a:xfrm flipH="1">
            <a:off x="5472360" y="2095560"/>
            <a:ext cx="2250000" cy="18144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118" name="ZoneTexte 6"/>
          <p:cNvSpPr/>
          <p:nvPr/>
        </p:nvSpPr>
        <p:spPr>
          <a:xfrm>
            <a:off x="0" y="4509000"/>
            <a:ext cx="1979280" cy="17355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fr-FR" sz="1800" spc="-1" strike="noStrike">
                <a:solidFill>
                  <a:srgbClr val="ff0000"/>
                </a:solidFill>
                <a:latin typeface="Calibri"/>
              </a:rPr>
              <a:t>Tissu interstitiel: fonction endocrine: sécrétion testostérone)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9" name="Connecteur droit avec flèche 8"/>
          <p:cNvCxnSpPr>
            <a:stCxn id="118" idx="3"/>
          </p:cNvCxnSpPr>
          <p:nvPr/>
        </p:nvCxnSpPr>
        <p:spPr>
          <a:xfrm flipV="1">
            <a:off x="1979280" y="4293000"/>
            <a:ext cx="648720" cy="108396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179640" y="734400"/>
            <a:ext cx="8678520" cy="43603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15) A propos de la glande thyroïde 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A- Elle est d’architecture : trabéculaire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B- C’est une glande mixte à activité exocrine et endocrine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C- Les cellules thyroïdiennes possèdent des récepteurs membranaires pour : la TRH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D- Les hormones thyroïdiennes sont fabriquées à partir de tyrosine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E- Les hormones thyroïdiennes (T 3 et T 4) dans un premier temps sont stockées dans la colloïde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285840" y="1674360"/>
            <a:ext cx="8143560" cy="35053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16)Parmi  ces hormones  la quelle qui stimule la glande thyroïde ?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A- ACTH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B- FSH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"/>
                <a:ea typeface="Calibri"/>
              </a:rPr>
              <a:t>C- TSH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D- GnRH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E- FSH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8" descr="follicule thy"/>
          <p:cNvPicPr/>
          <p:nvPr/>
        </p:nvPicPr>
        <p:blipFill>
          <a:blip r:embed="rId1"/>
          <a:stretch/>
        </p:blipFill>
        <p:spPr>
          <a:xfrm>
            <a:off x="179640" y="404640"/>
            <a:ext cx="8795880" cy="6453000"/>
          </a:xfrm>
          <a:prstGeom prst="rect">
            <a:avLst/>
          </a:prstGeom>
          <a:ln w="0">
            <a:noFill/>
          </a:ln>
        </p:spPr>
      </p:pic>
      <p:sp>
        <p:nvSpPr>
          <p:cNvPr id="123" name="ZoneTexte 2"/>
          <p:cNvSpPr/>
          <p:nvPr/>
        </p:nvSpPr>
        <p:spPr>
          <a:xfrm>
            <a:off x="7524360" y="548640"/>
            <a:ext cx="145116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(Calcitonine)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ZoneTexte 3"/>
          <p:cNvSpPr/>
          <p:nvPr/>
        </p:nvSpPr>
        <p:spPr>
          <a:xfrm>
            <a:off x="3924000" y="1124640"/>
            <a:ext cx="791640" cy="638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T3, T4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571320" y="802080"/>
            <a:ext cx="7929360" cy="350640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17) La calcitonine 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A- Stimule la libération du calcium par l’os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B- Stimule l’absorption intestinale du calcium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C- Augmente l’excrétion rénale du calcium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D- Secrétée par les cellules C: para folliculaires  thyroïdiennes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E- Potentialise l’action de la vitamine D3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428760" y="802800"/>
            <a:ext cx="8286480" cy="35053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18) Une hypersécrétion de l’ACTH peut se voie dans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"/>
                <a:ea typeface="Calibri"/>
              </a:rPr>
              <a:t>A- La maladie d’Addison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"/>
                <a:ea typeface="Calibri"/>
              </a:rPr>
              <a:t>B- La maladie de cushing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C- Le syndrome de Conn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"/>
                <a:ea typeface="Calibri"/>
              </a:rPr>
              <a:t>D- Adénome de l’antéhypophysaire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E- Adénome de la neurohypophyse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179640" y="1074240"/>
            <a:ext cx="8856720" cy="41140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19) La neurohypophyse est formée par 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A- De cellules nerveuses semblables à celles de l’ adénohypophyse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B- Des neurones et des pituicytes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C- Des corps cellulaires de neurone dont les axones font synapses avec des neurones de l’hypothalamus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D- De terminaisons axoniques de neurones dont les corps cellulaires sont situés dans l’hypothalamus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E- De neurones dont le corps cellulaire est situé dans l’ adénohypophyse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e 4"/>
          <p:cNvGrpSpPr/>
          <p:nvPr/>
        </p:nvGrpSpPr>
        <p:grpSpPr>
          <a:xfrm>
            <a:off x="285840" y="185760"/>
            <a:ext cx="8429400" cy="6671880"/>
            <a:chOff x="285840" y="185760"/>
            <a:chExt cx="8429400" cy="6671880"/>
          </a:xfrm>
        </p:grpSpPr>
        <p:pic>
          <p:nvPicPr>
            <p:cNvPr id="129" name="Picture 2" descr="posthypo"/>
            <p:cNvPicPr/>
            <p:nvPr/>
          </p:nvPicPr>
          <p:blipFill>
            <a:blip r:embed="rId1"/>
            <a:stretch/>
          </p:blipFill>
          <p:spPr>
            <a:xfrm>
              <a:off x="285840" y="185760"/>
              <a:ext cx="8429400" cy="6671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0" name="ZoneTexte 2"/>
            <p:cNvSpPr/>
            <p:nvPr/>
          </p:nvSpPr>
          <p:spPr>
            <a:xfrm>
              <a:off x="1259640" y="3069000"/>
              <a:ext cx="1007640" cy="363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ff0000"/>
                  </a:solidFill>
                  <a:latin typeface="Arial Black"/>
                </a:rPr>
                <a:t>ADH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ZoneTexte 3"/>
            <p:cNvSpPr/>
            <p:nvPr/>
          </p:nvSpPr>
          <p:spPr>
            <a:xfrm>
              <a:off x="1043640" y="1772640"/>
              <a:ext cx="1755720" cy="363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fr-FR" sz="1800" spc="-1" strike="noStrike">
                  <a:solidFill>
                    <a:srgbClr val="ff0000"/>
                  </a:solidFill>
                  <a:latin typeface="Arial Black"/>
                </a:rPr>
                <a:t>OCYTOCINE</a:t>
              </a:r>
              <a:endParaRPr b="0" lang="fr-F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32" name="Connecteur droit avec flèche 6"/>
          <p:cNvCxnSpPr/>
          <p:nvPr/>
        </p:nvCxnSpPr>
        <p:spPr>
          <a:xfrm flipV="1">
            <a:off x="3059640" y="5445000"/>
            <a:ext cx="864360" cy="43236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  <p:cxnSp>
        <p:nvCxnSpPr>
          <p:cNvPr id="133" name="Connecteur droit avec flèche 9"/>
          <p:cNvCxnSpPr/>
          <p:nvPr/>
        </p:nvCxnSpPr>
        <p:spPr>
          <a:xfrm flipH="1" flipV="1">
            <a:off x="4716000" y="5013000"/>
            <a:ext cx="648360" cy="864360"/>
          </a:xfrm>
          <a:prstGeom prst="straightConnector1">
            <a:avLst/>
          </a:prstGeom>
          <a:ln>
            <a:solidFill>
              <a:srgbClr val="4a7ebb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285840" y="1226160"/>
            <a:ext cx="8357760" cy="42364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20) Concernant le globe oculaire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A- Comprend trois tuniques : sclérotique + cornée, uvée et rétine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B- L’humeur aqueuse circule de la chambre antérieure vers la chambre postérieure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C- La chambre postérieure se trouve en arrière du corps vitré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D- La chambre antérieure en arrière de la cornée et avant de l’iris et la pupille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E- Le cristallin participe à l’accommodation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2" descr=""/>
          <p:cNvPicPr/>
          <p:nvPr/>
        </p:nvPicPr>
        <p:blipFill>
          <a:blip r:embed="rId1"/>
          <a:srcRect l="24155" t="25384" r="28070" b="35541"/>
          <a:stretch/>
        </p:blipFill>
        <p:spPr>
          <a:xfrm>
            <a:off x="0" y="0"/>
            <a:ext cx="9357840" cy="68576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214200" y="738000"/>
            <a:ext cx="8500680" cy="484560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21) Concernant les cellules de la rétine visuelle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A- Le cytoplasme des cellules pigmentaires est riche en mélanine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B- Les cellules ganglionnaires ont un axone qui correspond aux fibres nerveuses du nerf optique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C- Formée par deux types de neurones d’associations : cellules horizontales et cellules bipolaires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D- L’article externe des cellules à bâtonnets contient de la rhodopsine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E- Article interne des cellules à cônes contient : des mitochondries, appareil de Golgi et réticulum endoplasmique lisse et rigeux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285840" y="1490040"/>
            <a:ext cx="835776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22) A propos des trois tuniques du globe oculaire 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A- Les procès ciliaires secrètent l’humeur aqueuse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B- La couche choriocapillaire contient des capillaires sinusoïdes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C- La membrane de Bruch repose sur la sclérotique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D- </a:t>
            </a: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L’iris est prolongement du corps ciliaire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E- L’Ora-serrata : se localise dans la sclérotique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214200" y="806040"/>
            <a:ext cx="8715240" cy="43603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23) Concernant les artères musculaires de moyen calibre 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A- Possèdent une adventice plus développée que la media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B- Ce sont des artères de drainages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C- Peuvent subir une vasoconstriction suite à une stimulation par le système orthosympathique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D- Présentent une limitante élastique interne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E- Peuvent se localiser dans les organes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e 13"/>
          <p:cNvGrpSpPr/>
          <p:nvPr/>
        </p:nvGrpSpPr>
        <p:grpSpPr>
          <a:xfrm>
            <a:off x="250920" y="189000"/>
            <a:ext cx="8711640" cy="6408360"/>
            <a:chOff x="250920" y="189000"/>
            <a:chExt cx="8711640" cy="6408360"/>
          </a:xfrm>
        </p:grpSpPr>
        <p:pic>
          <p:nvPicPr>
            <p:cNvPr id="140" name="Picture 5" descr="Image dessinEnsDirig.gif"/>
            <p:cNvPicPr/>
            <p:nvPr/>
          </p:nvPicPr>
          <p:blipFill>
            <a:blip r:embed="rId1"/>
            <a:srcRect l="60315" t="39198" r="7383" b="2424"/>
            <a:stretch/>
          </p:blipFill>
          <p:spPr>
            <a:xfrm>
              <a:off x="2916360" y="333360"/>
              <a:ext cx="2565000" cy="62640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41" name="Group 17"/>
            <p:cNvGrpSpPr/>
            <p:nvPr/>
          </p:nvGrpSpPr>
          <p:grpSpPr>
            <a:xfrm>
              <a:off x="250920" y="189000"/>
              <a:ext cx="8711640" cy="4754160"/>
              <a:chOff x="250920" y="189000"/>
              <a:chExt cx="8711640" cy="4754160"/>
            </a:xfrm>
          </p:grpSpPr>
          <p:sp>
            <p:nvSpPr>
              <p:cNvPr id="142" name="Text Box 6"/>
              <p:cNvSpPr/>
              <p:nvPr/>
            </p:nvSpPr>
            <p:spPr>
              <a:xfrm>
                <a:off x="468360" y="322200"/>
                <a:ext cx="2015640" cy="5166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f81bd"/>
                </a:solidFill>
                <a:rou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1400"/>
                  </a:spcBef>
                </a:pPr>
                <a:r>
                  <a:rPr b="0" lang="fr-FR" sz="2800" spc="-1" strike="noStrike">
                    <a:solidFill>
                      <a:srgbClr val="ff0000"/>
                    </a:solidFill>
                    <a:latin typeface="Calibri"/>
                  </a:rPr>
                  <a:t>Intima</a:t>
                </a:r>
                <a:endParaRPr b="0" lang="fr-FR" sz="2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3" name="Text Box 7"/>
              <p:cNvSpPr/>
              <p:nvPr/>
            </p:nvSpPr>
            <p:spPr>
              <a:xfrm>
                <a:off x="611280" y="2060640"/>
                <a:ext cx="1728360" cy="57744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f81bd"/>
                </a:solidFill>
                <a:rou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1599"/>
                  </a:spcBef>
                </a:pPr>
                <a:r>
                  <a:rPr b="0" lang="fr-FR" sz="3200" spc="-1" strike="noStrike">
                    <a:solidFill>
                      <a:srgbClr val="ff0000"/>
                    </a:solidFill>
                    <a:latin typeface="Calibri"/>
                  </a:rPr>
                  <a:t>Média</a:t>
                </a:r>
                <a:r>
                  <a:rPr b="0" lang="fr-FR" sz="3200" spc="-1" strike="noStrike">
                    <a:solidFill>
                      <a:schemeClr val="dk1"/>
                    </a:solidFill>
                    <a:latin typeface="Calibri"/>
                  </a:rPr>
                  <a:t> </a:t>
                </a:r>
                <a:endParaRPr b="0" lang="fr-FR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" name="Text Box 8"/>
              <p:cNvSpPr/>
              <p:nvPr/>
            </p:nvSpPr>
            <p:spPr>
              <a:xfrm>
                <a:off x="250920" y="4365720"/>
                <a:ext cx="2304720" cy="57744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4f81bd"/>
                </a:solidFill>
                <a:rou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1599"/>
                  </a:spcBef>
                </a:pPr>
                <a:r>
                  <a:rPr b="0" lang="fr-FR" sz="3200" spc="-1" strike="noStrike">
                    <a:solidFill>
                      <a:srgbClr val="ff0000"/>
                    </a:solidFill>
                    <a:latin typeface="Calibri"/>
                  </a:rPr>
                  <a:t>Adventice</a:t>
                </a:r>
                <a:endParaRPr b="0" lang="fr-FR" sz="32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" name="Text Box 9"/>
              <p:cNvSpPr/>
              <p:nvPr/>
            </p:nvSpPr>
            <p:spPr>
              <a:xfrm>
                <a:off x="5867280" y="189000"/>
                <a:ext cx="3095280" cy="3748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fr-FR" sz="1800" spc="-1" strike="noStrike">
                    <a:solidFill>
                      <a:schemeClr val="dk1"/>
                    </a:solidFill>
                    <a:latin typeface="Tahoma"/>
                  </a:rPr>
                  <a:t>Endothélium</a:t>
                </a: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fr-FR" sz="1800" spc="-1" strike="noStrike">
                    <a:solidFill>
                      <a:schemeClr val="dk1"/>
                    </a:solidFill>
                    <a:latin typeface="Tahoma"/>
                  </a:rPr>
                  <a:t>Limitante élastique interne </a:t>
                </a: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fr-FR" sz="1800" spc="-1" strike="noStrike">
                    <a:solidFill>
                      <a:schemeClr val="dk1"/>
                    </a:solidFill>
                    <a:latin typeface="Tahoma"/>
                  </a:rPr>
                  <a:t>Cellules musculaires lisses </a:t>
                </a: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fr-FR" sz="1800" spc="-1" strike="noStrike">
                    <a:solidFill>
                      <a:schemeClr val="dk1"/>
                    </a:solidFill>
                    <a:latin typeface="Tahoma"/>
                  </a:rPr>
                  <a:t>Fibres élastiques</a:t>
                </a: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  <a:spcBef>
                    <a:spcPts val="901"/>
                  </a:spcBef>
                </a:pPr>
                <a:r>
                  <a:rPr b="0" lang="fr-FR" sz="1800" spc="-1" strike="noStrike">
                    <a:solidFill>
                      <a:schemeClr val="dk1"/>
                    </a:solidFill>
                    <a:latin typeface="Tahoma"/>
                  </a:rPr>
                  <a:t>Limitante élastique externe</a:t>
                </a:r>
                <a:endParaRPr b="0" lang="fr-F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6" name="Line 11"/>
              <p:cNvSpPr/>
              <p:nvPr/>
            </p:nvSpPr>
            <p:spPr>
              <a:xfrm flipH="1">
                <a:off x="5508360" y="404640"/>
                <a:ext cx="503280" cy="360"/>
              </a:xfrm>
              <a:prstGeom prst="line">
                <a:avLst/>
              </a:prstGeom>
              <a:ln w="28575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fr-FR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47" name="Line 12"/>
              <p:cNvSpPr/>
              <p:nvPr/>
            </p:nvSpPr>
            <p:spPr>
              <a:xfrm flipH="1" flipV="1">
                <a:off x="5364000" y="691920"/>
                <a:ext cx="576360" cy="144360"/>
              </a:xfrm>
              <a:prstGeom prst="line">
                <a:avLst/>
              </a:prstGeom>
              <a:ln w="28575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fr-FR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48" name="Line 13"/>
              <p:cNvSpPr/>
              <p:nvPr/>
            </p:nvSpPr>
            <p:spPr>
              <a:xfrm flipH="1">
                <a:off x="5364000" y="1989000"/>
                <a:ext cx="574560" cy="360"/>
              </a:xfrm>
              <a:prstGeom prst="line">
                <a:avLst/>
              </a:prstGeom>
              <a:ln w="28575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fr-FR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49" name="Line 14"/>
              <p:cNvSpPr/>
              <p:nvPr/>
            </p:nvSpPr>
            <p:spPr>
              <a:xfrm flipH="1" flipV="1">
                <a:off x="5364000" y="2205000"/>
                <a:ext cx="574560" cy="144360"/>
              </a:xfrm>
              <a:prstGeom prst="line">
                <a:avLst/>
              </a:prstGeom>
              <a:ln w="28575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fr-FR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50" name="Line 15"/>
              <p:cNvSpPr/>
              <p:nvPr/>
            </p:nvSpPr>
            <p:spPr>
              <a:xfrm flipH="1">
                <a:off x="5508360" y="3716280"/>
                <a:ext cx="358920" cy="217440"/>
              </a:xfrm>
              <a:prstGeom prst="line">
                <a:avLst/>
              </a:prstGeom>
              <a:ln w="28575">
                <a:solidFill>
                  <a:srgbClr val="00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fr-FR" sz="18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214200" y="380880"/>
            <a:ext cx="8500680" cy="49687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24) Lors de la contraction de la fibre musculaire strié : on a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A- Une élévation de la concentration des ions calcium dans réticulum endoplasmique lisse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rgbClr val="ff0000"/>
                </a:solidFill>
                <a:latin typeface="Arial"/>
                <a:ea typeface="Calibri"/>
              </a:rPr>
              <a:t>B- Un raccourcissement des bandes 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C- Une élongation des bandes 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D- Glissement des myofibrilles de myosine sur les myofibrilles d’actine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>
                <a:solidFill>
                  <a:schemeClr val="dk1"/>
                </a:solidFill>
                <a:latin typeface="Arial"/>
                <a:ea typeface="Calibri"/>
              </a:rPr>
              <a:t>E- Raccourcissement des bandes A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2" descr="C:\Documents and Settings\Administrateur\Mes documents\Mes images\synapse1.jpg"/>
          <p:cNvPicPr/>
          <p:nvPr/>
        </p:nvPicPr>
        <p:blipFill>
          <a:blip r:embed="rId1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714240" y="879120"/>
            <a:ext cx="8000640" cy="4787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Times New Roman"/>
                <a:ea typeface="바탕"/>
              </a:rPr>
              <a:t>25) Parmi les propositions suivantes relatives à un sarcomère au repos laquelle est (sont) exacte (s) ?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A- La ligne M : occupe la partie centrale de la bande H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Times New Roman"/>
                <a:ea typeface="바탕"/>
              </a:rPr>
              <a:t>B- La bande H contient des filaments fins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Times New Roman"/>
                <a:ea typeface="바탕"/>
              </a:rPr>
              <a:t>C- La bande : A contient des filaments uniquement fins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D- La bande :  I contient des filaments fins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E- La bande : A contient des filaments fins et épais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 descr="C:\Users\dalila\Pictures\Image54col[1].jpg"/>
          <p:cNvPicPr/>
          <p:nvPr/>
        </p:nvPicPr>
        <p:blipFill>
          <a:blip r:embed="rId1"/>
          <a:stretch/>
        </p:blipFill>
        <p:spPr>
          <a:xfrm>
            <a:off x="0" y="0"/>
            <a:ext cx="8784720" cy="68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214200" y="622080"/>
            <a:ext cx="8715240" cy="399420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2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26) Les cellules satellites musculaires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A- Ce sont des cellules contractiles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B- Ce sont des cellules striées intra- fusales musculaires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C- Peuvent remplacées les cardiomyocytes en cas de lésion myocardiques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Arial"/>
                <a:ea typeface="Calibri"/>
              </a:rPr>
              <a:t>D- Elles sont plurinuclées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Arial"/>
                <a:ea typeface="Calibri"/>
              </a:rPr>
              <a:t>E- Ce sont des cellules myogéniques de réserve du muscle strié squelettique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2" descr="C:\Users\dalila\Pictures\Image58col[1].jpg"/>
          <p:cNvPicPr/>
          <p:nvPr/>
        </p:nvPicPr>
        <p:blipFill>
          <a:blip r:embed="rId1"/>
          <a:stretch/>
        </p:blipFill>
        <p:spPr>
          <a:xfrm>
            <a:off x="611280" y="692280"/>
            <a:ext cx="8281800" cy="5760720"/>
          </a:xfrm>
          <a:prstGeom prst="rect">
            <a:avLst/>
          </a:prstGeom>
          <a:ln w="0">
            <a:noFill/>
          </a:ln>
        </p:spPr>
      </p:pic>
      <p:sp>
        <p:nvSpPr>
          <p:cNvPr id="157" name="ZoneTexte 2"/>
          <p:cNvSpPr/>
          <p:nvPr/>
        </p:nvSpPr>
        <p:spPr>
          <a:xfrm>
            <a:off x="6372360" y="1628640"/>
            <a:ext cx="1944000" cy="3639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renouvèlement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ZoneTexte 3"/>
          <p:cNvSpPr/>
          <p:nvPr/>
        </p:nvSpPr>
        <p:spPr>
          <a:xfrm>
            <a:off x="6660360" y="4005000"/>
            <a:ext cx="1511640" cy="3639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contraction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214200" y="456840"/>
            <a:ext cx="8715240" cy="606816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Times New Roman"/>
                <a:ea typeface="바탕"/>
              </a:rPr>
              <a:t>27) Parmi les propositions suivantes concernant l’innervation motrice des rhabdomyocytes laquelle ou lesquelles sont exactes ?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A- La plaque motrice réalise une synapse axosomatique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B- Est responsable de l’influx nerveux moteur de la fibre musculaire striée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Times New Roman"/>
                <a:ea typeface="바탕"/>
              </a:rPr>
              <a:t>C- L’unité motrice est l’ensemble des fibres musculaires striées innervées par plusieurs motoneurones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Times New Roman"/>
                <a:ea typeface="바탕"/>
              </a:rPr>
              <a:t>D- La plaque motrice réalise une jonction myotendineuse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Times New Roman"/>
                <a:ea typeface="바탕"/>
              </a:rPr>
              <a:t>E- Le fuseau neuromusculaire est responsable de l’innervation motrice du rhabdomyocyte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"/>
          <p:cNvPicPr/>
          <p:nvPr/>
        </p:nvPicPr>
        <p:blipFill>
          <a:blip r:embed="rId1"/>
          <a:srcRect l="22829" t="10599" r="18890" b="9600"/>
          <a:stretch/>
        </p:blipFill>
        <p:spPr>
          <a:xfrm>
            <a:off x="5076000" y="404640"/>
            <a:ext cx="3926160" cy="612108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3" descr=""/>
          <p:cNvPicPr/>
          <p:nvPr/>
        </p:nvPicPr>
        <p:blipFill>
          <a:blip r:embed="rId2"/>
          <a:srcRect l="8659" t="5560" r="9966" b="15479"/>
          <a:stretch/>
        </p:blipFill>
        <p:spPr>
          <a:xfrm>
            <a:off x="0" y="260640"/>
            <a:ext cx="4859640" cy="638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285840" y="593280"/>
            <a:ext cx="8572320" cy="478728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Times New Roman"/>
                <a:ea typeface="바탕"/>
              </a:rPr>
              <a:t>28) Parmi les propositions suivantes concernant les cardiomyocytes laquelle ou lesquelles sont exactes ?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A- Ils ont une forme cylindrique bifurquée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B- Possèdent un noyau central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Times New Roman"/>
                <a:ea typeface="바탕"/>
              </a:rPr>
              <a:t>C- Leur contraction dépend du système nerveux central via la jonction neuromusculaire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rgbClr val="ff0000"/>
                </a:solidFill>
                <a:latin typeface="Times New Roman"/>
                <a:ea typeface="바탕"/>
              </a:rPr>
              <a:t>D- Ils présentent des stries scalariformes qui sont des dispositifs de jonctions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5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Times New Roman"/>
                <a:ea typeface="바탕"/>
              </a:rPr>
              <a:t>E- Possèdent des myofibrilles lisses analogues à celles des myofibrilles de la fibre musculaire lisse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"/>
          <p:cNvSpPr/>
          <p:nvPr/>
        </p:nvSpPr>
        <p:spPr>
          <a:xfrm>
            <a:off x="285840" y="736200"/>
            <a:ext cx="8429400" cy="447984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29) Concernant le système auditif de l’oreille interne 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A- Est représenté par l’organe de corti qui repose sur une membrane basilaire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B- La strie vasculaire fait partie de la paroi de la rampe vestibulaire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C- La rampe cochléaire est limitée en haut par la membrane tectoriale et en bas par la membrane basilaire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D- L’endolymphe prend naissance à partir de la strie vasculaire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E- La membrane tectoriale prend place au-dessous des cellules sensorielles type I et II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214200" y="1410120"/>
            <a:ext cx="8643600" cy="3870720"/>
          </a:xfrm>
          <a:prstGeom prst="rect">
            <a:avLst/>
          </a:prstGeom>
          <a:solidFill>
            <a:srgbClr val="ffffff"/>
          </a:solidFill>
          <a:ln>
            <a:solidFill>
              <a:srgbClr val="4f81bd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numCol="1" spcCol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800" spc="-1" strike="noStrike" u="sng">
                <a:solidFill>
                  <a:srgbClr val="ff0000"/>
                </a:solidFill>
                <a:uFillTx/>
                <a:latin typeface="Arial"/>
                <a:ea typeface="Calibri"/>
              </a:rPr>
              <a:t>30) Concernant l’oreille interne 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A- Le système vestibulaire est formé par l’utricule et le canal cochléaire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B- L’utricule et le saccule forment les organes otolitiques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C- L’innervation des canaux semi-circulaires est assurée par le nerf auditif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Arial"/>
                <a:ea typeface="Calibri"/>
              </a:rPr>
              <a:t>D- L’organe de Corti est localisé dans la rampe tympanique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2400" spc="-1" strike="noStrike">
                <a:solidFill>
                  <a:srgbClr val="ff0000"/>
                </a:solidFill>
                <a:latin typeface="Arial"/>
                <a:ea typeface="Calibri"/>
              </a:rPr>
              <a:t>E- Le labyrinthe membraneux contient l’endolymphe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2" descr=""/>
          <p:cNvPicPr/>
          <p:nvPr/>
        </p:nvPicPr>
        <p:blipFill>
          <a:blip r:embed="rId1"/>
          <a:srcRect l="41174" t="57608" r="29719" b="6250"/>
          <a:stretch/>
        </p:blipFill>
        <p:spPr>
          <a:xfrm>
            <a:off x="0" y="0"/>
            <a:ext cx="9143640" cy="68576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543EFF8F-69F6-4441-A5A8-7AD69175E99E-L0-001.png" descr=""/>
          <p:cNvPicPr/>
          <p:nvPr/>
        </p:nvPicPr>
        <p:blipFill>
          <a:blip r:embed="rId1"/>
          <a:srcRect l="9726" t="21142" r="6483" b="4400"/>
          <a:stretch/>
        </p:blipFill>
        <p:spPr>
          <a:xfrm>
            <a:off x="179640" y="188640"/>
            <a:ext cx="8784720" cy="6550560"/>
          </a:xfrm>
          <a:prstGeom prst="rect">
            <a:avLst/>
          </a:prstGeom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</TotalTime>
  <Application>LibreOffice/24.2.7.2$Linux_X86_64 LibreOffice_project/420$Build-2</Application>
  <AppVersion>15.0000</AppVersion>
  <Words>463</Words>
  <Paragraphs>222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2021-03-02T18:51:47Z</dcterms:created>
  <dc:creator>Inspiron</dc:creator>
  <dc:description/>
  <dc:language>fr-FR</dc:language>
  <cp:lastModifiedBy/>
  <dcterms:modified xsi:type="dcterms:W3CDTF">2026-04-15T09:47:18Z</dcterms:modified>
  <cp:revision>47</cp:revision>
  <dc:subject/>
  <dc:title>Diapositive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Affichage à l'écran (4:3)</vt:lpwstr>
  </property>
  <property fmtid="{D5CDD505-2E9C-101B-9397-08002B2CF9AE}" pid="3" name="Slides">
    <vt:i4>50</vt:i4>
  </property>
</Properties>
</file>