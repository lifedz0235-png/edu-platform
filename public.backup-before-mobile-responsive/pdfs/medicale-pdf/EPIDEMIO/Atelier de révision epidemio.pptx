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5" r:id="rId49"/>
    <p:sldId id="306" r:id="rId50"/>
    <p:sldId id="304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  <p:sldId id="319" r:id="rId64"/>
    <p:sldId id="320" r:id="rId65"/>
    <p:sldId id="321" r:id="rId66"/>
    <p:sldId id="322" r:id="rId67"/>
    <p:sldId id="323" r:id="rId68"/>
    <p:sldId id="324" r:id="rId69"/>
    <p:sldId id="325" r:id="rId70"/>
    <p:sldId id="326" r:id="rId71"/>
    <p:sldId id="327" r:id="rId72"/>
    <p:sldId id="328" r:id="rId73"/>
    <p:sldId id="333" r:id="rId74"/>
    <p:sldId id="334" r:id="rId75"/>
    <p:sldId id="337" r:id="rId76"/>
    <p:sldId id="338" r:id="rId77"/>
    <p:sldId id="339" r:id="rId78"/>
    <p:sldId id="340" r:id="rId79"/>
    <p:sldId id="341" r:id="rId80"/>
    <p:sldId id="342" r:id="rId81"/>
    <p:sldId id="343" r:id="rId82"/>
    <p:sldId id="344" r:id="rId83"/>
    <p:sldId id="345" r:id="rId84"/>
    <p:sldId id="346" r:id="rId85"/>
    <p:sldId id="347" r:id="rId86"/>
    <p:sldId id="348" r:id="rId87"/>
  </p:sldIdLst>
  <p:sldSz cx="1080135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056" y="-90"/>
      </p:cViewPr>
      <p:guideLst>
        <p:guide orient="horz" pos="2160"/>
        <p:guide pos="340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theme" Target="theme/theme1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presProps" Target="presProps.xml"/><Relationship Id="rId9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810101" y="2130427"/>
            <a:ext cx="9181148" cy="1470025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620203" y="3886200"/>
            <a:ext cx="7560945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A9746-F57E-4323-9437-210302148C14}" type="datetimeFigureOut">
              <a:rPr lang="fr-FR" smtClean="0"/>
              <a:t>13/10/2023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7FA9B-58F4-4F6A-9AE9-57BC01EF6F2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32975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A9746-F57E-4323-9437-210302148C14}" type="datetimeFigureOut">
              <a:rPr lang="fr-FR" smtClean="0"/>
              <a:t>13/10/2023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7FA9B-58F4-4F6A-9AE9-57BC01EF6F2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224246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53232" y="4406902"/>
            <a:ext cx="918114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53232" y="2906713"/>
            <a:ext cx="918114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A9746-F57E-4323-9437-210302148C14}" type="datetimeFigureOut">
              <a:rPr lang="fr-FR" smtClean="0"/>
              <a:t>13/10/2023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7FA9B-58F4-4F6A-9AE9-57BC01EF6F2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56525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590700" y="1600202"/>
            <a:ext cx="5230028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00751" y="1600202"/>
            <a:ext cx="52319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A9746-F57E-4323-9437-210302148C14}" type="datetimeFigureOut">
              <a:rPr lang="fr-FR" smtClean="0"/>
              <a:t>13/10/2023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7FA9B-58F4-4F6A-9AE9-57BC01EF6F2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096672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40069" y="274638"/>
            <a:ext cx="9721215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40068" y="1535113"/>
            <a:ext cx="477247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40068" y="2174875"/>
            <a:ext cx="477247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5486936" y="1535113"/>
            <a:ext cx="477434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5486936" y="2174875"/>
            <a:ext cx="477434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A9746-F57E-4323-9437-210302148C14}" type="datetimeFigureOut">
              <a:rPr lang="fr-FR" smtClean="0"/>
              <a:t>13/10/2023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7FA9B-58F4-4F6A-9AE9-57BC01EF6F2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99150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A9746-F57E-4323-9437-210302148C14}" type="datetimeFigureOut">
              <a:rPr lang="fr-FR" smtClean="0"/>
              <a:t>13/10/2023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7FA9B-58F4-4F6A-9AE9-57BC01EF6F2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48551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A9746-F57E-4323-9437-210302148C14}" type="datetimeFigureOut">
              <a:rPr lang="fr-FR" smtClean="0"/>
              <a:t>13/10/2023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7FA9B-58F4-4F6A-9AE9-57BC01EF6F2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562571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40068" y="273050"/>
            <a:ext cx="3553570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23028" y="273052"/>
            <a:ext cx="6038255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540068" y="1435102"/>
            <a:ext cx="3553570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A9746-F57E-4323-9437-210302148C14}" type="datetimeFigureOut">
              <a:rPr lang="fr-FR" smtClean="0"/>
              <a:t>13/10/2023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7FA9B-58F4-4F6A-9AE9-57BC01EF6F2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01295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117141" y="4800600"/>
            <a:ext cx="648081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117141" y="612775"/>
            <a:ext cx="648081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117141" y="5367338"/>
            <a:ext cx="648081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A9746-F57E-4323-9437-210302148C14}" type="datetimeFigureOut">
              <a:rPr lang="fr-FR" smtClean="0"/>
              <a:t>13/10/2023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7FA9B-58F4-4F6A-9AE9-57BC01EF6F2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84195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A9746-F57E-4323-9437-210302148C14}" type="datetimeFigureOut">
              <a:rPr lang="fr-FR" smtClean="0"/>
              <a:t>13/10/2023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7FA9B-58F4-4F6A-9AE9-57BC01EF6F2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36759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573573" y="274640"/>
            <a:ext cx="2659082" cy="5851525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590701" y="274640"/>
            <a:ext cx="7802849" cy="5851525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A9746-F57E-4323-9437-210302148C14}" type="datetimeFigureOut">
              <a:rPr lang="fr-FR" smtClean="0"/>
              <a:t>13/10/2023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7FA9B-58F4-4F6A-9AE9-57BC01EF6F2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30439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540069" y="274638"/>
            <a:ext cx="972121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40069" y="1600202"/>
            <a:ext cx="972121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540069" y="6356352"/>
            <a:ext cx="25203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8A9746-F57E-4323-9437-210302148C14}" type="datetimeFigureOut">
              <a:rPr lang="fr-FR" smtClean="0"/>
              <a:t>13/10/2023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690462" y="6356352"/>
            <a:ext cx="34204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7740969" y="6356352"/>
            <a:ext cx="25203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C7FA9B-58F4-4F6A-9AE9-57BC01EF6F2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97050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 smtClean="0"/>
              <a:t>Atelier de révision </a:t>
            </a:r>
            <a:br>
              <a:rPr lang="fr-FR" dirty="0" smtClean="0"/>
            </a:br>
            <a:r>
              <a:rPr lang="fr-FR" dirty="0" smtClean="0"/>
              <a:t>épidémiologie 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 smtClean="0"/>
              <a:t>Pr </a:t>
            </a:r>
            <a:r>
              <a:rPr lang="fr-FR" dirty="0" err="1" smtClean="0"/>
              <a:t>Heroual</a:t>
            </a:r>
            <a:endParaRPr lang="fr-FR" dirty="0"/>
          </a:p>
        </p:txBody>
      </p:sp>
      <p:sp>
        <p:nvSpPr>
          <p:cNvPr id="4" name="ZoneTexte 3"/>
          <p:cNvSpPr txBox="1">
            <a:spLocks noChangeArrowheads="1"/>
          </p:cNvSpPr>
          <p:nvPr/>
        </p:nvSpPr>
        <p:spPr bwMode="auto">
          <a:xfrm>
            <a:off x="977583" y="332656"/>
            <a:ext cx="8708589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fr-BE" sz="2000" dirty="0">
                <a:solidFill>
                  <a:srgbClr val="C00000"/>
                </a:solidFill>
                <a:latin typeface="Trebuchet MS" pitchFamily="34" charset="0"/>
              </a:rPr>
              <a:t>Préparation au Concours d’accès au Résidanat </a:t>
            </a:r>
          </a:p>
          <a:p>
            <a:pPr algn="ctr" eaLnBrk="1" hangingPunct="1"/>
            <a:r>
              <a:rPr lang="fr-BE" sz="2000" dirty="0">
                <a:solidFill>
                  <a:srgbClr val="C00000"/>
                </a:solidFill>
                <a:latin typeface="Trebuchet MS" pitchFamily="34" charset="0"/>
              </a:rPr>
              <a:t>Programme de Médecine</a:t>
            </a:r>
          </a:p>
          <a:p>
            <a:pPr algn="ctr" eaLnBrk="1" hangingPunct="1"/>
            <a:r>
              <a:rPr lang="fr-BE" sz="2000" dirty="0">
                <a:solidFill>
                  <a:srgbClr val="C00000"/>
                </a:solidFill>
                <a:latin typeface="Trebuchet MS" pitchFamily="34" charset="0"/>
              </a:rPr>
              <a:t>Epidémiologie </a:t>
            </a:r>
          </a:p>
        </p:txBody>
      </p:sp>
    </p:spTree>
    <p:extLst>
      <p:ext uri="{BB962C8B-B14F-4D97-AF65-F5344CB8AC3E}">
        <p14:creationId xmlns:p14="http://schemas.microsoft.com/office/powerpoint/2010/main" val="2914980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QCM1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r-FR" dirty="0" smtClean="0"/>
              <a:t>Cocher les réponses justes</a:t>
            </a:r>
          </a:p>
          <a:p>
            <a:pPr marL="514350" indent="-514350">
              <a:buFont typeface="+mj-lt"/>
              <a:buAutoNum type="alphaLcPeriod"/>
            </a:pPr>
            <a:r>
              <a:rPr lang="fr-FR" dirty="0" smtClean="0"/>
              <a:t>Indicateur décrit une situation d’une point de vue qualitatif</a:t>
            </a:r>
          </a:p>
          <a:p>
            <a:pPr marL="514350" indent="-514350">
              <a:buFont typeface="+mj-lt"/>
              <a:buAutoNum type="alphaLcPeriod"/>
            </a:pPr>
            <a:r>
              <a:rPr lang="fr-FR" dirty="0" smtClean="0"/>
              <a:t>Indicateur doit être accompagné de sa définition et son contexte</a:t>
            </a:r>
          </a:p>
          <a:p>
            <a:pPr marL="514350" indent="-514350">
              <a:buFont typeface="+mj-lt"/>
              <a:buAutoNum type="alphaLcPeriod"/>
            </a:pPr>
            <a:r>
              <a:rPr lang="fr-FR" dirty="0" smtClean="0"/>
              <a:t>Dans un taux, le numérateur et le numérateur sont hétérogènes</a:t>
            </a:r>
          </a:p>
          <a:p>
            <a:pPr marL="514350" indent="-514350">
              <a:buFont typeface="+mj-lt"/>
              <a:buAutoNum type="alphaLcPeriod"/>
            </a:pPr>
            <a:r>
              <a:rPr lang="fr-FR" dirty="0" smtClean="0"/>
              <a:t>Ratio est une mesure dynamique</a:t>
            </a:r>
          </a:p>
          <a:p>
            <a:pPr marL="514350" indent="-514350">
              <a:buFont typeface="+mj-lt"/>
              <a:buAutoNum type="alphaLcPeriod"/>
            </a:pPr>
            <a:r>
              <a:rPr lang="fr-FR" dirty="0" smtClean="0"/>
              <a:t>Le nombre de décès masculin sur les  décès féminin est un ratio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4419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QCM1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r-FR" dirty="0" smtClean="0"/>
              <a:t>Cocher les réponses justes</a:t>
            </a:r>
          </a:p>
          <a:p>
            <a:pPr marL="514350" indent="-514350">
              <a:buFont typeface="+mj-lt"/>
              <a:buAutoNum type="alphaLcPeriod"/>
            </a:pPr>
            <a:r>
              <a:rPr lang="fr-FR" dirty="0" smtClean="0"/>
              <a:t>Indicateur décrit une situation d’une point de vue qualitatif</a:t>
            </a:r>
          </a:p>
          <a:p>
            <a:pPr marL="514350" indent="-514350">
              <a:buFont typeface="+mj-lt"/>
              <a:buAutoNum type="alphaLcPeriod"/>
            </a:pPr>
            <a:r>
              <a:rPr lang="fr-FR" dirty="0" smtClean="0">
                <a:solidFill>
                  <a:srgbClr val="C00000"/>
                </a:solidFill>
              </a:rPr>
              <a:t>Indicateur doit être accompagné de sa définition et son contexte</a:t>
            </a:r>
          </a:p>
          <a:p>
            <a:pPr marL="514350" indent="-514350">
              <a:buFont typeface="+mj-lt"/>
              <a:buAutoNum type="alphaLcPeriod"/>
            </a:pPr>
            <a:r>
              <a:rPr lang="fr-FR" dirty="0" smtClean="0"/>
              <a:t>Dans un taux, le numérateur et le numérateur sont hétérogènes</a:t>
            </a:r>
          </a:p>
          <a:p>
            <a:pPr marL="514350" indent="-514350">
              <a:buFont typeface="+mj-lt"/>
              <a:buAutoNum type="alphaLcPeriod"/>
            </a:pPr>
            <a:r>
              <a:rPr lang="fr-FR" dirty="0" smtClean="0"/>
              <a:t>Ratio est une mesure dynamique</a:t>
            </a:r>
          </a:p>
          <a:p>
            <a:pPr marL="514350" indent="-514350">
              <a:buFont typeface="+mj-lt"/>
              <a:buAutoNum type="alphaLcPeriod"/>
            </a:pPr>
            <a:r>
              <a:rPr lang="fr-FR" dirty="0" smtClean="0">
                <a:solidFill>
                  <a:srgbClr val="C00000"/>
                </a:solidFill>
              </a:rPr>
              <a:t>Le nombre de décès masculin sur les  décès féminin est un ratio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76694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QCM 2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rPr lang="fr-FR" sz="2800" dirty="0" smtClean="0">
                <a:latin typeface="Trebuchet MS" pitchFamily="34" charset="0"/>
              </a:rPr>
              <a:t>Le rapport entre le nombre annuel de décès et l'effectif de la population au milieu de l'année "considérée" correspond à la définition:</a:t>
            </a:r>
            <a:endParaRPr lang="fr-FR" sz="3600" dirty="0" smtClean="0">
              <a:latin typeface="Trebuchet MS" pitchFamily="34" charset="0"/>
            </a:endParaRPr>
          </a:p>
          <a:p>
            <a:pPr marL="971550" lvl="1" indent="-514350">
              <a:buFont typeface="+mj-lt"/>
              <a:buAutoNum type="alphaLcPeriod"/>
            </a:pPr>
            <a:r>
              <a:rPr lang="fr-FR" sz="2400" dirty="0" smtClean="0">
                <a:latin typeface="Trebuchet MS" pitchFamily="34" charset="0"/>
              </a:rPr>
              <a:t>Du taux d'incidence</a:t>
            </a:r>
            <a:endParaRPr lang="fr-FR" sz="3200" dirty="0" smtClean="0">
              <a:latin typeface="Trebuchet MS" pitchFamily="34" charset="0"/>
            </a:endParaRPr>
          </a:p>
          <a:p>
            <a:pPr marL="971550" lvl="1" indent="-514350">
              <a:buFont typeface="+mj-lt"/>
              <a:buAutoNum type="alphaLcPeriod"/>
            </a:pPr>
            <a:r>
              <a:rPr lang="fr-FR" sz="2400" dirty="0" smtClean="0">
                <a:latin typeface="Trebuchet MS" pitchFamily="34" charset="0"/>
              </a:rPr>
              <a:t>Du taux de morbidité</a:t>
            </a:r>
            <a:endParaRPr lang="fr-FR" sz="3200" dirty="0" smtClean="0">
              <a:latin typeface="Trebuchet MS" pitchFamily="34" charset="0"/>
            </a:endParaRPr>
          </a:p>
          <a:p>
            <a:pPr marL="971550" lvl="1" indent="-514350">
              <a:buFont typeface="+mj-lt"/>
              <a:buAutoNum type="alphaLcPeriod"/>
            </a:pPr>
            <a:r>
              <a:rPr lang="fr-FR" sz="2400" dirty="0" smtClean="0">
                <a:latin typeface="Trebuchet MS" pitchFamily="34" charset="0"/>
              </a:rPr>
              <a:t>Du taux de mortalité</a:t>
            </a:r>
            <a:endParaRPr lang="fr-FR" sz="3200" dirty="0" smtClean="0">
              <a:latin typeface="Trebuchet MS" pitchFamily="34" charset="0"/>
            </a:endParaRPr>
          </a:p>
          <a:p>
            <a:pPr marL="971550" lvl="1" indent="-514350">
              <a:buFont typeface="+mj-lt"/>
              <a:buAutoNum type="alphaLcPeriod"/>
            </a:pPr>
            <a:r>
              <a:rPr lang="fr-FR" sz="2400" dirty="0" smtClean="0">
                <a:latin typeface="Trebuchet MS" pitchFamily="34" charset="0"/>
              </a:rPr>
              <a:t>De la prévalence</a:t>
            </a:r>
            <a:endParaRPr lang="fr-FR" sz="3200" dirty="0" smtClean="0">
              <a:latin typeface="Trebuchet MS" pitchFamily="34" charset="0"/>
            </a:endParaRPr>
          </a:p>
          <a:p>
            <a:pPr marL="971550" lvl="1" indent="-514350">
              <a:buFont typeface="+mj-lt"/>
              <a:buAutoNum type="alphaLcPeriod"/>
            </a:pPr>
            <a:r>
              <a:rPr lang="fr-FR" sz="2400" dirty="0" smtClean="0">
                <a:latin typeface="Trebuchet MS" pitchFamily="34" charset="0"/>
              </a:rPr>
              <a:t>Du facteur de risque</a:t>
            </a:r>
            <a:endParaRPr lang="fr-FR" sz="3200" dirty="0" smtClean="0">
              <a:latin typeface="Trebuchet MS" pitchFamily="34" charset="0"/>
            </a:endParaRP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39027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QCM 2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rPr lang="fr-FR" sz="2800" dirty="0" smtClean="0">
                <a:latin typeface="Trebuchet MS" pitchFamily="34" charset="0"/>
              </a:rPr>
              <a:t>Le rapport entre le nombre annuel de décès et l'effectif de la population au milieu de l'année "considérée" correspond à la définition:</a:t>
            </a:r>
            <a:endParaRPr lang="fr-FR" sz="3600" dirty="0" smtClean="0">
              <a:latin typeface="Trebuchet MS" pitchFamily="34" charset="0"/>
            </a:endParaRPr>
          </a:p>
          <a:p>
            <a:pPr marL="971550" lvl="1" indent="-514350">
              <a:buFont typeface="+mj-lt"/>
              <a:buAutoNum type="alphaLcPeriod"/>
            </a:pPr>
            <a:r>
              <a:rPr lang="fr-FR" sz="2400" dirty="0" smtClean="0">
                <a:latin typeface="Trebuchet MS" pitchFamily="34" charset="0"/>
              </a:rPr>
              <a:t>Du taux d'incidence</a:t>
            </a:r>
            <a:endParaRPr lang="fr-FR" sz="3200" dirty="0" smtClean="0">
              <a:latin typeface="Trebuchet MS" pitchFamily="34" charset="0"/>
            </a:endParaRPr>
          </a:p>
          <a:p>
            <a:pPr marL="971550" lvl="1" indent="-514350">
              <a:buFont typeface="+mj-lt"/>
              <a:buAutoNum type="alphaLcPeriod"/>
            </a:pPr>
            <a:r>
              <a:rPr lang="fr-FR" sz="2400" dirty="0" smtClean="0">
                <a:latin typeface="Trebuchet MS" pitchFamily="34" charset="0"/>
              </a:rPr>
              <a:t>Du taux de morbidité</a:t>
            </a:r>
            <a:endParaRPr lang="fr-FR" sz="3200" dirty="0" smtClean="0">
              <a:latin typeface="Trebuchet MS" pitchFamily="34" charset="0"/>
            </a:endParaRPr>
          </a:p>
          <a:p>
            <a:pPr marL="971550" lvl="1" indent="-514350">
              <a:buFont typeface="+mj-lt"/>
              <a:buAutoNum type="alphaLcPeriod"/>
            </a:pPr>
            <a:r>
              <a:rPr lang="fr-FR" sz="2400" dirty="0" smtClean="0">
                <a:solidFill>
                  <a:srgbClr val="C00000"/>
                </a:solidFill>
                <a:latin typeface="Trebuchet MS" pitchFamily="34" charset="0"/>
              </a:rPr>
              <a:t>Du taux de mortalité</a:t>
            </a:r>
            <a:endParaRPr lang="fr-FR" sz="3200" dirty="0" smtClean="0">
              <a:solidFill>
                <a:srgbClr val="C00000"/>
              </a:solidFill>
              <a:latin typeface="Trebuchet MS" pitchFamily="34" charset="0"/>
            </a:endParaRPr>
          </a:p>
          <a:p>
            <a:pPr marL="971550" lvl="1" indent="-514350">
              <a:buFont typeface="+mj-lt"/>
              <a:buAutoNum type="alphaLcPeriod"/>
            </a:pPr>
            <a:r>
              <a:rPr lang="fr-FR" sz="2400" dirty="0" smtClean="0">
                <a:latin typeface="Trebuchet MS" pitchFamily="34" charset="0"/>
              </a:rPr>
              <a:t>De la prévalence</a:t>
            </a:r>
            <a:endParaRPr lang="fr-FR" sz="3200" dirty="0" smtClean="0">
              <a:latin typeface="Trebuchet MS" pitchFamily="34" charset="0"/>
            </a:endParaRPr>
          </a:p>
          <a:p>
            <a:pPr marL="971550" lvl="1" indent="-514350">
              <a:buFont typeface="+mj-lt"/>
              <a:buAutoNum type="alphaLcPeriod"/>
            </a:pPr>
            <a:r>
              <a:rPr lang="fr-FR" sz="2400" dirty="0" smtClean="0">
                <a:latin typeface="Trebuchet MS" pitchFamily="34" charset="0"/>
              </a:rPr>
              <a:t>Du facteur de risque</a:t>
            </a:r>
            <a:endParaRPr lang="fr-FR" sz="3200" dirty="0" smtClean="0">
              <a:latin typeface="Trebuchet MS" pitchFamily="34" charset="0"/>
            </a:endParaRP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7379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QCM 3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>
              <a:lnSpc>
                <a:spcPct val="107000"/>
              </a:lnSpc>
              <a:spcBef>
                <a:spcPts val="1255"/>
              </a:spcBef>
              <a:buNone/>
            </a:pPr>
            <a:r>
              <a:rPr lang="fr-FR" sz="2400" dirty="0" smtClean="0">
                <a:solidFill>
                  <a:srgbClr val="000000"/>
                </a:solidFill>
                <a:latin typeface="Trebuchet MS" pitchFamily="34" charset="0"/>
                <a:ea typeface="Times New Roman"/>
                <a:cs typeface="Times New Roman"/>
              </a:rPr>
              <a:t>Parmi </a:t>
            </a:r>
            <a:r>
              <a:rPr lang="fr-FR" sz="2400" dirty="0" smtClean="0">
                <a:solidFill>
                  <a:srgbClr val="000000"/>
                </a:solidFill>
                <a:latin typeface="Trebuchet MS" pitchFamily="34" charset="0"/>
                <a:ea typeface="Times New Roman"/>
                <a:cs typeface="Times New Roman"/>
              </a:rPr>
              <a:t>les indicateurs suivants, citez celui qui n'est pas un indicateur démographique.</a:t>
            </a:r>
            <a:endParaRPr lang="fr-FR" sz="3200" dirty="0">
              <a:latin typeface="Trebuchet MS" pitchFamily="34" charset="0"/>
              <a:ea typeface="Calibri"/>
              <a:cs typeface="Times New Roman"/>
            </a:endParaRPr>
          </a:p>
          <a:p>
            <a:pPr lvl="0">
              <a:lnSpc>
                <a:spcPct val="107000"/>
              </a:lnSpc>
              <a:buFont typeface="+mj-lt"/>
              <a:buAutoNum type="alphaLcPeriod"/>
            </a:pPr>
            <a:r>
              <a:rPr lang="fr-FR" sz="2400" dirty="0" smtClean="0">
                <a:solidFill>
                  <a:srgbClr val="000000"/>
                </a:solidFill>
                <a:latin typeface="Trebuchet MS" pitchFamily="34" charset="0"/>
                <a:ea typeface="Times New Roman"/>
                <a:cs typeface="Times New Roman"/>
              </a:rPr>
              <a:t>La pyramide des âges</a:t>
            </a:r>
            <a:endParaRPr lang="fr-FR" sz="3200" dirty="0">
              <a:latin typeface="Trebuchet MS" pitchFamily="34" charset="0"/>
              <a:ea typeface="Calibri"/>
              <a:cs typeface="Times New Roman"/>
            </a:endParaRPr>
          </a:p>
          <a:p>
            <a:pPr lvl="0">
              <a:lnSpc>
                <a:spcPct val="107000"/>
              </a:lnSpc>
              <a:buFont typeface="+mj-lt"/>
              <a:buAutoNum type="alphaLcPeriod"/>
            </a:pPr>
            <a:r>
              <a:rPr lang="fr-FR" sz="2400" dirty="0" smtClean="0">
                <a:solidFill>
                  <a:srgbClr val="000000"/>
                </a:solidFill>
                <a:latin typeface="Trebuchet MS" pitchFamily="34" charset="0"/>
                <a:ea typeface="Times New Roman"/>
                <a:cs typeface="Times New Roman"/>
              </a:rPr>
              <a:t> Le taux d'incidence d'une maladie</a:t>
            </a:r>
            <a:endParaRPr lang="fr-FR" sz="3200" dirty="0">
              <a:latin typeface="Trebuchet MS" pitchFamily="34" charset="0"/>
              <a:ea typeface="Calibri"/>
              <a:cs typeface="Times New Roman"/>
            </a:endParaRPr>
          </a:p>
          <a:p>
            <a:pPr lvl="0">
              <a:lnSpc>
                <a:spcPct val="107000"/>
              </a:lnSpc>
              <a:buFont typeface="+mj-lt"/>
              <a:buAutoNum type="alphaLcPeriod"/>
            </a:pPr>
            <a:r>
              <a:rPr lang="fr-FR" sz="2400" dirty="0" smtClean="0">
                <a:solidFill>
                  <a:srgbClr val="000000"/>
                </a:solidFill>
                <a:latin typeface="Trebuchet MS" pitchFamily="34" charset="0"/>
                <a:ea typeface="Times New Roman"/>
                <a:cs typeface="Times New Roman"/>
              </a:rPr>
              <a:t> Le taux de natalité</a:t>
            </a:r>
            <a:endParaRPr lang="fr-FR" sz="3200" dirty="0">
              <a:latin typeface="Trebuchet MS" pitchFamily="34" charset="0"/>
              <a:ea typeface="Calibri"/>
              <a:cs typeface="Times New Roman"/>
            </a:endParaRPr>
          </a:p>
          <a:p>
            <a:pPr lvl="0">
              <a:lnSpc>
                <a:spcPct val="107000"/>
              </a:lnSpc>
              <a:buFont typeface="+mj-lt"/>
              <a:buAutoNum type="alphaLcPeriod"/>
            </a:pPr>
            <a:r>
              <a:rPr lang="fr-FR" sz="2400" dirty="0" smtClean="0">
                <a:solidFill>
                  <a:srgbClr val="000000"/>
                </a:solidFill>
                <a:latin typeface="Trebuchet MS" pitchFamily="34" charset="0"/>
                <a:ea typeface="Times New Roman"/>
                <a:cs typeface="Times New Roman"/>
              </a:rPr>
              <a:t> Le taux de mortalité</a:t>
            </a:r>
            <a:endParaRPr lang="fr-FR" sz="3200" dirty="0" smtClean="0">
              <a:solidFill>
                <a:srgbClr val="000000"/>
              </a:solidFill>
              <a:latin typeface="Trebuchet MS" pitchFamily="34" charset="0"/>
              <a:ea typeface="Times New Roman"/>
              <a:cs typeface="Times New Roman"/>
            </a:endParaRPr>
          </a:p>
          <a:p>
            <a:pPr lvl="0">
              <a:lnSpc>
                <a:spcPct val="107000"/>
              </a:lnSpc>
              <a:buFont typeface="+mj-lt"/>
              <a:buAutoNum type="alphaLcPeriod"/>
            </a:pPr>
            <a:r>
              <a:rPr lang="fr-FR" sz="2400" dirty="0" smtClean="0">
                <a:solidFill>
                  <a:srgbClr val="000000"/>
                </a:solidFill>
                <a:latin typeface="Trebuchet MS" pitchFamily="34" charset="0"/>
                <a:ea typeface="Times New Roman"/>
              </a:rPr>
              <a:t>L'indice conjoncturel de fécondité</a:t>
            </a:r>
            <a:endParaRPr lang="fr-FR" sz="2400" dirty="0">
              <a:latin typeface="Trebuchet MS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035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QCM 3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>
              <a:lnSpc>
                <a:spcPct val="107000"/>
              </a:lnSpc>
              <a:spcBef>
                <a:spcPts val="1255"/>
              </a:spcBef>
              <a:buNone/>
            </a:pPr>
            <a:r>
              <a:rPr lang="fr-FR" sz="2400" dirty="0" smtClean="0">
                <a:solidFill>
                  <a:srgbClr val="000000"/>
                </a:solidFill>
                <a:latin typeface="Trebuchet MS" pitchFamily="34" charset="0"/>
                <a:ea typeface="Times New Roman"/>
                <a:cs typeface="Times New Roman"/>
              </a:rPr>
              <a:t>Parmi </a:t>
            </a:r>
            <a:r>
              <a:rPr lang="fr-FR" sz="2400" dirty="0" smtClean="0">
                <a:solidFill>
                  <a:srgbClr val="000000"/>
                </a:solidFill>
                <a:latin typeface="Trebuchet MS" pitchFamily="34" charset="0"/>
                <a:ea typeface="Times New Roman"/>
                <a:cs typeface="Times New Roman"/>
              </a:rPr>
              <a:t>les indicateurs suivants, citez celui qui n'est pas un indicateur démographique.</a:t>
            </a:r>
            <a:endParaRPr lang="fr-FR" sz="3200" dirty="0">
              <a:latin typeface="Trebuchet MS" pitchFamily="34" charset="0"/>
              <a:ea typeface="Calibri"/>
              <a:cs typeface="Times New Roman"/>
            </a:endParaRPr>
          </a:p>
          <a:p>
            <a:pPr lvl="0">
              <a:lnSpc>
                <a:spcPct val="107000"/>
              </a:lnSpc>
              <a:buFont typeface="+mj-lt"/>
              <a:buAutoNum type="alphaLcPeriod"/>
            </a:pPr>
            <a:r>
              <a:rPr lang="fr-FR" sz="2400" dirty="0" smtClean="0">
                <a:solidFill>
                  <a:srgbClr val="000000"/>
                </a:solidFill>
                <a:latin typeface="Trebuchet MS" pitchFamily="34" charset="0"/>
                <a:ea typeface="Times New Roman"/>
                <a:cs typeface="Times New Roman"/>
              </a:rPr>
              <a:t>La pyramide des âges</a:t>
            </a:r>
            <a:endParaRPr lang="fr-FR" sz="3200" dirty="0">
              <a:latin typeface="Trebuchet MS" pitchFamily="34" charset="0"/>
              <a:ea typeface="Calibri"/>
              <a:cs typeface="Times New Roman"/>
            </a:endParaRPr>
          </a:p>
          <a:p>
            <a:pPr lvl="0">
              <a:lnSpc>
                <a:spcPct val="107000"/>
              </a:lnSpc>
              <a:buFont typeface="+mj-lt"/>
              <a:buAutoNum type="alphaLcPeriod"/>
            </a:pPr>
            <a:r>
              <a:rPr lang="fr-FR" sz="2400" dirty="0" smtClean="0">
                <a:solidFill>
                  <a:srgbClr val="000000"/>
                </a:solidFill>
                <a:latin typeface="Trebuchet MS" pitchFamily="34" charset="0"/>
                <a:ea typeface="Times New Roman"/>
                <a:cs typeface="Times New Roman"/>
              </a:rPr>
              <a:t> </a:t>
            </a:r>
            <a:r>
              <a:rPr lang="fr-FR" sz="2400" dirty="0" smtClean="0">
                <a:solidFill>
                  <a:srgbClr val="C00000"/>
                </a:solidFill>
                <a:latin typeface="Trebuchet MS" pitchFamily="34" charset="0"/>
                <a:ea typeface="Times New Roman"/>
                <a:cs typeface="Times New Roman"/>
              </a:rPr>
              <a:t>Le taux d'incidence d'une maladie</a:t>
            </a:r>
            <a:endParaRPr lang="fr-FR" sz="3200" dirty="0">
              <a:solidFill>
                <a:srgbClr val="C00000"/>
              </a:solidFill>
              <a:latin typeface="Trebuchet MS" pitchFamily="34" charset="0"/>
              <a:ea typeface="Calibri"/>
              <a:cs typeface="Times New Roman"/>
            </a:endParaRPr>
          </a:p>
          <a:p>
            <a:pPr lvl="0">
              <a:lnSpc>
                <a:spcPct val="107000"/>
              </a:lnSpc>
              <a:buFont typeface="+mj-lt"/>
              <a:buAutoNum type="alphaLcPeriod"/>
            </a:pPr>
            <a:r>
              <a:rPr lang="fr-FR" sz="2400" dirty="0" smtClean="0">
                <a:solidFill>
                  <a:srgbClr val="000000"/>
                </a:solidFill>
                <a:latin typeface="Trebuchet MS" pitchFamily="34" charset="0"/>
                <a:ea typeface="Times New Roman"/>
                <a:cs typeface="Times New Roman"/>
              </a:rPr>
              <a:t> Le taux de natalité</a:t>
            </a:r>
            <a:endParaRPr lang="fr-FR" sz="3200" dirty="0">
              <a:latin typeface="Trebuchet MS" pitchFamily="34" charset="0"/>
              <a:ea typeface="Calibri"/>
              <a:cs typeface="Times New Roman"/>
            </a:endParaRPr>
          </a:p>
          <a:p>
            <a:pPr lvl="0">
              <a:lnSpc>
                <a:spcPct val="107000"/>
              </a:lnSpc>
              <a:buFont typeface="+mj-lt"/>
              <a:buAutoNum type="alphaLcPeriod"/>
            </a:pPr>
            <a:r>
              <a:rPr lang="fr-FR" sz="2400" dirty="0" smtClean="0">
                <a:solidFill>
                  <a:srgbClr val="000000"/>
                </a:solidFill>
                <a:latin typeface="Trebuchet MS" pitchFamily="34" charset="0"/>
                <a:ea typeface="Times New Roman"/>
                <a:cs typeface="Times New Roman"/>
              </a:rPr>
              <a:t> Le taux de mortalité</a:t>
            </a:r>
            <a:endParaRPr lang="fr-FR" sz="3200" dirty="0" smtClean="0">
              <a:solidFill>
                <a:srgbClr val="000000"/>
              </a:solidFill>
              <a:latin typeface="Trebuchet MS" pitchFamily="34" charset="0"/>
              <a:ea typeface="Times New Roman"/>
              <a:cs typeface="Times New Roman"/>
            </a:endParaRPr>
          </a:p>
          <a:p>
            <a:pPr lvl="0">
              <a:lnSpc>
                <a:spcPct val="107000"/>
              </a:lnSpc>
              <a:buFont typeface="+mj-lt"/>
              <a:buAutoNum type="alphaLcPeriod"/>
            </a:pPr>
            <a:r>
              <a:rPr lang="fr-FR" sz="2400" dirty="0" smtClean="0">
                <a:solidFill>
                  <a:srgbClr val="000000"/>
                </a:solidFill>
                <a:latin typeface="Trebuchet MS" pitchFamily="34" charset="0"/>
                <a:ea typeface="Times New Roman"/>
              </a:rPr>
              <a:t>L'indice conjoncturel de fécondité</a:t>
            </a:r>
            <a:endParaRPr lang="fr-FR" sz="2400" dirty="0">
              <a:latin typeface="Trebuchet MS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2615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QCM 4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lnSpc>
                <a:spcPct val="107000"/>
              </a:lnSpc>
              <a:buNone/>
            </a:pPr>
            <a:r>
              <a:rPr lang="fr-BE" sz="2400" dirty="0" smtClean="0">
                <a:latin typeface="Trebuchet MS" pitchFamily="34" charset="0"/>
                <a:ea typeface="Calibri"/>
                <a:cs typeface="Times New Roman"/>
              </a:rPr>
              <a:t>Le </a:t>
            </a:r>
            <a:r>
              <a:rPr lang="fr-BE" sz="2400" dirty="0" smtClean="0">
                <a:latin typeface="Trebuchet MS" pitchFamily="34" charset="0"/>
                <a:ea typeface="Calibri"/>
                <a:cs typeface="Times New Roman"/>
              </a:rPr>
              <a:t>taux de natalité est :</a:t>
            </a:r>
            <a:r>
              <a:rPr lang="fr-FR" sz="2400" dirty="0" smtClean="0">
                <a:latin typeface="Trebuchet MS" pitchFamily="34" charset="0"/>
                <a:ea typeface="Calibri"/>
                <a:cs typeface="Times New Roman"/>
              </a:rPr>
              <a:t> </a:t>
            </a:r>
            <a:endParaRPr lang="fr-FR" sz="3200" dirty="0">
              <a:latin typeface="Trebuchet MS" pitchFamily="34" charset="0"/>
              <a:ea typeface="Calibri"/>
              <a:cs typeface="Times New Roman"/>
            </a:endParaRPr>
          </a:p>
          <a:p>
            <a:pPr lvl="0">
              <a:lnSpc>
                <a:spcPct val="107000"/>
              </a:lnSpc>
              <a:buFont typeface="+mj-lt"/>
              <a:buAutoNum type="alphaLcPeriod"/>
            </a:pPr>
            <a:r>
              <a:rPr lang="fr-BE" sz="2400" dirty="0" smtClean="0">
                <a:latin typeface="Trebuchet MS" pitchFamily="34" charset="0"/>
                <a:ea typeface="Calibri"/>
                <a:cs typeface="Times New Roman"/>
              </a:rPr>
              <a:t>Le nombre de naissances dans l'année pour 100 </a:t>
            </a:r>
            <a:r>
              <a:rPr lang="fr-BE" sz="2400" dirty="0" smtClean="0">
                <a:latin typeface="Trebuchet MS" pitchFamily="34" charset="0"/>
                <a:ea typeface="Calibri"/>
                <a:cs typeface="Times New Roman"/>
              </a:rPr>
              <a:t>décès</a:t>
            </a:r>
            <a:r>
              <a:rPr lang="fr-FR" sz="2400" dirty="0" smtClean="0">
                <a:latin typeface="Trebuchet MS" pitchFamily="34" charset="0"/>
                <a:ea typeface="Calibri"/>
                <a:cs typeface="Times New Roman"/>
              </a:rPr>
              <a:t> </a:t>
            </a:r>
            <a:endParaRPr lang="fr-FR" sz="3200" dirty="0">
              <a:latin typeface="Trebuchet MS" pitchFamily="34" charset="0"/>
              <a:ea typeface="Calibri"/>
              <a:cs typeface="Times New Roman"/>
            </a:endParaRPr>
          </a:p>
          <a:p>
            <a:pPr lvl="0">
              <a:lnSpc>
                <a:spcPct val="107000"/>
              </a:lnSpc>
              <a:buFont typeface="+mj-lt"/>
              <a:buAutoNum type="alphaLcPeriod"/>
            </a:pPr>
            <a:r>
              <a:rPr lang="fr-BE" sz="2400" dirty="0" smtClean="0">
                <a:latin typeface="Trebuchet MS" pitchFamily="34" charset="0"/>
                <a:ea typeface="Calibri"/>
                <a:cs typeface="Times New Roman"/>
              </a:rPr>
              <a:t>Le nombre de naissances vivantes dans l'année pour 10 000 </a:t>
            </a:r>
            <a:r>
              <a:rPr lang="fr-FR" sz="2400" dirty="0" smtClean="0">
                <a:latin typeface="Trebuchet MS" pitchFamily="34" charset="0"/>
                <a:ea typeface="Calibri"/>
                <a:cs typeface="Times New Roman"/>
              </a:rPr>
              <a:t>décès </a:t>
            </a:r>
            <a:endParaRPr lang="fr-FR" sz="3200" dirty="0">
              <a:latin typeface="Trebuchet MS" pitchFamily="34" charset="0"/>
              <a:ea typeface="Calibri"/>
              <a:cs typeface="Times New Roman"/>
            </a:endParaRPr>
          </a:p>
          <a:p>
            <a:pPr lvl="0">
              <a:lnSpc>
                <a:spcPct val="107000"/>
              </a:lnSpc>
              <a:buFont typeface="+mj-lt"/>
              <a:buAutoNum type="alphaLcPeriod"/>
            </a:pPr>
            <a:r>
              <a:rPr lang="fr-BE" sz="2400" dirty="0" smtClean="0">
                <a:latin typeface="Trebuchet MS" pitchFamily="34" charset="0"/>
                <a:ea typeface="Calibri"/>
                <a:cs typeface="Times New Roman"/>
              </a:rPr>
              <a:t>Le nombre de naissances vivantes dans l'année pour 100 000 habitants</a:t>
            </a:r>
            <a:r>
              <a:rPr lang="fr-FR" sz="2400" dirty="0" smtClean="0">
                <a:latin typeface="Trebuchet MS" pitchFamily="34" charset="0"/>
                <a:ea typeface="Calibri"/>
                <a:cs typeface="Times New Roman"/>
              </a:rPr>
              <a:t> </a:t>
            </a:r>
            <a:endParaRPr lang="fr-FR" sz="3200" dirty="0">
              <a:latin typeface="Trebuchet MS" pitchFamily="34" charset="0"/>
              <a:ea typeface="Calibri"/>
              <a:cs typeface="Times New Roman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buFont typeface="+mj-lt"/>
              <a:buAutoNum type="alphaLcPeriod"/>
            </a:pPr>
            <a:r>
              <a:rPr lang="fr-BE" sz="2400" dirty="0" smtClean="0">
                <a:latin typeface="Trebuchet MS" pitchFamily="34" charset="0"/>
                <a:ea typeface="Calibri"/>
                <a:cs typeface="Times New Roman"/>
              </a:rPr>
              <a:t>Le nombre de naissances </a:t>
            </a:r>
            <a:r>
              <a:rPr lang="fr-BE" sz="2400" dirty="0" smtClean="0">
                <a:latin typeface="Trebuchet MS" pitchFamily="34" charset="0"/>
                <a:ea typeface="Calibri"/>
                <a:cs typeface="Times New Roman"/>
              </a:rPr>
              <a:t>vivantes dans une année / population moyenne l'année </a:t>
            </a:r>
            <a:r>
              <a:rPr lang="fr-BE" sz="2400" dirty="0" smtClean="0">
                <a:latin typeface="Trebuchet MS" pitchFamily="34" charset="0"/>
                <a:ea typeface="Calibri"/>
                <a:cs typeface="Times New Roman"/>
              </a:rPr>
              <a:t>pour 1 000 habitants</a:t>
            </a:r>
            <a:r>
              <a:rPr lang="fr-FR" sz="2400" dirty="0" smtClean="0">
                <a:latin typeface="Trebuchet MS" pitchFamily="34" charset="0"/>
                <a:ea typeface="Calibri"/>
                <a:cs typeface="Times New Roman"/>
              </a:rPr>
              <a:t> </a:t>
            </a:r>
            <a:endParaRPr lang="fr-FR" sz="3200" dirty="0" smtClean="0">
              <a:latin typeface="Trebuchet MS" pitchFamily="34" charset="0"/>
              <a:ea typeface="Calibri"/>
              <a:cs typeface="Times New Roman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buFont typeface="+mj-lt"/>
              <a:buAutoNum type="alphaLcPeriod"/>
            </a:pPr>
            <a:r>
              <a:rPr lang="fr-BE" sz="2400" dirty="0" smtClean="0">
                <a:latin typeface="Trebuchet MS" pitchFamily="34" charset="0"/>
                <a:ea typeface="Calibri"/>
              </a:rPr>
              <a:t>Le nombre de naissances nés prématurés dans l'année pour 1 000 habitants</a:t>
            </a:r>
            <a:endParaRPr lang="fr-FR" sz="2400" dirty="0">
              <a:latin typeface="Trebuchet MS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6956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QCM 4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lnSpc>
                <a:spcPct val="107000"/>
              </a:lnSpc>
              <a:buNone/>
            </a:pPr>
            <a:r>
              <a:rPr lang="fr-BE" sz="2400" dirty="0" smtClean="0">
                <a:latin typeface="Trebuchet MS" pitchFamily="34" charset="0"/>
                <a:ea typeface="Calibri"/>
                <a:cs typeface="Times New Roman"/>
              </a:rPr>
              <a:t>Le </a:t>
            </a:r>
            <a:r>
              <a:rPr lang="fr-BE" sz="2400" dirty="0" smtClean="0">
                <a:latin typeface="Trebuchet MS" pitchFamily="34" charset="0"/>
                <a:ea typeface="Calibri"/>
                <a:cs typeface="Times New Roman"/>
              </a:rPr>
              <a:t>taux de natalité est :</a:t>
            </a:r>
            <a:r>
              <a:rPr lang="fr-FR" sz="2400" dirty="0" smtClean="0">
                <a:latin typeface="Trebuchet MS" pitchFamily="34" charset="0"/>
                <a:ea typeface="Calibri"/>
                <a:cs typeface="Times New Roman"/>
              </a:rPr>
              <a:t> </a:t>
            </a:r>
            <a:endParaRPr lang="fr-FR" sz="3200" dirty="0">
              <a:latin typeface="Trebuchet MS" pitchFamily="34" charset="0"/>
              <a:ea typeface="Calibri"/>
              <a:cs typeface="Times New Roman"/>
            </a:endParaRPr>
          </a:p>
          <a:p>
            <a:pPr lvl="0">
              <a:lnSpc>
                <a:spcPct val="107000"/>
              </a:lnSpc>
              <a:buFont typeface="+mj-lt"/>
              <a:buAutoNum type="alphaLcPeriod"/>
            </a:pPr>
            <a:r>
              <a:rPr lang="fr-BE" sz="2400" dirty="0" smtClean="0">
                <a:latin typeface="Trebuchet MS" pitchFamily="34" charset="0"/>
                <a:ea typeface="Calibri"/>
                <a:cs typeface="Times New Roman"/>
              </a:rPr>
              <a:t>Le nombre de naissances dans l'année pour 100 </a:t>
            </a:r>
            <a:r>
              <a:rPr lang="fr-BE" sz="2400" dirty="0" smtClean="0">
                <a:latin typeface="Trebuchet MS" pitchFamily="34" charset="0"/>
                <a:ea typeface="Calibri"/>
                <a:cs typeface="Times New Roman"/>
              </a:rPr>
              <a:t>décès</a:t>
            </a:r>
            <a:r>
              <a:rPr lang="fr-FR" sz="2400" dirty="0" smtClean="0">
                <a:latin typeface="Trebuchet MS" pitchFamily="34" charset="0"/>
                <a:ea typeface="Calibri"/>
                <a:cs typeface="Times New Roman"/>
              </a:rPr>
              <a:t> </a:t>
            </a:r>
            <a:endParaRPr lang="fr-FR" sz="3200" dirty="0">
              <a:latin typeface="Trebuchet MS" pitchFamily="34" charset="0"/>
              <a:ea typeface="Calibri"/>
              <a:cs typeface="Times New Roman"/>
            </a:endParaRPr>
          </a:p>
          <a:p>
            <a:pPr lvl="0">
              <a:lnSpc>
                <a:spcPct val="107000"/>
              </a:lnSpc>
              <a:buFont typeface="+mj-lt"/>
              <a:buAutoNum type="alphaLcPeriod"/>
            </a:pPr>
            <a:r>
              <a:rPr lang="fr-BE" sz="2400" dirty="0" smtClean="0">
                <a:latin typeface="Trebuchet MS" pitchFamily="34" charset="0"/>
                <a:ea typeface="Calibri"/>
                <a:cs typeface="Times New Roman"/>
              </a:rPr>
              <a:t>Le nombre de naissances vivantes dans l'année pour 10 000 </a:t>
            </a:r>
            <a:r>
              <a:rPr lang="fr-FR" sz="2400" dirty="0" smtClean="0">
                <a:latin typeface="Trebuchet MS" pitchFamily="34" charset="0"/>
                <a:ea typeface="Calibri"/>
                <a:cs typeface="Times New Roman"/>
              </a:rPr>
              <a:t>décès </a:t>
            </a:r>
            <a:endParaRPr lang="fr-FR" sz="3200" dirty="0">
              <a:latin typeface="Trebuchet MS" pitchFamily="34" charset="0"/>
              <a:ea typeface="Calibri"/>
              <a:cs typeface="Times New Roman"/>
            </a:endParaRPr>
          </a:p>
          <a:p>
            <a:pPr lvl="0">
              <a:lnSpc>
                <a:spcPct val="107000"/>
              </a:lnSpc>
              <a:buFont typeface="+mj-lt"/>
              <a:buAutoNum type="alphaLcPeriod"/>
            </a:pPr>
            <a:r>
              <a:rPr lang="fr-BE" sz="2400" dirty="0" smtClean="0">
                <a:latin typeface="Trebuchet MS" pitchFamily="34" charset="0"/>
                <a:ea typeface="Calibri"/>
                <a:cs typeface="Times New Roman"/>
              </a:rPr>
              <a:t>Le nombre de naissances vivantes dans l'année pour 100 000 habitants</a:t>
            </a:r>
            <a:r>
              <a:rPr lang="fr-FR" sz="2400" dirty="0" smtClean="0">
                <a:latin typeface="Trebuchet MS" pitchFamily="34" charset="0"/>
                <a:ea typeface="Calibri"/>
                <a:cs typeface="Times New Roman"/>
              </a:rPr>
              <a:t> </a:t>
            </a:r>
            <a:endParaRPr lang="fr-FR" sz="3200" dirty="0">
              <a:latin typeface="Trebuchet MS" pitchFamily="34" charset="0"/>
              <a:ea typeface="Calibri"/>
              <a:cs typeface="Times New Roman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buFont typeface="+mj-lt"/>
              <a:buAutoNum type="alphaLcPeriod"/>
            </a:pPr>
            <a:r>
              <a:rPr lang="fr-BE" sz="2400" dirty="0" smtClean="0">
                <a:solidFill>
                  <a:srgbClr val="C00000"/>
                </a:solidFill>
                <a:latin typeface="Trebuchet MS" pitchFamily="34" charset="0"/>
                <a:ea typeface="Calibri"/>
                <a:cs typeface="Times New Roman"/>
              </a:rPr>
              <a:t>Le nombre de naissances </a:t>
            </a:r>
            <a:r>
              <a:rPr lang="fr-BE" sz="2400" dirty="0" smtClean="0">
                <a:solidFill>
                  <a:srgbClr val="C00000"/>
                </a:solidFill>
                <a:latin typeface="Trebuchet MS" pitchFamily="34" charset="0"/>
                <a:ea typeface="Calibri"/>
                <a:cs typeface="Times New Roman"/>
              </a:rPr>
              <a:t>vivantes dans une année / population moyenne l'année </a:t>
            </a:r>
            <a:r>
              <a:rPr lang="fr-BE" sz="2400" dirty="0" smtClean="0">
                <a:solidFill>
                  <a:srgbClr val="C00000"/>
                </a:solidFill>
                <a:latin typeface="Trebuchet MS" pitchFamily="34" charset="0"/>
                <a:ea typeface="Calibri"/>
                <a:cs typeface="Times New Roman"/>
              </a:rPr>
              <a:t>pour 1 000 habitants</a:t>
            </a:r>
            <a:r>
              <a:rPr lang="fr-FR" sz="2400" dirty="0" smtClean="0">
                <a:solidFill>
                  <a:srgbClr val="C00000"/>
                </a:solidFill>
                <a:latin typeface="Trebuchet MS" pitchFamily="34" charset="0"/>
                <a:ea typeface="Calibri"/>
                <a:cs typeface="Times New Roman"/>
              </a:rPr>
              <a:t> </a:t>
            </a:r>
            <a:endParaRPr lang="fr-FR" sz="3200" dirty="0" smtClean="0">
              <a:solidFill>
                <a:srgbClr val="C00000"/>
              </a:solidFill>
              <a:latin typeface="Trebuchet MS" pitchFamily="34" charset="0"/>
              <a:ea typeface="Calibri"/>
              <a:cs typeface="Times New Roman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buFont typeface="+mj-lt"/>
              <a:buAutoNum type="alphaLcPeriod"/>
            </a:pPr>
            <a:r>
              <a:rPr lang="fr-BE" sz="2400" dirty="0" smtClean="0">
                <a:latin typeface="Trebuchet MS" pitchFamily="34" charset="0"/>
                <a:ea typeface="Calibri"/>
              </a:rPr>
              <a:t>Le nombre de naissances nés prématurés dans l'année pour 1 000 habitants</a:t>
            </a:r>
            <a:endParaRPr lang="fr-FR" sz="2400" dirty="0">
              <a:latin typeface="Trebuchet MS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6370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QCM 5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9666" y="1845734"/>
            <a:ext cx="9403570" cy="4023360"/>
          </a:xfrm>
        </p:spPr>
        <p:txBody>
          <a:bodyPr>
            <a:noAutofit/>
          </a:bodyPr>
          <a:lstStyle/>
          <a:p>
            <a:pPr lvl="0">
              <a:lnSpc>
                <a:spcPct val="107000"/>
              </a:lnSpc>
              <a:buNone/>
            </a:pPr>
            <a:r>
              <a:rPr lang="fr-BE" sz="2400" dirty="0" smtClean="0">
                <a:latin typeface="Trebuchet MS" pitchFamily="34" charset="0"/>
                <a:ea typeface="Calibri"/>
                <a:cs typeface="Times New Roman"/>
              </a:rPr>
              <a:t>Concernant </a:t>
            </a:r>
            <a:r>
              <a:rPr lang="fr-BE" sz="2400" dirty="0" smtClean="0">
                <a:latin typeface="Trebuchet MS" pitchFamily="34" charset="0"/>
                <a:ea typeface="Calibri"/>
                <a:cs typeface="Times New Roman"/>
              </a:rPr>
              <a:t>les termes précis utilisés pour décrire la mortalité selon l'âge de l'enfant, quelles sont les affirmations correctes ?</a:t>
            </a:r>
            <a:r>
              <a:rPr lang="fr-FR" sz="2400" dirty="0" smtClean="0">
                <a:latin typeface="Trebuchet MS" pitchFamily="34" charset="0"/>
                <a:ea typeface="Calibri"/>
                <a:cs typeface="Times New Roman"/>
              </a:rPr>
              <a:t> </a:t>
            </a:r>
            <a:endParaRPr lang="fr-FR" sz="3200" dirty="0">
              <a:latin typeface="Trebuchet MS" pitchFamily="34" charset="0"/>
              <a:ea typeface="Calibri"/>
              <a:cs typeface="Times New Roman"/>
            </a:endParaRPr>
          </a:p>
          <a:p>
            <a:pPr lvl="0">
              <a:lnSpc>
                <a:spcPct val="107000"/>
              </a:lnSpc>
              <a:buFont typeface="+mj-lt"/>
              <a:buAutoNum type="alphaLcPeriod"/>
            </a:pPr>
            <a:r>
              <a:rPr lang="fr-BE" sz="2400" dirty="0" smtClean="0">
                <a:latin typeface="Trebuchet MS" pitchFamily="34" charset="0"/>
                <a:ea typeface="Calibri"/>
                <a:cs typeface="Times New Roman"/>
              </a:rPr>
              <a:t>On parle de mortalité néonatale précoce entre la naissance et 27 jours de vie extra-utérine.</a:t>
            </a:r>
            <a:r>
              <a:rPr lang="fr-FR" sz="2400" dirty="0" smtClean="0">
                <a:latin typeface="Trebuchet MS" pitchFamily="34" charset="0"/>
                <a:ea typeface="Calibri"/>
                <a:cs typeface="Times New Roman"/>
              </a:rPr>
              <a:t> </a:t>
            </a:r>
            <a:endParaRPr lang="fr-FR" sz="3200" dirty="0">
              <a:latin typeface="Trebuchet MS" pitchFamily="34" charset="0"/>
              <a:ea typeface="Calibri"/>
              <a:cs typeface="Times New Roman"/>
            </a:endParaRPr>
          </a:p>
          <a:p>
            <a:pPr lvl="0">
              <a:lnSpc>
                <a:spcPct val="107000"/>
              </a:lnSpc>
              <a:buFont typeface="+mj-lt"/>
              <a:buAutoNum type="alphaLcPeriod"/>
            </a:pPr>
            <a:r>
              <a:rPr lang="fr-BE" sz="2400" dirty="0" smtClean="0">
                <a:latin typeface="Trebuchet MS" pitchFamily="34" charset="0"/>
                <a:ea typeface="Calibri"/>
                <a:cs typeface="Times New Roman"/>
              </a:rPr>
              <a:t>on parle de mortalité périnatale jusqu'à 7 jours de vie extra-utérine</a:t>
            </a:r>
            <a:r>
              <a:rPr lang="fr-FR" sz="2400" dirty="0" smtClean="0">
                <a:latin typeface="Trebuchet MS" pitchFamily="34" charset="0"/>
                <a:ea typeface="Calibri"/>
                <a:cs typeface="Times New Roman"/>
              </a:rPr>
              <a:t> </a:t>
            </a:r>
            <a:endParaRPr lang="fr-FR" sz="3200" dirty="0">
              <a:latin typeface="Trebuchet MS" pitchFamily="34" charset="0"/>
              <a:ea typeface="Calibri"/>
              <a:cs typeface="Times New Roman"/>
            </a:endParaRPr>
          </a:p>
          <a:p>
            <a:pPr lvl="0">
              <a:lnSpc>
                <a:spcPct val="107000"/>
              </a:lnSpc>
              <a:buFont typeface="+mj-lt"/>
              <a:buAutoNum type="alphaLcPeriod"/>
            </a:pPr>
            <a:r>
              <a:rPr lang="fr-BE" sz="2400" dirty="0" smtClean="0">
                <a:latin typeface="Trebuchet MS" pitchFamily="34" charset="0"/>
                <a:ea typeface="Calibri"/>
                <a:cs typeface="Times New Roman"/>
              </a:rPr>
              <a:t>on parle de mortalité périnatale dès 22 semaines de vie intra-utérine</a:t>
            </a:r>
            <a:r>
              <a:rPr lang="fr-FR" sz="2400" dirty="0" smtClean="0">
                <a:latin typeface="Trebuchet MS" pitchFamily="34" charset="0"/>
                <a:ea typeface="Calibri"/>
                <a:cs typeface="Times New Roman"/>
              </a:rPr>
              <a:t> </a:t>
            </a:r>
            <a:endParaRPr lang="fr-FR" sz="3200" dirty="0">
              <a:latin typeface="Trebuchet MS" pitchFamily="34" charset="0"/>
              <a:ea typeface="Calibri"/>
              <a:cs typeface="Times New Roman"/>
            </a:endParaRPr>
          </a:p>
          <a:p>
            <a:pPr lvl="0">
              <a:lnSpc>
                <a:spcPct val="107000"/>
              </a:lnSpc>
              <a:buFont typeface="+mj-lt"/>
              <a:buAutoNum type="alphaLcPeriod"/>
            </a:pPr>
            <a:r>
              <a:rPr lang="fr-BE" sz="2400" dirty="0" smtClean="0">
                <a:latin typeface="Trebuchet MS" pitchFamily="34" charset="0"/>
                <a:ea typeface="Calibri"/>
                <a:cs typeface="Times New Roman"/>
              </a:rPr>
              <a:t>On parle de mortalité néonatale tardive entre la naissance et 364 jours de vie extra-utérine.</a:t>
            </a:r>
            <a:r>
              <a:rPr lang="fr-FR" sz="2400" dirty="0" smtClean="0">
                <a:latin typeface="Trebuchet MS" pitchFamily="34" charset="0"/>
                <a:ea typeface="Calibri"/>
                <a:cs typeface="Times New Roman"/>
              </a:rPr>
              <a:t> </a:t>
            </a:r>
            <a:endParaRPr lang="fr-FR" sz="3200" dirty="0">
              <a:latin typeface="Trebuchet MS" pitchFamily="34" charset="0"/>
              <a:ea typeface="Calibri"/>
              <a:cs typeface="Times New Roman"/>
            </a:endParaRPr>
          </a:p>
          <a:p>
            <a:endParaRPr lang="fr-FR" sz="2400" dirty="0">
              <a:latin typeface="Trebuchet MS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5839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QCM 5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76139" y="1340768"/>
            <a:ext cx="9403570" cy="4680520"/>
          </a:xfrm>
        </p:spPr>
        <p:txBody>
          <a:bodyPr>
            <a:noAutofit/>
          </a:bodyPr>
          <a:lstStyle/>
          <a:p>
            <a:pPr lvl="0">
              <a:lnSpc>
                <a:spcPct val="107000"/>
              </a:lnSpc>
              <a:buNone/>
            </a:pPr>
            <a:r>
              <a:rPr lang="fr-BE" sz="2400" dirty="0" smtClean="0">
                <a:latin typeface="Trebuchet MS" pitchFamily="34" charset="0"/>
                <a:ea typeface="Calibri"/>
                <a:cs typeface="Times New Roman"/>
              </a:rPr>
              <a:t>Concernant </a:t>
            </a:r>
            <a:r>
              <a:rPr lang="fr-BE" sz="2400" dirty="0" smtClean="0">
                <a:latin typeface="Trebuchet MS" pitchFamily="34" charset="0"/>
                <a:ea typeface="Calibri"/>
                <a:cs typeface="Times New Roman"/>
              </a:rPr>
              <a:t>les termes précis utilisés pour décrire la mortalité selon l'âge de l'enfant, quelles sont les affirmations correctes ?</a:t>
            </a:r>
            <a:r>
              <a:rPr lang="fr-FR" sz="2400" dirty="0" smtClean="0">
                <a:latin typeface="Trebuchet MS" pitchFamily="34" charset="0"/>
                <a:ea typeface="Calibri"/>
                <a:cs typeface="Times New Roman"/>
              </a:rPr>
              <a:t> </a:t>
            </a:r>
            <a:endParaRPr lang="fr-FR" sz="3200" dirty="0">
              <a:latin typeface="Trebuchet MS" pitchFamily="34" charset="0"/>
              <a:ea typeface="Calibri"/>
              <a:cs typeface="Times New Roman"/>
            </a:endParaRPr>
          </a:p>
          <a:p>
            <a:pPr lvl="0">
              <a:lnSpc>
                <a:spcPct val="107000"/>
              </a:lnSpc>
              <a:buFont typeface="+mj-lt"/>
              <a:buAutoNum type="alphaLcPeriod"/>
            </a:pPr>
            <a:r>
              <a:rPr lang="fr-BE" sz="2400" dirty="0" smtClean="0">
                <a:latin typeface="Trebuchet MS" pitchFamily="34" charset="0"/>
                <a:ea typeface="Calibri"/>
                <a:cs typeface="Times New Roman"/>
              </a:rPr>
              <a:t>On parle de mortalité néonatale précoce entre la naissance et 27 jours de vie extra-utérine.</a:t>
            </a:r>
            <a:r>
              <a:rPr lang="fr-FR" sz="2400" dirty="0" smtClean="0">
                <a:latin typeface="Trebuchet MS" pitchFamily="34" charset="0"/>
                <a:ea typeface="Calibri"/>
                <a:cs typeface="Times New Roman"/>
              </a:rPr>
              <a:t> </a:t>
            </a:r>
            <a:endParaRPr lang="fr-FR" sz="3200" dirty="0">
              <a:latin typeface="Trebuchet MS" pitchFamily="34" charset="0"/>
              <a:ea typeface="Calibri"/>
              <a:cs typeface="Times New Roman"/>
            </a:endParaRPr>
          </a:p>
          <a:p>
            <a:pPr lvl="0">
              <a:lnSpc>
                <a:spcPct val="107000"/>
              </a:lnSpc>
              <a:buFont typeface="+mj-lt"/>
              <a:buAutoNum type="alphaLcPeriod"/>
            </a:pPr>
            <a:r>
              <a:rPr lang="fr-BE" sz="2400" dirty="0" smtClean="0">
                <a:solidFill>
                  <a:srgbClr val="C00000"/>
                </a:solidFill>
                <a:latin typeface="Trebuchet MS" pitchFamily="34" charset="0"/>
                <a:ea typeface="Calibri"/>
                <a:cs typeface="Times New Roman"/>
              </a:rPr>
              <a:t>on parle de mortalité périnatale jusqu'à 7 jours de vie extra-utérine</a:t>
            </a:r>
            <a:r>
              <a:rPr lang="fr-FR" sz="2400" dirty="0" smtClean="0">
                <a:solidFill>
                  <a:srgbClr val="C00000"/>
                </a:solidFill>
                <a:latin typeface="Trebuchet MS" pitchFamily="34" charset="0"/>
                <a:ea typeface="Calibri"/>
                <a:cs typeface="Times New Roman"/>
              </a:rPr>
              <a:t> </a:t>
            </a:r>
            <a:endParaRPr lang="fr-FR" sz="3200" dirty="0">
              <a:solidFill>
                <a:srgbClr val="C00000"/>
              </a:solidFill>
              <a:latin typeface="Trebuchet MS" pitchFamily="34" charset="0"/>
              <a:ea typeface="Calibri"/>
              <a:cs typeface="Times New Roman"/>
            </a:endParaRPr>
          </a:p>
          <a:p>
            <a:pPr lvl="0">
              <a:lnSpc>
                <a:spcPct val="107000"/>
              </a:lnSpc>
              <a:buFont typeface="+mj-lt"/>
              <a:buAutoNum type="alphaLcPeriod"/>
            </a:pPr>
            <a:r>
              <a:rPr lang="fr-BE" sz="2400" dirty="0" smtClean="0">
                <a:latin typeface="Trebuchet MS" pitchFamily="34" charset="0"/>
                <a:ea typeface="Calibri"/>
                <a:cs typeface="Times New Roman"/>
              </a:rPr>
              <a:t>on parle de mortalité périnatale dès 22 semaines de vie intra-utérine</a:t>
            </a:r>
            <a:r>
              <a:rPr lang="fr-FR" sz="2400" dirty="0" smtClean="0">
                <a:latin typeface="Trebuchet MS" pitchFamily="34" charset="0"/>
                <a:ea typeface="Calibri"/>
                <a:cs typeface="Times New Roman"/>
              </a:rPr>
              <a:t> </a:t>
            </a:r>
            <a:endParaRPr lang="fr-FR" sz="3200" dirty="0">
              <a:latin typeface="Trebuchet MS" pitchFamily="34" charset="0"/>
              <a:ea typeface="Calibri"/>
              <a:cs typeface="Times New Roman"/>
            </a:endParaRPr>
          </a:p>
          <a:p>
            <a:pPr lvl="0">
              <a:lnSpc>
                <a:spcPct val="107000"/>
              </a:lnSpc>
              <a:buFont typeface="+mj-lt"/>
              <a:buAutoNum type="alphaLcPeriod"/>
            </a:pPr>
            <a:r>
              <a:rPr lang="fr-BE" sz="2400" dirty="0" smtClean="0">
                <a:latin typeface="Trebuchet MS" pitchFamily="34" charset="0"/>
                <a:ea typeface="Calibri"/>
                <a:cs typeface="Times New Roman"/>
              </a:rPr>
              <a:t>On parle de mortalité néonatale tardive entre la naissance et 364 jours de vie extra-utérine.</a:t>
            </a:r>
            <a:r>
              <a:rPr lang="fr-FR" sz="2400" dirty="0" smtClean="0">
                <a:latin typeface="Trebuchet MS" pitchFamily="34" charset="0"/>
                <a:ea typeface="Calibri"/>
                <a:cs typeface="Times New Roman"/>
              </a:rPr>
              <a:t> </a:t>
            </a:r>
            <a:endParaRPr lang="fr-FR" sz="3200" dirty="0">
              <a:latin typeface="Trebuchet MS" pitchFamily="34" charset="0"/>
              <a:ea typeface="Calibri"/>
              <a:cs typeface="Times New Roman"/>
            </a:endParaRPr>
          </a:p>
          <a:p>
            <a:endParaRPr lang="fr-FR" sz="2400" dirty="0">
              <a:latin typeface="Trebuchet MS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9771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QCM6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37806" y="1845734"/>
            <a:ext cx="8911114" cy="4023360"/>
          </a:xfrm>
        </p:spPr>
        <p:txBody>
          <a:bodyPr>
            <a:normAutofit/>
          </a:bodyPr>
          <a:lstStyle/>
          <a:p>
            <a:pPr lvl="0">
              <a:buNone/>
            </a:pPr>
            <a:r>
              <a:rPr lang="fr-BE" sz="2400" dirty="0" smtClean="0">
                <a:latin typeface="Trebuchet MS" pitchFamily="34" charset="0"/>
              </a:rPr>
              <a:t>Indiquer </a:t>
            </a:r>
            <a:r>
              <a:rPr lang="fr-BE" sz="2400" dirty="0">
                <a:latin typeface="Trebuchet MS" pitchFamily="34" charset="0"/>
              </a:rPr>
              <a:t>la ou les proposition(s) exacte(s). Les principaux indicateurs de morbidité utilisés pour caractériser l'état de santé d'une population sont:</a:t>
            </a:r>
            <a:endParaRPr lang="fr-FR" sz="2400" dirty="0">
              <a:latin typeface="Trebuchet MS" pitchFamily="34" charset="0"/>
            </a:endParaRPr>
          </a:p>
          <a:p>
            <a:pPr lvl="1">
              <a:buNone/>
            </a:pPr>
            <a:r>
              <a:rPr lang="fr-BE" sz="2000" dirty="0">
                <a:latin typeface="Trebuchet MS" pitchFamily="34" charset="0"/>
              </a:rPr>
              <a:t>a) Le taux de prévalence instantanée</a:t>
            </a:r>
            <a:endParaRPr lang="fr-FR" sz="2000" dirty="0">
              <a:latin typeface="Trebuchet MS" pitchFamily="34" charset="0"/>
            </a:endParaRPr>
          </a:p>
          <a:p>
            <a:pPr lvl="1">
              <a:buNone/>
            </a:pPr>
            <a:r>
              <a:rPr lang="fr-BE" sz="2000" dirty="0">
                <a:latin typeface="Trebuchet MS" pitchFamily="34" charset="0"/>
              </a:rPr>
              <a:t>b) Le ratio standardisé de mortalité</a:t>
            </a:r>
            <a:endParaRPr lang="fr-FR" sz="2000" dirty="0">
              <a:latin typeface="Trebuchet MS" pitchFamily="34" charset="0"/>
            </a:endParaRPr>
          </a:p>
          <a:p>
            <a:pPr lvl="1">
              <a:buNone/>
            </a:pPr>
            <a:r>
              <a:rPr lang="fr-BE" sz="2000" dirty="0">
                <a:latin typeface="Trebuchet MS" pitchFamily="34" charset="0"/>
              </a:rPr>
              <a:t>c) Les années potentielles de vie perdue</a:t>
            </a:r>
            <a:endParaRPr lang="fr-FR" sz="2000" dirty="0">
              <a:latin typeface="Trebuchet MS" pitchFamily="34" charset="0"/>
            </a:endParaRPr>
          </a:p>
          <a:p>
            <a:pPr lvl="1">
              <a:buNone/>
            </a:pPr>
            <a:r>
              <a:rPr lang="fr-BE" sz="2000" dirty="0">
                <a:latin typeface="Trebuchet MS" pitchFamily="34" charset="0"/>
              </a:rPr>
              <a:t>d) Le taux d'incidence</a:t>
            </a:r>
            <a:endParaRPr lang="fr-FR" sz="2000" dirty="0">
              <a:latin typeface="Trebuchet MS" pitchFamily="34" charset="0"/>
            </a:endParaRPr>
          </a:p>
          <a:p>
            <a:pPr lvl="1">
              <a:buNone/>
            </a:pPr>
            <a:r>
              <a:rPr lang="fr-BE" sz="2000" dirty="0">
                <a:latin typeface="Trebuchet MS" pitchFamily="34" charset="0"/>
              </a:rPr>
              <a:t>e) Le taux de létalité</a:t>
            </a:r>
            <a:endParaRPr lang="fr-FR" sz="2000" dirty="0">
              <a:latin typeface="Trebuchet MS" pitchFamily="34" charset="0"/>
            </a:endParaRPr>
          </a:p>
          <a:p>
            <a:endParaRPr lang="fr-FR" sz="2400" dirty="0">
              <a:latin typeface="Trebuchet MS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0785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QCM6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37806" y="1845734"/>
            <a:ext cx="8911114" cy="4023360"/>
          </a:xfrm>
        </p:spPr>
        <p:txBody>
          <a:bodyPr>
            <a:normAutofit/>
          </a:bodyPr>
          <a:lstStyle/>
          <a:p>
            <a:pPr lvl="0">
              <a:buNone/>
            </a:pPr>
            <a:r>
              <a:rPr lang="fr-BE" sz="2400" dirty="0" smtClean="0">
                <a:latin typeface="Trebuchet MS" pitchFamily="34" charset="0"/>
              </a:rPr>
              <a:t>Indiquer </a:t>
            </a:r>
            <a:r>
              <a:rPr lang="fr-BE" sz="2400" dirty="0">
                <a:latin typeface="Trebuchet MS" pitchFamily="34" charset="0"/>
              </a:rPr>
              <a:t>la ou les proposition(s) exacte(s). Les principaux indicateurs de morbidité utilisés pour caractériser l'état de santé d'une population sont:</a:t>
            </a:r>
            <a:endParaRPr lang="fr-FR" sz="2400" dirty="0">
              <a:latin typeface="Trebuchet MS" pitchFamily="34" charset="0"/>
            </a:endParaRPr>
          </a:p>
          <a:p>
            <a:pPr lvl="1">
              <a:buNone/>
            </a:pPr>
            <a:r>
              <a:rPr lang="fr-BE" sz="2000" dirty="0">
                <a:latin typeface="Trebuchet MS" pitchFamily="34" charset="0"/>
              </a:rPr>
              <a:t>a</a:t>
            </a:r>
            <a:r>
              <a:rPr lang="fr-BE" sz="2000" dirty="0">
                <a:solidFill>
                  <a:srgbClr val="C00000"/>
                </a:solidFill>
                <a:latin typeface="Trebuchet MS" pitchFamily="34" charset="0"/>
              </a:rPr>
              <a:t>) Le taux de prévalence instantanée</a:t>
            </a:r>
            <a:endParaRPr lang="fr-FR" sz="2000" dirty="0">
              <a:solidFill>
                <a:srgbClr val="C00000"/>
              </a:solidFill>
              <a:latin typeface="Trebuchet MS" pitchFamily="34" charset="0"/>
            </a:endParaRPr>
          </a:p>
          <a:p>
            <a:pPr lvl="1">
              <a:buNone/>
            </a:pPr>
            <a:r>
              <a:rPr lang="fr-BE" sz="2000" dirty="0">
                <a:latin typeface="Trebuchet MS" pitchFamily="34" charset="0"/>
              </a:rPr>
              <a:t>b) Le ratio standardisé de mortalité</a:t>
            </a:r>
            <a:endParaRPr lang="fr-FR" sz="2000" dirty="0">
              <a:latin typeface="Trebuchet MS" pitchFamily="34" charset="0"/>
            </a:endParaRPr>
          </a:p>
          <a:p>
            <a:pPr lvl="1">
              <a:buNone/>
            </a:pPr>
            <a:r>
              <a:rPr lang="fr-BE" sz="2000" dirty="0">
                <a:latin typeface="Trebuchet MS" pitchFamily="34" charset="0"/>
              </a:rPr>
              <a:t>c) Les années potentielles de vie perdue</a:t>
            </a:r>
            <a:endParaRPr lang="fr-FR" sz="2000" dirty="0">
              <a:latin typeface="Trebuchet MS" pitchFamily="34" charset="0"/>
            </a:endParaRPr>
          </a:p>
          <a:p>
            <a:pPr lvl="1">
              <a:buNone/>
            </a:pPr>
            <a:r>
              <a:rPr lang="fr-BE" sz="2000" dirty="0">
                <a:latin typeface="Trebuchet MS" pitchFamily="34" charset="0"/>
              </a:rPr>
              <a:t>d) </a:t>
            </a:r>
            <a:r>
              <a:rPr lang="fr-BE" sz="2000" dirty="0">
                <a:solidFill>
                  <a:srgbClr val="C00000"/>
                </a:solidFill>
                <a:latin typeface="Trebuchet MS" pitchFamily="34" charset="0"/>
              </a:rPr>
              <a:t>Le taux d'incidence</a:t>
            </a:r>
            <a:endParaRPr lang="fr-FR" sz="2000" dirty="0">
              <a:solidFill>
                <a:srgbClr val="C00000"/>
              </a:solidFill>
              <a:latin typeface="Trebuchet MS" pitchFamily="34" charset="0"/>
            </a:endParaRPr>
          </a:p>
          <a:p>
            <a:pPr lvl="1">
              <a:buNone/>
            </a:pPr>
            <a:r>
              <a:rPr lang="fr-BE" sz="2000" dirty="0">
                <a:latin typeface="Trebuchet MS" pitchFamily="34" charset="0"/>
              </a:rPr>
              <a:t>e) Le taux de létalité</a:t>
            </a:r>
            <a:endParaRPr lang="fr-FR" sz="2000" dirty="0">
              <a:latin typeface="Trebuchet MS" pitchFamily="34" charset="0"/>
            </a:endParaRPr>
          </a:p>
          <a:p>
            <a:endParaRPr lang="fr-FR" sz="2400" dirty="0">
              <a:latin typeface="Trebuchet MS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2773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QCM 7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lnSpc>
                <a:spcPct val="107000"/>
              </a:lnSpc>
              <a:buNone/>
            </a:pPr>
            <a:r>
              <a:rPr lang="fr-BE" sz="2400" dirty="0" smtClean="0">
                <a:solidFill>
                  <a:srgbClr val="000000"/>
                </a:solidFill>
                <a:latin typeface="Trebuchet MS" pitchFamily="34" charset="0"/>
                <a:ea typeface="Times New Roman"/>
                <a:cs typeface="Times New Roman"/>
              </a:rPr>
              <a:t>Pour </a:t>
            </a:r>
            <a:r>
              <a:rPr lang="fr-BE" sz="2400" dirty="0" smtClean="0">
                <a:solidFill>
                  <a:srgbClr val="000000"/>
                </a:solidFill>
                <a:latin typeface="Trebuchet MS" pitchFamily="34" charset="0"/>
                <a:ea typeface="Times New Roman"/>
                <a:cs typeface="Times New Roman"/>
              </a:rPr>
              <a:t>une maladie, que représente le numérateur d’un taux d’incidence</a:t>
            </a:r>
            <a:endParaRPr lang="fr-FR" sz="2400" dirty="0">
              <a:latin typeface="Trebuchet MS" pitchFamily="34" charset="0"/>
              <a:ea typeface="Calibri"/>
              <a:cs typeface="Times New Roman"/>
            </a:endParaRPr>
          </a:p>
          <a:p>
            <a:pPr lvl="1">
              <a:lnSpc>
                <a:spcPct val="107000"/>
              </a:lnSpc>
              <a:buFont typeface="+mj-lt"/>
              <a:buAutoNum type="alphaLcParenR"/>
            </a:pPr>
            <a:r>
              <a:rPr lang="fr-BE" sz="2400" dirty="0" smtClean="0">
                <a:solidFill>
                  <a:srgbClr val="000000"/>
                </a:solidFill>
                <a:latin typeface="Trebuchet MS" pitchFamily="34" charset="0"/>
                <a:ea typeface="Times New Roman"/>
                <a:cs typeface="Times New Roman"/>
              </a:rPr>
              <a:t>Effectif total des malades durant la période d’observation</a:t>
            </a:r>
            <a:endParaRPr lang="fr-FR" sz="2400" dirty="0">
              <a:latin typeface="Trebuchet MS" pitchFamily="34" charset="0"/>
              <a:ea typeface="Calibri"/>
              <a:cs typeface="Times New Roman"/>
            </a:endParaRPr>
          </a:p>
          <a:p>
            <a:pPr lvl="1">
              <a:lnSpc>
                <a:spcPct val="107000"/>
              </a:lnSpc>
              <a:buFont typeface="+mj-lt"/>
              <a:buAutoNum type="alphaLcParenR"/>
            </a:pPr>
            <a:r>
              <a:rPr lang="fr-BE" sz="2400" dirty="0" smtClean="0">
                <a:solidFill>
                  <a:srgbClr val="000000"/>
                </a:solidFill>
                <a:latin typeface="Trebuchet MS" pitchFamily="34" charset="0"/>
                <a:ea typeface="Times New Roman"/>
                <a:cs typeface="Times New Roman"/>
              </a:rPr>
              <a:t>Effectif des sujets exposés à la maladie</a:t>
            </a:r>
            <a:endParaRPr lang="fr-FR" sz="2400" dirty="0">
              <a:latin typeface="Trebuchet MS" pitchFamily="34" charset="0"/>
              <a:ea typeface="Calibri"/>
              <a:cs typeface="Times New Roman"/>
            </a:endParaRPr>
          </a:p>
          <a:p>
            <a:pPr lvl="1">
              <a:lnSpc>
                <a:spcPct val="107000"/>
              </a:lnSpc>
              <a:buFont typeface="+mj-lt"/>
              <a:buAutoNum type="alphaLcParenR"/>
            </a:pPr>
            <a:r>
              <a:rPr lang="fr-BE" sz="2400" dirty="0" smtClean="0">
                <a:solidFill>
                  <a:srgbClr val="000000"/>
                </a:solidFill>
                <a:latin typeface="Trebuchet MS" pitchFamily="34" charset="0"/>
                <a:ea typeface="Times New Roman"/>
                <a:cs typeface="Times New Roman"/>
              </a:rPr>
              <a:t>Effectif de la population observée</a:t>
            </a:r>
            <a:endParaRPr lang="fr-FR" sz="2400" dirty="0">
              <a:latin typeface="Trebuchet MS" pitchFamily="34" charset="0"/>
              <a:ea typeface="Calibri"/>
              <a:cs typeface="Times New Roman"/>
            </a:endParaRPr>
          </a:p>
          <a:p>
            <a:pPr lvl="1">
              <a:lnSpc>
                <a:spcPct val="107000"/>
              </a:lnSpc>
              <a:buFont typeface="+mj-lt"/>
              <a:buAutoNum type="alphaLcParenR"/>
            </a:pPr>
            <a:r>
              <a:rPr lang="fr-BE" sz="2400" dirty="0" smtClean="0">
                <a:solidFill>
                  <a:srgbClr val="000000"/>
                </a:solidFill>
                <a:latin typeface="Trebuchet MS" pitchFamily="34" charset="0"/>
                <a:ea typeface="Times New Roman"/>
                <a:cs typeface="Times New Roman"/>
              </a:rPr>
              <a:t>Effectif des malades déjà présents avant le début de l’observation</a:t>
            </a:r>
            <a:endParaRPr lang="fr-FR" sz="2400" dirty="0" smtClean="0">
              <a:solidFill>
                <a:srgbClr val="000000"/>
              </a:solidFill>
              <a:latin typeface="Trebuchet MS" pitchFamily="34" charset="0"/>
              <a:ea typeface="Times New Roman"/>
              <a:cs typeface="Times New Roman"/>
            </a:endParaRPr>
          </a:p>
          <a:p>
            <a:pPr lvl="1">
              <a:lnSpc>
                <a:spcPct val="107000"/>
              </a:lnSpc>
              <a:buFont typeface="+mj-lt"/>
              <a:buAutoNum type="alphaLcParenR"/>
            </a:pPr>
            <a:r>
              <a:rPr lang="fr-BE" sz="2400" dirty="0" smtClean="0">
                <a:solidFill>
                  <a:srgbClr val="000000"/>
                </a:solidFill>
                <a:latin typeface="Trebuchet MS" pitchFamily="34" charset="0"/>
                <a:ea typeface="Times New Roman"/>
              </a:rPr>
              <a:t>Effectif des nouveaux cas apparus durant la période d’observation</a:t>
            </a:r>
            <a:endParaRPr lang="fr-FR" sz="2400" dirty="0">
              <a:latin typeface="Trebuchet MS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0024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QCM 7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lnSpc>
                <a:spcPct val="107000"/>
              </a:lnSpc>
              <a:buNone/>
            </a:pPr>
            <a:r>
              <a:rPr lang="fr-BE" sz="2400" dirty="0" smtClean="0">
                <a:solidFill>
                  <a:srgbClr val="000000"/>
                </a:solidFill>
                <a:latin typeface="Trebuchet MS" pitchFamily="34" charset="0"/>
                <a:ea typeface="Times New Roman"/>
                <a:cs typeface="Times New Roman"/>
              </a:rPr>
              <a:t>Pour </a:t>
            </a:r>
            <a:r>
              <a:rPr lang="fr-BE" sz="2400" dirty="0" smtClean="0">
                <a:solidFill>
                  <a:srgbClr val="000000"/>
                </a:solidFill>
                <a:latin typeface="Trebuchet MS" pitchFamily="34" charset="0"/>
                <a:ea typeface="Times New Roman"/>
                <a:cs typeface="Times New Roman"/>
              </a:rPr>
              <a:t>une maladie, que représente le numérateur d’un taux d’incidence</a:t>
            </a:r>
            <a:endParaRPr lang="fr-FR" sz="2400" dirty="0">
              <a:latin typeface="Trebuchet MS" pitchFamily="34" charset="0"/>
              <a:ea typeface="Calibri"/>
              <a:cs typeface="Times New Roman"/>
            </a:endParaRPr>
          </a:p>
          <a:p>
            <a:pPr lvl="1">
              <a:lnSpc>
                <a:spcPct val="107000"/>
              </a:lnSpc>
              <a:buFont typeface="+mj-lt"/>
              <a:buAutoNum type="alphaLcParenR"/>
            </a:pPr>
            <a:r>
              <a:rPr lang="fr-BE" sz="2400" dirty="0" smtClean="0">
                <a:solidFill>
                  <a:srgbClr val="000000"/>
                </a:solidFill>
                <a:latin typeface="Trebuchet MS" pitchFamily="34" charset="0"/>
                <a:ea typeface="Times New Roman"/>
                <a:cs typeface="Times New Roman"/>
              </a:rPr>
              <a:t>Effectif total des malades durant la période d’observation</a:t>
            </a:r>
            <a:endParaRPr lang="fr-FR" sz="2400" dirty="0">
              <a:latin typeface="Trebuchet MS" pitchFamily="34" charset="0"/>
              <a:ea typeface="Calibri"/>
              <a:cs typeface="Times New Roman"/>
            </a:endParaRPr>
          </a:p>
          <a:p>
            <a:pPr lvl="1">
              <a:lnSpc>
                <a:spcPct val="107000"/>
              </a:lnSpc>
              <a:buFont typeface="+mj-lt"/>
              <a:buAutoNum type="alphaLcParenR"/>
            </a:pPr>
            <a:r>
              <a:rPr lang="fr-BE" sz="2400" dirty="0" smtClean="0">
                <a:solidFill>
                  <a:srgbClr val="000000"/>
                </a:solidFill>
                <a:latin typeface="Trebuchet MS" pitchFamily="34" charset="0"/>
                <a:ea typeface="Times New Roman"/>
                <a:cs typeface="Times New Roman"/>
              </a:rPr>
              <a:t>Effectif des sujets exposés à la maladie</a:t>
            </a:r>
            <a:endParaRPr lang="fr-FR" sz="2400" dirty="0">
              <a:latin typeface="Trebuchet MS" pitchFamily="34" charset="0"/>
              <a:ea typeface="Calibri"/>
              <a:cs typeface="Times New Roman"/>
            </a:endParaRPr>
          </a:p>
          <a:p>
            <a:pPr lvl="1">
              <a:lnSpc>
                <a:spcPct val="107000"/>
              </a:lnSpc>
              <a:buFont typeface="+mj-lt"/>
              <a:buAutoNum type="alphaLcParenR"/>
            </a:pPr>
            <a:r>
              <a:rPr lang="fr-BE" sz="2400" dirty="0" smtClean="0">
                <a:solidFill>
                  <a:srgbClr val="000000"/>
                </a:solidFill>
                <a:latin typeface="Trebuchet MS" pitchFamily="34" charset="0"/>
                <a:ea typeface="Times New Roman"/>
                <a:cs typeface="Times New Roman"/>
              </a:rPr>
              <a:t>Effectif de la population observée</a:t>
            </a:r>
            <a:endParaRPr lang="fr-FR" sz="2400" dirty="0">
              <a:latin typeface="Trebuchet MS" pitchFamily="34" charset="0"/>
              <a:ea typeface="Calibri"/>
              <a:cs typeface="Times New Roman"/>
            </a:endParaRPr>
          </a:p>
          <a:p>
            <a:pPr lvl="1">
              <a:lnSpc>
                <a:spcPct val="107000"/>
              </a:lnSpc>
              <a:buFont typeface="+mj-lt"/>
              <a:buAutoNum type="alphaLcParenR"/>
            </a:pPr>
            <a:r>
              <a:rPr lang="fr-BE" sz="2400" dirty="0" smtClean="0">
                <a:solidFill>
                  <a:srgbClr val="000000"/>
                </a:solidFill>
                <a:latin typeface="Trebuchet MS" pitchFamily="34" charset="0"/>
                <a:ea typeface="Times New Roman"/>
                <a:cs typeface="Times New Roman"/>
              </a:rPr>
              <a:t>Effectif des malades déjà présents avant le début de l’observation</a:t>
            </a:r>
            <a:endParaRPr lang="fr-FR" sz="2400" dirty="0" smtClean="0">
              <a:solidFill>
                <a:srgbClr val="000000"/>
              </a:solidFill>
              <a:latin typeface="Trebuchet MS" pitchFamily="34" charset="0"/>
              <a:ea typeface="Times New Roman"/>
              <a:cs typeface="Times New Roman"/>
            </a:endParaRPr>
          </a:p>
          <a:p>
            <a:pPr lvl="1">
              <a:lnSpc>
                <a:spcPct val="107000"/>
              </a:lnSpc>
              <a:buFont typeface="+mj-lt"/>
              <a:buAutoNum type="alphaLcParenR"/>
            </a:pPr>
            <a:r>
              <a:rPr lang="fr-BE" sz="2400" dirty="0" smtClean="0">
                <a:solidFill>
                  <a:srgbClr val="C00000"/>
                </a:solidFill>
                <a:latin typeface="Trebuchet MS" pitchFamily="34" charset="0"/>
                <a:ea typeface="Times New Roman"/>
              </a:rPr>
              <a:t>Effectif des nouveaux cas apparus durant la période d’observation</a:t>
            </a:r>
            <a:endParaRPr lang="fr-FR" sz="2400" dirty="0">
              <a:solidFill>
                <a:srgbClr val="C00000"/>
              </a:solidFill>
              <a:latin typeface="Trebuchet MS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3658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QCM 8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buNone/>
            </a:pPr>
            <a:r>
              <a:rPr lang="fr-BE" sz="2400" dirty="0" smtClean="0">
                <a:latin typeface="Trebuchet MS" pitchFamily="34" charset="0"/>
              </a:rPr>
              <a:t>Parmi </a:t>
            </a:r>
            <a:r>
              <a:rPr lang="fr-BE" sz="2400" dirty="0">
                <a:latin typeface="Trebuchet MS" pitchFamily="34" charset="0"/>
              </a:rPr>
              <a:t>les propositions suivantes concernant la prévalence en épidémiologie, laquelle est fausse ?</a:t>
            </a:r>
            <a:endParaRPr lang="fr-FR" sz="2400" dirty="0">
              <a:latin typeface="Trebuchet MS" pitchFamily="34" charset="0"/>
            </a:endParaRPr>
          </a:p>
          <a:p>
            <a:pPr marL="971550" lvl="1" indent="-514350">
              <a:buFont typeface="+mj-lt"/>
              <a:buAutoNum type="alphaLcParenR"/>
            </a:pPr>
            <a:r>
              <a:rPr lang="fr-BE" sz="2400" dirty="0">
                <a:latin typeface="Trebuchet MS" pitchFamily="34" charset="0"/>
              </a:rPr>
              <a:t>Est le nombre de personne atteintes d’une maladie dans une population à un instant donné</a:t>
            </a:r>
            <a:endParaRPr lang="fr-FR" sz="2400" dirty="0">
              <a:latin typeface="Trebuchet MS" pitchFamily="34" charset="0"/>
            </a:endParaRPr>
          </a:p>
          <a:p>
            <a:pPr marL="971550" lvl="1" indent="-514350">
              <a:buFont typeface="+mj-lt"/>
              <a:buAutoNum type="alphaLcParenR"/>
            </a:pPr>
            <a:r>
              <a:rPr lang="fr-BE" sz="2400" dirty="0">
                <a:latin typeface="Trebuchet MS" pitchFamily="34" charset="0"/>
              </a:rPr>
              <a:t>Dépend de la durée de la maladie</a:t>
            </a:r>
            <a:endParaRPr lang="fr-FR" sz="2400" dirty="0">
              <a:latin typeface="Trebuchet MS" pitchFamily="34" charset="0"/>
            </a:endParaRPr>
          </a:p>
          <a:p>
            <a:pPr marL="971550" lvl="1" indent="-514350">
              <a:buFont typeface="+mj-lt"/>
              <a:buAutoNum type="alphaLcParenR"/>
            </a:pPr>
            <a:r>
              <a:rPr lang="fr-BE" sz="2400" dirty="0">
                <a:latin typeface="Trebuchet MS" pitchFamily="34" charset="0"/>
              </a:rPr>
              <a:t>Se rapporte à tous les cas</a:t>
            </a:r>
            <a:endParaRPr lang="fr-FR" sz="2400" dirty="0">
              <a:latin typeface="Trebuchet MS" pitchFamily="34" charset="0"/>
            </a:endParaRPr>
          </a:p>
          <a:p>
            <a:pPr marL="971550" lvl="1" indent="-514350">
              <a:buFont typeface="+mj-lt"/>
              <a:buAutoNum type="alphaLcParenR"/>
            </a:pPr>
            <a:r>
              <a:rPr lang="fr-BE" sz="2400" dirty="0">
                <a:latin typeface="Trebuchet MS" pitchFamily="34" charset="0"/>
              </a:rPr>
              <a:t>Mesure le risque de contracter une </a:t>
            </a:r>
            <a:r>
              <a:rPr lang="fr-BE" sz="2400" dirty="0" smtClean="0">
                <a:latin typeface="Trebuchet MS" pitchFamily="34" charset="0"/>
              </a:rPr>
              <a:t>maladie</a:t>
            </a:r>
            <a:endParaRPr lang="fr-FR" sz="2400" dirty="0" smtClean="0">
              <a:latin typeface="Trebuchet MS" pitchFamily="34" charset="0"/>
            </a:endParaRPr>
          </a:p>
          <a:p>
            <a:pPr marL="971550" lvl="1" indent="-514350">
              <a:buFont typeface="+mj-lt"/>
              <a:buAutoNum type="alphaLcParenR"/>
            </a:pPr>
            <a:r>
              <a:rPr lang="fr-BE" sz="2400" dirty="0" smtClean="0">
                <a:latin typeface="Trebuchet MS" pitchFamily="34" charset="0"/>
              </a:rPr>
              <a:t>Peut </a:t>
            </a:r>
            <a:r>
              <a:rPr lang="fr-BE" sz="2400" dirty="0">
                <a:latin typeface="Trebuchet MS" pitchFamily="34" charset="0"/>
              </a:rPr>
              <a:t>être obtenue par une seule enquête</a:t>
            </a:r>
            <a:endParaRPr lang="fr-FR" sz="2400" dirty="0">
              <a:latin typeface="Trebuchet MS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2259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QCM 8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buNone/>
            </a:pPr>
            <a:r>
              <a:rPr lang="fr-BE" sz="2400" dirty="0" smtClean="0">
                <a:latin typeface="Trebuchet MS" pitchFamily="34" charset="0"/>
              </a:rPr>
              <a:t>Parmi </a:t>
            </a:r>
            <a:r>
              <a:rPr lang="fr-BE" sz="2400" dirty="0">
                <a:latin typeface="Trebuchet MS" pitchFamily="34" charset="0"/>
              </a:rPr>
              <a:t>les propositions suivantes concernant la prévalence en épidémiologie, laquelle est fausse ?</a:t>
            </a:r>
            <a:endParaRPr lang="fr-FR" sz="2400" dirty="0">
              <a:latin typeface="Trebuchet MS" pitchFamily="34" charset="0"/>
            </a:endParaRPr>
          </a:p>
          <a:p>
            <a:pPr marL="971550" lvl="1" indent="-514350">
              <a:buFont typeface="+mj-lt"/>
              <a:buAutoNum type="alphaLcParenR"/>
            </a:pPr>
            <a:r>
              <a:rPr lang="fr-BE" sz="2400" dirty="0">
                <a:latin typeface="Trebuchet MS" pitchFamily="34" charset="0"/>
              </a:rPr>
              <a:t>Est le nombre de personne atteintes d’une maladie dans une population à un instant donné</a:t>
            </a:r>
            <a:endParaRPr lang="fr-FR" sz="2400" dirty="0">
              <a:latin typeface="Trebuchet MS" pitchFamily="34" charset="0"/>
            </a:endParaRPr>
          </a:p>
          <a:p>
            <a:pPr marL="971550" lvl="1" indent="-514350">
              <a:buFont typeface="+mj-lt"/>
              <a:buAutoNum type="alphaLcParenR"/>
            </a:pPr>
            <a:r>
              <a:rPr lang="fr-BE" sz="2400" dirty="0">
                <a:latin typeface="Trebuchet MS" pitchFamily="34" charset="0"/>
              </a:rPr>
              <a:t>Dépend de la durée de la maladie</a:t>
            </a:r>
            <a:endParaRPr lang="fr-FR" sz="2400" dirty="0">
              <a:latin typeface="Trebuchet MS" pitchFamily="34" charset="0"/>
            </a:endParaRPr>
          </a:p>
          <a:p>
            <a:pPr marL="971550" lvl="1" indent="-514350">
              <a:buFont typeface="+mj-lt"/>
              <a:buAutoNum type="alphaLcParenR"/>
            </a:pPr>
            <a:r>
              <a:rPr lang="fr-BE" sz="2400" dirty="0">
                <a:latin typeface="Trebuchet MS" pitchFamily="34" charset="0"/>
              </a:rPr>
              <a:t>Se rapporte à tous les cas</a:t>
            </a:r>
            <a:endParaRPr lang="fr-FR" sz="2400" dirty="0">
              <a:latin typeface="Trebuchet MS" pitchFamily="34" charset="0"/>
            </a:endParaRPr>
          </a:p>
          <a:p>
            <a:pPr marL="971550" lvl="1" indent="-514350">
              <a:buFont typeface="+mj-lt"/>
              <a:buAutoNum type="alphaLcParenR"/>
            </a:pPr>
            <a:r>
              <a:rPr lang="fr-BE" sz="2400" dirty="0">
                <a:solidFill>
                  <a:srgbClr val="C00000"/>
                </a:solidFill>
                <a:latin typeface="Trebuchet MS" pitchFamily="34" charset="0"/>
              </a:rPr>
              <a:t>Mesure le risque de contracter une </a:t>
            </a:r>
            <a:r>
              <a:rPr lang="fr-BE" sz="2400" dirty="0" smtClean="0">
                <a:solidFill>
                  <a:srgbClr val="C00000"/>
                </a:solidFill>
                <a:latin typeface="Trebuchet MS" pitchFamily="34" charset="0"/>
              </a:rPr>
              <a:t>maladie</a:t>
            </a:r>
            <a:endParaRPr lang="fr-FR" sz="2400" dirty="0" smtClean="0">
              <a:solidFill>
                <a:srgbClr val="C00000"/>
              </a:solidFill>
              <a:latin typeface="Trebuchet MS" pitchFamily="34" charset="0"/>
            </a:endParaRPr>
          </a:p>
          <a:p>
            <a:pPr marL="971550" lvl="1" indent="-514350">
              <a:buFont typeface="+mj-lt"/>
              <a:buAutoNum type="alphaLcParenR"/>
            </a:pPr>
            <a:r>
              <a:rPr lang="fr-BE" sz="2400" dirty="0" smtClean="0">
                <a:latin typeface="Trebuchet MS" pitchFamily="34" charset="0"/>
              </a:rPr>
              <a:t>Peut </a:t>
            </a:r>
            <a:r>
              <a:rPr lang="fr-BE" sz="2400" dirty="0">
                <a:latin typeface="Trebuchet MS" pitchFamily="34" charset="0"/>
              </a:rPr>
              <a:t>être obtenue par une seule enquête</a:t>
            </a:r>
            <a:endParaRPr lang="fr-FR" sz="2400" dirty="0">
              <a:latin typeface="Trebuchet MS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2300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QCM 9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fr-FR" sz="2400" dirty="0" smtClean="0">
                <a:latin typeface="Trebuchet MS" pitchFamily="34" charset="0"/>
              </a:rPr>
              <a:t>9. On vient de mettre sur le marché un nouveau médicament qui prolonge la durée de vie des personnes atteintes de VIH. Que se passe-t-il</a:t>
            </a:r>
            <a:r>
              <a:rPr lang="fr-BE" sz="2400" dirty="0" smtClean="0">
                <a:latin typeface="Trebuchet MS" pitchFamily="34" charset="0"/>
              </a:rPr>
              <a:t>?</a:t>
            </a:r>
          </a:p>
          <a:p>
            <a:pPr marL="514350" indent="-514350">
              <a:buFont typeface="+mj-lt"/>
              <a:buAutoNum type="alphaLcParenR"/>
            </a:pPr>
            <a:r>
              <a:rPr lang="fr-BE" sz="2400" dirty="0" smtClean="0">
                <a:latin typeface="Trebuchet MS" pitchFamily="34" charset="0"/>
              </a:rPr>
              <a:t>Le taux d’incidence du SIDA diminuera</a:t>
            </a:r>
          </a:p>
          <a:p>
            <a:pPr marL="514350" indent="-514350">
              <a:buFont typeface="+mj-lt"/>
              <a:buAutoNum type="alphaLcParenR"/>
            </a:pPr>
            <a:r>
              <a:rPr lang="fr-BE" sz="2400" dirty="0" smtClean="0">
                <a:latin typeface="Trebuchet MS" pitchFamily="34" charset="0"/>
              </a:rPr>
              <a:t>La taux d’incidence et la prévalence du sida diminueront </a:t>
            </a:r>
          </a:p>
          <a:p>
            <a:pPr marL="514350" indent="-514350">
              <a:buFont typeface="+mj-lt"/>
              <a:buAutoNum type="alphaLcParenR"/>
            </a:pPr>
            <a:r>
              <a:rPr lang="fr-BE" sz="2400" dirty="0" smtClean="0">
                <a:latin typeface="Trebuchet MS" pitchFamily="34" charset="0"/>
              </a:rPr>
              <a:t>Le taux d’incidence du sida augmentera</a:t>
            </a:r>
          </a:p>
          <a:p>
            <a:pPr marL="514350" indent="-514350">
              <a:buFont typeface="+mj-lt"/>
              <a:buAutoNum type="alphaLcParenR"/>
            </a:pPr>
            <a:r>
              <a:rPr lang="fr-BE" sz="2400" dirty="0" smtClean="0">
                <a:latin typeface="Trebuchet MS" pitchFamily="34" charset="0"/>
              </a:rPr>
              <a:t>La prévalence du sida augmentera</a:t>
            </a:r>
          </a:p>
          <a:p>
            <a:pPr marL="514350" indent="-514350">
              <a:buFont typeface="+mj-lt"/>
              <a:buAutoNum type="alphaLcParenR"/>
            </a:pPr>
            <a:r>
              <a:rPr lang="fr-BE" sz="2400" dirty="0" smtClean="0">
                <a:latin typeface="Trebuchet MS" pitchFamily="34" charset="0"/>
              </a:rPr>
              <a:t>La prévalence du sida diminuera </a:t>
            </a:r>
            <a:endParaRPr lang="fr-FR" sz="2400" dirty="0">
              <a:latin typeface="Trebuchet MS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219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QCM 9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fr-FR" sz="2400" dirty="0" smtClean="0">
                <a:latin typeface="Trebuchet MS" pitchFamily="34" charset="0"/>
              </a:rPr>
              <a:t>9. On vient de mettre sur le marché un nouveau médicament qui prolonge la durée de vie des personnes atteintes de VIH. Que se passe-t-il</a:t>
            </a:r>
            <a:r>
              <a:rPr lang="fr-BE" sz="2400" dirty="0" smtClean="0">
                <a:latin typeface="Trebuchet MS" pitchFamily="34" charset="0"/>
              </a:rPr>
              <a:t>?</a:t>
            </a:r>
          </a:p>
          <a:p>
            <a:pPr marL="514350" indent="-514350">
              <a:buFont typeface="+mj-lt"/>
              <a:buAutoNum type="alphaLcParenR"/>
            </a:pPr>
            <a:r>
              <a:rPr lang="fr-BE" sz="2400" dirty="0" smtClean="0">
                <a:latin typeface="Trebuchet MS" pitchFamily="34" charset="0"/>
              </a:rPr>
              <a:t>Le taux d’incidence du SIDA diminuera</a:t>
            </a:r>
          </a:p>
          <a:p>
            <a:pPr marL="514350" indent="-514350">
              <a:buFont typeface="+mj-lt"/>
              <a:buAutoNum type="alphaLcParenR"/>
            </a:pPr>
            <a:r>
              <a:rPr lang="fr-BE" sz="2400" dirty="0" smtClean="0">
                <a:latin typeface="Trebuchet MS" pitchFamily="34" charset="0"/>
              </a:rPr>
              <a:t>La taux d’incidence et la prévalence du sida diminueront </a:t>
            </a:r>
          </a:p>
          <a:p>
            <a:pPr marL="514350" indent="-514350">
              <a:buFont typeface="+mj-lt"/>
              <a:buAutoNum type="alphaLcParenR"/>
            </a:pPr>
            <a:r>
              <a:rPr lang="fr-BE" sz="2400" dirty="0" smtClean="0">
                <a:latin typeface="Trebuchet MS" pitchFamily="34" charset="0"/>
              </a:rPr>
              <a:t>Le taux d’incidence du sida augmentera</a:t>
            </a:r>
          </a:p>
          <a:p>
            <a:pPr marL="514350" indent="-514350">
              <a:buFont typeface="+mj-lt"/>
              <a:buAutoNum type="alphaLcParenR"/>
            </a:pPr>
            <a:r>
              <a:rPr lang="fr-BE" sz="2400" dirty="0" smtClean="0">
                <a:solidFill>
                  <a:srgbClr val="C00000"/>
                </a:solidFill>
                <a:latin typeface="Trebuchet MS" pitchFamily="34" charset="0"/>
              </a:rPr>
              <a:t>La prévalence du sida augmentera</a:t>
            </a:r>
          </a:p>
          <a:p>
            <a:pPr marL="514350" indent="-514350">
              <a:buFont typeface="+mj-lt"/>
              <a:buAutoNum type="alphaLcParenR"/>
            </a:pPr>
            <a:r>
              <a:rPr lang="fr-BE" sz="2400" dirty="0" smtClean="0">
                <a:latin typeface="Trebuchet MS" pitchFamily="34" charset="0"/>
              </a:rPr>
              <a:t>La prévalence du sida diminuera </a:t>
            </a:r>
            <a:endParaRPr lang="fr-FR" sz="2400" dirty="0">
              <a:latin typeface="Trebuchet MS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4487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QCM 10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 smtClean="0">
                <a:latin typeface="Trebuchet MS" pitchFamily="34" charset="0"/>
              </a:rPr>
              <a:t>l’incidence </a:t>
            </a:r>
            <a:r>
              <a:rPr lang="fr-FR" sz="2400" dirty="0" smtClean="0">
                <a:latin typeface="Trebuchet MS" pitchFamily="34" charset="0"/>
              </a:rPr>
              <a:t>d’une </a:t>
            </a:r>
            <a:r>
              <a:rPr lang="fr-FR" sz="2400" dirty="0" smtClean="0">
                <a:latin typeface="Trebuchet MS" pitchFamily="34" charset="0"/>
              </a:rPr>
              <a:t>maladie? Cocher les réponses justes</a:t>
            </a:r>
            <a:endParaRPr lang="fr-FR" sz="2400" dirty="0" smtClean="0">
              <a:latin typeface="Trebuchet MS" pitchFamily="34" charset="0"/>
            </a:endParaRPr>
          </a:p>
          <a:p>
            <a:pPr marL="457200" indent="-457200">
              <a:buFont typeface="+mj-lt"/>
              <a:buAutoNum type="alphaLcPeriod"/>
            </a:pPr>
            <a:r>
              <a:rPr lang="fr-FR" sz="2400" dirty="0" smtClean="0">
                <a:latin typeface="Trebuchet MS" pitchFamily="34" charset="0"/>
              </a:rPr>
              <a:t>Peut varier dans le temps</a:t>
            </a:r>
          </a:p>
          <a:p>
            <a:pPr marL="457200" indent="-457200">
              <a:buFont typeface="+mj-lt"/>
              <a:buAutoNum type="alphaLcPeriod"/>
            </a:pPr>
            <a:r>
              <a:rPr lang="fr-FR" sz="2400" dirty="0" smtClean="0">
                <a:latin typeface="Trebuchet MS" pitchFamily="34" charset="0"/>
              </a:rPr>
              <a:t>Mesure le nombre de personnes atteintes d’une maladie à un instant donné</a:t>
            </a:r>
          </a:p>
          <a:p>
            <a:pPr marL="457200" indent="-457200">
              <a:buFont typeface="+mj-lt"/>
              <a:buAutoNum type="alphaLcPeriod"/>
            </a:pPr>
            <a:r>
              <a:rPr lang="fr-FR" sz="2400" dirty="0" smtClean="0">
                <a:latin typeface="Trebuchet MS" pitchFamily="34" charset="0"/>
              </a:rPr>
              <a:t>Est un bon indicateur de la dynamique d’une épidémie</a:t>
            </a:r>
          </a:p>
          <a:p>
            <a:pPr marL="457200" indent="-457200">
              <a:buFont typeface="+mj-lt"/>
              <a:buAutoNum type="alphaLcPeriod"/>
            </a:pPr>
            <a:r>
              <a:rPr lang="fr-FR" sz="2400" dirty="0" smtClean="0">
                <a:latin typeface="Trebuchet MS" pitchFamily="34" charset="0"/>
              </a:rPr>
              <a:t>S’accroit quand la mortalité augmente</a:t>
            </a:r>
          </a:p>
          <a:p>
            <a:pPr marL="457200" indent="-457200">
              <a:buFont typeface="+mj-lt"/>
              <a:buAutoNum type="alphaLcPeriod"/>
            </a:pPr>
            <a:r>
              <a:rPr lang="fr-FR" sz="2400" dirty="0" smtClean="0">
                <a:latin typeface="Trebuchet MS" pitchFamily="34" charset="0"/>
              </a:rPr>
              <a:t>Ne peut être définie que dans un contexte épidémique</a:t>
            </a:r>
            <a:endParaRPr lang="fr-FR" sz="2400" dirty="0">
              <a:latin typeface="Trebuchet MS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5969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QCM 10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 smtClean="0">
                <a:latin typeface="Trebuchet MS" pitchFamily="34" charset="0"/>
              </a:rPr>
              <a:t>l’incidence </a:t>
            </a:r>
            <a:r>
              <a:rPr lang="fr-FR" sz="2400" dirty="0" smtClean="0">
                <a:latin typeface="Trebuchet MS" pitchFamily="34" charset="0"/>
              </a:rPr>
              <a:t>d’une </a:t>
            </a:r>
            <a:r>
              <a:rPr lang="fr-FR" sz="2400" dirty="0" smtClean="0">
                <a:latin typeface="Trebuchet MS" pitchFamily="34" charset="0"/>
              </a:rPr>
              <a:t>maladie? Cocher les réponses justes</a:t>
            </a:r>
            <a:endParaRPr lang="fr-FR" sz="2400" dirty="0" smtClean="0">
              <a:latin typeface="Trebuchet MS" pitchFamily="34" charset="0"/>
            </a:endParaRPr>
          </a:p>
          <a:p>
            <a:pPr marL="457200" indent="-457200">
              <a:buFont typeface="+mj-lt"/>
              <a:buAutoNum type="alphaLcPeriod"/>
            </a:pPr>
            <a:r>
              <a:rPr lang="fr-FR" sz="2400" dirty="0" smtClean="0">
                <a:solidFill>
                  <a:srgbClr val="C00000"/>
                </a:solidFill>
                <a:latin typeface="Trebuchet MS" pitchFamily="34" charset="0"/>
              </a:rPr>
              <a:t>Peut varier dans le temps</a:t>
            </a:r>
          </a:p>
          <a:p>
            <a:pPr marL="457200" indent="-457200">
              <a:buFont typeface="+mj-lt"/>
              <a:buAutoNum type="alphaLcPeriod"/>
            </a:pPr>
            <a:r>
              <a:rPr lang="fr-FR" sz="2400" dirty="0" smtClean="0">
                <a:latin typeface="Trebuchet MS" pitchFamily="34" charset="0"/>
              </a:rPr>
              <a:t>Mesure le nombre de personnes atteintes d’une maladie à un instant donné</a:t>
            </a:r>
          </a:p>
          <a:p>
            <a:pPr marL="457200" indent="-457200">
              <a:buFont typeface="+mj-lt"/>
              <a:buAutoNum type="alphaLcPeriod"/>
            </a:pPr>
            <a:r>
              <a:rPr lang="fr-FR" sz="2400" dirty="0" smtClean="0">
                <a:solidFill>
                  <a:srgbClr val="C00000"/>
                </a:solidFill>
                <a:latin typeface="Trebuchet MS" pitchFamily="34" charset="0"/>
              </a:rPr>
              <a:t>Est un bon indicateur de la dynamique d’une épidémie</a:t>
            </a:r>
          </a:p>
          <a:p>
            <a:pPr marL="457200" indent="-457200">
              <a:buFont typeface="+mj-lt"/>
              <a:buAutoNum type="alphaLcPeriod"/>
            </a:pPr>
            <a:r>
              <a:rPr lang="fr-FR" sz="2400" dirty="0" smtClean="0">
                <a:latin typeface="Trebuchet MS" pitchFamily="34" charset="0"/>
              </a:rPr>
              <a:t>S’accroit quand la mortalité augmente</a:t>
            </a:r>
          </a:p>
          <a:p>
            <a:pPr marL="457200" indent="-457200">
              <a:buFont typeface="+mj-lt"/>
              <a:buAutoNum type="alphaLcPeriod"/>
            </a:pPr>
            <a:r>
              <a:rPr lang="fr-FR" sz="2400" dirty="0" smtClean="0">
                <a:latin typeface="Trebuchet MS" pitchFamily="34" charset="0"/>
              </a:rPr>
              <a:t>Ne peut être définie que dans un contexte épidémique</a:t>
            </a:r>
            <a:endParaRPr lang="fr-FR" sz="2400" dirty="0">
              <a:latin typeface="Trebuchet MS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5973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504131" y="2636912"/>
            <a:ext cx="9721215" cy="1143000"/>
          </a:xfrm>
        </p:spPr>
        <p:txBody>
          <a:bodyPr/>
          <a:lstStyle/>
          <a:p>
            <a:r>
              <a:rPr lang="fr-FR" dirty="0" smtClean="0"/>
              <a:t>PARTIE II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43975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QCM 11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>
              <a:lnSpc>
                <a:spcPct val="106000"/>
              </a:lnSpc>
              <a:buNone/>
            </a:pPr>
            <a:r>
              <a:rPr lang="fr-BE" dirty="0" smtClean="0">
                <a:latin typeface="Times New Roman"/>
                <a:ea typeface="Calibri"/>
                <a:cs typeface="Times New Roman"/>
              </a:rPr>
              <a:t>Cochez </a:t>
            </a:r>
            <a:r>
              <a:rPr lang="fr-BE" dirty="0" smtClean="0">
                <a:latin typeface="Times New Roman"/>
                <a:ea typeface="Calibri"/>
                <a:cs typeface="Times New Roman"/>
              </a:rPr>
              <a:t>les affirmations exactes à propos des infections nosocomiales. </a:t>
            </a:r>
            <a:endParaRPr lang="fr-FR" sz="2800" dirty="0">
              <a:ea typeface="Calibri"/>
              <a:cs typeface="Times New Roman"/>
            </a:endParaRPr>
          </a:p>
          <a:p>
            <a:pPr lvl="0">
              <a:lnSpc>
                <a:spcPct val="106000"/>
              </a:lnSpc>
              <a:buFont typeface="+mj-lt"/>
              <a:buAutoNum type="alphaLcPeriod"/>
            </a:pPr>
            <a:r>
              <a:rPr lang="fr-BE" dirty="0" smtClean="0">
                <a:latin typeface="Times New Roman"/>
                <a:ea typeface="Calibri"/>
                <a:cs typeface="Times New Roman"/>
              </a:rPr>
              <a:t>Elles sont acquises à l'hôpital.</a:t>
            </a:r>
            <a:endParaRPr lang="fr-FR" sz="2800" dirty="0">
              <a:ea typeface="Calibri"/>
              <a:cs typeface="Times New Roman"/>
            </a:endParaRPr>
          </a:p>
          <a:p>
            <a:pPr lvl="0">
              <a:lnSpc>
                <a:spcPct val="106000"/>
              </a:lnSpc>
              <a:buFont typeface="+mj-lt"/>
              <a:buAutoNum type="alphaLcPeriod"/>
            </a:pPr>
            <a:r>
              <a:rPr lang="fr-BE" dirty="0" smtClean="0">
                <a:latin typeface="Times New Roman"/>
                <a:ea typeface="Calibri"/>
                <a:cs typeface="Times New Roman"/>
              </a:rPr>
              <a:t>Elles peuvent être secondaires à un acte invasif.</a:t>
            </a:r>
            <a:endParaRPr lang="fr-FR" sz="2800" dirty="0">
              <a:ea typeface="Calibri"/>
              <a:cs typeface="Times New Roman"/>
            </a:endParaRPr>
          </a:p>
          <a:p>
            <a:pPr lvl="0">
              <a:lnSpc>
                <a:spcPct val="106000"/>
              </a:lnSpc>
              <a:buFont typeface="+mj-lt"/>
              <a:buAutoNum type="alphaLcPeriod"/>
            </a:pPr>
            <a:r>
              <a:rPr lang="fr-BE" dirty="0" smtClean="0">
                <a:latin typeface="Times New Roman"/>
                <a:ea typeface="Calibri"/>
                <a:cs typeface="Times New Roman"/>
              </a:rPr>
              <a:t>Elles sont directement liées à des actes médicaux techniques.</a:t>
            </a:r>
            <a:endParaRPr lang="fr-FR" sz="2800" dirty="0">
              <a:ea typeface="Calibri"/>
              <a:cs typeface="Times New Roman"/>
            </a:endParaRPr>
          </a:p>
          <a:p>
            <a:pPr lvl="0">
              <a:lnSpc>
                <a:spcPct val="106000"/>
              </a:lnSpc>
              <a:buFont typeface="+mj-lt"/>
              <a:buAutoNum type="alphaLcPeriod"/>
            </a:pPr>
            <a:r>
              <a:rPr lang="fr-BE" dirty="0" smtClean="0">
                <a:latin typeface="Times New Roman"/>
                <a:ea typeface="Calibri"/>
                <a:cs typeface="Times New Roman"/>
              </a:rPr>
              <a:t>Elles peuvent être acquises à partir d'une personne malade.</a:t>
            </a:r>
            <a:endParaRPr lang="fr-FR" sz="2800" dirty="0">
              <a:ea typeface="Calibri"/>
              <a:cs typeface="Times New Roman"/>
            </a:endParaRPr>
          </a:p>
          <a:p>
            <a:pPr lvl="0">
              <a:lnSpc>
                <a:spcPct val="106000"/>
              </a:lnSpc>
              <a:spcAft>
                <a:spcPts val="800"/>
              </a:spcAft>
              <a:buFont typeface="+mj-lt"/>
              <a:buAutoNum type="alphaLcPeriod"/>
            </a:pPr>
            <a:r>
              <a:rPr lang="fr-BE" dirty="0" smtClean="0">
                <a:latin typeface="Times New Roman"/>
                <a:ea typeface="Calibri"/>
                <a:cs typeface="Times New Roman"/>
              </a:rPr>
              <a:t>Elles peuvent être acquises à partir de l'environnement.</a:t>
            </a:r>
            <a:endParaRPr lang="fr-FR" sz="2800" dirty="0">
              <a:ea typeface="Calibri"/>
              <a:cs typeface="Times New Roman"/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49643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QCM 11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>
              <a:lnSpc>
                <a:spcPct val="106000"/>
              </a:lnSpc>
              <a:buNone/>
            </a:pPr>
            <a:r>
              <a:rPr lang="fr-BE" dirty="0" smtClean="0">
                <a:latin typeface="Times New Roman"/>
                <a:ea typeface="Calibri"/>
                <a:cs typeface="Times New Roman"/>
              </a:rPr>
              <a:t>Cochez </a:t>
            </a:r>
            <a:r>
              <a:rPr lang="fr-BE" dirty="0" smtClean="0">
                <a:latin typeface="Times New Roman"/>
                <a:ea typeface="Calibri"/>
                <a:cs typeface="Times New Roman"/>
              </a:rPr>
              <a:t>les affirmations exactes à propos des infections nosocomiales. </a:t>
            </a:r>
            <a:endParaRPr lang="fr-FR" sz="2800" dirty="0">
              <a:ea typeface="Calibri"/>
              <a:cs typeface="Times New Roman"/>
            </a:endParaRPr>
          </a:p>
          <a:p>
            <a:pPr lvl="0">
              <a:lnSpc>
                <a:spcPct val="106000"/>
              </a:lnSpc>
              <a:buFont typeface="+mj-lt"/>
              <a:buAutoNum type="alphaLcPeriod"/>
            </a:pPr>
            <a:r>
              <a:rPr lang="fr-BE" dirty="0" smtClean="0">
                <a:solidFill>
                  <a:schemeClr val="accent2">
                    <a:lumMod val="75000"/>
                  </a:schemeClr>
                </a:solidFill>
                <a:latin typeface="Times New Roman"/>
                <a:ea typeface="Calibri"/>
                <a:cs typeface="Times New Roman"/>
              </a:rPr>
              <a:t>Elles sont acquises à l'hôpital.</a:t>
            </a:r>
            <a:endParaRPr lang="fr-FR" sz="2800" dirty="0">
              <a:solidFill>
                <a:schemeClr val="accent2">
                  <a:lumMod val="75000"/>
                </a:schemeClr>
              </a:solidFill>
              <a:ea typeface="Calibri"/>
              <a:cs typeface="Times New Roman"/>
            </a:endParaRPr>
          </a:p>
          <a:p>
            <a:pPr lvl="0">
              <a:lnSpc>
                <a:spcPct val="106000"/>
              </a:lnSpc>
              <a:buFont typeface="+mj-lt"/>
              <a:buAutoNum type="alphaLcPeriod"/>
            </a:pPr>
            <a:r>
              <a:rPr lang="fr-BE" dirty="0" smtClean="0">
                <a:solidFill>
                  <a:schemeClr val="accent2">
                    <a:lumMod val="75000"/>
                  </a:schemeClr>
                </a:solidFill>
                <a:latin typeface="Times New Roman"/>
                <a:ea typeface="Calibri"/>
                <a:cs typeface="Times New Roman"/>
              </a:rPr>
              <a:t>Elles peuvent être secondaires à un acte invasif</a:t>
            </a:r>
            <a:r>
              <a:rPr lang="fr-BE" dirty="0" smtClean="0">
                <a:latin typeface="Times New Roman"/>
                <a:ea typeface="Calibri"/>
                <a:cs typeface="Times New Roman"/>
              </a:rPr>
              <a:t>.</a:t>
            </a:r>
            <a:endParaRPr lang="fr-FR" sz="2800" dirty="0">
              <a:ea typeface="Calibri"/>
              <a:cs typeface="Times New Roman"/>
            </a:endParaRPr>
          </a:p>
          <a:p>
            <a:pPr lvl="0">
              <a:lnSpc>
                <a:spcPct val="106000"/>
              </a:lnSpc>
              <a:buFont typeface="+mj-lt"/>
              <a:buAutoNum type="alphaLcPeriod"/>
            </a:pPr>
            <a:r>
              <a:rPr lang="fr-BE" dirty="0" smtClean="0">
                <a:latin typeface="Times New Roman"/>
                <a:ea typeface="Calibri"/>
                <a:cs typeface="Times New Roman"/>
              </a:rPr>
              <a:t>Elles sont directement liées à des actes médicaux techniques.</a:t>
            </a:r>
            <a:endParaRPr lang="fr-FR" sz="2800" dirty="0">
              <a:ea typeface="Calibri"/>
              <a:cs typeface="Times New Roman"/>
            </a:endParaRPr>
          </a:p>
          <a:p>
            <a:pPr lvl="0">
              <a:lnSpc>
                <a:spcPct val="106000"/>
              </a:lnSpc>
              <a:buFont typeface="+mj-lt"/>
              <a:buAutoNum type="alphaLcPeriod"/>
            </a:pPr>
            <a:r>
              <a:rPr lang="fr-BE" dirty="0" smtClean="0">
                <a:solidFill>
                  <a:schemeClr val="accent2">
                    <a:lumMod val="75000"/>
                  </a:schemeClr>
                </a:solidFill>
                <a:latin typeface="Times New Roman"/>
                <a:ea typeface="Calibri"/>
                <a:cs typeface="Times New Roman"/>
              </a:rPr>
              <a:t>Elles peuvent être acquises à partir d'une personne malade.</a:t>
            </a:r>
            <a:endParaRPr lang="fr-FR" sz="2800" dirty="0">
              <a:solidFill>
                <a:schemeClr val="accent2">
                  <a:lumMod val="75000"/>
                </a:schemeClr>
              </a:solidFill>
              <a:ea typeface="Calibri"/>
              <a:cs typeface="Times New Roman"/>
            </a:endParaRPr>
          </a:p>
          <a:p>
            <a:pPr lvl="0">
              <a:lnSpc>
                <a:spcPct val="106000"/>
              </a:lnSpc>
              <a:spcAft>
                <a:spcPts val="800"/>
              </a:spcAft>
              <a:buFont typeface="+mj-lt"/>
              <a:buAutoNum type="alphaLcPeriod"/>
            </a:pPr>
            <a:r>
              <a:rPr lang="fr-BE" dirty="0" smtClean="0">
                <a:solidFill>
                  <a:schemeClr val="accent2">
                    <a:lumMod val="75000"/>
                  </a:schemeClr>
                </a:solidFill>
                <a:latin typeface="Times New Roman"/>
                <a:ea typeface="Calibri"/>
                <a:cs typeface="Times New Roman"/>
              </a:rPr>
              <a:t>Elles peuvent être acquises à partir de l'environnement.</a:t>
            </a:r>
            <a:endParaRPr lang="fr-FR" sz="2800" dirty="0">
              <a:solidFill>
                <a:schemeClr val="accent2">
                  <a:lumMod val="75000"/>
                </a:schemeClr>
              </a:solidFill>
              <a:ea typeface="Calibri"/>
              <a:cs typeface="Times New Roman"/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8543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QCM 12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lnSpc>
                <a:spcPct val="106000"/>
              </a:lnSpc>
              <a:spcAft>
                <a:spcPts val="800"/>
              </a:spcAft>
              <a:buNone/>
            </a:pPr>
            <a:r>
              <a:rPr lang="fr-BE" dirty="0" smtClean="0">
                <a:latin typeface="Times New Roman"/>
                <a:ea typeface="Calibri"/>
                <a:cs typeface="Times New Roman"/>
              </a:rPr>
              <a:t> </a:t>
            </a:r>
            <a:r>
              <a:rPr lang="fr-BE" dirty="0" smtClean="0">
                <a:latin typeface="Times New Roman"/>
                <a:ea typeface="Calibri"/>
                <a:cs typeface="Times New Roman"/>
              </a:rPr>
              <a:t>Concernant les infections urinaires nosocomiales? Cochez les réponses justes </a:t>
            </a:r>
            <a:endParaRPr lang="fr-FR" sz="2800" dirty="0">
              <a:ea typeface="Calibri"/>
              <a:cs typeface="Times New Roman"/>
            </a:endParaRPr>
          </a:p>
          <a:p>
            <a:pPr lvl="0">
              <a:lnSpc>
                <a:spcPct val="106000"/>
              </a:lnSpc>
              <a:buFont typeface="+mj-lt"/>
              <a:buAutoNum type="alphaLcPeriod"/>
              <a:tabLst>
                <a:tab pos="1127760" algn="l"/>
              </a:tabLst>
            </a:pPr>
            <a:r>
              <a:rPr lang="fr-BE" dirty="0" smtClean="0">
                <a:latin typeface="Times New Roman"/>
                <a:ea typeface="Calibri"/>
                <a:cs typeface="Times New Roman"/>
              </a:rPr>
              <a:t>Elles touchent plus souvent les femmes que les hommes </a:t>
            </a:r>
            <a:endParaRPr lang="fr-FR" sz="2800" dirty="0">
              <a:ea typeface="Calibri"/>
              <a:cs typeface="Times New Roman"/>
            </a:endParaRPr>
          </a:p>
          <a:p>
            <a:pPr lvl="0">
              <a:lnSpc>
                <a:spcPct val="106000"/>
              </a:lnSpc>
              <a:buFont typeface="+mj-lt"/>
              <a:buAutoNum type="alphaLcPeriod"/>
              <a:tabLst>
                <a:tab pos="1127760" algn="l"/>
              </a:tabLst>
            </a:pPr>
            <a:r>
              <a:rPr lang="fr-BE" dirty="0" smtClean="0">
                <a:latin typeface="Times New Roman"/>
                <a:ea typeface="Calibri"/>
                <a:cs typeface="Times New Roman"/>
              </a:rPr>
              <a:t>Le sondage urinaire est un facteur de risque mineur</a:t>
            </a:r>
            <a:endParaRPr lang="fr-FR" sz="2800" dirty="0">
              <a:ea typeface="Calibri"/>
              <a:cs typeface="Times New Roman"/>
            </a:endParaRPr>
          </a:p>
          <a:p>
            <a:pPr lvl="0">
              <a:lnSpc>
                <a:spcPct val="106000"/>
              </a:lnSpc>
              <a:buFont typeface="+mj-lt"/>
              <a:buAutoNum type="alphaLcPeriod"/>
              <a:tabLst>
                <a:tab pos="1127760" algn="l"/>
              </a:tabLst>
            </a:pPr>
            <a:r>
              <a:rPr lang="fr-BE" dirty="0" err="1" smtClean="0">
                <a:latin typeface="Times New Roman"/>
                <a:ea typeface="Calibri"/>
                <a:cs typeface="Times New Roman"/>
              </a:rPr>
              <a:t>E.coli</a:t>
            </a:r>
            <a:r>
              <a:rPr lang="fr-BE" dirty="0" smtClean="0">
                <a:latin typeface="Times New Roman"/>
                <a:ea typeface="Calibri"/>
                <a:cs typeface="Times New Roman"/>
              </a:rPr>
              <a:t> est le germe le plus fréquemment en cause</a:t>
            </a:r>
            <a:endParaRPr lang="fr-FR" sz="2800" dirty="0">
              <a:ea typeface="Calibri"/>
              <a:cs typeface="Times New Roman"/>
            </a:endParaRPr>
          </a:p>
          <a:p>
            <a:pPr lvl="0">
              <a:lnSpc>
                <a:spcPct val="106000"/>
              </a:lnSpc>
              <a:buFont typeface="+mj-lt"/>
              <a:buAutoNum type="alphaLcPeriod"/>
              <a:tabLst>
                <a:tab pos="1127760" algn="l"/>
              </a:tabLst>
            </a:pPr>
            <a:r>
              <a:rPr lang="fr-BE" dirty="0" smtClean="0">
                <a:latin typeface="Times New Roman"/>
                <a:ea typeface="Calibri"/>
                <a:cs typeface="Times New Roman"/>
              </a:rPr>
              <a:t>Sont les moins fréquentes </a:t>
            </a:r>
            <a:endParaRPr lang="fr-FR" sz="2800" dirty="0">
              <a:ea typeface="Calibri"/>
              <a:cs typeface="Times New Roman"/>
            </a:endParaRPr>
          </a:p>
          <a:p>
            <a:pPr lvl="0">
              <a:lnSpc>
                <a:spcPct val="106000"/>
              </a:lnSpc>
              <a:buFont typeface="+mj-lt"/>
              <a:buAutoNum type="alphaLcPeriod"/>
              <a:tabLst>
                <a:tab pos="1127760" algn="l"/>
              </a:tabLst>
            </a:pPr>
            <a:r>
              <a:rPr lang="fr-BE" dirty="0" smtClean="0">
                <a:latin typeface="Times New Roman"/>
                <a:ea typeface="Calibri"/>
                <a:cs typeface="Times New Roman"/>
              </a:rPr>
              <a:t>Elles peuvent être asymptomatiques </a:t>
            </a:r>
            <a:endParaRPr lang="fr-FR" sz="2800" dirty="0">
              <a:ea typeface="Calibri"/>
              <a:cs typeface="Times New Roman"/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51057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QCM 12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lnSpc>
                <a:spcPct val="106000"/>
              </a:lnSpc>
              <a:spcAft>
                <a:spcPts val="800"/>
              </a:spcAft>
              <a:buNone/>
            </a:pPr>
            <a:r>
              <a:rPr lang="fr-BE" dirty="0" smtClean="0">
                <a:latin typeface="Times New Roman"/>
                <a:ea typeface="Calibri"/>
                <a:cs typeface="Times New Roman"/>
              </a:rPr>
              <a:t>Concernant </a:t>
            </a:r>
            <a:r>
              <a:rPr lang="fr-BE" dirty="0" smtClean="0">
                <a:latin typeface="Times New Roman"/>
                <a:ea typeface="Calibri"/>
                <a:cs typeface="Times New Roman"/>
              </a:rPr>
              <a:t>les infections urinaires nosocomiales? Cochez les réponses justes </a:t>
            </a:r>
            <a:endParaRPr lang="fr-FR" sz="2800" dirty="0">
              <a:ea typeface="Calibri"/>
              <a:cs typeface="Times New Roman"/>
            </a:endParaRPr>
          </a:p>
          <a:p>
            <a:pPr lvl="0">
              <a:lnSpc>
                <a:spcPct val="106000"/>
              </a:lnSpc>
              <a:buFont typeface="+mj-lt"/>
              <a:buAutoNum type="alphaLcPeriod"/>
              <a:tabLst>
                <a:tab pos="1127760" algn="l"/>
              </a:tabLst>
            </a:pPr>
            <a:r>
              <a:rPr lang="fr-BE" dirty="0" smtClean="0">
                <a:solidFill>
                  <a:schemeClr val="accent2">
                    <a:lumMod val="75000"/>
                  </a:schemeClr>
                </a:solidFill>
                <a:latin typeface="Times New Roman"/>
                <a:ea typeface="Calibri"/>
                <a:cs typeface="Times New Roman"/>
              </a:rPr>
              <a:t>Elles touchent plus souvent les femmes que les hommes </a:t>
            </a:r>
            <a:endParaRPr lang="fr-FR" sz="2800" dirty="0">
              <a:solidFill>
                <a:schemeClr val="accent2">
                  <a:lumMod val="75000"/>
                </a:schemeClr>
              </a:solidFill>
              <a:ea typeface="Calibri"/>
              <a:cs typeface="Times New Roman"/>
            </a:endParaRPr>
          </a:p>
          <a:p>
            <a:pPr lvl="0">
              <a:lnSpc>
                <a:spcPct val="106000"/>
              </a:lnSpc>
              <a:buFont typeface="+mj-lt"/>
              <a:buAutoNum type="alphaLcPeriod"/>
              <a:tabLst>
                <a:tab pos="1127760" algn="l"/>
              </a:tabLst>
            </a:pPr>
            <a:r>
              <a:rPr lang="fr-BE" dirty="0" smtClean="0">
                <a:latin typeface="Times New Roman"/>
                <a:ea typeface="Calibri"/>
                <a:cs typeface="Times New Roman"/>
              </a:rPr>
              <a:t>Le sondage urinaire est un facteur de risque mineur</a:t>
            </a:r>
            <a:endParaRPr lang="fr-FR" sz="2800" dirty="0">
              <a:ea typeface="Calibri"/>
              <a:cs typeface="Times New Roman"/>
            </a:endParaRPr>
          </a:p>
          <a:p>
            <a:pPr lvl="0">
              <a:lnSpc>
                <a:spcPct val="106000"/>
              </a:lnSpc>
              <a:buFont typeface="+mj-lt"/>
              <a:buAutoNum type="alphaLcPeriod"/>
              <a:tabLst>
                <a:tab pos="1127760" algn="l"/>
              </a:tabLst>
            </a:pPr>
            <a:r>
              <a:rPr lang="fr-BE" dirty="0" err="1" smtClean="0">
                <a:solidFill>
                  <a:schemeClr val="accent2">
                    <a:lumMod val="75000"/>
                  </a:schemeClr>
                </a:solidFill>
                <a:latin typeface="Times New Roman"/>
                <a:ea typeface="Calibri"/>
                <a:cs typeface="Times New Roman"/>
              </a:rPr>
              <a:t>E.coli</a:t>
            </a:r>
            <a:r>
              <a:rPr lang="fr-BE" dirty="0" smtClean="0">
                <a:solidFill>
                  <a:schemeClr val="accent2">
                    <a:lumMod val="75000"/>
                  </a:schemeClr>
                </a:solidFill>
                <a:latin typeface="Times New Roman"/>
                <a:ea typeface="Calibri"/>
                <a:cs typeface="Times New Roman"/>
              </a:rPr>
              <a:t> est le germe le plus fréquemment en cause</a:t>
            </a:r>
            <a:endParaRPr lang="fr-FR" sz="2800" dirty="0">
              <a:solidFill>
                <a:schemeClr val="accent2">
                  <a:lumMod val="75000"/>
                </a:schemeClr>
              </a:solidFill>
              <a:ea typeface="Calibri"/>
              <a:cs typeface="Times New Roman"/>
            </a:endParaRPr>
          </a:p>
          <a:p>
            <a:pPr lvl="0">
              <a:lnSpc>
                <a:spcPct val="106000"/>
              </a:lnSpc>
              <a:buFont typeface="+mj-lt"/>
              <a:buAutoNum type="alphaLcPeriod"/>
              <a:tabLst>
                <a:tab pos="1127760" algn="l"/>
              </a:tabLst>
            </a:pPr>
            <a:r>
              <a:rPr lang="fr-BE" dirty="0" smtClean="0">
                <a:latin typeface="Times New Roman"/>
                <a:ea typeface="Calibri"/>
                <a:cs typeface="Times New Roman"/>
              </a:rPr>
              <a:t>Sont les moins fréquentes </a:t>
            </a:r>
            <a:endParaRPr lang="fr-FR" sz="2800" dirty="0">
              <a:ea typeface="Calibri"/>
              <a:cs typeface="Times New Roman"/>
            </a:endParaRPr>
          </a:p>
          <a:p>
            <a:pPr lvl="0">
              <a:lnSpc>
                <a:spcPct val="106000"/>
              </a:lnSpc>
              <a:buFont typeface="+mj-lt"/>
              <a:buAutoNum type="alphaLcPeriod"/>
              <a:tabLst>
                <a:tab pos="1127760" algn="l"/>
              </a:tabLst>
            </a:pPr>
            <a:r>
              <a:rPr lang="fr-BE" dirty="0" smtClean="0">
                <a:latin typeface="Times New Roman"/>
                <a:ea typeface="Calibri"/>
                <a:cs typeface="Times New Roman"/>
              </a:rPr>
              <a:t>Elles peuvent être asymptomatiques </a:t>
            </a:r>
            <a:endParaRPr lang="fr-FR" sz="2800" dirty="0">
              <a:ea typeface="Calibri"/>
              <a:cs typeface="Times New Roman"/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3276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QCM 13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R="719455" lvl="0">
              <a:lnSpc>
                <a:spcPct val="106000"/>
              </a:lnSpc>
              <a:buNone/>
            </a:pPr>
            <a:r>
              <a:rPr lang="fr-BE" dirty="0" smtClean="0">
                <a:latin typeface="Times New Roman"/>
                <a:ea typeface="Calibri"/>
                <a:cs typeface="Times New Roman"/>
              </a:rPr>
              <a:t>Les </a:t>
            </a:r>
            <a:r>
              <a:rPr lang="fr-BE" dirty="0" smtClean="0">
                <a:latin typeface="Times New Roman"/>
                <a:ea typeface="Calibri"/>
                <a:cs typeface="Times New Roman"/>
              </a:rPr>
              <a:t>précautions standard sont à mettre en place :</a:t>
            </a:r>
            <a:endParaRPr lang="fr-FR" sz="2800" dirty="0">
              <a:ea typeface="Calibri"/>
              <a:cs typeface="Times New Roman"/>
            </a:endParaRPr>
          </a:p>
          <a:p>
            <a:pPr marR="719455" lvl="0">
              <a:lnSpc>
                <a:spcPct val="115000"/>
              </a:lnSpc>
              <a:spcAft>
                <a:spcPts val="1000"/>
              </a:spcAft>
              <a:buFont typeface="+mj-lt"/>
              <a:buAutoNum type="alphaLcPeriod"/>
            </a:pPr>
            <a:r>
              <a:rPr lang="fr-BE" dirty="0" smtClean="0">
                <a:latin typeface="Times New Roman"/>
                <a:ea typeface="Calibri"/>
                <a:cs typeface="Times New Roman"/>
              </a:rPr>
              <a:t>les patients en réanimation</a:t>
            </a:r>
            <a:endParaRPr lang="fr-FR" sz="2800" dirty="0">
              <a:ea typeface="Calibri"/>
              <a:cs typeface="Times New Roman"/>
            </a:endParaRPr>
          </a:p>
          <a:p>
            <a:pPr marR="719455" lvl="0">
              <a:lnSpc>
                <a:spcPct val="115000"/>
              </a:lnSpc>
              <a:spcAft>
                <a:spcPts val="1000"/>
              </a:spcAft>
              <a:buFont typeface="+mj-lt"/>
              <a:buAutoNum type="alphaLcPeriod"/>
            </a:pPr>
            <a:r>
              <a:rPr lang="fr-BE" dirty="0" smtClean="0">
                <a:latin typeface="Times New Roman"/>
                <a:ea typeface="Calibri"/>
                <a:cs typeface="Times New Roman"/>
              </a:rPr>
              <a:t>tous les patients</a:t>
            </a:r>
            <a:endParaRPr lang="fr-FR" sz="2800" dirty="0">
              <a:ea typeface="Calibri"/>
              <a:cs typeface="Times New Roman"/>
            </a:endParaRPr>
          </a:p>
          <a:p>
            <a:pPr marR="719455" lvl="0">
              <a:lnSpc>
                <a:spcPct val="115000"/>
              </a:lnSpc>
              <a:spcAft>
                <a:spcPts val="1000"/>
              </a:spcAft>
              <a:buFont typeface="+mj-lt"/>
              <a:buAutoNum type="alphaLcPeriod"/>
            </a:pPr>
            <a:r>
              <a:rPr lang="fr-BE" dirty="0" smtClean="0">
                <a:latin typeface="Times New Roman"/>
                <a:ea typeface="Calibri"/>
                <a:cs typeface="Times New Roman"/>
              </a:rPr>
              <a:t>patients porteurs de bactéries multi résistantes</a:t>
            </a:r>
            <a:endParaRPr lang="fr-FR" sz="2800" dirty="0">
              <a:ea typeface="Calibri"/>
              <a:cs typeface="Times New Roman"/>
            </a:endParaRPr>
          </a:p>
          <a:p>
            <a:pPr marR="719455" lvl="0">
              <a:lnSpc>
                <a:spcPct val="115000"/>
              </a:lnSpc>
              <a:spcAft>
                <a:spcPts val="1000"/>
              </a:spcAft>
              <a:buFont typeface="+mj-lt"/>
              <a:buAutoNum type="alphaLcPeriod"/>
            </a:pPr>
            <a:r>
              <a:rPr lang="fr-BE" dirty="0" smtClean="0">
                <a:latin typeface="Times New Roman"/>
                <a:ea typeface="Calibri"/>
                <a:cs typeface="Times New Roman"/>
              </a:rPr>
              <a:t>les patients en isolement géographique</a:t>
            </a:r>
            <a:endParaRPr lang="fr-FR" sz="2800" dirty="0">
              <a:ea typeface="Calibri"/>
              <a:cs typeface="Times New Roman"/>
            </a:endParaRPr>
          </a:p>
          <a:p>
            <a:pPr marR="719455" lvl="0">
              <a:lnSpc>
                <a:spcPct val="115000"/>
              </a:lnSpc>
              <a:spcAft>
                <a:spcPts val="1000"/>
              </a:spcAft>
              <a:buFont typeface="+mj-lt"/>
              <a:buAutoNum type="alphaLcPeriod"/>
            </a:pPr>
            <a:r>
              <a:rPr lang="fr-BE" dirty="0" smtClean="0">
                <a:latin typeface="Times New Roman"/>
                <a:ea typeface="Calibri"/>
                <a:cs typeface="Times New Roman"/>
              </a:rPr>
              <a:t>les patients en isolement septique </a:t>
            </a:r>
            <a:endParaRPr lang="fr-FR" sz="2800" dirty="0">
              <a:ea typeface="Calibri"/>
              <a:cs typeface="Times New Roman"/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3868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QCM 13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R="719455" lvl="0">
              <a:lnSpc>
                <a:spcPct val="106000"/>
              </a:lnSpc>
              <a:buNone/>
            </a:pPr>
            <a:r>
              <a:rPr lang="fr-BE" dirty="0" smtClean="0">
                <a:latin typeface="Times New Roman"/>
                <a:ea typeface="Calibri"/>
                <a:cs typeface="Times New Roman"/>
              </a:rPr>
              <a:t>Les </a:t>
            </a:r>
            <a:r>
              <a:rPr lang="fr-BE" dirty="0" smtClean="0">
                <a:latin typeface="Times New Roman"/>
                <a:ea typeface="Calibri"/>
                <a:cs typeface="Times New Roman"/>
              </a:rPr>
              <a:t>précautions standard sont à mettre en place :</a:t>
            </a:r>
            <a:endParaRPr lang="fr-FR" sz="2800" dirty="0">
              <a:ea typeface="Calibri"/>
              <a:cs typeface="Times New Roman"/>
            </a:endParaRPr>
          </a:p>
          <a:p>
            <a:pPr marR="719455" lvl="0">
              <a:lnSpc>
                <a:spcPct val="115000"/>
              </a:lnSpc>
              <a:spcAft>
                <a:spcPts val="1000"/>
              </a:spcAft>
              <a:buFont typeface="+mj-lt"/>
              <a:buAutoNum type="alphaLcPeriod"/>
            </a:pPr>
            <a:r>
              <a:rPr lang="fr-BE" dirty="0" smtClean="0">
                <a:latin typeface="Times New Roman"/>
                <a:ea typeface="Calibri"/>
                <a:cs typeface="Times New Roman"/>
              </a:rPr>
              <a:t>les patients en réanimation</a:t>
            </a:r>
            <a:endParaRPr lang="fr-FR" sz="2800" dirty="0">
              <a:ea typeface="Calibri"/>
              <a:cs typeface="Times New Roman"/>
            </a:endParaRPr>
          </a:p>
          <a:p>
            <a:pPr marR="719455" lvl="0">
              <a:lnSpc>
                <a:spcPct val="115000"/>
              </a:lnSpc>
              <a:spcAft>
                <a:spcPts val="1000"/>
              </a:spcAft>
              <a:buFont typeface="+mj-lt"/>
              <a:buAutoNum type="alphaLcPeriod"/>
            </a:pPr>
            <a:r>
              <a:rPr lang="fr-BE" dirty="0" smtClean="0">
                <a:solidFill>
                  <a:schemeClr val="accent2">
                    <a:lumMod val="75000"/>
                  </a:schemeClr>
                </a:solidFill>
                <a:latin typeface="Times New Roman"/>
                <a:ea typeface="Calibri"/>
                <a:cs typeface="Times New Roman"/>
              </a:rPr>
              <a:t>tous les patients</a:t>
            </a:r>
            <a:endParaRPr lang="fr-FR" sz="2800" dirty="0">
              <a:solidFill>
                <a:schemeClr val="accent2">
                  <a:lumMod val="75000"/>
                </a:schemeClr>
              </a:solidFill>
              <a:ea typeface="Calibri"/>
              <a:cs typeface="Times New Roman"/>
            </a:endParaRPr>
          </a:p>
          <a:p>
            <a:pPr marR="719455" lvl="0">
              <a:lnSpc>
                <a:spcPct val="115000"/>
              </a:lnSpc>
              <a:spcAft>
                <a:spcPts val="1000"/>
              </a:spcAft>
              <a:buFont typeface="+mj-lt"/>
              <a:buAutoNum type="alphaLcPeriod"/>
            </a:pPr>
            <a:r>
              <a:rPr lang="fr-BE" dirty="0" smtClean="0">
                <a:latin typeface="Times New Roman"/>
                <a:ea typeface="Calibri"/>
                <a:cs typeface="Times New Roman"/>
              </a:rPr>
              <a:t>patients porteurs de bactéries multi résistantes</a:t>
            </a:r>
            <a:endParaRPr lang="fr-FR" sz="2800" dirty="0">
              <a:ea typeface="Calibri"/>
              <a:cs typeface="Times New Roman"/>
            </a:endParaRPr>
          </a:p>
          <a:p>
            <a:pPr marR="719455" lvl="0">
              <a:lnSpc>
                <a:spcPct val="115000"/>
              </a:lnSpc>
              <a:spcAft>
                <a:spcPts val="1000"/>
              </a:spcAft>
              <a:buFont typeface="+mj-lt"/>
              <a:buAutoNum type="alphaLcPeriod"/>
            </a:pPr>
            <a:r>
              <a:rPr lang="fr-BE" dirty="0" smtClean="0">
                <a:latin typeface="Times New Roman"/>
                <a:ea typeface="Calibri"/>
                <a:cs typeface="Times New Roman"/>
              </a:rPr>
              <a:t>les patients en isolement géographique</a:t>
            </a:r>
            <a:endParaRPr lang="fr-FR" sz="2800" dirty="0">
              <a:ea typeface="Calibri"/>
              <a:cs typeface="Times New Roman"/>
            </a:endParaRPr>
          </a:p>
          <a:p>
            <a:pPr marR="719455" lvl="0">
              <a:lnSpc>
                <a:spcPct val="115000"/>
              </a:lnSpc>
              <a:spcAft>
                <a:spcPts val="1000"/>
              </a:spcAft>
              <a:buFont typeface="+mj-lt"/>
              <a:buAutoNum type="alphaLcPeriod"/>
            </a:pPr>
            <a:r>
              <a:rPr lang="fr-BE" dirty="0" smtClean="0">
                <a:latin typeface="Times New Roman"/>
                <a:ea typeface="Calibri"/>
                <a:cs typeface="Times New Roman"/>
              </a:rPr>
              <a:t>les patients en isolement septique </a:t>
            </a:r>
            <a:endParaRPr lang="fr-FR" sz="2800" dirty="0">
              <a:ea typeface="Calibri"/>
              <a:cs typeface="Times New Roman"/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08365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QCM 14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lnSpc>
                <a:spcPct val="106000"/>
              </a:lnSpc>
              <a:buNone/>
            </a:pPr>
            <a:r>
              <a:rPr lang="fr-BE" dirty="0" smtClean="0">
                <a:latin typeface="Times New Roman"/>
                <a:ea typeface="Calibri"/>
                <a:cs typeface="Times New Roman"/>
              </a:rPr>
              <a:t>Quels </a:t>
            </a:r>
            <a:r>
              <a:rPr lang="fr-BE" dirty="0" smtClean="0">
                <a:latin typeface="Times New Roman"/>
                <a:ea typeface="Calibri"/>
                <a:cs typeface="Times New Roman"/>
              </a:rPr>
              <a:t>sont les indicateurs de risque d'infection nosocomiale ?</a:t>
            </a:r>
            <a:endParaRPr lang="fr-FR" sz="2800" dirty="0">
              <a:ea typeface="Calibri"/>
              <a:cs typeface="Times New Roman"/>
            </a:endParaRPr>
          </a:p>
          <a:p>
            <a:pPr lvl="1">
              <a:lnSpc>
                <a:spcPct val="106000"/>
              </a:lnSpc>
              <a:spcAft>
                <a:spcPts val="800"/>
              </a:spcAft>
              <a:buFont typeface="+mj-lt"/>
              <a:buAutoNum type="alphaLcPeriod"/>
            </a:pPr>
            <a:r>
              <a:rPr lang="fr-BE" dirty="0" smtClean="0">
                <a:latin typeface="Times New Roman"/>
                <a:ea typeface="Calibri"/>
                <a:cs typeface="Times New Roman"/>
              </a:rPr>
              <a:t>Malade porteur d’une sonde vésicale</a:t>
            </a:r>
            <a:endParaRPr lang="fr-FR" sz="2400" dirty="0">
              <a:ea typeface="Calibri"/>
              <a:cs typeface="Times New Roman"/>
            </a:endParaRPr>
          </a:p>
          <a:p>
            <a:pPr lvl="1">
              <a:lnSpc>
                <a:spcPct val="106000"/>
              </a:lnSpc>
              <a:spcAft>
                <a:spcPts val="800"/>
              </a:spcAft>
              <a:buFont typeface="+mj-lt"/>
              <a:buAutoNum type="alphaLcPeriod"/>
            </a:pPr>
            <a:r>
              <a:rPr lang="fr-BE" dirty="0" smtClean="0">
                <a:latin typeface="Times New Roman"/>
                <a:ea typeface="Calibri"/>
                <a:cs typeface="Times New Roman"/>
              </a:rPr>
              <a:t>Malade porteur d’un cathéter veineux</a:t>
            </a:r>
            <a:endParaRPr lang="fr-FR" sz="2400" dirty="0">
              <a:ea typeface="Calibri"/>
              <a:cs typeface="Times New Roman"/>
            </a:endParaRPr>
          </a:p>
          <a:p>
            <a:pPr lvl="1">
              <a:lnSpc>
                <a:spcPct val="106000"/>
              </a:lnSpc>
              <a:spcAft>
                <a:spcPts val="800"/>
              </a:spcAft>
              <a:buFont typeface="+mj-lt"/>
              <a:buAutoNum type="alphaLcPeriod"/>
            </a:pPr>
            <a:r>
              <a:rPr lang="fr-BE" dirty="0" smtClean="0">
                <a:latin typeface="Times New Roman"/>
                <a:ea typeface="Calibri"/>
                <a:cs typeface="Times New Roman"/>
              </a:rPr>
              <a:t>Femme enceinte</a:t>
            </a:r>
            <a:endParaRPr lang="fr-FR" sz="2400" dirty="0">
              <a:ea typeface="Calibri"/>
              <a:cs typeface="Times New Roman"/>
            </a:endParaRPr>
          </a:p>
          <a:p>
            <a:pPr lvl="1">
              <a:lnSpc>
                <a:spcPct val="106000"/>
              </a:lnSpc>
              <a:spcAft>
                <a:spcPts val="800"/>
              </a:spcAft>
              <a:buFont typeface="+mj-lt"/>
              <a:buAutoNum type="alphaLcPeriod"/>
            </a:pPr>
            <a:r>
              <a:rPr lang="fr-BE" dirty="0" smtClean="0">
                <a:latin typeface="Times New Roman"/>
                <a:ea typeface="Calibri"/>
                <a:cs typeface="Times New Roman"/>
              </a:rPr>
              <a:t>Immunodépression </a:t>
            </a:r>
            <a:endParaRPr lang="fr-FR" sz="2400" dirty="0">
              <a:ea typeface="Calibri"/>
              <a:cs typeface="Times New Roman"/>
            </a:endParaRPr>
          </a:p>
          <a:p>
            <a:pPr lvl="1">
              <a:lnSpc>
                <a:spcPct val="106000"/>
              </a:lnSpc>
              <a:spcAft>
                <a:spcPts val="800"/>
              </a:spcAft>
              <a:buFont typeface="+mj-lt"/>
              <a:buAutoNum type="alphaLcPeriod"/>
            </a:pPr>
            <a:r>
              <a:rPr lang="fr-BE" dirty="0" smtClean="0">
                <a:latin typeface="Times New Roman"/>
                <a:ea typeface="Calibri"/>
                <a:cs typeface="Times New Roman"/>
              </a:rPr>
              <a:t>malade porteur d’une pathologie chronique</a:t>
            </a:r>
            <a:endParaRPr lang="fr-FR" sz="2400" dirty="0">
              <a:ea typeface="Calibri"/>
              <a:cs typeface="Times New Roman"/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4372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QCM 14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lnSpc>
                <a:spcPct val="106000"/>
              </a:lnSpc>
              <a:buNone/>
            </a:pPr>
            <a:r>
              <a:rPr lang="fr-BE" dirty="0" smtClean="0">
                <a:latin typeface="Times New Roman"/>
                <a:ea typeface="Calibri"/>
                <a:cs typeface="Times New Roman"/>
              </a:rPr>
              <a:t>Quels </a:t>
            </a:r>
            <a:r>
              <a:rPr lang="fr-BE" dirty="0" smtClean="0">
                <a:latin typeface="Times New Roman"/>
                <a:ea typeface="Calibri"/>
                <a:cs typeface="Times New Roman"/>
              </a:rPr>
              <a:t>sont les indicateurs de risque d'infection nosocomiale ?</a:t>
            </a:r>
            <a:endParaRPr lang="fr-FR" sz="2800" dirty="0">
              <a:ea typeface="Calibri"/>
              <a:cs typeface="Times New Roman"/>
            </a:endParaRPr>
          </a:p>
          <a:p>
            <a:pPr lvl="1">
              <a:lnSpc>
                <a:spcPct val="106000"/>
              </a:lnSpc>
              <a:spcAft>
                <a:spcPts val="800"/>
              </a:spcAft>
              <a:buFont typeface="+mj-lt"/>
              <a:buAutoNum type="alphaLcPeriod"/>
            </a:pPr>
            <a:r>
              <a:rPr lang="fr-BE" dirty="0" smtClean="0">
                <a:solidFill>
                  <a:schemeClr val="accent2">
                    <a:lumMod val="75000"/>
                  </a:schemeClr>
                </a:solidFill>
                <a:latin typeface="Times New Roman"/>
                <a:ea typeface="Calibri"/>
                <a:cs typeface="Times New Roman"/>
              </a:rPr>
              <a:t>Malade porteur d’une sonde vésicale</a:t>
            </a:r>
            <a:endParaRPr lang="fr-FR" sz="2400" dirty="0">
              <a:solidFill>
                <a:schemeClr val="accent2">
                  <a:lumMod val="75000"/>
                </a:schemeClr>
              </a:solidFill>
              <a:ea typeface="Calibri"/>
              <a:cs typeface="Times New Roman"/>
            </a:endParaRPr>
          </a:p>
          <a:p>
            <a:pPr lvl="1">
              <a:lnSpc>
                <a:spcPct val="106000"/>
              </a:lnSpc>
              <a:spcAft>
                <a:spcPts val="800"/>
              </a:spcAft>
              <a:buFont typeface="+mj-lt"/>
              <a:buAutoNum type="alphaLcPeriod"/>
            </a:pPr>
            <a:r>
              <a:rPr lang="fr-BE" dirty="0" smtClean="0">
                <a:solidFill>
                  <a:schemeClr val="accent2">
                    <a:lumMod val="75000"/>
                  </a:schemeClr>
                </a:solidFill>
                <a:latin typeface="Times New Roman"/>
                <a:ea typeface="Calibri"/>
                <a:cs typeface="Times New Roman"/>
              </a:rPr>
              <a:t>Malade porteur d’un cathéter veineux</a:t>
            </a:r>
            <a:endParaRPr lang="fr-FR" sz="2400" dirty="0">
              <a:solidFill>
                <a:schemeClr val="accent2">
                  <a:lumMod val="75000"/>
                </a:schemeClr>
              </a:solidFill>
              <a:ea typeface="Calibri"/>
              <a:cs typeface="Times New Roman"/>
            </a:endParaRPr>
          </a:p>
          <a:p>
            <a:pPr lvl="1">
              <a:lnSpc>
                <a:spcPct val="106000"/>
              </a:lnSpc>
              <a:spcAft>
                <a:spcPts val="800"/>
              </a:spcAft>
              <a:buFont typeface="+mj-lt"/>
              <a:buAutoNum type="alphaLcPeriod"/>
            </a:pPr>
            <a:r>
              <a:rPr lang="fr-BE" dirty="0" smtClean="0">
                <a:latin typeface="Times New Roman"/>
                <a:ea typeface="Calibri"/>
                <a:cs typeface="Times New Roman"/>
              </a:rPr>
              <a:t>Femme enceinte</a:t>
            </a:r>
            <a:endParaRPr lang="fr-FR" sz="2400" dirty="0">
              <a:ea typeface="Calibri"/>
              <a:cs typeface="Times New Roman"/>
            </a:endParaRPr>
          </a:p>
          <a:p>
            <a:pPr lvl="1">
              <a:lnSpc>
                <a:spcPct val="106000"/>
              </a:lnSpc>
              <a:spcAft>
                <a:spcPts val="800"/>
              </a:spcAft>
              <a:buFont typeface="+mj-lt"/>
              <a:buAutoNum type="alphaLcPeriod"/>
            </a:pPr>
            <a:r>
              <a:rPr lang="fr-BE" dirty="0" smtClean="0">
                <a:solidFill>
                  <a:schemeClr val="accent2">
                    <a:lumMod val="75000"/>
                  </a:schemeClr>
                </a:solidFill>
                <a:latin typeface="Times New Roman"/>
                <a:ea typeface="Calibri"/>
                <a:cs typeface="Times New Roman"/>
              </a:rPr>
              <a:t>Immunodépression </a:t>
            </a:r>
            <a:endParaRPr lang="fr-FR" sz="2400" dirty="0">
              <a:solidFill>
                <a:schemeClr val="accent2">
                  <a:lumMod val="75000"/>
                </a:schemeClr>
              </a:solidFill>
              <a:ea typeface="Calibri"/>
              <a:cs typeface="Times New Roman"/>
            </a:endParaRPr>
          </a:p>
          <a:p>
            <a:pPr lvl="1">
              <a:lnSpc>
                <a:spcPct val="106000"/>
              </a:lnSpc>
              <a:spcAft>
                <a:spcPts val="800"/>
              </a:spcAft>
              <a:buFont typeface="+mj-lt"/>
              <a:buAutoNum type="alphaLcPeriod"/>
            </a:pPr>
            <a:r>
              <a:rPr lang="fr-BE" dirty="0" smtClean="0">
                <a:solidFill>
                  <a:schemeClr val="accent2">
                    <a:lumMod val="75000"/>
                  </a:schemeClr>
                </a:solidFill>
                <a:latin typeface="Times New Roman"/>
                <a:ea typeface="Calibri"/>
                <a:cs typeface="Times New Roman"/>
              </a:rPr>
              <a:t>malade porteur d’une pathologie chronique</a:t>
            </a:r>
            <a:endParaRPr lang="fr-FR" sz="2400" dirty="0">
              <a:solidFill>
                <a:schemeClr val="accent2">
                  <a:lumMod val="75000"/>
                </a:schemeClr>
              </a:solidFill>
              <a:ea typeface="Calibri"/>
              <a:cs typeface="Times New Roman"/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03393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QCM 15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R="719455" lvl="0">
              <a:lnSpc>
                <a:spcPct val="106000"/>
              </a:lnSpc>
              <a:buNone/>
            </a:pPr>
            <a:r>
              <a:rPr lang="fr-BE" dirty="0" smtClean="0">
                <a:latin typeface="Times New Roman"/>
                <a:ea typeface="Calibri"/>
                <a:cs typeface="Times New Roman"/>
              </a:rPr>
              <a:t> </a:t>
            </a:r>
            <a:r>
              <a:rPr lang="fr-BE" dirty="0" smtClean="0">
                <a:latin typeface="Times New Roman"/>
                <a:ea typeface="Calibri"/>
                <a:cs typeface="Times New Roman"/>
              </a:rPr>
              <a:t>On entend par transmission croisée</a:t>
            </a:r>
            <a:endParaRPr lang="fr-FR" sz="2800" dirty="0">
              <a:ea typeface="Calibri"/>
              <a:cs typeface="Times New Roman"/>
            </a:endParaRPr>
          </a:p>
          <a:p>
            <a:pPr marR="719455" lvl="0">
              <a:lnSpc>
                <a:spcPct val="115000"/>
              </a:lnSpc>
              <a:spcAft>
                <a:spcPts val="1000"/>
              </a:spcAft>
              <a:buFont typeface="+mj-lt"/>
              <a:buAutoNum type="alphaLcPeriod"/>
            </a:pPr>
            <a:r>
              <a:rPr lang="fr-BE" dirty="0" smtClean="0">
                <a:latin typeface="Times New Roman"/>
                <a:ea typeface="Calibri"/>
                <a:cs typeface="Times New Roman"/>
              </a:rPr>
              <a:t>patient à patient</a:t>
            </a:r>
            <a:endParaRPr lang="fr-FR" sz="2800" dirty="0">
              <a:ea typeface="Calibri"/>
              <a:cs typeface="Times New Roman"/>
            </a:endParaRPr>
          </a:p>
          <a:p>
            <a:pPr marR="719455" lvl="0">
              <a:lnSpc>
                <a:spcPct val="115000"/>
              </a:lnSpc>
              <a:spcAft>
                <a:spcPts val="1000"/>
              </a:spcAft>
              <a:buFont typeface="+mj-lt"/>
              <a:buAutoNum type="alphaLcPeriod"/>
            </a:pPr>
            <a:r>
              <a:rPr lang="fr-BE" dirty="0" smtClean="0">
                <a:latin typeface="Times New Roman"/>
                <a:ea typeface="Calibri"/>
                <a:cs typeface="Times New Roman"/>
              </a:rPr>
              <a:t>patient à son environnement</a:t>
            </a:r>
            <a:endParaRPr lang="fr-FR" sz="2800" dirty="0">
              <a:ea typeface="Calibri"/>
              <a:cs typeface="Times New Roman"/>
            </a:endParaRPr>
          </a:p>
          <a:p>
            <a:pPr marR="719455" lvl="0">
              <a:lnSpc>
                <a:spcPct val="115000"/>
              </a:lnSpc>
              <a:spcAft>
                <a:spcPts val="1000"/>
              </a:spcAft>
              <a:buFont typeface="+mj-lt"/>
              <a:buAutoNum type="alphaLcPeriod"/>
            </a:pPr>
            <a:r>
              <a:rPr lang="fr-BE" dirty="0" smtClean="0">
                <a:latin typeface="Times New Roman"/>
                <a:ea typeface="Calibri"/>
                <a:cs typeface="Times New Roman"/>
              </a:rPr>
              <a:t>même patient</a:t>
            </a:r>
            <a:endParaRPr lang="fr-FR" sz="2800" dirty="0">
              <a:ea typeface="Calibri"/>
              <a:cs typeface="Times New Roman"/>
            </a:endParaRPr>
          </a:p>
          <a:p>
            <a:pPr marR="719455" lvl="0">
              <a:lnSpc>
                <a:spcPct val="115000"/>
              </a:lnSpc>
              <a:spcAft>
                <a:spcPts val="1000"/>
              </a:spcAft>
              <a:buFont typeface="+mj-lt"/>
              <a:buAutoNum type="alphaLcPeriod"/>
            </a:pPr>
            <a:r>
              <a:rPr lang="fr-BE" dirty="0" smtClean="0">
                <a:latin typeface="Times New Roman"/>
                <a:ea typeface="Calibri"/>
                <a:cs typeface="Times New Roman"/>
              </a:rPr>
              <a:t>environnement au patient</a:t>
            </a:r>
            <a:endParaRPr lang="fr-FR" sz="2800" dirty="0">
              <a:ea typeface="Calibri"/>
              <a:cs typeface="Times New Roman"/>
            </a:endParaRPr>
          </a:p>
          <a:p>
            <a:pPr marR="719455" lvl="0">
              <a:lnSpc>
                <a:spcPct val="115000"/>
              </a:lnSpc>
              <a:spcAft>
                <a:spcPts val="1000"/>
              </a:spcAft>
              <a:buFont typeface="+mj-lt"/>
              <a:buAutoNum type="alphaLcPeriod"/>
            </a:pPr>
            <a:r>
              <a:rPr lang="fr-BE" dirty="0" smtClean="0">
                <a:latin typeface="Times New Roman"/>
                <a:ea typeface="Calibri"/>
                <a:cs typeface="Times New Roman"/>
              </a:rPr>
              <a:t>soignant au patient</a:t>
            </a:r>
            <a:endParaRPr lang="fr-FR" sz="2800" dirty="0">
              <a:ea typeface="Calibri"/>
              <a:cs typeface="Times New Roman"/>
            </a:endParaRPr>
          </a:p>
          <a:p>
            <a:pPr lv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04906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QCM 15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R="719455" lvl="0">
              <a:lnSpc>
                <a:spcPct val="106000"/>
              </a:lnSpc>
              <a:buNone/>
            </a:pPr>
            <a:r>
              <a:rPr lang="fr-BE" dirty="0" smtClean="0">
                <a:latin typeface="Times New Roman"/>
                <a:ea typeface="Calibri"/>
                <a:cs typeface="Times New Roman"/>
              </a:rPr>
              <a:t>On </a:t>
            </a:r>
            <a:r>
              <a:rPr lang="fr-BE" dirty="0" smtClean="0">
                <a:latin typeface="Times New Roman"/>
                <a:ea typeface="Calibri"/>
                <a:cs typeface="Times New Roman"/>
              </a:rPr>
              <a:t>entend par transmission croisée</a:t>
            </a:r>
            <a:endParaRPr lang="fr-FR" sz="2800" dirty="0">
              <a:ea typeface="Calibri"/>
              <a:cs typeface="Times New Roman"/>
            </a:endParaRPr>
          </a:p>
          <a:p>
            <a:pPr marR="719455" lvl="0">
              <a:lnSpc>
                <a:spcPct val="115000"/>
              </a:lnSpc>
              <a:spcAft>
                <a:spcPts val="1000"/>
              </a:spcAft>
              <a:buFont typeface="+mj-lt"/>
              <a:buAutoNum type="alphaLcPeriod"/>
            </a:pPr>
            <a:r>
              <a:rPr lang="fr-BE" dirty="0" smtClean="0">
                <a:solidFill>
                  <a:schemeClr val="accent2">
                    <a:lumMod val="75000"/>
                  </a:schemeClr>
                </a:solidFill>
                <a:latin typeface="Times New Roman"/>
                <a:ea typeface="Calibri"/>
                <a:cs typeface="Times New Roman"/>
              </a:rPr>
              <a:t>patient à patient</a:t>
            </a:r>
            <a:endParaRPr lang="fr-FR" sz="2800" dirty="0">
              <a:solidFill>
                <a:schemeClr val="accent2">
                  <a:lumMod val="75000"/>
                </a:schemeClr>
              </a:solidFill>
              <a:ea typeface="Calibri"/>
              <a:cs typeface="Times New Roman"/>
            </a:endParaRPr>
          </a:p>
          <a:p>
            <a:pPr marR="719455" lvl="0">
              <a:lnSpc>
                <a:spcPct val="115000"/>
              </a:lnSpc>
              <a:spcAft>
                <a:spcPts val="1000"/>
              </a:spcAft>
              <a:buFont typeface="+mj-lt"/>
              <a:buAutoNum type="alphaLcPeriod"/>
            </a:pPr>
            <a:r>
              <a:rPr lang="fr-BE" dirty="0" smtClean="0">
                <a:latin typeface="Times New Roman"/>
                <a:ea typeface="Calibri"/>
                <a:cs typeface="Times New Roman"/>
              </a:rPr>
              <a:t>patient à son environnement</a:t>
            </a:r>
            <a:endParaRPr lang="fr-FR" sz="2800" dirty="0">
              <a:ea typeface="Calibri"/>
              <a:cs typeface="Times New Roman"/>
            </a:endParaRPr>
          </a:p>
          <a:p>
            <a:pPr marR="719455" lvl="0">
              <a:lnSpc>
                <a:spcPct val="115000"/>
              </a:lnSpc>
              <a:spcAft>
                <a:spcPts val="1000"/>
              </a:spcAft>
              <a:buFont typeface="+mj-lt"/>
              <a:buAutoNum type="alphaLcPeriod"/>
            </a:pPr>
            <a:r>
              <a:rPr lang="fr-BE" dirty="0" smtClean="0">
                <a:latin typeface="Times New Roman"/>
                <a:ea typeface="Calibri"/>
                <a:cs typeface="Times New Roman"/>
              </a:rPr>
              <a:t>même patient</a:t>
            </a:r>
            <a:endParaRPr lang="fr-FR" sz="2800" dirty="0">
              <a:ea typeface="Calibri"/>
              <a:cs typeface="Times New Roman"/>
            </a:endParaRPr>
          </a:p>
          <a:p>
            <a:pPr marR="719455" lvl="0">
              <a:lnSpc>
                <a:spcPct val="115000"/>
              </a:lnSpc>
              <a:spcAft>
                <a:spcPts val="1000"/>
              </a:spcAft>
              <a:buFont typeface="+mj-lt"/>
              <a:buAutoNum type="alphaLcPeriod"/>
            </a:pPr>
            <a:r>
              <a:rPr lang="fr-BE" dirty="0" smtClean="0">
                <a:solidFill>
                  <a:schemeClr val="accent2">
                    <a:lumMod val="75000"/>
                  </a:schemeClr>
                </a:solidFill>
                <a:latin typeface="Times New Roman"/>
                <a:ea typeface="Calibri"/>
                <a:cs typeface="Times New Roman"/>
              </a:rPr>
              <a:t>environnement au patient</a:t>
            </a:r>
            <a:endParaRPr lang="fr-FR" sz="2800" dirty="0">
              <a:solidFill>
                <a:schemeClr val="accent2">
                  <a:lumMod val="75000"/>
                </a:schemeClr>
              </a:solidFill>
              <a:ea typeface="Calibri"/>
              <a:cs typeface="Times New Roman"/>
            </a:endParaRPr>
          </a:p>
          <a:p>
            <a:pPr marR="719455" lvl="0">
              <a:lnSpc>
                <a:spcPct val="115000"/>
              </a:lnSpc>
              <a:spcAft>
                <a:spcPts val="1000"/>
              </a:spcAft>
              <a:buFont typeface="+mj-lt"/>
              <a:buAutoNum type="alphaLcPeriod"/>
            </a:pPr>
            <a:r>
              <a:rPr lang="fr-BE" dirty="0" smtClean="0">
                <a:latin typeface="Times New Roman"/>
                <a:ea typeface="Calibri"/>
                <a:cs typeface="Times New Roman"/>
              </a:rPr>
              <a:t>soignant au patient</a:t>
            </a:r>
            <a:endParaRPr lang="fr-FR" sz="2800" dirty="0">
              <a:ea typeface="Calibri"/>
              <a:cs typeface="Times New Roman"/>
            </a:endParaRPr>
          </a:p>
          <a:p>
            <a:pPr lv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17445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QCM 16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lnSpc>
                <a:spcPct val="106000"/>
              </a:lnSpc>
              <a:buNone/>
            </a:pPr>
            <a:r>
              <a:rPr lang="fr-BE" dirty="0" smtClean="0">
                <a:latin typeface="Times New Roman"/>
                <a:ea typeface="Calibri"/>
                <a:cs typeface="Times New Roman"/>
              </a:rPr>
              <a:t>Quelles </a:t>
            </a:r>
            <a:r>
              <a:rPr lang="fr-BE" dirty="0" smtClean="0">
                <a:latin typeface="Times New Roman"/>
                <a:ea typeface="Calibri"/>
                <a:cs typeface="Times New Roman"/>
              </a:rPr>
              <a:t>sont les 3 plus grandes causes d'infections nosocomiales ?</a:t>
            </a:r>
            <a:endParaRPr lang="fr-FR" sz="2800" dirty="0">
              <a:ea typeface="Calibri"/>
              <a:cs typeface="Times New Roman"/>
            </a:endParaRPr>
          </a:p>
          <a:p>
            <a:pPr lvl="1">
              <a:lnSpc>
                <a:spcPct val="106000"/>
              </a:lnSpc>
              <a:spcAft>
                <a:spcPts val="800"/>
              </a:spcAft>
              <a:buFont typeface="+mj-lt"/>
              <a:buAutoNum type="alphaLcPeriod"/>
            </a:pPr>
            <a:r>
              <a:rPr lang="fr-BE" dirty="0" smtClean="0">
                <a:latin typeface="Times New Roman"/>
                <a:ea typeface="Calibri"/>
                <a:cs typeface="Times New Roman"/>
              </a:rPr>
              <a:t>Les infections urinaires</a:t>
            </a:r>
            <a:endParaRPr lang="fr-FR" sz="2400" dirty="0">
              <a:ea typeface="Calibri"/>
              <a:cs typeface="Times New Roman"/>
            </a:endParaRPr>
          </a:p>
          <a:p>
            <a:pPr lvl="1">
              <a:lnSpc>
                <a:spcPct val="106000"/>
              </a:lnSpc>
              <a:spcAft>
                <a:spcPts val="800"/>
              </a:spcAft>
              <a:buFont typeface="+mj-lt"/>
              <a:buAutoNum type="alphaLcPeriod"/>
            </a:pPr>
            <a:r>
              <a:rPr lang="fr-BE" dirty="0" smtClean="0">
                <a:latin typeface="Times New Roman"/>
                <a:ea typeface="Calibri"/>
                <a:cs typeface="Times New Roman"/>
              </a:rPr>
              <a:t>Les infections du site opératoire</a:t>
            </a:r>
            <a:endParaRPr lang="fr-FR" sz="2400" dirty="0">
              <a:ea typeface="Calibri"/>
              <a:cs typeface="Times New Roman"/>
            </a:endParaRPr>
          </a:p>
          <a:p>
            <a:pPr lvl="1">
              <a:lnSpc>
                <a:spcPct val="106000"/>
              </a:lnSpc>
              <a:spcAft>
                <a:spcPts val="800"/>
              </a:spcAft>
              <a:buFont typeface="+mj-lt"/>
              <a:buAutoNum type="alphaLcPeriod"/>
            </a:pPr>
            <a:r>
              <a:rPr lang="fr-BE" dirty="0" smtClean="0">
                <a:latin typeface="Times New Roman"/>
                <a:ea typeface="Calibri"/>
                <a:cs typeface="Times New Roman"/>
              </a:rPr>
              <a:t>Les pneumonies</a:t>
            </a:r>
            <a:endParaRPr lang="fr-FR" sz="2400" dirty="0">
              <a:ea typeface="Calibri"/>
              <a:cs typeface="Times New Roman"/>
            </a:endParaRPr>
          </a:p>
          <a:p>
            <a:pPr lvl="1">
              <a:lnSpc>
                <a:spcPct val="106000"/>
              </a:lnSpc>
              <a:spcAft>
                <a:spcPts val="800"/>
              </a:spcAft>
              <a:buFont typeface="+mj-lt"/>
              <a:buAutoNum type="alphaLcPeriod"/>
            </a:pPr>
            <a:r>
              <a:rPr lang="fr-BE" dirty="0" smtClean="0">
                <a:latin typeface="Times New Roman"/>
                <a:ea typeface="Calibri"/>
                <a:cs typeface="Times New Roman"/>
              </a:rPr>
              <a:t>Les infections cutanées</a:t>
            </a:r>
            <a:endParaRPr lang="fr-FR" sz="2400" dirty="0" smtClean="0">
              <a:latin typeface="Times New Roman"/>
              <a:ea typeface="Calibri"/>
              <a:cs typeface="Times New Roman"/>
            </a:endParaRPr>
          </a:p>
          <a:p>
            <a:pPr lvl="1">
              <a:lnSpc>
                <a:spcPct val="106000"/>
              </a:lnSpc>
              <a:spcAft>
                <a:spcPts val="800"/>
              </a:spcAft>
              <a:buFont typeface="+mj-lt"/>
              <a:buAutoNum type="alphaLcPeriod"/>
            </a:pPr>
            <a:r>
              <a:rPr lang="fr-BE" dirty="0" smtClean="0">
                <a:latin typeface="Times New Roman"/>
                <a:ea typeface="Calibri"/>
              </a:rPr>
              <a:t>les infections </a:t>
            </a:r>
            <a:r>
              <a:rPr lang="fr-BE" dirty="0" err="1" smtClean="0">
                <a:latin typeface="Times New Roman"/>
                <a:ea typeface="Calibri"/>
              </a:rPr>
              <a:t>ostéoarticulaires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5596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QCM 16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lnSpc>
                <a:spcPct val="106000"/>
              </a:lnSpc>
              <a:buNone/>
            </a:pPr>
            <a:r>
              <a:rPr lang="fr-BE" dirty="0" smtClean="0">
                <a:latin typeface="Times New Roman"/>
                <a:ea typeface="Calibri"/>
                <a:cs typeface="Times New Roman"/>
              </a:rPr>
              <a:t>Quelles </a:t>
            </a:r>
            <a:r>
              <a:rPr lang="fr-BE" dirty="0" smtClean="0">
                <a:latin typeface="Times New Roman"/>
                <a:ea typeface="Calibri"/>
                <a:cs typeface="Times New Roman"/>
              </a:rPr>
              <a:t>sont les 3 plus grandes causes d'infections nosocomiales ?</a:t>
            </a:r>
            <a:endParaRPr lang="fr-FR" sz="2800" dirty="0">
              <a:ea typeface="Calibri"/>
              <a:cs typeface="Times New Roman"/>
            </a:endParaRPr>
          </a:p>
          <a:p>
            <a:pPr lvl="1">
              <a:lnSpc>
                <a:spcPct val="106000"/>
              </a:lnSpc>
              <a:spcAft>
                <a:spcPts val="800"/>
              </a:spcAft>
              <a:buFont typeface="+mj-lt"/>
              <a:buAutoNum type="alphaLcPeriod"/>
            </a:pPr>
            <a:r>
              <a:rPr lang="fr-BE" dirty="0" smtClean="0">
                <a:solidFill>
                  <a:schemeClr val="accent2">
                    <a:lumMod val="75000"/>
                  </a:schemeClr>
                </a:solidFill>
                <a:latin typeface="Times New Roman"/>
                <a:ea typeface="Calibri"/>
                <a:cs typeface="Times New Roman"/>
              </a:rPr>
              <a:t>Les infections urinaires</a:t>
            </a:r>
            <a:endParaRPr lang="fr-FR" sz="2400" dirty="0">
              <a:solidFill>
                <a:schemeClr val="accent2">
                  <a:lumMod val="75000"/>
                </a:schemeClr>
              </a:solidFill>
              <a:ea typeface="Calibri"/>
              <a:cs typeface="Times New Roman"/>
            </a:endParaRPr>
          </a:p>
          <a:p>
            <a:pPr lvl="1">
              <a:lnSpc>
                <a:spcPct val="106000"/>
              </a:lnSpc>
              <a:spcAft>
                <a:spcPts val="800"/>
              </a:spcAft>
              <a:buFont typeface="+mj-lt"/>
              <a:buAutoNum type="alphaLcPeriod"/>
            </a:pPr>
            <a:r>
              <a:rPr lang="fr-BE" dirty="0" smtClean="0">
                <a:solidFill>
                  <a:schemeClr val="accent2">
                    <a:lumMod val="75000"/>
                  </a:schemeClr>
                </a:solidFill>
                <a:latin typeface="Times New Roman"/>
                <a:ea typeface="Calibri"/>
                <a:cs typeface="Times New Roman"/>
              </a:rPr>
              <a:t>Les infections du site opératoire</a:t>
            </a:r>
            <a:endParaRPr lang="fr-FR" sz="2400" dirty="0">
              <a:solidFill>
                <a:schemeClr val="accent2">
                  <a:lumMod val="75000"/>
                </a:schemeClr>
              </a:solidFill>
              <a:ea typeface="Calibri"/>
              <a:cs typeface="Times New Roman"/>
            </a:endParaRPr>
          </a:p>
          <a:p>
            <a:pPr lvl="1">
              <a:lnSpc>
                <a:spcPct val="106000"/>
              </a:lnSpc>
              <a:spcAft>
                <a:spcPts val="800"/>
              </a:spcAft>
              <a:buFont typeface="+mj-lt"/>
              <a:buAutoNum type="alphaLcPeriod"/>
            </a:pPr>
            <a:r>
              <a:rPr lang="fr-BE" dirty="0" smtClean="0">
                <a:solidFill>
                  <a:schemeClr val="accent2">
                    <a:lumMod val="75000"/>
                  </a:schemeClr>
                </a:solidFill>
                <a:latin typeface="Times New Roman"/>
                <a:ea typeface="Calibri"/>
                <a:cs typeface="Times New Roman"/>
              </a:rPr>
              <a:t>Les pneumonies</a:t>
            </a:r>
            <a:endParaRPr lang="fr-FR" sz="2400" dirty="0">
              <a:solidFill>
                <a:schemeClr val="accent2">
                  <a:lumMod val="75000"/>
                </a:schemeClr>
              </a:solidFill>
              <a:ea typeface="Calibri"/>
              <a:cs typeface="Times New Roman"/>
            </a:endParaRPr>
          </a:p>
          <a:p>
            <a:pPr lvl="1">
              <a:lnSpc>
                <a:spcPct val="106000"/>
              </a:lnSpc>
              <a:spcAft>
                <a:spcPts val="800"/>
              </a:spcAft>
              <a:buFont typeface="+mj-lt"/>
              <a:buAutoNum type="alphaLcPeriod"/>
            </a:pPr>
            <a:r>
              <a:rPr lang="fr-BE" dirty="0" smtClean="0">
                <a:latin typeface="Times New Roman"/>
                <a:ea typeface="Calibri"/>
                <a:cs typeface="Times New Roman"/>
              </a:rPr>
              <a:t>Les infections cutanées</a:t>
            </a:r>
            <a:endParaRPr lang="fr-FR" sz="2400" dirty="0" smtClean="0">
              <a:latin typeface="Times New Roman"/>
              <a:ea typeface="Calibri"/>
              <a:cs typeface="Times New Roman"/>
            </a:endParaRPr>
          </a:p>
          <a:p>
            <a:pPr lvl="1">
              <a:lnSpc>
                <a:spcPct val="106000"/>
              </a:lnSpc>
              <a:spcAft>
                <a:spcPts val="800"/>
              </a:spcAft>
              <a:buFont typeface="+mj-lt"/>
              <a:buAutoNum type="alphaLcPeriod"/>
            </a:pPr>
            <a:r>
              <a:rPr lang="fr-BE" dirty="0" smtClean="0">
                <a:latin typeface="Times New Roman"/>
                <a:ea typeface="Calibri"/>
              </a:rPr>
              <a:t>les infections </a:t>
            </a:r>
            <a:r>
              <a:rPr lang="fr-BE" dirty="0" err="1" smtClean="0">
                <a:latin typeface="Times New Roman"/>
                <a:ea typeface="Calibri"/>
              </a:rPr>
              <a:t>ostéoarticulaires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2903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r-FR" dirty="0" smtClean="0"/>
              <a:t>QCM 17</a:t>
            </a:r>
            <a:endParaRPr lang="fr-FR" dirty="0" smtClean="0"/>
          </a:p>
        </p:txBody>
      </p:sp>
      <p:sp>
        <p:nvSpPr>
          <p:cNvPr id="76803" name="Espace réservé du pied de page 2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Dr N.Heroual</a:t>
            </a:r>
          </a:p>
        </p:txBody>
      </p:sp>
      <p:sp>
        <p:nvSpPr>
          <p:cNvPr id="76804" name="Espace réservé du numéro de diapositive 3"/>
          <p:cNvSpPr>
            <a:spLocks noGrp="1"/>
          </p:cNvSpPr>
          <p:nvPr>
            <p:ph type="sldNum" sz="quarter" idx="12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B44977D-7594-490A-987D-9B9F0C22D16C}" type="slidenum">
              <a:rPr lang="fr-F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35</a:t>
            </a:fld>
            <a:endParaRPr lang="fr-FR" smtClean="0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"/>
          </p:nvPr>
        </p:nvSpPr>
        <p:spPr>
          <a:xfrm>
            <a:off x="504131" y="1556792"/>
            <a:ext cx="9721215" cy="4937125"/>
          </a:xfrm>
        </p:spPr>
        <p:txBody>
          <a:bodyPr>
            <a:normAutofit fontScale="92500" lnSpcReduction="20000"/>
          </a:bodyPr>
          <a:lstStyle/>
          <a:p>
            <a:pPr marL="274320" indent="-274320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fr-FR" dirty="0" smtClean="0"/>
              <a:t>Cochez </a:t>
            </a:r>
            <a:r>
              <a:rPr lang="fr-FR" dirty="0" smtClean="0"/>
              <a:t>les affirmations exactes concernant la transmission des infections nosocomiales</a:t>
            </a:r>
          </a:p>
          <a:p>
            <a:pPr marL="514350" indent="-514350" eaLnBrk="1" fontAlgn="auto" hangingPunct="1">
              <a:spcAft>
                <a:spcPts val="0"/>
              </a:spcAft>
              <a:buFont typeface="+mj-lt"/>
              <a:buAutoNum type="alphaLcParenR"/>
              <a:defRPr/>
            </a:pPr>
            <a:r>
              <a:rPr lang="fr-FR" dirty="0" smtClean="0"/>
              <a:t>Dans la transmission par contact direct, le micro-organisme est transfert indirectement d’une personne à une autre</a:t>
            </a:r>
          </a:p>
          <a:p>
            <a:pPr marL="514350" indent="-514350" eaLnBrk="1" fontAlgn="auto" hangingPunct="1">
              <a:spcAft>
                <a:spcPts val="0"/>
              </a:spcAft>
              <a:buFont typeface="+mj-lt"/>
              <a:buAutoNum type="alphaLcParenR"/>
              <a:defRPr/>
            </a:pPr>
            <a:r>
              <a:rPr lang="fr-FR" dirty="0" smtClean="0"/>
              <a:t>Dans la transmission par contact indirect, le micro-organisme est transfert par l’intermédiaire d’objet</a:t>
            </a:r>
          </a:p>
          <a:p>
            <a:pPr marL="514350" indent="-514350" eaLnBrk="1" fontAlgn="auto" hangingPunct="1">
              <a:spcAft>
                <a:spcPts val="0"/>
              </a:spcAft>
              <a:buFont typeface="+mj-lt"/>
              <a:buAutoNum type="alphaLcParenR"/>
              <a:defRPr/>
            </a:pPr>
            <a:r>
              <a:rPr lang="fr-FR" dirty="0" smtClean="0"/>
              <a:t>La transmission par air, les noyaux de </a:t>
            </a:r>
            <a:r>
              <a:rPr lang="fr-FR" i="1" dirty="0" err="1" smtClean="0"/>
              <a:t>droplet</a:t>
            </a:r>
            <a:r>
              <a:rPr lang="fr-FR" i="1" dirty="0" smtClean="0"/>
              <a:t> </a:t>
            </a:r>
            <a:r>
              <a:rPr lang="fr-FR" i="1" dirty="0" err="1" smtClean="0"/>
              <a:t>nuclei</a:t>
            </a:r>
            <a:r>
              <a:rPr lang="fr-FR" dirty="0" smtClean="0"/>
              <a:t> peuvent rester dans l’air pendant longtemps </a:t>
            </a:r>
          </a:p>
          <a:p>
            <a:pPr marL="514350" indent="-514350" eaLnBrk="1" fontAlgn="auto" hangingPunct="1">
              <a:spcAft>
                <a:spcPts val="0"/>
              </a:spcAft>
              <a:buFont typeface="+mj-lt"/>
              <a:buAutoNum type="alphaLcParenR"/>
              <a:defRPr/>
            </a:pPr>
            <a:r>
              <a:rPr lang="fr-FR" dirty="0" smtClean="0"/>
              <a:t>La transmission par gouttelette, la transmission se fait généralement par contact avec une muqueuse</a:t>
            </a:r>
          </a:p>
          <a:p>
            <a:pPr marL="514350" indent="-514350" eaLnBrk="1" fontAlgn="auto" hangingPunct="1">
              <a:spcAft>
                <a:spcPts val="0"/>
              </a:spcAft>
              <a:buFont typeface="+mj-lt"/>
              <a:buAutoNum type="alphaLcParenR"/>
              <a:defRPr/>
            </a:pPr>
            <a:endParaRPr lang="fr-FR" dirty="0" smtClean="0"/>
          </a:p>
          <a:p>
            <a:pPr marL="514350" indent="-514350" eaLnBrk="1" fontAlgn="auto" hangingPunct="1">
              <a:spcAft>
                <a:spcPts val="0"/>
              </a:spcAft>
              <a:buFont typeface="+mj-lt"/>
              <a:buAutoNum type="alphaLcParenR"/>
              <a:defRPr/>
            </a:pPr>
            <a:endParaRPr lang="fr-FR" dirty="0" smtClean="0"/>
          </a:p>
          <a:p>
            <a:pPr marL="514350" indent="-514350" eaLnBrk="1" fontAlgn="auto" hangingPunct="1">
              <a:spcAft>
                <a:spcPts val="0"/>
              </a:spcAft>
              <a:buFont typeface="+mj-lt"/>
              <a:buAutoNum type="alphaLcParenR"/>
              <a:defRPr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8996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QCM 17</a:t>
            </a:r>
            <a:endParaRPr lang="fr-FR" dirty="0" smtClean="0"/>
          </a:p>
        </p:txBody>
      </p:sp>
      <p:sp>
        <p:nvSpPr>
          <p:cNvPr id="77827" name="Espace réservé du pied de page 2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Dr N.Heroual</a:t>
            </a:r>
          </a:p>
        </p:txBody>
      </p:sp>
      <p:sp>
        <p:nvSpPr>
          <p:cNvPr id="77828" name="Espace réservé du numéro de diapositive 3"/>
          <p:cNvSpPr>
            <a:spLocks noGrp="1"/>
          </p:cNvSpPr>
          <p:nvPr>
            <p:ph type="sldNum" sz="quarter" idx="12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2CAA969-BA72-4740-825E-5C7BCB85119A}" type="slidenum">
              <a:rPr lang="fr-F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36</a:t>
            </a:fld>
            <a:endParaRPr lang="fr-FR" smtClean="0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"/>
          </p:nvPr>
        </p:nvSpPr>
        <p:spPr>
          <a:xfrm>
            <a:off x="504131" y="1412776"/>
            <a:ext cx="9721215" cy="4937125"/>
          </a:xfrm>
        </p:spPr>
        <p:txBody>
          <a:bodyPr>
            <a:normAutofit fontScale="92500" lnSpcReduction="20000"/>
          </a:bodyPr>
          <a:lstStyle/>
          <a:p>
            <a:pPr marL="274320" indent="-274320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fr-FR" dirty="0" smtClean="0"/>
              <a:t>9) Cochez les affirmations exactes concernant la transmission des infections nosocomiales</a:t>
            </a:r>
          </a:p>
          <a:p>
            <a:pPr marL="514350" indent="-514350" eaLnBrk="1" fontAlgn="auto" hangingPunct="1">
              <a:spcAft>
                <a:spcPts val="0"/>
              </a:spcAft>
              <a:buFont typeface="+mj-lt"/>
              <a:buAutoNum type="alphaLcParenR"/>
              <a:defRPr/>
            </a:pPr>
            <a:r>
              <a:rPr lang="fr-FR" dirty="0" smtClean="0"/>
              <a:t>Dans la transmission par contact direct, le micro-organisme est transfert indirectement d’une personne à une autre</a:t>
            </a:r>
          </a:p>
          <a:p>
            <a:pPr marL="514350" indent="-514350" eaLnBrk="1" fontAlgn="auto" hangingPunct="1">
              <a:spcAft>
                <a:spcPts val="0"/>
              </a:spcAft>
              <a:buFont typeface="+mj-lt"/>
              <a:buAutoNum type="alphaLcParenR"/>
              <a:defRPr/>
            </a:pPr>
            <a:r>
              <a:rPr lang="fr-FR" dirty="0" smtClean="0">
                <a:solidFill>
                  <a:srgbClr val="C00000"/>
                </a:solidFill>
              </a:rPr>
              <a:t>Dans la transmission par contact indirect, le micro-organisme est transfert par l’intermédiaire d’objet</a:t>
            </a:r>
          </a:p>
          <a:p>
            <a:pPr marL="514350" indent="-514350" eaLnBrk="1" fontAlgn="auto" hangingPunct="1">
              <a:spcAft>
                <a:spcPts val="0"/>
              </a:spcAft>
              <a:buFont typeface="+mj-lt"/>
              <a:buAutoNum type="alphaLcParenR"/>
              <a:defRPr/>
            </a:pPr>
            <a:r>
              <a:rPr lang="fr-FR" dirty="0" smtClean="0">
                <a:solidFill>
                  <a:srgbClr val="C00000"/>
                </a:solidFill>
              </a:rPr>
              <a:t>La transmission par air, les noyaux de </a:t>
            </a:r>
            <a:r>
              <a:rPr lang="fr-FR" i="1" dirty="0" err="1" smtClean="0">
                <a:solidFill>
                  <a:srgbClr val="C00000"/>
                </a:solidFill>
              </a:rPr>
              <a:t>droplet</a:t>
            </a:r>
            <a:r>
              <a:rPr lang="fr-FR" i="1" dirty="0" smtClean="0">
                <a:solidFill>
                  <a:srgbClr val="C00000"/>
                </a:solidFill>
              </a:rPr>
              <a:t> </a:t>
            </a:r>
            <a:r>
              <a:rPr lang="fr-FR" i="1" dirty="0" err="1" smtClean="0">
                <a:solidFill>
                  <a:srgbClr val="C00000"/>
                </a:solidFill>
              </a:rPr>
              <a:t>nuclei</a:t>
            </a:r>
            <a:r>
              <a:rPr lang="fr-FR" dirty="0" smtClean="0">
                <a:solidFill>
                  <a:srgbClr val="C00000"/>
                </a:solidFill>
              </a:rPr>
              <a:t> peuvent rester dans l’air pendant longtemps </a:t>
            </a:r>
          </a:p>
          <a:p>
            <a:pPr marL="514350" indent="-514350" eaLnBrk="1" fontAlgn="auto" hangingPunct="1">
              <a:spcAft>
                <a:spcPts val="0"/>
              </a:spcAft>
              <a:buFont typeface="+mj-lt"/>
              <a:buAutoNum type="alphaLcParenR"/>
              <a:defRPr/>
            </a:pPr>
            <a:r>
              <a:rPr lang="fr-FR" dirty="0" smtClean="0">
                <a:solidFill>
                  <a:srgbClr val="C00000"/>
                </a:solidFill>
              </a:rPr>
              <a:t>La transmission par gouttelette, la transmission se fait généralement par contact avec une muqueuse</a:t>
            </a:r>
          </a:p>
          <a:p>
            <a:pPr marL="514350" indent="-514350" eaLnBrk="1" fontAlgn="auto" hangingPunct="1">
              <a:spcAft>
                <a:spcPts val="0"/>
              </a:spcAft>
              <a:buFont typeface="+mj-lt"/>
              <a:buAutoNum type="alphaLcParenR"/>
              <a:defRPr/>
            </a:pPr>
            <a:endParaRPr lang="fr-FR" dirty="0" smtClean="0"/>
          </a:p>
          <a:p>
            <a:pPr marL="514350" indent="-514350" eaLnBrk="1" fontAlgn="auto" hangingPunct="1">
              <a:spcAft>
                <a:spcPts val="0"/>
              </a:spcAft>
              <a:buFont typeface="+mj-lt"/>
              <a:buAutoNum type="alphaLcParenR"/>
              <a:defRPr/>
            </a:pPr>
            <a:endParaRPr lang="fr-FR" dirty="0" smtClean="0"/>
          </a:p>
          <a:p>
            <a:pPr marL="514350" indent="-514350" eaLnBrk="1" fontAlgn="auto" hangingPunct="1">
              <a:spcAft>
                <a:spcPts val="0"/>
              </a:spcAft>
              <a:buFont typeface="+mj-lt"/>
              <a:buAutoNum type="alphaLcParenR"/>
              <a:defRPr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39848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r-FR" dirty="0" smtClean="0"/>
              <a:t>QCM 18</a:t>
            </a:r>
            <a:endParaRPr lang="fr-FR" dirty="0" smtClean="0"/>
          </a:p>
        </p:txBody>
      </p:sp>
      <p:sp>
        <p:nvSpPr>
          <p:cNvPr id="80899" name="Espace réservé du pied de page 2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Dr N.Heroual</a:t>
            </a:r>
          </a:p>
        </p:txBody>
      </p:sp>
      <p:sp>
        <p:nvSpPr>
          <p:cNvPr id="80900" name="Espace réservé du numéro de diapositive 3"/>
          <p:cNvSpPr>
            <a:spLocks noGrp="1"/>
          </p:cNvSpPr>
          <p:nvPr>
            <p:ph type="sldNum" sz="quarter" idx="12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865BA65-0FCB-4376-8795-700833838793}" type="slidenum">
              <a:rPr lang="fr-F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37</a:t>
            </a:fld>
            <a:endParaRPr lang="fr-FR" smtClean="0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"/>
          </p:nvPr>
        </p:nvSpPr>
        <p:spPr>
          <a:xfrm>
            <a:off x="540068" y="1219201"/>
            <a:ext cx="9721215" cy="4937125"/>
          </a:xfrm>
        </p:spPr>
        <p:txBody>
          <a:bodyPr>
            <a:normAutofit/>
          </a:bodyPr>
          <a:lstStyle/>
          <a:p>
            <a:pPr marL="274320" indent="-274320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fr-BE" dirty="0" smtClean="0"/>
              <a:t> </a:t>
            </a:r>
            <a:r>
              <a:rPr lang="fr-BE" dirty="0" smtClean="0"/>
              <a:t>Parmi les maladies suivantes, lesquelles ont une voie de transmission de type gouttelette ? </a:t>
            </a:r>
            <a:endParaRPr lang="fr-FR" dirty="0" smtClean="0"/>
          </a:p>
          <a:p>
            <a:pPr marL="514350" indent="-514350" eaLnBrk="1" fontAlgn="auto" hangingPunct="1">
              <a:spcAft>
                <a:spcPts val="0"/>
              </a:spcAft>
              <a:buFont typeface="+mj-lt"/>
              <a:buAutoNum type="alphaLcParenR"/>
              <a:defRPr/>
            </a:pPr>
            <a:r>
              <a:rPr lang="fr-BE" dirty="0" smtClean="0"/>
              <a:t>Grippe </a:t>
            </a:r>
            <a:endParaRPr lang="fr-FR" dirty="0" smtClean="0"/>
          </a:p>
          <a:p>
            <a:pPr marL="514350" indent="-514350" eaLnBrk="1" fontAlgn="auto" hangingPunct="1">
              <a:spcAft>
                <a:spcPts val="0"/>
              </a:spcAft>
              <a:buFont typeface="+mj-lt"/>
              <a:buAutoNum type="alphaLcParenR"/>
              <a:defRPr/>
            </a:pPr>
            <a:r>
              <a:rPr lang="fr-BE" dirty="0" smtClean="0"/>
              <a:t>Varicelle </a:t>
            </a:r>
            <a:endParaRPr lang="fr-FR" dirty="0" smtClean="0"/>
          </a:p>
          <a:p>
            <a:pPr marL="514350" indent="-514350" eaLnBrk="1" fontAlgn="auto" hangingPunct="1">
              <a:spcAft>
                <a:spcPts val="0"/>
              </a:spcAft>
              <a:buFont typeface="+mj-lt"/>
              <a:buAutoNum type="alphaLcParenR"/>
              <a:defRPr/>
            </a:pPr>
            <a:r>
              <a:rPr lang="fr-BE" dirty="0" smtClean="0"/>
              <a:t>Méningocoque </a:t>
            </a:r>
            <a:endParaRPr lang="fr-FR" dirty="0" smtClean="0"/>
          </a:p>
          <a:p>
            <a:pPr marL="514350" indent="-514350" eaLnBrk="1" fontAlgn="auto" hangingPunct="1">
              <a:spcAft>
                <a:spcPts val="0"/>
              </a:spcAft>
              <a:buFont typeface="+mj-lt"/>
              <a:buAutoNum type="alphaLcParenR"/>
              <a:defRPr/>
            </a:pPr>
            <a:r>
              <a:rPr lang="fr-BE" dirty="0" smtClean="0"/>
              <a:t>Tuberculose</a:t>
            </a:r>
            <a:endParaRPr lang="fr-FR" dirty="0" smtClean="0"/>
          </a:p>
          <a:p>
            <a:pPr marL="274320" indent="-274320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95884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QCM 18</a:t>
            </a:r>
            <a:endParaRPr lang="fr-FR" dirty="0" smtClean="0"/>
          </a:p>
        </p:txBody>
      </p:sp>
      <p:sp>
        <p:nvSpPr>
          <p:cNvPr id="81923" name="Espace réservé du pied de page 2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Dr N.Heroual</a:t>
            </a:r>
          </a:p>
        </p:txBody>
      </p:sp>
      <p:sp>
        <p:nvSpPr>
          <p:cNvPr id="81924" name="Espace réservé du numéro de diapositive 3"/>
          <p:cNvSpPr>
            <a:spLocks noGrp="1"/>
          </p:cNvSpPr>
          <p:nvPr>
            <p:ph type="sldNum" sz="quarter" idx="12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353C531-1303-4FFA-804C-0B01F5B14398}" type="slidenum">
              <a:rPr lang="fr-F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38</a:t>
            </a:fld>
            <a:endParaRPr lang="fr-FR" smtClean="0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"/>
          </p:nvPr>
        </p:nvSpPr>
        <p:spPr>
          <a:xfrm>
            <a:off x="540068" y="1219201"/>
            <a:ext cx="9721215" cy="4937125"/>
          </a:xfrm>
        </p:spPr>
        <p:txBody>
          <a:bodyPr>
            <a:normAutofit/>
          </a:bodyPr>
          <a:lstStyle/>
          <a:p>
            <a:pPr marL="274320" indent="-274320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fr-BE" dirty="0" smtClean="0"/>
              <a:t>Parmi </a:t>
            </a:r>
            <a:r>
              <a:rPr lang="fr-BE" dirty="0" smtClean="0"/>
              <a:t>les maladies suivantes, lesquelles ont une voie de transmission de type gouttelette ? </a:t>
            </a:r>
            <a:endParaRPr lang="fr-FR" dirty="0" smtClean="0"/>
          </a:p>
          <a:p>
            <a:pPr marL="514350" indent="-514350" eaLnBrk="1" fontAlgn="auto" hangingPunct="1">
              <a:spcAft>
                <a:spcPts val="0"/>
              </a:spcAft>
              <a:buFont typeface="+mj-lt"/>
              <a:buAutoNum type="alphaLcParenR"/>
              <a:defRPr/>
            </a:pPr>
            <a:r>
              <a:rPr lang="fr-BE" dirty="0" smtClean="0">
                <a:solidFill>
                  <a:srgbClr val="C00000"/>
                </a:solidFill>
              </a:rPr>
              <a:t>Grippe </a:t>
            </a:r>
            <a:endParaRPr lang="fr-FR" dirty="0" smtClean="0">
              <a:solidFill>
                <a:srgbClr val="C00000"/>
              </a:solidFill>
            </a:endParaRPr>
          </a:p>
          <a:p>
            <a:pPr marL="514350" indent="-514350" eaLnBrk="1" fontAlgn="auto" hangingPunct="1">
              <a:spcAft>
                <a:spcPts val="0"/>
              </a:spcAft>
              <a:buFont typeface="+mj-lt"/>
              <a:buAutoNum type="alphaLcParenR"/>
              <a:defRPr/>
            </a:pPr>
            <a:r>
              <a:rPr lang="fr-BE" dirty="0" smtClean="0"/>
              <a:t>Varicelle </a:t>
            </a:r>
            <a:endParaRPr lang="fr-FR" dirty="0" smtClean="0"/>
          </a:p>
          <a:p>
            <a:pPr marL="514350" indent="-514350" eaLnBrk="1" fontAlgn="auto" hangingPunct="1">
              <a:spcAft>
                <a:spcPts val="0"/>
              </a:spcAft>
              <a:buFont typeface="+mj-lt"/>
              <a:buAutoNum type="alphaLcParenR"/>
              <a:defRPr/>
            </a:pPr>
            <a:r>
              <a:rPr lang="fr-BE" dirty="0" smtClean="0">
                <a:solidFill>
                  <a:srgbClr val="C00000"/>
                </a:solidFill>
              </a:rPr>
              <a:t>Méningocoque</a:t>
            </a:r>
            <a:r>
              <a:rPr lang="fr-BE" dirty="0" smtClean="0">
                <a:solidFill>
                  <a:srgbClr val="00B050"/>
                </a:solidFill>
              </a:rPr>
              <a:t> </a:t>
            </a:r>
            <a:endParaRPr lang="fr-FR" dirty="0" smtClean="0">
              <a:solidFill>
                <a:srgbClr val="00B050"/>
              </a:solidFill>
            </a:endParaRPr>
          </a:p>
          <a:p>
            <a:pPr marL="514350" indent="-514350" eaLnBrk="1" fontAlgn="auto" hangingPunct="1">
              <a:spcAft>
                <a:spcPts val="0"/>
              </a:spcAft>
              <a:buFont typeface="+mj-lt"/>
              <a:buAutoNum type="alphaLcParenR"/>
              <a:defRPr/>
            </a:pPr>
            <a:r>
              <a:rPr lang="fr-BE" dirty="0" smtClean="0"/>
              <a:t>Tuberculose</a:t>
            </a:r>
            <a:endParaRPr lang="fr-FR" dirty="0" smtClean="0"/>
          </a:p>
          <a:p>
            <a:pPr marL="274320" indent="-274320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04044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QCM 19</a:t>
            </a:r>
            <a:endParaRPr lang="fr-FR" dirty="0" smtClean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540068" y="1219201"/>
            <a:ext cx="9721215" cy="4937125"/>
          </a:xfrm>
        </p:spPr>
        <p:txBody>
          <a:bodyPr/>
          <a:lstStyle/>
          <a:p>
            <a:pPr>
              <a:buFont typeface="Wingdings 3" pitchFamily="18" charset="2"/>
              <a:buNone/>
              <a:defRPr/>
            </a:pPr>
            <a:r>
              <a:rPr lang="fr-FR" dirty="0" smtClean="0"/>
              <a:t>Les </a:t>
            </a:r>
            <a:r>
              <a:rPr lang="fr-FR" dirty="0" smtClean="0"/>
              <a:t>infections associées aux soins </a:t>
            </a:r>
            <a:r>
              <a:rPr lang="fr-FR" dirty="0" smtClean="0"/>
              <a:t>:</a:t>
            </a:r>
            <a:r>
              <a:rPr lang="fr-FR" dirty="0"/>
              <a:t> réponse juste</a:t>
            </a:r>
            <a:endParaRPr lang="fr-FR" dirty="0" smtClean="0"/>
          </a:p>
          <a:p>
            <a:pPr marL="514350" indent="-514350">
              <a:buFont typeface="+mj-lt"/>
              <a:buAutoNum type="alphaLcPeriod"/>
              <a:defRPr/>
            </a:pPr>
            <a:r>
              <a:rPr lang="fr-FR" dirty="0" smtClean="0"/>
              <a:t>Sont synonymes du terme « infections nosocomiales »</a:t>
            </a:r>
          </a:p>
          <a:p>
            <a:pPr marL="514350" indent="-514350">
              <a:buFont typeface="+mj-lt"/>
              <a:buAutoNum type="alphaLcPeriod"/>
              <a:defRPr/>
            </a:pPr>
            <a:r>
              <a:rPr lang="fr-FR" dirty="0" smtClean="0"/>
              <a:t> Ne peuvent pas se produire en dehors des établissements de soins</a:t>
            </a:r>
          </a:p>
          <a:p>
            <a:pPr marL="514350" indent="-514350">
              <a:buFont typeface="+mj-lt"/>
              <a:buAutoNum type="alphaLcPeriod"/>
              <a:defRPr/>
            </a:pPr>
            <a:r>
              <a:rPr lang="fr-FR" dirty="0" smtClean="0"/>
              <a:t> Sont toujours causées par un germe hospitalier</a:t>
            </a:r>
          </a:p>
          <a:p>
            <a:pPr marL="514350" indent="-514350">
              <a:buFont typeface="+mj-lt"/>
              <a:buAutoNum type="alphaLcPeriod"/>
              <a:defRPr/>
            </a:pPr>
            <a:r>
              <a:rPr lang="fr-FR" dirty="0" smtClean="0"/>
              <a:t> sont  surveillées en Algérie</a:t>
            </a:r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Dr N.Heroual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597877-50C5-4A71-A035-5E244212C41A}" type="slidenum">
              <a:rPr lang="fr-FR" smtClean="0"/>
              <a:pPr>
                <a:defRPr/>
              </a:pPr>
              <a:t>39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61991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QCM 19</a:t>
            </a:r>
            <a:endParaRPr lang="fr-FR" dirty="0" smtClean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540068" y="1219201"/>
            <a:ext cx="9721215" cy="4937125"/>
          </a:xfrm>
        </p:spPr>
        <p:txBody>
          <a:bodyPr/>
          <a:lstStyle/>
          <a:p>
            <a:pPr>
              <a:buFont typeface="Wingdings 3" pitchFamily="18" charset="2"/>
              <a:buNone/>
              <a:defRPr/>
            </a:pPr>
            <a:r>
              <a:rPr lang="fr-FR" dirty="0" smtClean="0"/>
              <a:t>Les </a:t>
            </a:r>
            <a:r>
              <a:rPr lang="fr-FR" dirty="0" smtClean="0"/>
              <a:t>infections associées aux soins </a:t>
            </a:r>
            <a:r>
              <a:rPr lang="fr-FR" dirty="0" smtClean="0"/>
              <a:t>: réponse juste</a:t>
            </a:r>
            <a:endParaRPr lang="fr-FR" dirty="0" smtClean="0"/>
          </a:p>
          <a:p>
            <a:pPr marL="514350" indent="-514350">
              <a:buFont typeface="+mj-lt"/>
              <a:buAutoNum type="alphaLcPeriod"/>
              <a:defRPr/>
            </a:pPr>
            <a:r>
              <a:rPr lang="fr-FR" dirty="0" smtClean="0"/>
              <a:t>Sont synonymes du terme « infections nosocomiales »</a:t>
            </a:r>
          </a:p>
          <a:p>
            <a:pPr marL="514350" indent="-514350">
              <a:buFont typeface="+mj-lt"/>
              <a:buAutoNum type="alphaLcPeriod"/>
              <a:defRPr/>
            </a:pPr>
            <a:r>
              <a:rPr lang="fr-FR" dirty="0" smtClean="0"/>
              <a:t> Ne peuvent pas se produire en dehors des établissements de soins</a:t>
            </a:r>
          </a:p>
          <a:p>
            <a:pPr marL="514350" indent="-514350">
              <a:buFont typeface="+mj-lt"/>
              <a:buAutoNum type="alphaLcPeriod"/>
              <a:defRPr/>
            </a:pPr>
            <a:r>
              <a:rPr lang="fr-FR" dirty="0" smtClean="0"/>
              <a:t> Sont toujours causées par un germe hospitalier</a:t>
            </a:r>
          </a:p>
          <a:p>
            <a:pPr marL="514350" indent="-514350">
              <a:buFont typeface="+mj-lt"/>
              <a:buAutoNum type="alphaLcPeriod"/>
              <a:defRPr/>
            </a:pPr>
            <a:r>
              <a:rPr lang="fr-FR" dirty="0" smtClean="0"/>
              <a:t> </a:t>
            </a:r>
            <a:r>
              <a:rPr lang="fr-FR" dirty="0" smtClean="0">
                <a:solidFill>
                  <a:srgbClr val="C00000"/>
                </a:solidFill>
              </a:rPr>
              <a:t>sont  surveillées en Algérie</a:t>
            </a:r>
            <a:endParaRPr lang="fr-FR" dirty="0">
              <a:solidFill>
                <a:srgbClr val="C00000"/>
              </a:solidFill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Dr N.Heroual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2C2F882-A092-4E4E-8882-317BD54B571B}" type="slidenum">
              <a:rPr lang="fr-FR" smtClean="0"/>
              <a:pPr>
                <a:defRPr/>
              </a:pPr>
              <a:t>40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4866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r-FR" dirty="0" smtClean="0"/>
              <a:t>QCM 20</a:t>
            </a:r>
            <a:endParaRPr lang="fr-FR" dirty="0" smtClean="0"/>
          </a:p>
        </p:txBody>
      </p:sp>
      <p:sp>
        <p:nvSpPr>
          <p:cNvPr id="106499" name="Espace réservé du pied de page 2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Dr N.Heroual</a:t>
            </a:r>
          </a:p>
        </p:txBody>
      </p:sp>
      <p:sp>
        <p:nvSpPr>
          <p:cNvPr id="106500" name="Espace réservé du numéro de diapositive 3"/>
          <p:cNvSpPr>
            <a:spLocks noGrp="1"/>
          </p:cNvSpPr>
          <p:nvPr>
            <p:ph type="sldNum" sz="quarter" idx="12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5A747C9-8817-4C8D-A109-C6D5E4CC9C29}" type="slidenum">
              <a:rPr lang="fr-F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41</a:t>
            </a:fld>
            <a:endParaRPr lang="fr-FR" smtClean="0"/>
          </a:p>
        </p:txBody>
      </p:sp>
      <p:sp>
        <p:nvSpPr>
          <p:cNvPr id="107525" name="Espace réservé du contenu 4"/>
          <p:cNvSpPr>
            <a:spLocks noGrp="1"/>
          </p:cNvSpPr>
          <p:nvPr>
            <p:ph sz="quarter" idx="1"/>
          </p:nvPr>
        </p:nvSpPr>
        <p:spPr>
          <a:xfrm>
            <a:off x="540068" y="1219201"/>
            <a:ext cx="9721215" cy="4937125"/>
          </a:xfrm>
        </p:spPr>
        <p:txBody>
          <a:bodyPr/>
          <a:lstStyle/>
          <a:p>
            <a:pPr marL="677863" eaLnBrk="1" hangingPunct="1">
              <a:lnSpc>
                <a:spcPct val="115000"/>
              </a:lnSpc>
              <a:spcAft>
                <a:spcPts val="1000"/>
              </a:spcAft>
            </a:pPr>
            <a:r>
              <a:rPr lang="fr-BE" sz="800" dirty="0" smtClean="0">
                <a:latin typeface="Calibri" pitchFamily="34" charset="0"/>
                <a:ea typeface="Calibri" pitchFamily="34" charset="0"/>
                <a:cs typeface="Times New Roman" pitchFamily="18" charset="0"/>
              </a:rPr>
              <a:t> </a:t>
            </a:r>
            <a:endParaRPr lang="fr-FR" sz="2400" dirty="0" smtClean="0">
              <a:latin typeface="Calibri" pitchFamily="34" charset="0"/>
              <a:ea typeface="Calibri" pitchFamily="34" charset="0"/>
              <a:cs typeface="Times New Roman" pitchFamily="18" charset="0"/>
            </a:endParaRPr>
          </a:p>
          <a:p>
            <a:pPr marL="677863" eaLnBrk="1" hangingPunct="1">
              <a:lnSpc>
                <a:spcPct val="107000"/>
              </a:lnSpc>
              <a:buFont typeface="Wingdings 3" pitchFamily="18" charset="2"/>
              <a:buNone/>
            </a:pPr>
            <a:r>
              <a:rPr lang="fr-BE" sz="2400" dirty="0" smtClean="0">
                <a:latin typeface="Calibri" pitchFamily="34" charset="0"/>
                <a:ea typeface="Calibri" pitchFamily="34" charset="0"/>
                <a:cs typeface="Times New Roman" pitchFamily="18" charset="0"/>
              </a:rPr>
              <a:t>L</a:t>
            </a:r>
            <a:r>
              <a:rPr lang="fr-BE" sz="2800" dirty="0" smtClean="0">
                <a:latin typeface="Calibri" pitchFamily="34" charset="0"/>
                <a:ea typeface="Calibri" pitchFamily="34" charset="0"/>
                <a:cs typeface="Times New Roman" pitchFamily="18" charset="0"/>
              </a:rPr>
              <a:t>e </a:t>
            </a:r>
            <a:r>
              <a:rPr lang="fr-BE" sz="2800" dirty="0" smtClean="0">
                <a:latin typeface="Calibri" pitchFamily="34" charset="0"/>
                <a:ea typeface="Calibri" pitchFamily="34" charset="0"/>
                <a:cs typeface="Times New Roman" pitchFamily="18" charset="0"/>
              </a:rPr>
              <a:t>diagnostic d'une infection nosocomiale urinaire est basé sur :</a:t>
            </a:r>
            <a:endParaRPr lang="fr-FR" sz="2400" dirty="0" smtClean="0">
              <a:latin typeface="Calibri" pitchFamily="34" charset="0"/>
              <a:ea typeface="Calibri" pitchFamily="34" charset="0"/>
              <a:cs typeface="Times New Roman" pitchFamily="18" charset="0"/>
            </a:endParaRPr>
          </a:p>
          <a:p>
            <a:pPr marL="677863" eaLnBrk="1" hangingPunct="1">
              <a:lnSpc>
                <a:spcPct val="107000"/>
              </a:lnSpc>
              <a:buFont typeface="Bookman Old Style" pitchFamily="18" charset="0"/>
              <a:buAutoNum type="alphaLcParenR"/>
            </a:pPr>
            <a:r>
              <a:rPr lang="fr-BE" sz="2800" dirty="0" smtClean="0">
                <a:latin typeface="Calibri" pitchFamily="34" charset="0"/>
                <a:ea typeface="Calibri" pitchFamily="34" charset="0"/>
                <a:cs typeface="Times New Roman" pitchFamily="18" charset="0"/>
              </a:rPr>
              <a:t>preuve bactériologique</a:t>
            </a:r>
            <a:endParaRPr lang="fr-FR" sz="2400" dirty="0" smtClean="0">
              <a:latin typeface="Calibri" pitchFamily="34" charset="0"/>
              <a:ea typeface="Calibri" pitchFamily="34" charset="0"/>
              <a:cs typeface="Times New Roman" pitchFamily="18" charset="0"/>
            </a:endParaRPr>
          </a:p>
          <a:p>
            <a:pPr marL="677863" eaLnBrk="1" hangingPunct="1">
              <a:lnSpc>
                <a:spcPct val="107000"/>
              </a:lnSpc>
              <a:buFont typeface="Bookman Old Style" pitchFamily="18" charset="0"/>
              <a:buAutoNum type="alphaLcParenR"/>
            </a:pPr>
            <a:r>
              <a:rPr lang="fr-BE" sz="2800" dirty="0" smtClean="0">
                <a:latin typeface="Calibri" pitchFamily="34" charset="0"/>
                <a:ea typeface="Calibri" pitchFamily="34" charset="0"/>
                <a:cs typeface="Times New Roman" pitchFamily="18" charset="0"/>
              </a:rPr>
              <a:t>signes cliniques associés à une culture positive</a:t>
            </a:r>
            <a:endParaRPr lang="fr-FR" sz="2400" dirty="0" smtClean="0">
              <a:latin typeface="Calibri" pitchFamily="34" charset="0"/>
              <a:ea typeface="Calibri" pitchFamily="34" charset="0"/>
              <a:cs typeface="Times New Roman" pitchFamily="18" charset="0"/>
            </a:endParaRPr>
          </a:p>
          <a:p>
            <a:pPr marL="677863" eaLnBrk="1" hangingPunct="1">
              <a:lnSpc>
                <a:spcPct val="107000"/>
              </a:lnSpc>
              <a:buFont typeface="Bookman Old Style" pitchFamily="18" charset="0"/>
              <a:buAutoNum type="alphaLcParenR"/>
            </a:pPr>
            <a:r>
              <a:rPr lang="fr-BE" sz="2800" dirty="0" smtClean="0">
                <a:latin typeface="Calibri" pitchFamily="34" charset="0"/>
                <a:ea typeface="Calibri" pitchFamily="34" charset="0"/>
                <a:cs typeface="Times New Roman" pitchFamily="18" charset="0"/>
              </a:rPr>
              <a:t>signes cliniques + culture positive +identification au moins de deux micro-organismes en cas de sondage.</a:t>
            </a:r>
            <a:endParaRPr lang="fr-FR" sz="2400" dirty="0" smtClean="0">
              <a:latin typeface="Calibri" pitchFamily="34" charset="0"/>
              <a:ea typeface="Calibri" pitchFamily="34" charset="0"/>
              <a:cs typeface="Times New Roman" pitchFamily="18" charset="0"/>
            </a:endParaRPr>
          </a:p>
          <a:p>
            <a:pPr marL="677863" eaLnBrk="1" hangingPunct="1">
              <a:lnSpc>
                <a:spcPct val="115000"/>
              </a:lnSpc>
              <a:spcAft>
                <a:spcPts val="1000"/>
              </a:spcAft>
              <a:buFont typeface="Bookman Old Style" pitchFamily="18" charset="0"/>
              <a:buAutoNum type="alphaLcParenR"/>
            </a:pPr>
            <a:r>
              <a:rPr lang="fr-BE" sz="2800" dirty="0" smtClean="0">
                <a:latin typeface="Calibri" pitchFamily="34" charset="0"/>
                <a:ea typeface="Calibri" pitchFamily="34" charset="0"/>
                <a:cs typeface="Times New Roman" pitchFamily="18" charset="0"/>
              </a:rPr>
              <a:t>les colonisations bactériennes sur sonde</a:t>
            </a:r>
            <a:endParaRPr lang="fr-FR" sz="2400" dirty="0" smtClean="0">
              <a:latin typeface="Calibri" pitchFamily="34" charset="0"/>
              <a:ea typeface="Calibri" pitchFamily="34" charset="0"/>
              <a:cs typeface="Times New Roman" pitchFamily="18" charset="0"/>
            </a:endParaRPr>
          </a:p>
          <a:p>
            <a:pPr marL="677863" eaLnBrk="1" hangingPunct="1"/>
            <a:endParaRPr lang="fr-FR" dirty="0" smtClean="0"/>
          </a:p>
        </p:txBody>
      </p:sp>
    </p:spTree>
    <p:extLst>
      <p:ext uri="{BB962C8B-B14F-4D97-AF65-F5344CB8AC3E}">
        <p14:creationId xmlns:p14="http://schemas.microsoft.com/office/powerpoint/2010/main" val="1046926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QCM 20</a:t>
            </a:r>
            <a:endParaRPr lang="fr-FR" dirty="0" smtClean="0"/>
          </a:p>
        </p:txBody>
      </p:sp>
      <p:sp>
        <p:nvSpPr>
          <p:cNvPr id="107523" name="Espace réservé du pied de page 2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Dr N.Heroual</a:t>
            </a:r>
          </a:p>
        </p:txBody>
      </p:sp>
      <p:sp>
        <p:nvSpPr>
          <p:cNvPr id="107524" name="Espace réservé du numéro de diapositive 3"/>
          <p:cNvSpPr>
            <a:spLocks noGrp="1"/>
          </p:cNvSpPr>
          <p:nvPr>
            <p:ph type="sldNum" sz="quarter" idx="12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7BCE898-4484-482F-BD7C-1EF607E5FEBD}" type="slidenum">
              <a:rPr lang="fr-F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42</a:t>
            </a:fld>
            <a:endParaRPr lang="fr-FR" smtClean="0"/>
          </a:p>
        </p:txBody>
      </p:sp>
      <p:sp>
        <p:nvSpPr>
          <p:cNvPr id="108549" name="Espace réservé du contenu 4"/>
          <p:cNvSpPr>
            <a:spLocks noGrp="1"/>
          </p:cNvSpPr>
          <p:nvPr>
            <p:ph sz="quarter" idx="1"/>
          </p:nvPr>
        </p:nvSpPr>
        <p:spPr>
          <a:xfrm>
            <a:off x="540068" y="1219201"/>
            <a:ext cx="9721215" cy="4937125"/>
          </a:xfrm>
        </p:spPr>
        <p:txBody>
          <a:bodyPr/>
          <a:lstStyle/>
          <a:p>
            <a:pPr marL="677863" eaLnBrk="1" hangingPunct="1">
              <a:lnSpc>
                <a:spcPct val="115000"/>
              </a:lnSpc>
              <a:spcAft>
                <a:spcPts val="1000"/>
              </a:spcAft>
            </a:pPr>
            <a:r>
              <a:rPr lang="fr-BE" sz="800" dirty="0" smtClean="0">
                <a:latin typeface="Calibri" pitchFamily="34" charset="0"/>
                <a:ea typeface="Calibri" pitchFamily="34" charset="0"/>
                <a:cs typeface="Times New Roman" pitchFamily="18" charset="0"/>
              </a:rPr>
              <a:t> </a:t>
            </a:r>
            <a:endParaRPr lang="fr-FR" sz="2400" dirty="0" smtClean="0">
              <a:latin typeface="Calibri" pitchFamily="34" charset="0"/>
              <a:ea typeface="Calibri" pitchFamily="34" charset="0"/>
              <a:cs typeface="Times New Roman" pitchFamily="18" charset="0"/>
            </a:endParaRPr>
          </a:p>
          <a:p>
            <a:pPr marL="677863" eaLnBrk="1" hangingPunct="1">
              <a:lnSpc>
                <a:spcPct val="107000"/>
              </a:lnSpc>
              <a:buFont typeface="Wingdings 3" pitchFamily="18" charset="2"/>
              <a:buNone/>
            </a:pPr>
            <a:r>
              <a:rPr lang="fr-BE" sz="2400" dirty="0" smtClean="0">
                <a:latin typeface="Calibri" pitchFamily="34" charset="0"/>
                <a:ea typeface="Calibri" pitchFamily="34" charset="0"/>
                <a:cs typeface="Times New Roman" pitchFamily="18" charset="0"/>
              </a:rPr>
              <a:t>L</a:t>
            </a:r>
            <a:r>
              <a:rPr lang="fr-BE" sz="2800" dirty="0" smtClean="0">
                <a:latin typeface="Calibri" pitchFamily="34" charset="0"/>
                <a:ea typeface="Calibri" pitchFamily="34" charset="0"/>
                <a:cs typeface="Times New Roman" pitchFamily="18" charset="0"/>
              </a:rPr>
              <a:t>e </a:t>
            </a:r>
            <a:r>
              <a:rPr lang="fr-BE" sz="2800" dirty="0" smtClean="0">
                <a:latin typeface="Calibri" pitchFamily="34" charset="0"/>
                <a:ea typeface="Calibri" pitchFamily="34" charset="0"/>
                <a:cs typeface="Times New Roman" pitchFamily="18" charset="0"/>
              </a:rPr>
              <a:t>diagnostic d'une infection nosocomiale urinaire est basé sur :</a:t>
            </a:r>
            <a:endParaRPr lang="fr-FR" sz="2400" dirty="0" smtClean="0">
              <a:latin typeface="Calibri" pitchFamily="34" charset="0"/>
              <a:ea typeface="Calibri" pitchFamily="34" charset="0"/>
              <a:cs typeface="Times New Roman" pitchFamily="18" charset="0"/>
            </a:endParaRPr>
          </a:p>
          <a:p>
            <a:pPr marL="677863" eaLnBrk="1" hangingPunct="1">
              <a:lnSpc>
                <a:spcPct val="107000"/>
              </a:lnSpc>
              <a:buFont typeface="Bookman Old Style" pitchFamily="18" charset="0"/>
              <a:buAutoNum type="alphaLcParenR"/>
            </a:pPr>
            <a:r>
              <a:rPr lang="fr-BE" sz="2800" dirty="0" smtClean="0">
                <a:latin typeface="Calibri" pitchFamily="34" charset="0"/>
                <a:ea typeface="Calibri" pitchFamily="34" charset="0"/>
                <a:cs typeface="Times New Roman" pitchFamily="18" charset="0"/>
              </a:rPr>
              <a:t>preuve bactériologique</a:t>
            </a:r>
            <a:endParaRPr lang="fr-FR" sz="2400" dirty="0" smtClean="0">
              <a:latin typeface="Calibri" pitchFamily="34" charset="0"/>
              <a:ea typeface="Calibri" pitchFamily="34" charset="0"/>
              <a:cs typeface="Times New Roman" pitchFamily="18" charset="0"/>
            </a:endParaRPr>
          </a:p>
          <a:p>
            <a:pPr marL="677863" eaLnBrk="1" hangingPunct="1">
              <a:lnSpc>
                <a:spcPct val="107000"/>
              </a:lnSpc>
              <a:buFont typeface="Bookman Old Style" pitchFamily="18" charset="0"/>
              <a:buAutoNum type="alphaLcParenR"/>
            </a:pPr>
            <a:r>
              <a:rPr lang="fr-BE" sz="2800" dirty="0" smtClean="0">
                <a:solidFill>
                  <a:srgbClr val="C00000"/>
                </a:solidFill>
                <a:latin typeface="Calibri" pitchFamily="34" charset="0"/>
                <a:ea typeface="Calibri" pitchFamily="34" charset="0"/>
                <a:cs typeface="Times New Roman" pitchFamily="18" charset="0"/>
              </a:rPr>
              <a:t>signes cliniques associés à une culture positive</a:t>
            </a:r>
            <a:endParaRPr lang="fr-FR" sz="2400" dirty="0" smtClean="0">
              <a:solidFill>
                <a:srgbClr val="C00000"/>
              </a:solidFill>
              <a:latin typeface="Calibri" pitchFamily="34" charset="0"/>
              <a:ea typeface="Calibri" pitchFamily="34" charset="0"/>
              <a:cs typeface="Times New Roman" pitchFamily="18" charset="0"/>
            </a:endParaRPr>
          </a:p>
          <a:p>
            <a:pPr marL="677863" eaLnBrk="1" hangingPunct="1">
              <a:lnSpc>
                <a:spcPct val="107000"/>
              </a:lnSpc>
              <a:buFont typeface="Bookman Old Style" pitchFamily="18" charset="0"/>
              <a:buAutoNum type="alphaLcParenR"/>
            </a:pPr>
            <a:r>
              <a:rPr lang="fr-BE" sz="2800" dirty="0" smtClean="0">
                <a:solidFill>
                  <a:srgbClr val="C00000"/>
                </a:solidFill>
                <a:latin typeface="Calibri" pitchFamily="34" charset="0"/>
                <a:ea typeface="Calibri" pitchFamily="34" charset="0"/>
                <a:cs typeface="Times New Roman" pitchFamily="18" charset="0"/>
              </a:rPr>
              <a:t>signes cliniques + culture positive +identification au moins de deux micro-organismes en cas de sondage</a:t>
            </a:r>
            <a:r>
              <a:rPr lang="fr-BE" sz="2800" dirty="0" smtClean="0">
                <a:latin typeface="Calibri" pitchFamily="34" charset="0"/>
                <a:ea typeface="Calibri" pitchFamily="34" charset="0"/>
                <a:cs typeface="Times New Roman" pitchFamily="18" charset="0"/>
              </a:rPr>
              <a:t>.</a:t>
            </a:r>
            <a:endParaRPr lang="fr-FR" sz="2400" dirty="0" smtClean="0">
              <a:latin typeface="Calibri" pitchFamily="34" charset="0"/>
              <a:ea typeface="Calibri" pitchFamily="34" charset="0"/>
              <a:cs typeface="Times New Roman" pitchFamily="18" charset="0"/>
            </a:endParaRPr>
          </a:p>
          <a:p>
            <a:pPr marL="677863" eaLnBrk="1" hangingPunct="1">
              <a:lnSpc>
                <a:spcPct val="115000"/>
              </a:lnSpc>
              <a:spcAft>
                <a:spcPts val="1000"/>
              </a:spcAft>
              <a:buFont typeface="Bookman Old Style" pitchFamily="18" charset="0"/>
              <a:buAutoNum type="alphaLcParenR"/>
            </a:pPr>
            <a:r>
              <a:rPr lang="fr-BE" sz="2800" dirty="0" smtClean="0">
                <a:latin typeface="Calibri" pitchFamily="34" charset="0"/>
                <a:ea typeface="Calibri" pitchFamily="34" charset="0"/>
                <a:cs typeface="Times New Roman" pitchFamily="18" charset="0"/>
              </a:rPr>
              <a:t>les colonisations bactériennes sur sonde</a:t>
            </a:r>
            <a:endParaRPr lang="fr-FR" sz="2400" dirty="0" smtClean="0">
              <a:latin typeface="Calibri" pitchFamily="34" charset="0"/>
              <a:ea typeface="Calibri" pitchFamily="34" charset="0"/>
              <a:cs typeface="Times New Roman" pitchFamily="18" charset="0"/>
            </a:endParaRPr>
          </a:p>
          <a:p>
            <a:pPr marL="677863" eaLnBrk="1" hangingPunct="1"/>
            <a:endParaRPr lang="fr-FR" dirty="0" smtClean="0"/>
          </a:p>
        </p:txBody>
      </p:sp>
    </p:spTree>
    <p:extLst>
      <p:ext uri="{BB962C8B-B14F-4D97-AF65-F5344CB8AC3E}">
        <p14:creationId xmlns:p14="http://schemas.microsoft.com/office/powerpoint/2010/main" val="3092218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QCM 21</a:t>
            </a:r>
            <a:endParaRPr lang="fr-FR" dirty="0" smtClean="0"/>
          </a:p>
        </p:txBody>
      </p:sp>
      <p:sp>
        <p:nvSpPr>
          <p:cNvPr id="113667" name="Espace réservé du contenu 2"/>
          <p:cNvSpPr>
            <a:spLocks noGrp="1"/>
          </p:cNvSpPr>
          <p:nvPr>
            <p:ph sz="quarter" idx="1"/>
          </p:nvPr>
        </p:nvSpPr>
        <p:spPr>
          <a:xfrm>
            <a:off x="540068" y="1219201"/>
            <a:ext cx="9721215" cy="4937125"/>
          </a:xfrm>
        </p:spPr>
        <p:txBody>
          <a:bodyPr/>
          <a:lstStyle/>
          <a:p>
            <a:r>
              <a:rPr lang="fr-FR" dirty="0" smtClean="0"/>
              <a:t>concernant </a:t>
            </a:r>
            <a:r>
              <a:rPr lang="fr-FR" dirty="0" smtClean="0"/>
              <a:t>les pneumopathies nosocomiales, cochez la réponse juste</a:t>
            </a:r>
          </a:p>
          <a:p>
            <a:pPr marL="788988" lvl="1" indent="-514350">
              <a:buFont typeface="Bookman Old Style" pitchFamily="18" charset="0"/>
              <a:buAutoNum type="alphaLcPeriod"/>
            </a:pPr>
            <a:r>
              <a:rPr lang="fr-FR" dirty="0" smtClean="0">
                <a:solidFill>
                  <a:schemeClr val="tx1"/>
                </a:solidFill>
              </a:rPr>
              <a:t>Les BMR sont responsables de pneumopathies précoces (avant 05 jours)</a:t>
            </a:r>
          </a:p>
          <a:p>
            <a:pPr marL="788988" lvl="1" indent="-514350">
              <a:buFont typeface="Bookman Old Style" pitchFamily="18" charset="0"/>
              <a:buAutoNum type="alphaLcPeriod"/>
            </a:pPr>
            <a:r>
              <a:rPr lang="fr-FR" dirty="0" smtClean="0">
                <a:solidFill>
                  <a:schemeClr val="tx1"/>
                </a:solidFill>
              </a:rPr>
              <a:t>Les bactéries commensales sont responsables de pneumopathies tardives</a:t>
            </a:r>
          </a:p>
          <a:p>
            <a:pPr marL="788988" lvl="1" indent="-514350">
              <a:buFont typeface="Bookman Old Style" pitchFamily="18" charset="0"/>
              <a:buAutoNum type="alphaLcPeriod"/>
            </a:pPr>
            <a:r>
              <a:rPr lang="fr-FR" dirty="0" smtClean="0">
                <a:solidFill>
                  <a:schemeClr val="tx1"/>
                </a:solidFill>
              </a:rPr>
              <a:t>L’identification d’au moins un germe est obligatoire pour poser le diagnostic</a:t>
            </a:r>
          </a:p>
          <a:p>
            <a:pPr marL="788988" lvl="1" indent="-514350">
              <a:buFont typeface="Bookman Old Style" pitchFamily="18" charset="0"/>
              <a:buAutoNum type="alphaLcPeriod"/>
            </a:pPr>
            <a:r>
              <a:rPr lang="fr-FR" dirty="0" smtClean="0">
                <a:solidFill>
                  <a:schemeClr val="tx1"/>
                </a:solidFill>
              </a:rPr>
              <a:t>Le diagnostic est retenu devant l’association d’au moins deux critères (cliniques, radiologiques, microbiologiques)</a:t>
            </a:r>
          </a:p>
          <a:p>
            <a:pPr marL="788988" lvl="1" indent="-514350">
              <a:buFont typeface="Bookman Old Style" pitchFamily="18" charset="0"/>
              <a:buAutoNum type="alphaLcPeriod"/>
            </a:pPr>
            <a:endParaRPr lang="fr-FR" dirty="0" smtClean="0"/>
          </a:p>
          <a:p>
            <a:pPr marL="788988" lvl="1" indent="-514350">
              <a:buFont typeface="Bookman Old Style" pitchFamily="18" charset="0"/>
              <a:buAutoNum type="alphaLcPeriod"/>
            </a:pPr>
            <a:endParaRPr lang="fr-FR" dirty="0" smtClean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Dr N.Heroual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B496ABC-35B5-49EC-8EF3-E1B9BB67AC25}" type="slidenum">
              <a:rPr lang="fr-FR" smtClean="0"/>
              <a:pPr>
                <a:defRPr/>
              </a:pPr>
              <a:t>43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53924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QCM 21</a:t>
            </a:r>
            <a:endParaRPr lang="fr-FR" dirty="0" smtClean="0"/>
          </a:p>
        </p:txBody>
      </p:sp>
      <p:sp>
        <p:nvSpPr>
          <p:cNvPr id="114691" name="Espace réservé du contenu 2"/>
          <p:cNvSpPr>
            <a:spLocks noGrp="1"/>
          </p:cNvSpPr>
          <p:nvPr>
            <p:ph sz="quarter" idx="1"/>
          </p:nvPr>
        </p:nvSpPr>
        <p:spPr>
          <a:xfrm>
            <a:off x="540068" y="1219201"/>
            <a:ext cx="9721215" cy="4937125"/>
          </a:xfrm>
        </p:spPr>
        <p:txBody>
          <a:bodyPr/>
          <a:lstStyle/>
          <a:p>
            <a:pPr marL="0" indent="0">
              <a:buNone/>
            </a:pPr>
            <a:r>
              <a:rPr lang="fr-FR" dirty="0" smtClean="0"/>
              <a:t> </a:t>
            </a:r>
            <a:r>
              <a:rPr lang="fr-FR" dirty="0" smtClean="0"/>
              <a:t>concernant les pneumopathies nosocomiales, cochez la réponse juste</a:t>
            </a:r>
          </a:p>
          <a:p>
            <a:pPr marL="788988" lvl="1" indent="-514350">
              <a:buFont typeface="Bookman Old Style" pitchFamily="18" charset="0"/>
              <a:buAutoNum type="alphaLcPeriod"/>
            </a:pPr>
            <a:r>
              <a:rPr lang="fr-FR" dirty="0" smtClean="0">
                <a:solidFill>
                  <a:schemeClr val="tx1"/>
                </a:solidFill>
              </a:rPr>
              <a:t>Les BMR sont responsables de pneumopathies précoces (avant 05 jours)</a:t>
            </a:r>
          </a:p>
          <a:p>
            <a:pPr marL="788988" lvl="1" indent="-514350">
              <a:buFont typeface="Bookman Old Style" pitchFamily="18" charset="0"/>
              <a:buAutoNum type="alphaLcPeriod"/>
            </a:pPr>
            <a:r>
              <a:rPr lang="fr-FR" dirty="0" smtClean="0">
                <a:solidFill>
                  <a:schemeClr val="tx1"/>
                </a:solidFill>
              </a:rPr>
              <a:t>Les bactéries commensales sont responsables de pneumopathies tardives</a:t>
            </a:r>
          </a:p>
          <a:p>
            <a:pPr marL="788988" lvl="1" indent="-514350">
              <a:buFont typeface="Bookman Old Style" pitchFamily="18" charset="0"/>
              <a:buAutoNum type="alphaLcPeriod"/>
            </a:pPr>
            <a:r>
              <a:rPr lang="fr-FR" dirty="0" smtClean="0">
                <a:solidFill>
                  <a:schemeClr val="tx1"/>
                </a:solidFill>
              </a:rPr>
              <a:t>L’identification d’au moins un germe est obligatoire pour poser le diagnostic</a:t>
            </a:r>
          </a:p>
          <a:p>
            <a:pPr marL="788988" lvl="1" indent="-514350">
              <a:buFont typeface="Bookman Old Style" pitchFamily="18" charset="0"/>
              <a:buAutoNum type="alphaLcPeriod"/>
            </a:pPr>
            <a:r>
              <a:rPr lang="fr-FR" dirty="0" smtClean="0">
                <a:solidFill>
                  <a:srgbClr val="C00000"/>
                </a:solidFill>
              </a:rPr>
              <a:t>Le diagnostic est retenu devant l’association d’au moins deux critères (cliniques, radiologiques, microbiologiques)</a:t>
            </a:r>
          </a:p>
          <a:p>
            <a:pPr marL="788988" lvl="1" indent="-514350">
              <a:buFont typeface="Bookman Old Style" pitchFamily="18" charset="0"/>
              <a:buAutoNum type="alphaLcPeriod"/>
            </a:pPr>
            <a:endParaRPr lang="fr-FR" dirty="0" smtClean="0"/>
          </a:p>
          <a:p>
            <a:pPr marL="788988" lvl="1" indent="-514350">
              <a:buFont typeface="Bookman Old Style" pitchFamily="18" charset="0"/>
              <a:buAutoNum type="alphaLcPeriod"/>
            </a:pPr>
            <a:endParaRPr lang="fr-FR" dirty="0" smtClean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Dr N.Heroual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CC0371-0B1A-47DD-B66F-0A5640619325}" type="slidenum">
              <a:rPr lang="fr-FR" smtClean="0"/>
              <a:pPr>
                <a:defRPr/>
              </a:pPr>
              <a:t>44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19324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Titr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QCM 22</a:t>
            </a:r>
            <a:endParaRPr lang="fr-FR" dirty="0" smtClean="0"/>
          </a:p>
        </p:txBody>
      </p:sp>
      <p:sp>
        <p:nvSpPr>
          <p:cNvPr id="102403" name="Espace réservé du pied de page 1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Dr N.Heroual</a:t>
            </a:r>
          </a:p>
        </p:txBody>
      </p:sp>
      <p:sp>
        <p:nvSpPr>
          <p:cNvPr id="102404" name="Espace réservé du numéro de diapositive 2"/>
          <p:cNvSpPr>
            <a:spLocks noGrp="1"/>
          </p:cNvSpPr>
          <p:nvPr>
            <p:ph type="sldNum" sz="quarter" idx="12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14622FD-A588-45AB-A834-0D46CE6448CA}" type="slidenum">
              <a:rPr lang="fr-F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45</a:t>
            </a:fld>
            <a:endParaRPr lang="fr-FR" smtClean="0"/>
          </a:p>
        </p:txBody>
      </p:sp>
      <p:sp>
        <p:nvSpPr>
          <p:cNvPr id="103429" name="Espace réservé du contenu 5"/>
          <p:cNvSpPr>
            <a:spLocks noGrp="1"/>
          </p:cNvSpPr>
          <p:nvPr>
            <p:ph sz="quarter" idx="1"/>
          </p:nvPr>
        </p:nvSpPr>
        <p:spPr>
          <a:xfrm>
            <a:off x="540068" y="1219201"/>
            <a:ext cx="9721215" cy="4937125"/>
          </a:xfrm>
        </p:spPr>
        <p:txBody>
          <a:bodyPr/>
          <a:lstStyle/>
          <a:p>
            <a:pPr marL="677863" eaLnBrk="1" hangingPunct="1">
              <a:lnSpc>
                <a:spcPct val="115000"/>
              </a:lnSpc>
              <a:spcAft>
                <a:spcPts val="1000"/>
              </a:spcAft>
            </a:pPr>
            <a:r>
              <a:rPr lang="fr-BE" sz="800" smtClean="0">
                <a:latin typeface="Calibri" pitchFamily="34" charset="0"/>
                <a:ea typeface="Calibri" pitchFamily="34" charset="0"/>
                <a:cs typeface="Times New Roman" pitchFamily="18" charset="0"/>
              </a:rPr>
              <a:t> </a:t>
            </a:r>
            <a:endParaRPr lang="fr-FR" sz="2400" smtClean="0">
              <a:latin typeface="Calibri" pitchFamily="34" charset="0"/>
              <a:ea typeface="Calibri" pitchFamily="34" charset="0"/>
              <a:cs typeface="Times New Roman" pitchFamily="18" charset="0"/>
            </a:endParaRPr>
          </a:p>
          <a:p>
            <a:pPr marL="677863" eaLnBrk="1" hangingPunct="1">
              <a:lnSpc>
                <a:spcPct val="107000"/>
              </a:lnSpc>
              <a:buFont typeface="Wingdings 3" pitchFamily="18" charset="2"/>
              <a:buNone/>
            </a:pPr>
            <a:r>
              <a:rPr lang="fr-BE" sz="2800" smtClean="0">
                <a:latin typeface="Calibri" pitchFamily="34" charset="0"/>
                <a:ea typeface="Calibri" pitchFamily="34" charset="0"/>
                <a:cs typeface="Times New Roman" pitchFamily="18" charset="0"/>
              </a:rPr>
              <a:t>1) L’infection du site opératoire : </a:t>
            </a:r>
            <a:endParaRPr lang="fr-FR" sz="2400" smtClean="0">
              <a:latin typeface="Calibri" pitchFamily="34" charset="0"/>
              <a:ea typeface="Calibri" pitchFamily="34" charset="0"/>
              <a:cs typeface="Times New Roman" pitchFamily="18" charset="0"/>
            </a:endParaRPr>
          </a:p>
          <a:p>
            <a:pPr marL="677863" eaLnBrk="1" hangingPunct="1">
              <a:lnSpc>
                <a:spcPct val="107000"/>
              </a:lnSpc>
              <a:buFont typeface="Bookman Old Style" pitchFamily="18" charset="0"/>
              <a:buAutoNum type="alphaLcPeriod"/>
            </a:pPr>
            <a:r>
              <a:rPr lang="fr-BE" sz="2800" smtClean="0">
                <a:latin typeface="Calibri" pitchFamily="34" charset="0"/>
                <a:ea typeface="Calibri" pitchFamily="34" charset="0"/>
                <a:cs typeface="Times New Roman" pitchFamily="18" charset="0"/>
              </a:rPr>
              <a:t>complication inévitable de l’intervention chirurgicale</a:t>
            </a:r>
            <a:endParaRPr lang="fr-FR" sz="2400" smtClean="0">
              <a:latin typeface="Calibri" pitchFamily="34" charset="0"/>
              <a:ea typeface="Calibri" pitchFamily="34" charset="0"/>
              <a:cs typeface="Times New Roman" pitchFamily="18" charset="0"/>
            </a:endParaRPr>
          </a:p>
          <a:p>
            <a:pPr marL="677863" eaLnBrk="1" hangingPunct="1">
              <a:lnSpc>
                <a:spcPct val="107000"/>
              </a:lnSpc>
              <a:buFont typeface="Bookman Old Style" pitchFamily="18" charset="0"/>
              <a:buAutoNum type="alphaLcPeriod"/>
            </a:pPr>
            <a:r>
              <a:rPr lang="fr-BE" sz="2800" smtClean="0">
                <a:latin typeface="Calibri" pitchFamily="34" charset="0"/>
                <a:ea typeface="Calibri" pitchFamily="34" charset="0"/>
                <a:cs typeface="Times New Roman" pitchFamily="18" charset="0"/>
              </a:rPr>
              <a:t>la contamination du site opératoire est fonction du type de chirurgie</a:t>
            </a:r>
            <a:endParaRPr lang="fr-FR" sz="2400" smtClean="0">
              <a:latin typeface="Calibri" pitchFamily="34" charset="0"/>
              <a:ea typeface="Calibri" pitchFamily="34" charset="0"/>
              <a:cs typeface="Times New Roman" pitchFamily="18" charset="0"/>
            </a:endParaRPr>
          </a:p>
          <a:p>
            <a:pPr marL="677863" eaLnBrk="1" hangingPunct="1">
              <a:lnSpc>
                <a:spcPct val="107000"/>
              </a:lnSpc>
              <a:buFont typeface="Bookman Old Style" pitchFamily="18" charset="0"/>
              <a:buAutoNum type="alphaLcPeriod"/>
            </a:pPr>
            <a:r>
              <a:rPr lang="fr-BE" sz="2800" smtClean="0">
                <a:latin typeface="Calibri" pitchFamily="34" charset="0"/>
                <a:ea typeface="Calibri" pitchFamily="34" charset="0"/>
                <a:cs typeface="Times New Roman" pitchFamily="18" charset="0"/>
              </a:rPr>
              <a:t>le patient est le réservoir de bactérie le plus important</a:t>
            </a:r>
            <a:endParaRPr lang="fr-FR" sz="2400" smtClean="0">
              <a:latin typeface="Calibri" pitchFamily="34" charset="0"/>
              <a:ea typeface="Calibri" pitchFamily="34" charset="0"/>
              <a:cs typeface="Times New Roman" pitchFamily="18" charset="0"/>
            </a:endParaRPr>
          </a:p>
          <a:p>
            <a:pPr marL="677863" eaLnBrk="1" hangingPunct="1">
              <a:lnSpc>
                <a:spcPct val="107000"/>
              </a:lnSpc>
              <a:buFont typeface="Bookman Old Style" pitchFamily="18" charset="0"/>
              <a:buAutoNum type="alphaLcPeriod"/>
            </a:pPr>
            <a:r>
              <a:rPr lang="fr-BE" sz="2800" smtClean="0">
                <a:latin typeface="Calibri" pitchFamily="34" charset="0"/>
                <a:ea typeface="Calibri" pitchFamily="34" charset="0"/>
                <a:cs typeface="Times New Roman" pitchFamily="18" charset="0"/>
              </a:rPr>
              <a:t>la préparation cutanée du patient permet de supprimer la totalité de la flore avant l’intervention</a:t>
            </a:r>
          </a:p>
          <a:p>
            <a:pPr marL="677863" eaLnBrk="1" hangingPunct="1">
              <a:lnSpc>
                <a:spcPct val="107000"/>
              </a:lnSpc>
              <a:buFont typeface="Bookman Old Style" pitchFamily="18" charset="0"/>
              <a:buAutoNum type="alphaLcPeriod"/>
            </a:pPr>
            <a:endParaRPr lang="fr-FR" sz="2400" smtClean="0">
              <a:latin typeface="Calibri" pitchFamily="34" charset="0"/>
              <a:ea typeface="Calibri" pitchFamily="34" charset="0"/>
              <a:cs typeface="Times New Roman" pitchFamily="18" charset="0"/>
            </a:endParaRPr>
          </a:p>
          <a:p>
            <a:pPr marL="677863" eaLnBrk="1" hangingPunct="1"/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3813886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Titr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r-FR" dirty="0" smtClean="0"/>
              <a:t>QCM 22</a:t>
            </a:r>
            <a:endParaRPr lang="fr-FR" dirty="0" smtClean="0"/>
          </a:p>
        </p:txBody>
      </p:sp>
      <p:sp>
        <p:nvSpPr>
          <p:cNvPr id="103427" name="Espace réservé du pied de page 1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Dr N.Heroual</a:t>
            </a:r>
          </a:p>
        </p:txBody>
      </p:sp>
      <p:sp>
        <p:nvSpPr>
          <p:cNvPr id="103428" name="Espace réservé du numéro de diapositive 2"/>
          <p:cNvSpPr>
            <a:spLocks noGrp="1"/>
          </p:cNvSpPr>
          <p:nvPr>
            <p:ph type="sldNum" sz="quarter" idx="12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2F4666F-E10C-41BA-A637-BE5C2C48ABDC}" type="slidenum">
              <a:rPr lang="fr-F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46</a:t>
            </a:fld>
            <a:endParaRPr lang="fr-FR" smtClean="0"/>
          </a:p>
        </p:txBody>
      </p:sp>
      <p:sp>
        <p:nvSpPr>
          <p:cNvPr id="104453" name="Espace réservé du contenu 5"/>
          <p:cNvSpPr>
            <a:spLocks noGrp="1"/>
          </p:cNvSpPr>
          <p:nvPr>
            <p:ph sz="quarter" idx="1"/>
          </p:nvPr>
        </p:nvSpPr>
        <p:spPr>
          <a:xfrm>
            <a:off x="540068" y="1219201"/>
            <a:ext cx="9721215" cy="4937125"/>
          </a:xfrm>
        </p:spPr>
        <p:txBody>
          <a:bodyPr/>
          <a:lstStyle/>
          <a:p>
            <a:pPr marL="677863" eaLnBrk="1" hangingPunct="1">
              <a:lnSpc>
                <a:spcPct val="115000"/>
              </a:lnSpc>
              <a:spcAft>
                <a:spcPts val="1000"/>
              </a:spcAft>
            </a:pPr>
            <a:r>
              <a:rPr lang="fr-BE" sz="800" dirty="0" smtClean="0">
                <a:latin typeface="Calibri" pitchFamily="34" charset="0"/>
                <a:ea typeface="Calibri" pitchFamily="34" charset="0"/>
                <a:cs typeface="Times New Roman" pitchFamily="18" charset="0"/>
              </a:rPr>
              <a:t> </a:t>
            </a:r>
            <a:endParaRPr lang="fr-FR" sz="2400" dirty="0" smtClean="0">
              <a:latin typeface="Calibri" pitchFamily="34" charset="0"/>
              <a:ea typeface="Calibri" pitchFamily="34" charset="0"/>
              <a:cs typeface="Times New Roman" pitchFamily="18" charset="0"/>
            </a:endParaRPr>
          </a:p>
          <a:p>
            <a:pPr marL="677863" eaLnBrk="1" hangingPunct="1">
              <a:lnSpc>
                <a:spcPct val="107000"/>
              </a:lnSpc>
              <a:buFont typeface="Wingdings 3" pitchFamily="18" charset="2"/>
              <a:buNone/>
            </a:pPr>
            <a:r>
              <a:rPr lang="fr-BE" sz="2800" dirty="0" smtClean="0">
                <a:latin typeface="Calibri" pitchFamily="34" charset="0"/>
                <a:ea typeface="Calibri" pitchFamily="34" charset="0"/>
                <a:cs typeface="Times New Roman" pitchFamily="18" charset="0"/>
              </a:rPr>
              <a:t>1) L’infection du site opératoire : </a:t>
            </a:r>
            <a:endParaRPr lang="fr-FR" sz="2400" dirty="0" smtClean="0">
              <a:latin typeface="Calibri" pitchFamily="34" charset="0"/>
              <a:ea typeface="Calibri" pitchFamily="34" charset="0"/>
              <a:cs typeface="Times New Roman" pitchFamily="18" charset="0"/>
            </a:endParaRPr>
          </a:p>
          <a:p>
            <a:pPr marL="677863" eaLnBrk="1" hangingPunct="1">
              <a:lnSpc>
                <a:spcPct val="107000"/>
              </a:lnSpc>
              <a:buFont typeface="Bookman Old Style" pitchFamily="18" charset="0"/>
              <a:buAutoNum type="alphaLcPeriod"/>
            </a:pPr>
            <a:r>
              <a:rPr lang="fr-BE" sz="2800" dirty="0" smtClean="0">
                <a:solidFill>
                  <a:srgbClr val="C00000"/>
                </a:solidFill>
                <a:latin typeface="Calibri" pitchFamily="34" charset="0"/>
                <a:ea typeface="Calibri" pitchFamily="34" charset="0"/>
                <a:cs typeface="Times New Roman" pitchFamily="18" charset="0"/>
              </a:rPr>
              <a:t>complication inévitable de l’intervention chirurgicale</a:t>
            </a:r>
            <a:endParaRPr lang="fr-FR" sz="2400" dirty="0" smtClean="0">
              <a:solidFill>
                <a:srgbClr val="C00000"/>
              </a:solidFill>
              <a:latin typeface="Calibri" pitchFamily="34" charset="0"/>
              <a:ea typeface="Calibri" pitchFamily="34" charset="0"/>
              <a:cs typeface="Times New Roman" pitchFamily="18" charset="0"/>
            </a:endParaRPr>
          </a:p>
          <a:p>
            <a:pPr marL="677863" eaLnBrk="1" hangingPunct="1">
              <a:lnSpc>
                <a:spcPct val="107000"/>
              </a:lnSpc>
              <a:buFont typeface="Bookman Old Style" pitchFamily="18" charset="0"/>
              <a:buAutoNum type="alphaLcPeriod"/>
            </a:pPr>
            <a:r>
              <a:rPr lang="fr-BE" sz="2800" dirty="0" smtClean="0">
                <a:solidFill>
                  <a:srgbClr val="C00000"/>
                </a:solidFill>
                <a:latin typeface="Calibri" pitchFamily="34" charset="0"/>
                <a:ea typeface="Calibri" pitchFamily="34" charset="0"/>
                <a:cs typeface="Times New Roman" pitchFamily="18" charset="0"/>
              </a:rPr>
              <a:t>la contamination du site opératoire est fonction du type de chirurgie</a:t>
            </a:r>
            <a:endParaRPr lang="fr-FR" sz="2400" dirty="0" smtClean="0">
              <a:solidFill>
                <a:srgbClr val="C00000"/>
              </a:solidFill>
              <a:latin typeface="Calibri" pitchFamily="34" charset="0"/>
              <a:ea typeface="Calibri" pitchFamily="34" charset="0"/>
              <a:cs typeface="Times New Roman" pitchFamily="18" charset="0"/>
            </a:endParaRPr>
          </a:p>
          <a:p>
            <a:pPr marL="677863" eaLnBrk="1" hangingPunct="1">
              <a:lnSpc>
                <a:spcPct val="107000"/>
              </a:lnSpc>
              <a:buFont typeface="Bookman Old Style" pitchFamily="18" charset="0"/>
              <a:buAutoNum type="alphaLcPeriod"/>
            </a:pPr>
            <a:r>
              <a:rPr lang="fr-BE" sz="2800" dirty="0" smtClean="0">
                <a:solidFill>
                  <a:srgbClr val="C00000"/>
                </a:solidFill>
                <a:latin typeface="Calibri" pitchFamily="34" charset="0"/>
                <a:ea typeface="Calibri" pitchFamily="34" charset="0"/>
                <a:cs typeface="Times New Roman" pitchFamily="18" charset="0"/>
              </a:rPr>
              <a:t>le patient est le réservoir de bactérie le plus important</a:t>
            </a:r>
            <a:endParaRPr lang="fr-FR" sz="2400" dirty="0" smtClean="0">
              <a:solidFill>
                <a:srgbClr val="C00000"/>
              </a:solidFill>
              <a:latin typeface="Calibri" pitchFamily="34" charset="0"/>
              <a:ea typeface="Calibri" pitchFamily="34" charset="0"/>
              <a:cs typeface="Times New Roman" pitchFamily="18" charset="0"/>
            </a:endParaRPr>
          </a:p>
          <a:p>
            <a:pPr marL="677863" eaLnBrk="1" hangingPunct="1">
              <a:lnSpc>
                <a:spcPct val="107000"/>
              </a:lnSpc>
              <a:buFont typeface="Bookman Old Style" pitchFamily="18" charset="0"/>
              <a:buAutoNum type="alphaLcPeriod"/>
            </a:pPr>
            <a:r>
              <a:rPr lang="fr-BE" sz="2800" dirty="0" smtClean="0">
                <a:latin typeface="Calibri" pitchFamily="34" charset="0"/>
                <a:ea typeface="Calibri" pitchFamily="34" charset="0"/>
                <a:cs typeface="Times New Roman" pitchFamily="18" charset="0"/>
              </a:rPr>
              <a:t>la préparation cutanée du patient permet de supprimer la totalité de la flore avant l’intervention</a:t>
            </a:r>
          </a:p>
          <a:p>
            <a:pPr marL="677863" eaLnBrk="1" hangingPunct="1">
              <a:lnSpc>
                <a:spcPct val="107000"/>
              </a:lnSpc>
              <a:buFont typeface="Bookman Old Style" pitchFamily="18" charset="0"/>
              <a:buAutoNum type="alphaLcPeriod"/>
            </a:pPr>
            <a:endParaRPr lang="fr-FR" sz="2400" dirty="0" smtClean="0">
              <a:latin typeface="Calibri" pitchFamily="34" charset="0"/>
              <a:ea typeface="Calibri" pitchFamily="34" charset="0"/>
              <a:cs typeface="Times New Roman" pitchFamily="18" charset="0"/>
            </a:endParaRPr>
          </a:p>
          <a:p>
            <a:pPr marL="677863" eaLnBrk="1" hangingPunct="1"/>
            <a:endParaRPr lang="fr-FR" dirty="0" smtClean="0"/>
          </a:p>
        </p:txBody>
      </p:sp>
    </p:spTree>
    <p:extLst>
      <p:ext uri="{BB962C8B-B14F-4D97-AF65-F5344CB8AC3E}">
        <p14:creationId xmlns:p14="http://schemas.microsoft.com/office/powerpoint/2010/main" val="230328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792163" y="3429000"/>
            <a:ext cx="9721215" cy="1143000"/>
          </a:xfrm>
        </p:spPr>
        <p:txBody>
          <a:bodyPr/>
          <a:lstStyle/>
          <a:p>
            <a:r>
              <a:rPr lang="fr-FR" dirty="0" smtClean="0"/>
              <a:t>PARTIE III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16104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re 1"/>
          <p:cNvSpPr>
            <a:spLocks noGrp="1"/>
          </p:cNvSpPr>
          <p:nvPr>
            <p:ph type="title"/>
          </p:nvPr>
        </p:nvSpPr>
        <p:spPr>
          <a:xfrm>
            <a:off x="724252" y="228600"/>
            <a:ext cx="9630396" cy="990600"/>
          </a:xfrm>
        </p:spPr>
        <p:txBody>
          <a:bodyPr/>
          <a:lstStyle/>
          <a:p>
            <a:r>
              <a:rPr lang="fr-FR" dirty="0" smtClean="0"/>
              <a:t>QCM 23</a:t>
            </a:r>
            <a:endParaRPr lang="fr-FR" dirty="0" smtClean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724252" y="1600200"/>
            <a:ext cx="9630396" cy="44958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None/>
              <a:defRPr/>
            </a:pPr>
            <a:r>
              <a:rPr lang="fr-FR" sz="2700" dirty="0" smtClean="0"/>
              <a:t>Cochez  </a:t>
            </a:r>
            <a:r>
              <a:rPr lang="fr-FR" sz="2700" dirty="0"/>
              <a:t>la ou les proposition(s) exacte(s) pour chacune des affirmations suivantes :Parmi les vaccins suivants, lesquels sont «inactivés»</a:t>
            </a:r>
          </a:p>
          <a:p>
            <a:pPr marL="525022" indent="-525022">
              <a:buFont typeface="+mj-lt"/>
              <a:buAutoNum type="alphaLcParenR"/>
              <a:defRPr/>
            </a:pPr>
            <a:r>
              <a:rPr lang="fr-FR" sz="2700" dirty="0"/>
              <a:t> Le vaccin </a:t>
            </a:r>
            <a:r>
              <a:rPr lang="fr-FR" sz="2700" dirty="0" err="1"/>
              <a:t>anti-poliomyélitique</a:t>
            </a:r>
            <a:r>
              <a:rPr lang="fr-FR" sz="2700" dirty="0"/>
              <a:t> oral</a:t>
            </a:r>
          </a:p>
          <a:p>
            <a:pPr marL="525022" indent="-525022">
              <a:buFont typeface="+mj-lt"/>
              <a:buAutoNum type="alphaLcParenR"/>
              <a:defRPr/>
            </a:pPr>
            <a:r>
              <a:rPr lang="fr-FR" sz="2700" dirty="0"/>
              <a:t> Le vaccin anti-</a:t>
            </a:r>
            <a:r>
              <a:rPr lang="fr-FR" sz="2700" dirty="0" err="1"/>
              <a:t>penimococcique</a:t>
            </a:r>
            <a:endParaRPr lang="fr-FR" sz="2700" dirty="0"/>
          </a:p>
          <a:p>
            <a:pPr marL="525022" indent="-525022">
              <a:buFont typeface="+mj-lt"/>
              <a:buAutoNum type="alphaLcParenR"/>
              <a:defRPr/>
            </a:pPr>
            <a:r>
              <a:rPr lang="fr-FR" sz="2700" dirty="0"/>
              <a:t> Le vaccin </a:t>
            </a:r>
            <a:r>
              <a:rPr lang="fr-FR" sz="2700" dirty="0"/>
              <a:t>anticoquelucheux </a:t>
            </a:r>
            <a:endParaRPr lang="fr-FR" sz="2700" dirty="0"/>
          </a:p>
          <a:p>
            <a:pPr marL="525022" indent="-525022">
              <a:buFont typeface="+mj-lt"/>
              <a:buAutoNum type="alphaLcParenR"/>
              <a:defRPr/>
            </a:pPr>
            <a:r>
              <a:rPr lang="fr-FR" sz="2700" dirty="0"/>
              <a:t>Le vaccin anti-rubéole</a:t>
            </a:r>
          </a:p>
          <a:p>
            <a:pPr marL="525022" indent="-525022">
              <a:buFont typeface="+mj-lt"/>
              <a:buAutoNum type="alphaLcParenR"/>
              <a:defRPr/>
            </a:pPr>
            <a:r>
              <a:rPr lang="fr-FR" sz="2700" dirty="0"/>
              <a:t> Le vaccin anti-hépatite B</a:t>
            </a:r>
          </a:p>
          <a:p>
            <a:pPr>
              <a:defRPr/>
            </a:pPr>
            <a:endParaRPr lang="fr-FR" sz="2700" dirty="0"/>
          </a:p>
        </p:txBody>
      </p:sp>
    </p:spTree>
    <p:extLst>
      <p:ext uri="{BB962C8B-B14F-4D97-AF65-F5344CB8AC3E}">
        <p14:creationId xmlns:p14="http://schemas.microsoft.com/office/powerpoint/2010/main" val="780907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724252" y="1600200"/>
            <a:ext cx="9630396" cy="44958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None/>
              <a:defRPr/>
            </a:pPr>
            <a:r>
              <a:rPr lang="fr-FR" sz="2700" dirty="0" smtClean="0"/>
              <a:t>Cochez  </a:t>
            </a:r>
            <a:r>
              <a:rPr lang="fr-FR" sz="2700" dirty="0"/>
              <a:t>la ou les proposition(s) exacte(s) pour chacune des affirmations suivantes :Parmi les vaccins suivants, lesquels sont «inactivés»</a:t>
            </a:r>
          </a:p>
          <a:p>
            <a:pPr marL="525022" indent="-525022">
              <a:buFont typeface="+mj-lt"/>
              <a:buAutoNum type="alphaLcParenR"/>
              <a:defRPr/>
            </a:pPr>
            <a:r>
              <a:rPr lang="fr-FR" sz="2700" dirty="0"/>
              <a:t> Le vaccin </a:t>
            </a:r>
            <a:r>
              <a:rPr lang="fr-FR" sz="2700" dirty="0" err="1"/>
              <a:t>anti-poliomyélitique</a:t>
            </a:r>
            <a:r>
              <a:rPr lang="fr-FR" sz="2700" dirty="0"/>
              <a:t> oral</a:t>
            </a:r>
          </a:p>
          <a:p>
            <a:pPr marL="525022" indent="-525022">
              <a:buFont typeface="+mj-lt"/>
              <a:buAutoNum type="alphaLcParenR"/>
              <a:defRPr/>
            </a:pPr>
            <a:r>
              <a:rPr lang="fr-FR" sz="2700" dirty="0"/>
              <a:t> </a:t>
            </a:r>
            <a:r>
              <a:rPr lang="fr-FR" sz="2700" dirty="0">
                <a:solidFill>
                  <a:srgbClr val="C00000"/>
                </a:solidFill>
              </a:rPr>
              <a:t>Le vaccin anti-</a:t>
            </a:r>
            <a:r>
              <a:rPr lang="fr-FR" sz="2700" dirty="0" err="1">
                <a:solidFill>
                  <a:srgbClr val="C00000"/>
                </a:solidFill>
              </a:rPr>
              <a:t>penimococcique</a:t>
            </a:r>
            <a:endParaRPr lang="fr-FR" sz="2700" dirty="0">
              <a:solidFill>
                <a:srgbClr val="C00000"/>
              </a:solidFill>
            </a:endParaRPr>
          </a:p>
          <a:p>
            <a:pPr marL="525022" indent="-525022">
              <a:buFont typeface="+mj-lt"/>
              <a:buAutoNum type="alphaLcParenR"/>
              <a:defRPr/>
            </a:pPr>
            <a:r>
              <a:rPr lang="fr-FR" sz="2700" dirty="0">
                <a:solidFill>
                  <a:srgbClr val="C00000"/>
                </a:solidFill>
              </a:rPr>
              <a:t> Le vaccin anticoquelucheux </a:t>
            </a:r>
          </a:p>
          <a:p>
            <a:pPr marL="525022" indent="-525022">
              <a:buFont typeface="+mj-lt"/>
              <a:buAutoNum type="alphaLcParenR"/>
              <a:defRPr/>
            </a:pPr>
            <a:r>
              <a:rPr lang="fr-FR" sz="2700" dirty="0"/>
              <a:t>Le vaccin anti-rubéole</a:t>
            </a:r>
          </a:p>
          <a:p>
            <a:pPr marL="525022" indent="-525022">
              <a:buFont typeface="+mj-lt"/>
              <a:buAutoNum type="alphaLcParenR"/>
              <a:defRPr/>
            </a:pPr>
            <a:r>
              <a:rPr lang="fr-FR" sz="2700" dirty="0"/>
              <a:t> </a:t>
            </a:r>
            <a:r>
              <a:rPr lang="fr-FR" sz="2700" dirty="0">
                <a:solidFill>
                  <a:srgbClr val="C00000"/>
                </a:solidFill>
              </a:rPr>
              <a:t>Le vaccin anti-hépatite B</a:t>
            </a:r>
          </a:p>
          <a:p>
            <a:pPr>
              <a:defRPr/>
            </a:pPr>
            <a:endParaRPr lang="fr-FR" sz="2700" dirty="0">
              <a:solidFill>
                <a:srgbClr val="C00000"/>
              </a:solidFill>
            </a:endParaRPr>
          </a:p>
        </p:txBody>
      </p:sp>
      <p:sp>
        <p:nvSpPr>
          <p:cNvPr id="4" name="Titre 1"/>
          <p:cNvSpPr>
            <a:spLocks noGrp="1"/>
          </p:cNvSpPr>
          <p:nvPr>
            <p:ph type="title"/>
          </p:nvPr>
        </p:nvSpPr>
        <p:spPr>
          <a:xfrm>
            <a:off x="724252" y="228600"/>
            <a:ext cx="9630396" cy="990600"/>
          </a:xfrm>
        </p:spPr>
        <p:txBody>
          <a:bodyPr/>
          <a:lstStyle/>
          <a:p>
            <a:r>
              <a:rPr lang="fr-FR" dirty="0" smtClean="0"/>
              <a:t>QCM 23</a:t>
            </a:r>
            <a:endParaRPr lang="fr-FR" dirty="0" smtClean="0"/>
          </a:p>
        </p:txBody>
      </p:sp>
    </p:spTree>
    <p:extLst>
      <p:ext uri="{BB962C8B-B14F-4D97-AF65-F5344CB8AC3E}">
        <p14:creationId xmlns:p14="http://schemas.microsoft.com/office/powerpoint/2010/main" val="3809146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QCM 24</a:t>
            </a:r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  <a:defRPr/>
            </a:pPr>
            <a:r>
              <a:rPr lang="fr-FR" dirty="0" smtClean="0"/>
              <a:t>Le </a:t>
            </a:r>
            <a:r>
              <a:rPr lang="fr-FR" dirty="0"/>
              <a:t>BCG, une réponse fausse</a:t>
            </a:r>
          </a:p>
          <a:p>
            <a:pPr marL="545931" indent="-545931">
              <a:buFont typeface="+mj-lt"/>
              <a:buAutoNum type="alphaLcParenR"/>
              <a:defRPr/>
            </a:pPr>
            <a:r>
              <a:rPr lang="fr-FR" dirty="0"/>
              <a:t>Vaccin vivant atténué</a:t>
            </a:r>
          </a:p>
          <a:p>
            <a:pPr marL="545931" indent="-545931">
              <a:buFont typeface="+mj-lt"/>
              <a:buAutoNum type="alphaLcParenR"/>
              <a:defRPr/>
            </a:pPr>
            <a:r>
              <a:rPr lang="fr-FR" dirty="0"/>
              <a:t>Administré aux enfants non porteurs de cicatrice vaccinale</a:t>
            </a:r>
          </a:p>
          <a:p>
            <a:pPr marL="545931" indent="-545931">
              <a:buFont typeface="+mj-lt"/>
              <a:buAutoNum type="alphaLcParenR"/>
              <a:defRPr/>
            </a:pPr>
            <a:r>
              <a:rPr lang="fr-FR" dirty="0"/>
              <a:t>Administré aux nouveaux nés viables quelque soit le poids de naissance</a:t>
            </a:r>
          </a:p>
          <a:p>
            <a:pPr marL="545931" indent="-545931">
              <a:buFont typeface="+mj-lt"/>
              <a:buAutoNum type="alphaLcParenR"/>
              <a:defRPr/>
            </a:pPr>
            <a:r>
              <a:rPr lang="fr-FR" dirty="0"/>
              <a:t>Administré par voie ID stricte</a:t>
            </a:r>
          </a:p>
          <a:p>
            <a:pPr marL="545931" indent="-545931">
              <a:buFont typeface="+mj-lt"/>
              <a:buAutoNum type="alphaLcParenR"/>
              <a:defRPr/>
            </a:pPr>
            <a:r>
              <a:rPr lang="fr-FR" dirty="0"/>
              <a:t>Vaccin </a:t>
            </a:r>
            <a:r>
              <a:rPr lang="fr-FR" dirty="0" err="1"/>
              <a:t>unidosé</a:t>
            </a: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72340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QCM 24</a:t>
            </a:r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  <a:defRPr/>
            </a:pPr>
            <a:r>
              <a:rPr lang="fr-FR" dirty="0" smtClean="0"/>
              <a:t>Le </a:t>
            </a:r>
            <a:r>
              <a:rPr lang="fr-FR" dirty="0"/>
              <a:t>BCG, une réponse fausse</a:t>
            </a:r>
          </a:p>
          <a:p>
            <a:pPr marL="545931" indent="-545931">
              <a:buFont typeface="+mj-lt"/>
              <a:buAutoNum type="alphaLcParenR"/>
              <a:defRPr/>
            </a:pPr>
            <a:r>
              <a:rPr lang="fr-FR" dirty="0"/>
              <a:t>Vaccin vivant atténué</a:t>
            </a:r>
          </a:p>
          <a:p>
            <a:pPr marL="545931" indent="-545931">
              <a:buFont typeface="+mj-lt"/>
              <a:buAutoNum type="alphaLcParenR"/>
              <a:defRPr/>
            </a:pPr>
            <a:r>
              <a:rPr lang="fr-FR" dirty="0"/>
              <a:t>Administré aux enfants non porteurs de cicatrice vaccinale</a:t>
            </a:r>
          </a:p>
          <a:p>
            <a:pPr marL="545931" indent="-545931">
              <a:buFont typeface="+mj-lt"/>
              <a:buAutoNum type="alphaLcParenR"/>
              <a:defRPr/>
            </a:pPr>
            <a:r>
              <a:rPr lang="fr-FR" dirty="0"/>
              <a:t>Administré aux nouveaux nés viables quelque soit le poids de naissance</a:t>
            </a:r>
          </a:p>
          <a:p>
            <a:pPr marL="545931" indent="-545931">
              <a:buFont typeface="+mj-lt"/>
              <a:buAutoNum type="alphaLcParenR"/>
              <a:defRPr/>
            </a:pPr>
            <a:r>
              <a:rPr lang="fr-FR" dirty="0"/>
              <a:t>Administré par voie ID stricte</a:t>
            </a:r>
          </a:p>
          <a:p>
            <a:pPr marL="545931" indent="-545931">
              <a:buFont typeface="+mj-lt"/>
              <a:buAutoNum type="alphaLcParenR"/>
              <a:defRPr/>
            </a:pPr>
            <a:r>
              <a:rPr lang="fr-FR" dirty="0">
                <a:solidFill>
                  <a:srgbClr val="C00000"/>
                </a:solidFill>
              </a:rPr>
              <a:t>Vaccin </a:t>
            </a:r>
            <a:r>
              <a:rPr lang="fr-FR" dirty="0" err="1">
                <a:solidFill>
                  <a:srgbClr val="C00000"/>
                </a:solidFill>
              </a:rPr>
              <a:t>unidosé</a:t>
            </a:r>
            <a:endParaRPr lang="fr-FR" dirty="0">
              <a:solidFill>
                <a:srgbClr val="C00000"/>
              </a:solidFill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09986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QCM 25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2700" dirty="0" smtClean="0">
                <a:latin typeface="Trebuchet MS" pitchFamily="34" charset="0"/>
              </a:rPr>
              <a:t> </a:t>
            </a:r>
            <a:r>
              <a:rPr lang="fr-FR" sz="2700" dirty="0">
                <a:latin typeface="Trebuchet MS" pitchFamily="34" charset="0"/>
              </a:rPr>
              <a:t>parmi les propositions suivantes, cochez les réponses justes</a:t>
            </a:r>
          </a:p>
          <a:p>
            <a:pPr marL="439689" indent="-439689">
              <a:buFont typeface="+mj-lt"/>
              <a:buAutoNum type="alphaLcPeriod"/>
            </a:pPr>
            <a:r>
              <a:rPr lang="fr-FR" sz="2700" dirty="0">
                <a:latin typeface="Trebuchet MS" pitchFamily="34" charset="0"/>
              </a:rPr>
              <a:t>Les vaccins atténués provoque une immunité durable</a:t>
            </a:r>
          </a:p>
          <a:p>
            <a:pPr marL="439689" indent="-439689">
              <a:buFont typeface="+mj-lt"/>
              <a:buAutoNum type="alphaLcPeriod"/>
            </a:pPr>
            <a:r>
              <a:rPr lang="fr-FR" sz="2700" dirty="0">
                <a:latin typeface="Trebuchet MS" pitchFamily="34" charset="0"/>
              </a:rPr>
              <a:t>Les vaccins vivants nécessitent des doses de rappels</a:t>
            </a:r>
          </a:p>
          <a:p>
            <a:pPr marL="439689" indent="-439689">
              <a:buFont typeface="+mj-lt"/>
              <a:buAutoNum type="alphaLcPeriod"/>
            </a:pPr>
            <a:r>
              <a:rPr lang="fr-FR" sz="2700" dirty="0">
                <a:latin typeface="Trebuchet MS" pitchFamily="34" charset="0"/>
              </a:rPr>
              <a:t>Les adjuvants augmentent la réponse immune</a:t>
            </a:r>
          </a:p>
          <a:p>
            <a:pPr marL="439689" indent="-439689">
              <a:buFont typeface="+mj-lt"/>
              <a:buAutoNum type="alphaLcPeriod"/>
            </a:pPr>
            <a:r>
              <a:rPr lang="fr-FR" sz="2700" dirty="0">
                <a:latin typeface="Trebuchet MS" pitchFamily="34" charset="0"/>
              </a:rPr>
              <a:t>Les vaccins atténués sont associés aux adjuvants</a:t>
            </a:r>
          </a:p>
          <a:p>
            <a:pPr marL="439689" indent="-439689">
              <a:buFont typeface="+mj-lt"/>
              <a:buAutoNum type="alphaLcPeriod"/>
            </a:pPr>
            <a:r>
              <a:rPr lang="fr-FR" sz="2700" dirty="0">
                <a:latin typeface="Trebuchet MS" pitchFamily="34" charset="0"/>
              </a:rPr>
              <a:t>La vaccination simultanée de 02 vaccins en des sites peut se faire (1,5cm) d’espace entre les 02 points</a:t>
            </a:r>
          </a:p>
          <a:p>
            <a:pPr marL="439689" indent="-439689">
              <a:buFont typeface="+mj-lt"/>
              <a:buAutoNum type="alphaLcPeriod"/>
            </a:pPr>
            <a:endParaRPr lang="fr-FR" sz="2700" dirty="0">
              <a:latin typeface="Trebuchet MS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8066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QCM 25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2700" dirty="0" smtClean="0">
                <a:latin typeface="Trebuchet MS" pitchFamily="34" charset="0"/>
              </a:rPr>
              <a:t> </a:t>
            </a:r>
            <a:r>
              <a:rPr lang="fr-FR" sz="2700" dirty="0">
                <a:latin typeface="Trebuchet MS" pitchFamily="34" charset="0"/>
              </a:rPr>
              <a:t>parmi les propositions suivantes, cochez les réponses justes</a:t>
            </a:r>
          </a:p>
          <a:p>
            <a:pPr marL="439689" indent="-439689">
              <a:buFont typeface="+mj-lt"/>
              <a:buAutoNum type="alphaLcPeriod"/>
            </a:pPr>
            <a:r>
              <a:rPr lang="fr-FR" sz="2700" dirty="0">
                <a:latin typeface="Trebuchet MS" pitchFamily="34" charset="0"/>
              </a:rPr>
              <a:t>Les vaccins atténués provoque une immunité durable</a:t>
            </a:r>
          </a:p>
          <a:p>
            <a:pPr marL="439689" indent="-439689">
              <a:buFont typeface="+mj-lt"/>
              <a:buAutoNum type="alphaLcPeriod"/>
            </a:pPr>
            <a:r>
              <a:rPr lang="fr-FR" sz="2700" dirty="0">
                <a:latin typeface="Trebuchet MS" pitchFamily="34" charset="0"/>
              </a:rPr>
              <a:t>Les vaccins vivants nécessitent des doses de rappels</a:t>
            </a:r>
          </a:p>
          <a:p>
            <a:pPr marL="439689" indent="-439689">
              <a:buFont typeface="+mj-lt"/>
              <a:buAutoNum type="alphaLcPeriod"/>
            </a:pPr>
            <a:r>
              <a:rPr lang="fr-FR" sz="2700" dirty="0">
                <a:solidFill>
                  <a:srgbClr val="C00000"/>
                </a:solidFill>
                <a:latin typeface="Trebuchet MS" pitchFamily="34" charset="0"/>
              </a:rPr>
              <a:t>Les adjuvants augmentent la réponse immune</a:t>
            </a:r>
          </a:p>
          <a:p>
            <a:pPr marL="439689" indent="-439689">
              <a:buFont typeface="+mj-lt"/>
              <a:buAutoNum type="alphaLcPeriod"/>
            </a:pPr>
            <a:r>
              <a:rPr lang="fr-FR" sz="2700" dirty="0">
                <a:solidFill>
                  <a:srgbClr val="C00000"/>
                </a:solidFill>
                <a:latin typeface="Trebuchet MS" pitchFamily="34" charset="0"/>
              </a:rPr>
              <a:t>Les vaccins atténués sont associés aux adjuvants</a:t>
            </a:r>
          </a:p>
          <a:p>
            <a:pPr marL="439689" indent="-439689">
              <a:buFont typeface="+mj-lt"/>
              <a:buAutoNum type="alphaLcPeriod"/>
            </a:pPr>
            <a:r>
              <a:rPr lang="fr-FR" sz="2700" dirty="0">
                <a:latin typeface="Trebuchet MS" pitchFamily="34" charset="0"/>
              </a:rPr>
              <a:t>La vaccination simultanée de 02 vaccins en des sites peut se faire </a:t>
            </a:r>
            <a:r>
              <a:rPr lang="fr-FR" sz="2700" dirty="0" smtClean="0">
                <a:latin typeface="Trebuchet MS" pitchFamily="34" charset="0"/>
              </a:rPr>
              <a:t>à 1,5cm </a:t>
            </a:r>
            <a:r>
              <a:rPr lang="fr-FR" sz="2700" dirty="0">
                <a:latin typeface="Trebuchet MS" pitchFamily="34" charset="0"/>
              </a:rPr>
              <a:t>d’espace entre les 02 points</a:t>
            </a:r>
          </a:p>
          <a:p>
            <a:pPr marL="439689" indent="-439689">
              <a:buFont typeface="+mj-lt"/>
              <a:buAutoNum type="alphaLcPeriod"/>
            </a:pPr>
            <a:endParaRPr lang="fr-FR" sz="2700" dirty="0">
              <a:latin typeface="Trebuchet MS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9199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Titre 1"/>
          <p:cNvSpPr>
            <a:spLocks noGrp="1"/>
          </p:cNvSpPr>
          <p:nvPr>
            <p:ph type="title"/>
          </p:nvPr>
        </p:nvSpPr>
        <p:spPr>
          <a:xfrm>
            <a:off x="724252" y="228600"/>
            <a:ext cx="9630396" cy="990600"/>
          </a:xfrm>
        </p:spPr>
        <p:txBody>
          <a:bodyPr/>
          <a:lstStyle/>
          <a:p>
            <a:r>
              <a:rPr lang="fr-FR" dirty="0" smtClean="0"/>
              <a:t>QCM 26</a:t>
            </a:r>
            <a:endParaRPr lang="fr-FR" dirty="0" smtClean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592536" y="1371629"/>
            <a:ext cx="9630396" cy="4495800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None/>
              <a:defRPr/>
            </a:pPr>
            <a:r>
              <a:rPr lang="fr-FR" sz="2700" dirty="0" smtClean="0">
                <a:latin typeface="Trebuchet MS" pitchFamily="34" charset="0"/>
              </a:rPr>
              <a:t>Les </a:t>
            </a:r>
            <a:r>
              <a:rPr lang="fr-FR" sz="2700" dirty="0">
                <a:latin typeface="Trebuchet MS" pitchFamily="34" charset="0"/>
              </a:rPr>
              <a:t>objectifs du calendrier vaccinal sont, cochez les réponses justes</a:t>
            </a:r>
          </a:p>
          <a:p>
            <a:pPr marL="439689" indent="-439689">
              <a:buFont typeface="+mj-lt"/>
              <a:buAutoNum type="alphaLcPeriod"/>
              <a:defRPr/>
            </a:pPr>
            <a:r>
              <a:rPr lang="fr-FR" sz="2700" dirty="0">
                <a:latin typeface="Trebuchet MS" pitchFamily="34" charset="0"/>
              </a:rPr>
              <a:t>Atteindre un taux de couverture vaccinale de 85% pour tous les vaccins</a:t>
            </a:r>
          </a:p>
          <a:p>
            <a:pPr marL="439689" indent="-439689">
              <a:buFont typeface="+mj-lt"/>
              <a:buAutoNum type="alphaLcPeriod"/>
              <a:defRPr/>
            </a:pPr>
            <a:r>
              <a:rPr lang="fr-FR" sz="2700" dirty="0">
                <a:latin typeface="Trebuchet MS" pitchFamily="34" charset="0"/>
              </a:rPr>
              <a:t>Eradiquer la variole</a:t>
            </a:r>
          </a:p>
          <a:p>
            <a:pPr marL="439689" indent="-439689">
              <a:buFont typeface="+mj-lt"/>
              <a:buAutoNum type="alphaLcPeriod"/>
              <a:defRPr/>
            </a:pPr>
            <a:r>
              <a:rPr lang="fr-FR" sz="2700" dirty="0">
                <a:latin typeface="Trebuchet MS" pitchFamily="34" charset="0"/>
              </a:rPr>
              <a:t>Consolider l’éradication de la poliomyélite à virus vaccinal</a:t>
            </a:r>
          </a:p>
          <a:p>
            <a:pPr marL="439689" indent="-439689">
              <a:buFont typeface="+mj-lt"/>
              <a:buAutoNum type="alphaLcPeriod"/>
              <a:defRPr/>
            </a:pPr>
            <a:r>
              <a:rPr lang="fr-FR" sz="2700" dirty="0">
                <a:latin typeface="Trebuchet MS" pitchFamily="34" charset="0"/>
              </a:rPr>
              <a:t>Eliminer le tétanos néonatal</a:t>
            </a:r>
          </a:p>
          <a:p>
            <a:pPr marL="439689" indent="-439689">
              <a:buFont typeface="+mj-lt"/>
              <a:buAutoNum type="alphaLcPeriod"/>
              <a:defRPr/>
            </a:pPr>
            <a:r>
              <a:rPr lang="fr-FR" sz="2700" dirty="0">
                <a:latin typeface="Trebuchet MS" pitchFamily="34" charset="0"/>
              </a:rPr>
              <a:t>Réduire les épidémies de méningite à </a:t>
            </a:r>
            <a:r>
              <a:rPr lang="fr-FR" sz="2700" dirty="0" err="1">
                <a:latin typeface="Trebuchet MS" pitchFamily="34" charset="0"/>
              </a:rPr>
              <a:t>Hib</a:t>
            </a:r>
            <a:r>
              <a:rPr lang="fr-FR" sz="2700" dirty="0">
                <a:latin typeface="Trebuchet MS" pitchFamily="34" charset="0"/>
              </a:rPr>
              <a:t> </a:t>
            </a:r>
            <a:r>
              <a:rPr lang="fr-FR" sz="2700" dirty="0">
                <a:latin typeface="Trebuchet MS" pitchFamily="34" charset="0"/>
              </a:rPr>
              <a:t>et à pneumocoque</a:t>
            </a:r>
          </a:p>
          <a:p>
            <a:pPr marL="439689" indent="-439689">
              <a:buFont typeface="+mj-lt"/>
              <a:buAutoNum type="alphaLcPeriod"/>
              <a:defRPr/>
            </a:pPr>
            <a:endParaRPr lang="fr-FR" sz="2700" dirty="0">
              <a:latin typeface="Trebuchet MS" pitchFamily="34" charset="0"/>
            </a:endParaRPr>
          </a:p>
          <a:p>
            <a:pPr marL="439689" indent="-439689">
              <a:buFont typeface="+mj-lt"/>
              <a:buAutoNum type="alphaLcPeriod"/>
              <a:defRPr/>
            </a:pPr>
            <a:endParaRPr lang="fr-FR" sz="2700" dirty="0">
              <a:latin typeface="Trebuchet MS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8436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Titre 1"/>
          <p:cNvSpPr>
            <a:spLocks noGrp="1"/>
          </p:cNvSpPr>
          <p:nvPr>
            <p:ph type="title"/>
          </p:nvPr>
        </p:nvSpPr>
        <p:spPr>
          <a:xfrm>
            <a:off x="724252" y="228600"/>
            <a:ext cx="9630396" cy="990600"/>
          </a:xfrm>
        </p:spPr>
        <p:txBody>
          <a:bodyPr/>
          <a:lstStyle/>
          <a:p>
            <a:r>
              <a:rPr lang="fr-FR" dirty="0" smtClean="0"/>
              <a:t>QCM 26</a:t>
            </a:r>
            <a:endParaRPr lang="fr-FR" dirty="0" smtClean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724252" y="1600200"/>
            <a:ext cx="9630396" cy="4495800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None/>
              <a:defRPr/>
            </a:pPr>
            <a:r>
              <a:rPr lang="fr-FR" sz="2700" dirty="0" smtClean="0">
                <a:latin typeface="Trebuchet MS" pitchFamily="34" charset="0"/>
              </a:rPr>
              <a:t>Les </a:t>
            </a:r>
            <a:r>
              <a:rPr lang="fr-FR" sz="2700" dirty="0">
                <a:latin typeface="Trebuchet MS" pitchFamily="34" charset="0"/>
              </a:rPr>
              <a:t>objectifs du calendrier vaccinal sont, cochez les réponses justes</a:t>
            </a:r>
          </a:p>
          <a:p>
            <a:pPr marL="439689" indent="-439689">
              <a:buFont typeface="+mj-lt"/>
              <a:buAutoNum type="alphaLcPeriod"/>
              <a:defRPr/>
            </a:pPr>
            <a:r>
              <a:rPr lang="fr-FR" sz="2700" dirty="0">
                <a:latin typeface="Trebuchet MS" pitchFamily="34" charset="0"/>
              </a:rPr>
              <a:t>Atteindre un taux de couverture vaccinale de 85% pour tous les vaccins</a:t>
            </a:r>
          </a:p>
          <a:p>
            <a:pPr marL="439689" indent="-439689">
              <a:buFont typeface="+mj-lt"/>
              <a:buAutoNum type="alphaLcPeriod"/>
              <a:defRPr/>
            </a:pPr>
            <a:r>
              <a:rPr lang="fr-FR" sz="2700" dirty="0">
                <a:latin typeface="Trebuchet MS" pitchFamily="34" charset="0"/>
              </a:rPr>
              <a:t>Eradiquer la variole</a:t>
            </a:r>
          </a:p>
          <a:p>
            <a:pPr marL="439689" indent="-439689">
              <a:buFont typeface="+mj-lt"/>
              <a:buAutoNum type="alphaLcPeriod"/>
              <a:defRPr/>
            </a:pPr>
            <a:r>
              <a:rPr lang="fr-FR" sz="2700" dirty="0">
                <a:latin typeface="Trebuchet MS" pitchFamily="34" charset="0"/>
              </a:rPr>
              <a:t>Consolider l’éradication de la poliomyélite à virus vaccinal</a:t>
            </a:r>
          </a:p>
          <a:p>
            <a:pPr marL="439689" indent="-439689">
              <a:buFont typeface="+mj-lt"/>
              <a:buAutoNum type="alphaLcPeriod"/>
              <a:defRPr/>
            </a:pPr>
            <a:r>
              <a:rPr lang="fr-FR" sz="2700" dirty="0">
                <a:solidFill>
                  <a:srgbClr val="C00000"/>
                </a:solidFill>
                <a:latin typeface="Trebuchet MS" pitchFamily="34" charset="0"/>
              </a:rPr>
              <a:t>Eliminer le tétanos néonatal</a:t>
            </a:r>
          </a:p>
          <a:p>
            <a:pPr marL="439689" indent="-439689">
              <a:buFont typeface="+mj-lt"/>
              <a:buAutoNum type="alphaLcPeriod"/>
              <a:defRPr/>
            </a:pPr>
            <a:r>
              <a:rPr lang="fr-FR" sz="2700" dirty="0">
                <a:solidFill>
                  <a:srgbClr val="C00000"/>
                </a:solidFill>
                <a:latin typeface="Trebuchet MS" pitchFamily="34" charset="0"/>
              </a:rPr>
              <a:t>Réduire les épidémies de méningite à </a:t>
            </a:r>
            <a:r>
              <a:rPr lang="fr-FR" sz="2700" dirty="0" err="1">
                <a:solidFill>
                  <a:srgbClr val="C00000"/>
                </a:solidFill>
                <a:latin typeface="Trebuchet MS" pitchFamily="34" charset="0"/>
              </a:rPr>
              <a:t>Hib</a:t>
            </a:r>
            <a:r>
              <a:rPr lang="fr-FR" sz="2700" dirty="0">
                <a:solidFill>
                  <a:srgbClr val="C00000"/>
                </a:solidFill>
                <a:latin typeface="Trebuchet MS" pitchFamily="34" charset="0"/>
              </a:rPr>
              <a:t> </a:t>
            </a:r>
            <a:r>
              <a:rPr lang="fr-FR" sz="2700" dirty="0">
                <a:solidFill>
                  <a:srgbClr val="C00000"/>
                </a:solidFill>
                <a:latin typeface="Trebuchet MS" pitchFamily="34" charset="0"/>
              </a:rPr>
              <a:t>et à pneumocoque</a:t>
            </a:r>
          </a:p>
          <a:p>
            <a:pPr marL="439689" indent="-439689">
              <a:buFont typeface="+mj-lt"/>
              <a:buAutoNum type="alphaLcPeriod"/>
              <a:defRPr/>
            </a:pPr>
            <a:endParaRPr lang="fr-FR" sz="2700" dirty="0">
              <a:solidFill>
                <a:srgbClr val="00B050"/>
              </a:solidFill>
              <a:latin typeface="Trebuchet MS" pitchFamily="34" charset="0"/>
            </a:endParaRPr>
          </a:p>
          <a:p>
            <a:pPr marL="439689" indent="-439689">
              <a:buFont typeface="+mj-lt"/>
              <a:buAutoNum type="alphaLcPeriod"/>
              <a:defRPr/>
            </a:pPr>
            <a:endParaRPr lang="fr-FR" sz="2700" dirty="0">
              <a:latin typeface="Trebuchet MS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2264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Titre 3"/>
          <p:cNvSpPr>
            <a:spLocks noGrp="1"/>
          </p:cNvSpPr>
          <p:nvPr>
            <p:ph type="title"/>
          </p:nvPr>
        </p:nvSpPr>
        <p:spPr>
          <a:xfrm>
            <a:off x="724252" y="228600"/>
            <a:ext cx="9630396" cy="990600"/>
          </a:xfrm>
        </p:spPr>
        <p:txBody>
          <a:bodyPr/>
          <a:lstStyle/>
          <a:p>
            <a:r>
              <a:rPr lang="fr-FR" dirty="0" smtClean="0"/>
              <a:t>QCM 27</a:t>
            </a:r>
            <a:endParaRPr lang="fr-FR" dirty="0" smtClean="0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"/>
          </p:nvPr>
        </p:nvSpPr>
        <p:spPr>
          <a:xfrm>
            <a:off x="724252" y="1600200"/>
            <a:ext cx="9630396" cy="44958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None/>
              <a:defRPr/>
            </a:pPr>
            <a:r>
              <a:rPr lang="fr-BE" sz="3100" dirty="0">
                <a:latin typeface="Trebuchet MS" pitchFamily="34" charset="0"/>
              </a:rPr>
              <a:t>1)Le programme élargi de vaccination , une réponse fausse</a:t>
            </a:r>
            <a:endParaRPr lang="fr-FR" sz="3100" dirty="0">
              <a:latin typeface="Trebuchet MS" pitchFamily="34" charset="0"/>
            </a:endParaRPr>
          </a:p>
          <a:p>
            <a:pPr marL="525022" indent="-525022">
              <a:buFont typeface="+mj-lt"/>
              <a:buAutoNum type="alphaLcParenR"/>
              <a:defRPr/>
            </a:pPr>
            <a:r>
              <a:rPr lang="fr-BE" sz="3100" dirty="0">
                <a:latin typeface="Trebuchet MS" pitchFamily="34" charset="0"/>
              </a:rPr>
              <a:t> Instauré dans les années 70</a:t>
            </a:r>
            <a:endParaRPr lang="fr-FR" sz="3100" dirty="0">
              <a:latin typeface="Trebuchet MS" pitchFamily="34" charset="0"/>
            </a:endParaRPr>
          </a:p>
          <a:p>
            <a:pPr marL="525022" indent="-525022">
              <a:buFont typeface="+mj-lt"/>
              <a:buAutoNum type="alphaLcParenR"/>
              <a:defRPr/>
            </a:pPr>
            <a:r>
              <a:rPr lang="fr-BE" sz="3100" dirty="0">
                <a:latin typeface="Trebuchet MS" pitchFamily="34" charset="0"/>
              </a:rPr>
              <a:t>Protection contre les maladies transmissibles </a:t>
            </a:r>
            <a:endParaRPr lang="fr-FR" sz="3100" dirty="0">
              <a:latin typeface="Trebuchet MS" pitchFamily="34" charset="0"/>
            </a:endParaRPr>
          </a:p>
          <a:p>
            <a:pPr marL="525022" indent="-525022">
              <a:buFont typeface="+mj-lt"/>
              <a:buAutoNum type="alphaLcParenR"/>
              <a:defRPr/>
            </a:pPr>
            <a:r>
              <a:rPr lang="fr-BE" sz="3100" dirty="0">
                <a:latin typeface="Trebuchet MS" pitchFamily="34" charset="0"/>
              </a:rPr>
              <a:t>Établi selon les données épidémiologiques des maladies infectieuses</a:t>
            </a:r>
            <a:endParaRPr lang="fr-FR" sz="3100" dirty="0">
              <a:latin typeface="Trebuchet MS" pitchFamily="34" charset="0"/>
            </a:endParaRPr>
          </a:p>
          <a:p>
            <a:pPr marL="525022" indent="-525022">
              <a:buFont typeface="+mj-lt"/>
              <a:buAutoNum type="alphaLcParenR"/>
              <a:defRPr/>
            </a:pPr>
            <a:r>
              <a:rPr lang="fr-BE" sz="3100" dirty="0">
                <a:latin typeface="Trebuchet MS" pitchFamily="34" charset="0"/>
              </a:rPr>
              <a:t>Universel et identique </a:t>
            </a:r>
            <a:endParaRPr lang="fr-FR" sz="3100" dirty="0">
              <a:latin typeface="Trebuchet MS" pitchFamily="34" charset="0"/>
            </a:endParaRPr>
          </a:p>
          <a:p>
            <a:pPr>
              <a:buFont typeface="Wingdings" pitchFamily="2" charset="2"/>
              <a:buNone/>
              <a:defRPr/>
            </a:pPr>
            <a:endParaRPr lang="fr-FR" sz="3100" dirty="0">
              <a:latin typeface="Trebuchet MS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5800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contenu 4"/>
          <p:cNvSpPr>
            <a:spLocks noGrp="1"/>
          </p:cNvSpPr>
          <p:nvPr>
            <p:ph sz="quarter" idx="1"/>
          </p:nvPr>
        </p:nvSpPr>
        <p:spPr>
          <a:xfrm>
            <a:off x="724252" y="1600200"/>
            <a:ext cx="9630396" cy="44958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None/>
              <a:defRPr/>
            </a:pPr>
            <a:r>
              <a:rPr lang="fr-BE" sz="3100" dirty="0">
                <a:latin typeface="Trebuchet MS" pitchFamily="34" charset="0"/>
              </a:rPr>
              <a:t>1)Le programme élargi de vaccination , une réponse fausse</a:t>
            </a:r>
            <a:endParaRPr lang="fr-FR" sz="3100" dirty="0">
              <a:latin typeface="Trebuchet MS" pitchFamily="34" charset="0"/>
            </a:endParaRPr>
          </a:p>
          <a:p>
            <a:pPr marL="525022" indent="-525022">
              <a:buFont typeface="+mj-lt"/>
              <a:buAutoNum type="alphaLcParenR"/>
              <a:defRPr/>
            </a:pPr>
            <a:r>
              <a:rPr lang="fr-BE" sz="3100" dirty="0">
                <a:latin typeface="Trebuchet MS" pitchFamily="34" charset="0"/>
              </a:rPr>
              <a:t> instauré dans les années 70</a:t>
            </a:r>
            <a:endParaRPr lang="fr-FR" sz="3100" dirty="0">
              <a:latin typeface="Trebuchet MS" pitchFamily="34" charset="0"/>
            </a:endParaRPr>
          </a:p>
          <a:p>
            <a:pPr marL="525022" indent="-525022">
              <a:buFont typeface="+mj-lt"/>
              <a:buAutoNum type="alphaLcParenR"/>
              <a:defRPr/>
            </a:pPr>
            <a:r>
              <a:rPr lang="fr-BE" sz="3100" dirty="0">
                <a:latin typeface="Trebuchet MS" pitchFamily="34" charset="0"/>
              </a:rPr>
              <a:t>Protection contre les maladies transmissibles </a:t>
            </a:r>
            <a:endParaRPr lang="fr-FR" sz="3100" dirty="0">
              <a:latin typeface="Trebuchet MS" pitchFamily="34" charset="0"/>
            </a:endParaRPr>
          </a:p>
          <a:p>
            <a:pPr marL="525022" indent="-525022">
              <a:buFont typeface="+mj-lt"/>
              <a:buAutoNum type="alphaLcParenR"/>
              <a:defRPr/>
            </a:pPr>
            <a:r>
              <a:rPr lang="fr-BE" sz="3100" dirty="0">
                <a:latin typeface="Trebuchet MS" pitchFamily="34" charset="0"/>
              </a:rPr>
              <a:t>Établi selon les données épidémiologiques des maladies infectieuses</a:t>
            </a:r>
            <a:endParaRPr lang="fr-FR" sz="3100" dirty="0">
              <a:latin typeface="Trebuchet MS" pitchFamily="34" charset="0"/>
            </a:endParaRPr>
          </a:p>
          <a:p>
            <a:pPr marL="525022" indent="-525022">
              <a:buFont typeface="+mj-lt"/>
              <a:buAutoNum type="alphaLcParenR"/>
              <a:defRPr/>
            </a:pPr>
            <a:r>
              <a:rPr lang="fr-BE" sz="3100" dirty="0">
                <a:solidFill>
                  <a:srgbClr val="C00000"/>
                </a:solidFill>
                <a:latin typeface="Trebuchet MS" pitchFamily="34" charset="0"/>
              </a:rPr>
              <a:t>Universel et identique </a:t>
            </a:r>
            <a:endParaRPr lang="fr-FR" sz="3100" dirty="0">
              <a:solidFill>
                <a:srgbClr val="C00000"/>
              </a:solidFill>
              <a:latin typeface="Trebuchet MS" pitchFamily="34" charset="0"/>
            </a:endParaRPr>
          </a:p>
          <a:p>
            <a:pPr>
              <a:buFont typeface="Wingdings" pitchFamily="2" charset="2"/>
              <a:buNone/>
              <a:defRPr/>
            </a:pPr>
            <a:endParaRPr lang="fr-FR" sz="3100" dirty="0">
              <a:latin typeface="Trebuchet MS" pitchFamily="34" charset="0"/>
            </a:endParaRPr>
          </a:p>
        </p:txBody>
      </p:sp>
      <p:sp>
        <p:nvSpPr>
          <p:cNvPr id="6" name="Titre 3"/>
          <p:cNvSpPr>
            <a:spLocks noGrp="1"/>
          </p:cNvSpPr>
          <p:nvPr>
            <p:ph type="title"/>
          </p:nvPr>
        </p:nvSpPr>
        <p:spPr>
          <a:xfrm>
            <a:off x="724252" y="228600"/>
            <a:ext cx="9630396" cy="990600"/>
          </a:xfrm>
        </p:spPr>
        <p:txBody>
          <a:bodyPr/>
          <a:lstStyle/>
          <a:p>
            <a:r>
              <a:rPr lang="fr-FR" dirty="0" smtClean="0"/>
              <a:t>QCM 27</a:t>
            </a:r>
            <a:endParaRPr lang="fr-FR" dirty="0" smtClean="0"/>
          </a:p>
        </p:txBody>
      </p:sp>
    </p:spTree>
    <p:extLst>
      <p:ext uri="{BB962C8B-B14F-4D97-AF65-F5344CB8AC3E}">
        <p14:creationId xmlns:p14="http://schemas.microsoft.com/office/powerpoint/2010/main" val="2692031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Titre 1"/>
          <p:cNvSpPr>
            <a:spLocks noGrp="1"/>
          </p:cNvSpPr>
          <p:nvPr>
            <p:ph type="title"/>
          </p:nvPr>
        </p:nvSpPr>
        <p:spPr>
          <a:xfrm>
            <a:off x="724252" y="228600"/>
            <a:ext cx="9630396" cy="990600"/>
          </a:xfrm>
        </p:spPr>
        <p:txBody>
          <a:bodyPr/>
          <a:lstStyle/>
          <a:p>
            <a:r>
              <a:rPr lang="fr-FR" dirty="0" smtClean="0"/>
              <a:t>QCM 28</a:t>
            </a:r>
            <a:endParaRPr lang="fr-FR" dirty="0" smtClean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24252" y="1600200"/>
            <a:ext cx="9630396" cy="4495800"/>
          </a:xfrm>
        </p:spPr>
        <p:txBody>
          <a:bodyPr>
            <a:noAutofit/>
          </a:bodyPr>
          <a:lstStyle/>
          <a:p>
            <a:pPr>
              <a:lnSpc>
                <a:spcPct val="106000"/>
              </a:lnSpc>
              <a:buFont typeface="Wingdings" pitchFamily="2" charset="2"/>
              <a:buNone/>
              <a:defRPr/>
            </a:pPr>
            <a:r>
              <a:rPr lang="fr-BE" sz="2700" dirty="0" smtClean="0">
                <a:latin typeface="Trebuchet MS" pitchFamily="34" charset="0"/>
                <a:ea typeface="Calibri"/>
                <a:cs typeface="Times New Roman"/>
              </a:rPr>
              <a:t>Parmi </a:t>
            </a:r>
            <a:r>
              <a:rPr lang="fr-BE" sz="2700" dirty="0">
                <a:latin typeface="Trebuchet MS" pitchFamily="34" charset="0"/>
                <a:ea typeface="Calibri"/>
                <a:cs typeface="Times New Roman"/>
              </a:rPr>
              <a:t>les propositions suivantes concernant la vaccination par le BCG en Algérie, quelle(s) est (sont) celle(s) qui est (sont) exacte(s)</a:t>
            </a:r>
            <a:endParaRPr lang="fr-FR" sz="3100" dirty="0">
              <a:latin typeface="Trebuchet MS" pitchFamily="34" charset="0"/>
              <a:ea typeface="Calibri"/>
              <a:cs typeface="Times New Roman"/>
            </a:endParaRPr>
          </a:p>
          <a:p>
            <a:pPr lvl="1">
              <a:lnSpc>
                <a:spcPct val="106000"/>
              </a:lnSpc>
              <a:buFont typeface="+mj-lt"/>
              <a:buAutoNum type="alphaLcPeriod"/>
              <a:defRPr/>
            </a:pPr>
            <a:r>
              <a:rPr lang="fr-BE" sz="2300" dirty="0">
                <a:latin typeface="Trebuchet MS" pitchFamily="34" charset="0"/>
                <a:ea typeface="Calibri"/>
                <a:cs typeface="Times New Roman"/>
              </a:rPr>
              <a:t>Tous les enfants nés viables dans une structure de santé sont obligatoirement vaccinés</a:t>
            </a:r>
            <a:endParaRPr lang="fr-FR" sz="2700" dirty="0">
              <a:latin typeface="Trebuchet MS" pitchFamily="34" charset="0"/>
              <a:ea typeface="Calibri"/>
              <a:cs typeface="Times New Roman"/>
            </a:endParaRPr>
          </a:p>
          <a:p>
            <a:pPr lvl="1">
              <a:lnSpc>
                <a:spcPct val="106000"/>
              </a:lnSpc>
              <a:buFont typeface="+mj-lt"/>
              <a:buAutoNum type="alphaLcPeriod"/>
              <a:defRPr/>
            </a:pPr>
            <a:r>
              <a:rPr lang="fr-BE" sz="2300" dirty="0">
                <a:latin typeface="Trebuchet MS" pitchFamily="34" charset="0"/>
                <a:ea typeface="Calibri"/>
                <a:cs typeface="Times New Roman"/>
              </a:rPr>
              <a:t>Tous les enfants nés viables à domicile sont obligatoirement vaccinés</a:t>
            </a:r>
            <a:endParaRPr lang="fr-FR" sz="2700" dirty="0">
              <a:latin typeface="Trebuchet MS" pitchFamily="34" charset="0"/>
              <a:ea typeface="Calibri"/>
              <a:cs typeface="Times New Roman"/>
            </a:endParaRPr>
          </a:p>
          <a:p>
            <a:pPr lvl="1">
              <a:lnSpc>
                <a:spcPct val="106000"/>
              </a:lnSpc>
              <a:buFont typeface="+mj-lt"/>
              <a:buAutoNum type="alphaLcPeriod"/>
              <a:defRPr/>
            </a:pPr>
            <a:r>
              <a:rPr lang="fr-BE" sz="2300" dirty="0">
                <a:latin typeface="Trebuchet MS" pitchFamily="34" charset="0"/>
                <a:ea typeface="Calibri"/>
                <a:cs typeface="Times New Roman"/>
              </a:rPr>
              <a:t>Tous les enfants âgés de 0 à 14 ans révolus, non porteurs de cicatrice vaccinale sont obligatoirement vaccinés</a:t>
            </a:r>
            <a:endParaRPr lang="fr-FR" sz="2700" dirty="0">
              <a:latin typeface="Trebuchet MS" pitchFamily="34" charset="0"/>
              <a:ea typeface="Calibri"/>
              <a:cs typeface="Times New Roman"/>
            </a:endParaRPr>
          </a:p>
          <a:p>
            <a:pPr lvl="1">
              <a:lnSpc>
                <a:spcPct val="106000"/>
              </a:lnSpc>
              <a:buFont typeface="+mj-lt"/>
              <a:buAutoNum type="alphaLcPeriod"/>
              <a:defRPr/>
            </a:pPr>
            <a:r>
              <a:rPr lang="fr-BE" sz="2300" dirty="0">
                <a:latin typeface="Trebuchet MS" pitchFamily="34" charset="0"/>
                <a:ea typeface="Calibri"/>
                <a:cs typeface="Times New Roman"/>
              </a:rPr>
              <a:t>Recommandé chez les enfants en première année de scolarisation</a:t>
            </a:r>
            <a:endParaRPr lang="fr-FR" sz="2700" dirty="0">
              <a:latin typeface="Trebuchet MS" pitchFamily="34" charset="0"/>
              <a:ea typeface="Calibri"/>
              <a:cs typeface="Times New Roman"/>
            </a:endParaRPr>
          </a:p>
          <a:p>
            <a:pPr lvl="1">
              <a:lnSpc>
                <a:spcPct val="106000"/>
              </a:lnSpc>
              <a:buFont typeface="+mj-lt"/>
              <a:buAutoNum type="alphaLcPeriod"/>
              <a:defRPr/>
            </a:pPr>
            <a:r>
              <a:rPr lang="fr-BE" sz="2300" dirty="0">
                <a:latin typeface="Trebuchet MS" pitchFamily="34" charset="0"/>
                <a:ea typeface="Calibri"/>
              </a:rPr>
              <a:t>la vaccination est obligatoire si l’enfant rentre dans une collectivité</a:t>
            </a:r>
            <a:endParaRPr lang="fr-FR" sz="2300" dirty="0">
              <a:latin typeface="Trebuchet MS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1706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Titre 1"/>
          <p:cNvSpPr>
            <a:spLocks noGrp="1"/>
          </p:cNvSpPr>
          <p:nvPr>
            <p:ph type="title"/>
          </p:nvPr>
        </p:nvSpPr>
        <p:spPr>
          <a:xfrm>
            <a:off x="724252" y="228600"/>
            <a:ext cx="9630396" cy="990600"/>
          </a:xfrm>
        </p:spPr>
        <p:txBody>
          <a:bodyPr/>
          <a:lstStyle/>
          <a:p>
            <a:r>
              <a:rPr lang="fr-FR" dirty="0" smtClean="0"/>
              <a:t>QCM 28</a:t>
            </a:r>
            <a:endParaRPr lang="fr-FR" dirty="0" smtClean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62219" y="1028733"/>
            <a:ext cx="9630396" cy="4495800"/>
          </a:xfrm>
        </p:spPr>
        <p:txBody>
          <a:bodyPr>
            <a:noAutofit/>
          </a:bodyPr>
          <a:lstStyle/>
          <a:p>
            <a:pPr>
              <a:lnSpc>
                <a:spcPct val="106000"/>
              </a:lnSpc>
              <a:buFont typeface="Wingdings" pitchFamily="2" charset="2"/>
              <a:buNone/>
              <a:defRPr/>
            </a:pPr>
            <a:r>
              <a:rPr lang="fr-BE" sz="2700" dirty="0" smtClean="0">
                <a:latin typeface="Trebuchet MS" pitchFamily="34" charset="0"/>
                <a:ea typeface="Calibri"/>
                <a:cs typeface="Times New Roman"/>
              </a:rPr>
              <a:t>Parmi </a:t>
            </a:r>
            <a:r>
              <a:rPr lang="fr-BE" sz="2700" dirty="0">
                <a:latin typeface="Trebuchet MS" pitchFamily="34" charset="0"/>
                <a:ea typeface="Calibri"/>
                <a:cs typeface="Times New Roman"/>
              </a:rPr>
              <a:t>les propositions suivantes concernant la vaccination par le BCG en Algérie, quelle(s) est (sont) celle(s) qui est (sont) exacte(s)</a:t>
            </a:r>
            <a:endParaRPr lang="fr-FR" sz="3100" dirty="0">
              <a:latin typeface="Trebuchet MS" pitchFamily="34" charset="0"/>
              <a:ea typeface="Calibri"/>
              <a:cs typeface="Times New Roman"/>
            </a:endParaRPr>
          </a:p>
          <a:p>
            <a:pPr lvl="1">
              <a:lnSpc>
                <a:spcPct val="106000"/>
              </a:lnSpc>
              <a:buFont typeface="+mj-lt"/>
              <a:buAutoNum type="alphaLcPeriod"/>
              <a:defRPr/>
            </a:pPr>
            <a:r>
              <a:rPr lang="fr-BE" sz="2300" dirty="0" smtClean="0">
                <a:solidFill>
                  <a:srgbClr val="C00000"/>
                </a:solidFill>
                <a:latin typeface="Trebuchet MS" pitchFamily="34" charset="0"/>
                <a:ea typeface="Calibri"/>
                <a:cs typeface="Times New Roman"/>
              </a:rPr>
              <a:t>Tous les enfants nés viables dans une structure de santé sont obligatoirement vaccinés</a:t>
            </a:r>
            <a:endParaRPr lang="fr-FR" sz="2700" dirty="0" smtClean="0">
              <a:solidFill>
                <a:srgbClr val="C00000"/>
              </a:solidFill>
              <a:latin typeface="Trebuchet MS" pitchFamily="34" charset="0"/>
              <a:ea typeface="Calibri"/>
              <a:cs typeface="Times New Roman"/>
            </a:endParaRPr>
          </a:p>
          <a:p>
            <a:pPr lvl="1">
              <a:lnSpc>
                <a:spcPct val="106000"/>
              </a:lnSpc>
              <a:buFont typeface="+mj-lt"/>
              <a:buAutoNum type="alphaLcPeriod"/>
              <a:defRPr/>
            </a:pPr>
            <a:r>
              <a:rPr lang="fr-BE" sz="2300" dirty="0" smtClean="0">
                <a:solidFill>
                  <a:srgbClr val="C00000"/>
                </a:solidFill>
                <a:latin typeface="Trebuchet MS" pitchFamily="34" charset="0"/>
                <a:ea typeface="Calibri"/>
                <a:cs typeface="Times New Roman"/>
              </a:rPr>
              <a:t>Tous les enfants nés viables à domicile sont obligatoirement vaccinés</a:t>
            </a:r>
            <a:endParaRPr lang="fr-FR" sz="2700" dirty="0" smtClean="0">
              <a:solidFill>
                <a:srgbClr val="C00000"/>
              </a:solidFill>
              <a:latin typeface="Trebuchet MS" pitchFamily="34" charset="0"/>
              <a:ea typeface="Calibri"/>
              <a:cs typeface="Times New Roman"/>
            </a:endParaRPr>
          </a:p>
          <a:p>
            <a:pPr lvl="1">
              <a:lnSpc>
                <a:spcPct val="106000"/>
              </a:lnSpc>
              <a:buFont typeface="+mj-lt"/>
              <a:buAutoNum type="alphaLcPeriod"/>
              <a:defRPr/>
            </a:pPr>
            <a:r>
              <a:rPr lang="fr-BE" sz="2300" dirty="0" smtClean="0">
                <a:solidFill>
                  <a:srgbClr val="C00000"/>
                </a:solidFill>
                <a:latin typeface="Trebuchet MS" pitchFamily="34" charset="0"/>
                <a:ea typeface="Calibri"/>
                <a:cs typeface="Times New Roman"/>
              </a:rPr>
              <a:t>Tous les enfants âgés de 0 à 14 ans révolus, non porteurs de cicatrice vaccinale sont obligatoirement vaccinés</a:t>
            </a:r>
            <a:endParaRPr lang="fr-FR" sz="2700" dirty="0" smtClean="0">
              <a:solidFill>
                <a:srgbClr val="C00000"/>
              </a:solidFill>
              <a:latin typeface="Trebuchet MS" pitchFamily="34" charset="0"/>
              <a:ea typeface="Calibri"/>
              <a:cs typeface="Times New Roman"/>
            </a:endParaRPr>
          </a:p>
          <a:p>
            <a:pPr lvl="1">
              <a:lnSpc>
                <a:spcPct val="106000"/>
              </a:lnSpc>
              <a:buFont typeface="+mj-lt"/>
              <a:buAutoNum type="alphaLcPeriod"/>
              <a:defRPr/>
            </a:pPr>
            <a:r>
              <a:rPr lang="fr-BE" sz="2300" dirty="0" smtClean="0">
                <a:latin typeface="Trebuchet MS" pitchFamily="34" charset="0"/>
                <a:ea typeface="Calibri"/>
                <a:cs typeface="Times New Roman"/>
              </a:rPr>
              <a:t>Recommandé </a:t>
            </a:r>
            <a:r>
              <a:rPr lang="fr-BE" sz="2300" dirty="0">
                <a:latin typeface="Trebuchet MS" pitchFamily="34" charset="0"/>
                <a:ea typeface="Calibri"/>
                <a:cs typeface="Times New Roman"/>
              </a:rPr>
              <a:t>chez les enfants en première année de scolarisation</a:t>
            </a:r>
            <a:endParaRPr lang="fr-FR" sz="2700" dirty="0">
              <a:latin typeface="Trebuchet MS" pitchFamily="34" charset="0"/>
              <a:ea typeface="Calibri"/>
              <a:cs typeface="Times New Roman"/>
            </a:endParaRPr>
          </a:p>
          <a:p>
            <a:pPr lvl="1">
              <a:lnSpc>
                <a:spcPct val="106000"/>
              </a:lnSpc>
              <a:buFont typeface="+mj-lt"/>
              <a:buAutoNum type="alphaLcPeriod"/>
              <a:defRPr/>
            </a:pPr>
            <a:r>
              <a:rPr lang="fr-BE" sz="2300" dirty="0">
                <a:latin typeface="Trebuchet MS" pitchFamily="34" charset="0"/>
                <a:ea typeface="Calibri"/>
              </a:rPr>
              <a:t>la vaccination est obligatoire si l’enfant rentre dans une collectivité</a:t>
            </a:r>
            <a:endParaRPr lang="fr-FR" sz="2300" dirty="0">
              <a:latin typeface="Trebuchet MS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1378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QCM 29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dirty="0" smtClean="0"/>
              <a:t>un </a:t>
            </a:r>
            <a:r>
              <a:rPr lang="fr-FR" dirty="0" smtClean="0"/>
              <a:t>nourrisson hémophile se présente pour sa vaccination de 18 mois, on retrouve la notion de transfusion sanguine qui remonte à 02 semaines , CAT cochez le réponse juste</a:t>
            </a:r>
          </a:p>
          <a:p>
            <a:pPr marL="439689" indent="-439689">
              <a:buFont typeface="+mj-lt"/>
              <a:buAutoNum type="alphaLcPeriod"/>
            </a:pPr>
            <a:r>
              <a:rPr lang="fr-FR" dirty="0" smtClean="0"/>
              <a:t>Contre indication absolue à la vaccination</a:t>
            </a:r>
          </a:p>
          <a:p>
            <a:pPr marL="439689" indent="-439689">
              <a:buFont typeface="+mj-lt"/>
              <a:buAutoNum type="alphaLcPeriod"/>
            </a:pPr>
            <a:r>
              <a:rPr lang="fr-FR" dirty="0" smtClean="0"/>
              <a:t>Vaccination peut se faire</a:t>
            </a:r>
          </a:p>
          <a:p>
            <a:pPr marL="439689" indent="-439689">
              <a:buFont typeface="+mj-lt"/>
              <a:buAutoNum type="alphaLcPeriod"/>
            </a:pPr>
            <a:r>
              <a:rPr lang="fr-FR" dirty="0" smtClean="0"/>
              <a:t>Reporter sa vaccination à une date ultérieur: 4 semaines</a:t>
            </a:r>
          </a:p>
          <a:p>
            <a:pPr marL="439689" indent="-439689">
              <a:buFont typeface="+mj-lt"/>
              <a:buAutoNum type="alphaLcPeriod"/>
            </a:pPr>
            <a:r>
              <a:rPr lang="fr-FR" dirty="0"/>
              <a:t>Reporter sa vaccination à une date ultérieur: </a:t>
            </a:r>
            <a:r>
              <a:rPr lang="fr-FR" dirty="0" smtClean="0"/>
              <a:t>8 </a:t>
            </a:r>
            <a:r>
              <a:rPr lang="fr-FR" dirty="0"/>
              <a:t>semaines</a:t>
            </a:r>
          </a:p>
          <a:p>
            <a:pPr marL="439689" indent="-439689">
              <a:buFont typeface="+mj-lt"/>
              <a:buAutoNum type="alphaLcPeriod"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90702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QCM 28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dirty="0" smtClean="0"/>
              <a:t>un </a:t>
            </a:r>
            <a:r>
              <a:rPr lang="fr-FR" dirty="0" smtClean="0"/>
              <a:t>nourrisson hémophile se présente pour sa vaccination de 18 mois, on retrouve la notion de transfusion sanguine qui remonte à 02 semaines , CAT cochez le réponse juste</a:t>
            </a:r>
          </a:p>
          <a:p>
            <a:pPr marL="439689" indent="-439689">
              <a:buFont typeface="+mj-lt"/>
              <a:buAutoNum type="alphaLcPeriod"/>
            </a:pPr>
            <a:r>
              <a:rPr lang="fr-FR" dirty="0" smtClean="0"/>
              <a:t>Contre indication absolue à la vaccination</a:t>
            </a:r>
          </a:p>
          <a:p>
            <a:pPr marL="439689" indent="-439689">
              <a:buFont typeface="+mj-lt"/>
              <a:buAutoNum type="alphaLcPeriod"/>
            </a:pPr>
            <a:r>
              <a:rPr lang="fr-FR" dirty="0" smtClean="0"/>
              <a:t>Vaccination peut se faire en ID ou SC le jour même</a:t>
            </a:r>
          </a:p>
          <a:p>
            <a:pPr marL="439689" indent="-439689">
              <a:buFont typeface="+mj-lt"/>
              <a:buAutoNum type="alphaLcPeriod"/>
            </a:pPr>
            <a:r>
              <a:rPr lang="fr-FR" dirty="0" smtClean="0">
                <a:solidFill>
                  <a:srgbClr val="C00000"/>
                </a:solidFill>
              </a:rPr>
              <a:t>Reporter sa vaccination à une date ultérieur: 4 semaines</a:t>
            </a:r>
          </a:p>
          <a:p>
            <a:pPr marL="439689" indent="-439689">
              <a:buFont typeface="+mj-lt"/>
              <a:buAutoNum type="alphaLcPeriod"/>
            </a:pPr>
            <a:r>
              <a:rPr lang="fr-FR" dirty="0"/>
              <a:t>Reporter sa vaccination à une date ultérieur: </a:t>
            </a:r>
            <a:r>
              <a:rPr lang="fr-FR" dirty="0" smtClean="0"/>
              <a:t>8 </a:t>
            </a:r>
            <a:r>
              <a:rPr lang="fr-FR" dirty="0"/>
              <a:t>semaines</a:t>
            </a:r>
          </a:p>
          <a:p>
            <a:pPr marL="439689" indent="-439689">
              <a:buFont typeface="+mj-lt"/>
              <a:buAutoNum type="alphaLcPeriod"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46524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Titre 1"/>
          <p:cNvSpPr>
            <a:spLocks noGrp="1"/>
          </p:cNvSpPr>
          <p:nvPr>
            <p:ph type="title"/>
          </p:nvPr>
        </p:nvSpPr>
        <p:spPr>
          <a:xfrm>
            <a:off x="724252" y="228600"/>
            <a:ext cx="9630396" cy="990600"/>
          </a:xfrm>
        </p:spPr>
        <p:txBody>
          <a:bodyPr/>
          <a:lstStyle/>
          <a:p>
            <a:r>
              <a:rPr lang="fr-FR" dirty="0" smtClean="0"/>
              <a:t>QCM 29</a:t>
            </a:r>
            <a:endParaRPr lang="fr-FR" dirty="0" smtClean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724252" y="1600200"/>
            <a:ext cx="9630396" cy="44958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None/>
              <a:defRPr/>
            </a:pPr>
            <a:r>
              <a:rPr lang="fr-FR" sz="2700" dirty="0">
                <a:latin typeface="Trebuchet MS" pitchFamily="34" charset="0"/>
              </a:rPr>
              <a:t>3)Le vaccin contre les oreillons : (la (es) réponse (s) juste (s) </a:t>
            </a:r>
          </a:p>
          <a:p>
            <a:pPr marL="525022" indent="-525022">
              <a:buFont typeface="+mj-lt"/>
              <a:buAutoNum type="alphaLcParenR"/>
              <a:defRPr/>
            </a:pPr>
            <a:r>
              <a:rPr lang="fr-FR" sz="2700" dirty="0">
                <a:latin typeface="Trebuchet MS" pitchFamily="34" charset="0"/>
              </a:rPr>
              <a:t> Fait partie du calendrier vaccinal obligatoire en Algérie depuis 2017</a:t>
            </a:r>
          </a:p>
          <a:p>
            <a:pPr marL="525022" indent="-525022">
              <a:buFont typeface="+mj-lt"/>
              <a:buAutoNum type="alphaLcParenR"/>
              <a:defRPr/>
            </a:pPr>
            <a:r>
              <a:rPr lang="fr-FR" sz="2700" dirty="0">
                <a:latin typeface="Trebuchet MS" pitchFamily="34" charset="0"/>
              </a:rPr>
              <a:t> Selon les recommandations, doit être administré à l'âge de 1 mois</a:t>
            </a:r>
          </a:p>
          <a:p>
            <a:pPr marL="525022" indent="-525022">
              <a:buFont typeface="+mj-lt"/>
              <a:buAutoNum type="alphaLcParenR"/>
              <a:defRPr/>
            </a:pPr>
            <a:r>
              <a:rPr lang="fr-FR" sz="2700" dirty="0">
                <a:latin typeface="Trebuchet MS" pitchFamily="34" charset="0"/>
              </a:rPr>
              <a:t>Est un vaccin vivant atténué </a:t>
            </a:r>
          </a:p>
          <a:p>
            <a:pPr marL="525022" indent="-525022">
              <a:buFont typeface="+mj-lt"/>
              <a:buAutoNum type="alphaLcParenR"/>
              <a:defRPr/>
            </a:pPr>
            <a:r>
              <a:rPr lang="fr-FR" sz="2700" dirty="0">
                <a:latin typeface="Trebuchet MS" pitchFamily="34" charset="0"/>
              </a:rPr>
              <a:t> Est administré par voie orale </a:t>
            </a:r>
            <a:endParaRPr lang="fr-FR" sz="2700" dirty="0">
              <a:latin typeface="Trebuchet MS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038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4252" y="228600"/>
            <a:ext cx="9630396" cy="990600"/>
          </a:xfrm>
          <a:noFill/>
        </p:spPr>
        <p:txBody>
          <a:bodyPr/>
          <a:lstStyle/>
          <a:p>
            <a:pPr>
              <a:defRPr/>
            </a:pPr>
            <a:r>
              <a:rPr lang="fr-FR" dirty="0" smtClean="0"/>
              <a:t>QCM 29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724252" y="1600200"/>
            <a:ext cx="9630396" cy="44958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None/>
              <a:defRPr/>
            </a:pPr>
            <a:r>
              <a:rPr lang="fr-FR" sz="2700" dirty="0">
                <a:latin typeface="Trebuchet MS" pitchFamily="34" charset="0"/>
              </a:rPr>
              <a:t>3)Le vaccin contre les oreillons : (la (es) réponse (s) juste (s) </a:t>
            </a:r>
          </a:p>
          <a:p>
            <a:pPr marL="525022" indent="-525022">
              <a:buFont typeface="+mj-lt"/>
              <a:buAutoNum type="alphaLcParenR"/>
              <a:defRPr/>
            </a:pPr>
            <a:r>
              <a:rPr lang="fr-FR" sz="2700" dirty="0">
                <a:latin typeface="Trebuchet MS" pitchFamily="34" charset="0"/>
              </a:rPr>
              <a:t> Fait partie du calendrier vaccinal obligatoire en Algérie depuis 2017</a:t>
            </a:r>
          </a:p>
          <a:p>
            <a:pPr marL="525022" indent="-525022">
              <a:buFont typeface="+mj-lt"/>
              <a:buAutoNum type="alphaLcParenR"/>
              <a:defRPr/>
            </a:pPr>
            <a:r>
              <a:rPr lang="fr-FR" sz="2700" dirty="0">
                <a:latin typeface="Trebuchet MS" pitchFamily="34" charset="0"/>
              </a:rPr>
              <a:t> Selon les recommandations, doit être administré à l'âge de 1 mois</a:t>
            </a:r>
          </a:p>
          <a:p>
            <a:pPr marL="525022" indent="-525022">
              <a:buFont typeface="+mj-lt"/>
              <a:buAutoNum type="alphaLcParenR"/>
              <a:defRPr/>
            </a:pPr>
            <a:r>
              <a:rPr lang="fr-FR" sz="2700" dirty="0">
                <a:solidFill>
                  <a:srgbClr val="C00000"/>
                </a:solidFill>
                <a:latin typeface="Trebuchet MS" pitchFamily="34" charset="0"/>
              </a:rPr>
              <a:t>Est un vaccin vivant atténué </a:t>
            </a:r>
          </a:p>
          <a:p>
            <a:pPr marL="525022" indent="-525022">
              <a:buFont typeface="+mj-lt"/>
              <a:buAutoNum type="alphaLcParenR"/>
              <a:defRPr/>
            </a:pPr>
            <a:r>
              <a:rPr lang="fr-FR" sz="2700" dirty="0">
                <a:latin typeface="Trebuchet MS" pitchFamily="34" charset="0"/>
              </a:rPr>
              <a:t> Est administré par voie orale </a:t>
            </a:r>
            <a:endParaRPr lang="fr-FR" sz="2700" dirty="0">
              <a:latin typeface="Trebuchet MS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3243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576139" y="2060848"/>
            <a:ext cx="9721215" cy="1143000"/>
          </a:xfrm>
        </p:spPr>
        <p:txBody>
          <a:bodyPr/>
          <a:lstStyle/>
          <a:p>
            <a:r>
              <a:rPr lang="fr-FR" dirty="0" smtClean="0"/>
              <a:t>PARTEI IV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81878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r-FR" dirty="0" smtClean="0"/>
              <a:t>QCM </a:t>
            </a:r>
            <a:r>
              <a:rPr lang="fr-FR" dirty="0" smtClean="0"/>
              <a:t>30</a:t>
            </a:r>
            <a:endParaRPr lang="fr-FR" dirty="0" smtClean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marL="476691" indent="-476691">
              <a:spcBef>
                <a:spcPts val="927"/>
              </a:spcBef>
              <a:buNone/>
              <a:defRPr/>
            </a:pPr>
            <a:r>
              <a:rPr lang="fr-BE" sz="2400" dirty="0">
                <a:latin typeface="Comic Sans MS" pitchFamily="66" charset="0"/>
              </a:rPr>
              <a:t>La présence habituelle d'une maladie dans une zone géographique est une ?</a:t>
            </a:r>
            <a:endParaRPr lang="fr-FR" sz="2400" dirty="0">
              <a:latin typeface="Comic Sans MS" pitchFamily="66" charset="0"/>
            </a:endParaRPr>
          </a:p>
          <a:p>
            <a:pPr marL="476691" lvl="1" indent="-476691">
              <a:spcBef>
                <a:spcPts val="927"/>
              </a:spcBef>
              <a:buFont typeface="+mj-lt"/>
              <a:buAutoNum type="alphaLcParenR"/>
              <a:defRPr/>
            </a:pPr>
            <a:r>
              <a:rPr lang="fr-BE" sz="2400" dirty="0">
                <a:latin typeface="Comic Sans MS" pitchFamily="66" charset="0"/>
              </a:rPr>
              <a:t>endémie</a:t>
            </a:r>
            <a:endParaRPr lang="fr-FR" sz="2400" dirty="0">
              <a:latin typeface="Comic Sans MS" pitchFamily="66" charset="0"/>
            </a:endParaRPr>
          </a:p>
          <a:p>
            <a:pPr marL="476691" lvl="1" indent="-476691">
              <a:spcBef>
                <a:spcPts val="927"/>
              </a:spcBef>
              <a:buFont typeface="+mj-lt"/>
              <a:buAutoNum type="alphaLcParenR"/>
              <a:defRPr/>
            </a:pPr>
            <a:r>
              <a:rPr lang="fr-BE" sz="2400" dirty="0">
                <a:latin typeface="Comic Sans MS" pitchFamily="66" charset="0"/>
              </a:rPr>
              <a:t>épidémie</a:t>
            </a:r>
            <a:endParaRPr lang="fr-FR" sz="2400" dirty="0">
              <a:latin typeface="Comic Sans MS" pitchFamily="66" charset="0"/>
            </a:endParaRPr>
          </a:p>
          <a:p>
            <a:pPr marL="476691" lvl="1" indent="-476691">
              <a:spcBef>
                <a:spcPts val="927"/>
              </a:spcBef>
              <a:buFont typeface="+mj-lt"/>
              <a:buAutoNum type="alphaLcParenR"/>
              <a:defRPr/>
            </a:pPr>
            <a:r>
              <a:rPr lang="fr-BE" sz="2400" dirty="0">
                <a:latin typeface="Comic Sans MS" pitchFamily="66" charset="0"/>
              </a:rPr>
              <a:t>pandémie</a:t>
            </a:r>
            <a:endParaRPr lang="fr-FR" sz="2400" dirty="0">
              <a:latin typeface="Comic Sans MS" pitchFamily="66" charset="0"/>
            </a:endParaRPr>
          </a:p>
          <a:p>
            <a:pPr marL="476691" lvl="1" indent="-476691">
              <a:spcBef>
                <a:spcPts val="927"/>
              </a:spcBef>
              <a:buFont typeface="+mj-lt"/>
              <a:buAutoNum type="alphaLcParenR"/>
              <a:defRPr/>
            </a:pPr>
            <a:r>
              <a:rPr lang="fr-BE" sz="2400" dirty="0">
                <a:latin typeface="Comic Sans MS" pitchFamily="66" charset="0"/>
              </a:rPr>
              <a:t>cas sporadique</a:t>
            </a:r>
            <a:endParaRPr lang="fr-FR" sz="2400" dirty="0">
              <a:latin typeface="Comic Sans MS" pitchFamily="66" charset="0"/>
            </a:endParaRPr>
          </a:p>
          <a:p>
            <a:pPr marL="476691" lvl="1" indent="-476691">
              <a:spcBef>
                <a:spcPts val="927"/>
              </a:spcBef>
              <a:buFont typeface="+mj-lt"/>
              <a:buAutoNum type="alphaLcParenR"/>
              <a:defRPr/>
            </a:pPr>
            <a:r>
              <a:rPr lang="fr-BE" sz="2400" dirty="0">
                <a:latin typeface="Comic Sans MS" pitchFamily="66" charset="0"/>
              </a:rPr>
              <a:t>aucune réponse n’est juste </a:t>
            </a:r>
            <a:endParaRPr lang="fr-FR" sz="2400" dirty="0">
              <a:latin typeface="Comic Sans MS" pitchFamily="66" charset="0"/>
            </a:endParaRPr>
          </a:p>
          <a:p>
            <a:pPr marL="211862" indent="-211862">
              <a:spcBef>
                <a:spcPts val="927"/>
              </a:spcBef>
              <a:defRPr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11463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r-FR" dirty="0" smtClean="0"/>
              <a:t>QCM </a:t>
            </a:r>
            <a:r>
              <a:rPr lang="fr-FR" dirty="0" smtClean="0"/>
              <a:t>30</a:t>
            </a:r>
            <a:endParaRPr lang="fr-FR" dirty="0" smtClean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marL="476691" indent="-476691">
              <a:spcBef>
                <a:spcPts val="927"/>
              </a:spcBef>
              <a:buNone/>
              <a:defRPr/>
            </a:pPr>
            <a:r>
              <a:rPr lang="fr-BE" sz="2400" dirty="0">
                <a:latin typeface="Comic Sans MS" pitchFamily="66" charset="0"/>
              </a:rPr>
              <a:t>La présence habituelle d'une maladie dans une zone géographique est une ?</a:t>
            </a:r>
            <a:endParaRPr lang="fr-FR" sz="2400" dirty="0">
              <a:latin typeface="Comic Sans MS" pitchFamily="66" charset="0"/>
            </a:endParaRPr>
          </a:p>
          <a:p>
            <a:pPr marL="476691" lvl="1" indent="-476691">
              <a:spcBef>
                <a:spcPts val="927"/>
              </a:spcBef>
              <a:buFont typeface="+mj-lt"/>
              <a:buAutoNum type="alphaLcParenR"/>
              <a:defRPr/>
            </a:pPr>
            <a:r>
              <a:rPr lang="fr-BE" sz="2400" dirty="0">
                <a:solidFill>
                  <a:srgbClr val="FF0000"/>
                </a:solidFill>
                <a:latin typeface="Comic Sans MS" pitchFamily="66" charset="0"/>
              </a:rPr>
              <a:t>endémie</a:t>
            </a:r>
            <a:endParaRPr lang="fr-FR" sz="2400" dirty="0">
              <a:solidFill>
                <a:srgbClr val="FF0000"/>
              </a:solidFill>
              <a:latin typeface="Comic Sans MS" pitchFamily="66" charset="0"/>
            </a:endParaRPr>
          </a:p>
          <a:p>
            <a:pPr marL="476691" lvl="1" indent="-476691">
              <a:spcBef>
                <a:spcPts val="927"/>
              </a:spcBef>
              <a:buFont typeface="+mj-lt"/>
              <a:buAutoNum type="alphaLcParenR"/>
              <a:defRPr/>
            </a:pPr>
            <a:r>
              <a:rPr lang="fr-BE" sz="2400" dirty="0">
                <a:latin typeface="Comic Sans MS" pitchFamily="66" charset="0"/>
              </a:rPr>
              <a:t>épidémie</a:t>
            </a:r>
            <a:endParaRPr lang="fr-FR" sz="2400" dirty="0">
              <a:latin typeface="Comic Sans MS" pitchFamily="66" charset="0"/>
            </a:endParaRPr>
          </a:p>
          <a:p>
            <a:pPr marL="476691" lvl="1" indent="-476691">
              <a:spcBef>
                <a:spcPts val="927"/>
              </a:spcBef>
              <a:buFont typeface="+mj-lt"/>
              <a:buAutoNum type="alphaLcParenR"/>
              <a:defRPr/>
            </a:pPr>
            <a:r>
              <a:rPr lang="fr-BE" sz="2400" dirty="0">
                <a:latin typeface="Comic Sans MS" pitchFamily="66" charset="0"/>
              </a:rPr>
              <a:t>pandémie</a:t>
            </a:r>
            <a:endParaRPr lang="fr-FR" sz="2400" dirty="0">
              <a:latin typeface="Comic Sans MS" pitchFamily="66" charset="0"/>
            </a:endParaRPr>
          </a:p>
          <a:p>
            <a:pPr marL="476691" lvl="1" indent="-476691">
              <a:spcBef>
                <a:spcPts val="927"/>
              </a:spcBef>
              <a:buFont typeface="+mj-lt"/>
              <a:buAutoNum type="alphaLcParenR"/>
              <a:defRPr/>
            </a:pPr>
            <a:r>
              <a:rPr lang="fr-BE" sz="2400" dirty="0">
                <a:latin typeface="Comic Sans MS" pitchFamily="66" charset="0"/>
              </a:rPr>
              <a:t>cas sporadique</a:t>
            </a:r>
            <a:endParaRPr lang="fr-FR" sz="2400" dirty="0">
              <a:latin typeface="Comic Sans MS" pitchFamily="66" charset="0"/>
            </a:endParaRPr>
          </a:p>
          <a:p>
            <a:pPr marL="476691" lvl="1" indent="-476691">
              <a:spcBef>
                <a:spcPts val="927"/>
              </a:spcBef>
              <a:buFont typeface="+mj-lt"/>
              <a:buAutoNum type="alphaLcParenR"/>
              <a:defRPr/>
            </a:pPr>
            <a:r>
              <a:rPr lang="fr-BE" sz="2400" dirty="0">
                <a:latin typeface="Comic Sans MS" pitchFamily="66" charset="0"/>
              </a:rPr>
              <a:t>aucune réponse n’est juste </a:t>
            </a:r>
            <a:endParaRPr lang="fr-FR" sz="2400" dirty="0">
              <a:latin typeface="Comic Sans MS" pitchFamily="66" charset="0"/>
            </a:endParaRPr>
          </a:p>
          <a:p>
            <a:pPr marL="211862" indent="-211862">
              <a:spcBef>
                <a:spcPts val="927"/>
              </a:spcBef>
              <a:defRPr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64272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re 1"/>
          <p:cNvSpPr>
            <a:spLocks noGrp="1"/>
          </p:cNvSpPr>
          <p:nvPr>
            <p:ph type="title"/>
          </p:nvPr>
        </p:nvSpPr>
        <p:spPr>
          <a:xfrm>
            <a:off x="741999" y="378681"/>
            <a:ext cx="9317352" cy="1324661"/>
          </a:xfrm>
        </p:spPr>
        <p:txBody>
          <a:bodyPr/>
          <a:lstStyle/>
          <a:p>
            <a:pPr eaLnBrk="1" hangingPunct="1"/>
            <a:r>
              <a:rPr lang="fr-FR" dirty="0" smtClean="0"/>
              <a:t>QCM </a:t>
            </a:r>
            <a:r>
              <a:rPr lang="fr-FR" dirty="0" smtClean="0"/>
              <a:t>31</a:t>
            </a:r>
            <a:endParaRPr lang="fr-FR" dirty="0" smtClean="0"/>
          </a:p>
        </p:txBody>
      </p:sp>
      <p:sp>
        <p:nvSpPr>
          <p:cNvPr id="46083" name="Espace réservé du contenu 2"/>
          <p:cNvSpPr>
            <a:spLocks noGrp="1"/>
          </p:cNvSpPr>
          <p:nvPr>
            <p:ph idx="1"/>
          </p:nvPr>
        </p:nvSpPr>
        <p:spPr>
          <a:xfrm>
            <a:off x="741999" y="1825729"/>
            <a:ext cx="9776929" cy="4351223"/>
          </a:xfrm>
        </p:spPr>
        <p:txBody>
          <a:bodyPr/>
          <a:lstStyle/>
          <a:p>
            <a:pPr eaLnBrk="1" hangingPunct="1"/>
            <a:r>
              <a:rPr lang="fr-FR" smtClean="0">
                <a:latin typeface="Comic Sans MS" pitchFamily="66" charset="0"/>
              </a:rPr>
              <a:t>Parmi les maladies suivantes, lesquelles sont à déclaration obligatoire en Algérie? </a:t>
            </a:r>
          </a:p>
          <a:p>
            <a:pPr marL="899146" lvl="1" indent="-475704">
              <a:buFont typeface="Calibri Light" pitchFamily="34" charset="0"/>
              <a:buAutoNum type="alphaLcParenR"/>
            </a:pPr>
            <a:r>
              <a:rPr lang="fr-FR" smtClean="0">
                <a:latin typeface="Comic Sans MS" pitchFamily="66" charset="0"/>
              </a:rPr>
              <a:t>Paludisme </a:t>
            </a:r>
          </a:p>
          <a:p>
            <a:pPr marL="899146" lvl="1" indent="-475704">
              <a:buFont typeface="Calibri Light" pitchFamily="34" charset="0"/>
              <a:buAutoNum type="alphaLcParenR"/>
            </a:pPr>
            <a:r>
              <a:rPr lang="fr-FR" smtClean="0">
                <a:latin typeface="Comic Sans MS" pitchFamily="66" charset="0"/>
              </a:rPr>
              <a:t>Rougeole </a:t>
            </a:r>
          </a:p>
          <a:p>
            <a:pPr marL="899146" lvl="1" indent="-475704">
              <a:buFont typeface="Calibri Light" pitchFamily="34" charset="0"/>
              <a:buAutoNum type="alphaLcParenR"/>
            </a:pPr>
            <a:r>
              <a:rPr lang="fr-FR" smtClean="0">
                <a:latin typeface="Comic Sans MS" pitchFamily="66" charset="0"/>
              </a:rPr>
              <a:t>Coqueluche</a:t>
            </a:r>
          </a:p>
          <a:p>
            <a:pPr marL="899146" lvl="1" indent="-475704">
              <a:buFont typeface="Calibri Light" pitchFamily="34" charset="0"/>
              <a:buAutoNum type="alphaLcParenR"/>
            </a:pPr>
            <a:r>
              <a:rPr lang="fr-FR" smtClean="0">
                <a:latin typeface="Comic Sans MS" pitchFamily="66" charset="0"/>
              </a:rPr>
              <a:t>Brucellose </a:t>
            </a:r>
          </a:p>
          <a:p>
            <a:pPr marL="899146" lvl="1" indent="-475704">
              <a:buFont typeface="Calibri Light" pitchFamily="34" charset="0"/>
              <a:buAutoNum type="alphaLcParenR"/>
            </a:pPr>
            <a:r>
              <a:rPr lang="fr-FR" smtClean="0">
                <a:latin typeface="Comic Sans MS" pitchFamily="66" charset="0"/>
              </a:rPr>
              <a:t>Bartonellose</a:t>
            </a:r>
          </a:p>
          <a:p>
            <a:pPr marL="899146" lvl="1" indent="-475704">
              <a:buFont typeface="Calibri Light" pitchFamily="34" charset="0"/>
              <a:buAutoNum type="alphaLcParenR"/>
            </a:pPr>
            <a:endParaRPr lang="fr-FR" smtClean="0">
              <a:latin typeface="Comic Sans M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0502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r-FR" dirty="0" smtClean="0"/>
              <a:t>QCM </a:t>
            </a:r>
            <a:r>
              <a:rPr lang="fr-FR" dirty="0" smtClean="0"/>
              <a:t>31</a:t>
            </a:r>
            <a:endParaRPr lang="fr-FR" dirty="0" smtClean="0"/>
          </a:p>
        </p:txBody>
      </p:sp>
      <p:sp>
        <p:nvSpPr>
          <p:cNvPr id="47107" name="Espace réservé du contenu 2"/>
          <p:cNvSpPr>
            <a:spLocks noGrp="1"/>
          </p:cNvSpPr>
          <p:nvPr>
            <p:ph idx="1"/>
          </p:nvPr>
        </p:nvSpPr>
        <p:spPr>
          <a:xfrm>
            <a:off x="741999" y="1825729"/>
            <a:ext cx="9776929" cy="4351223"/>
          </a:xfrm>
        </p:spPr>
        <p:txBody>
          <a:bodyPr/>
          <a:lstStyle/>
          <a:p>
            <a:pPr eaLnBrk="1" hangingPunct="1"/>
            <a:r>
              <a:rPr lang="fr-FR" dirty="0" smtClean="0">
                <a:latin typeface="Comic Sans MS" pitchFamily="66" charset="0"/>
              </a:rPr>
              <a:t>Parmi les maladies suivantes, lesquelles sont à déclaration obligatoire en Algérie? </a:t>
            </a:r>
          </a:p>
          <a:p>
            <a:pPr marL="899146" lvl="1" indent="-475704">
              <a:buFont typeface="Calibri Light" pitchFamily="34" charset="0"/>
              <a:buAutoNum type="alphaLcParenR"/>
            </a:pPr>
            <a:r>
              <a:rPr lang="fr-FR" dirty="0" smtClean="0">
                <a:solidFill>
                  <a:srgbClr val="C00000"/>
                </a:solidFill>
                <a:latin typeface="Comic Sans MS" pitchFamily="66" charset="0"/>
              </a:rPr>
              <a:t>Paludisme </a:t>
            </a:r>
          </a:p>
          <a:p>
            <a:pPr marL="899146" lvl="1" indent="-475704">
              <a:buFont typeface="Calibri Light" pitchFamily="34" charset="0"/>
              <a:buAutoNum type="alphaLcParenR"/>
            </a:pPr>
            <a:r>
              <a:rPr lang="fr-FR" dirty="0" smtClean="0">
                <a:solidFill>
                  <a:srgbClr val="C00000"/>
                </a:solidFill>
                <a:latin typeface="Comic Sans MS" pitchFamily="66" charset="0"/>
              </a:rPr>
              <a:t>Rougeole </a:t>
            </a:r>
          </a:p>
          <a:p>
            <a:pPr marL="899146" lvl="1" indent="-475704">
              <a:buFont typeface="Calibri Light" pitchFamily="34" charset="0"/>
              <a:buAutoNum type="alphaLcParenR"/>
            </a:pPr>
            <a:r>
              <a:rPr lang="fr-FR" dirty="0" smtClean="0">
                <a:solidFill>
                  <a:srgbClr val="C00000"/>
                </a:solidFill>
                <a:latin typeface="Comic Sans MS" pitchFamily="66" charset="0"/>
              </a:rPr>
              <a:t>Coqueluche</a:t>
            </a:r>
          </a:p>
          <a:p>
            <a:pPr marL="899146" lvl="1" indent="-475704">
              <a:buFont typeface="Calibri Light" pitchFamily="34" charset="0"/>
              <a:buAutoNum type="alphaLcParenR"/>
            </a:pPr>
            <a:r>
              <a:rPr lang="fr-FR" dirty="0" smtClean="0">
                <a:solidFill>
                  <a:srgbClr val="C00000"/>
                </a:solidFill>
                <a:latin typeface="Comic Sans MS" pitchFamily="66" charset="0"/>
              </a:rPr>
              <a:t>Brucellose</a:t>
            </a:r>
            <a:r>
              <a:rPr lang="fr-FR" dirty="0" smtClean="0">
                <a:latin typeface="Comic Sans MS" pitchFamily="66" charset="0"/>
              </a:rPr>
              <a:t> </a:t>
            </a:r>
          </a:p>
          <a:p>
            <a:pPr marL="899146" lvl="1" indent="-475704">
              <a:buFont typeface="Calibri Light" pitchFamily="34" charset="0"/>
              <a:buAutoNum type="alphaLcParenR"/>
            </a:pPr>
            <a:r>
              <a:rPr lang="fr-FR" dirty="0" err="1" smtClean="0">
                <a:latin typeface="Comic Sans MS" pitchFamily="66" charset="0"/>
              </a:rPr>
              <a:t>Bartonellose</a:t>
            </a:r>
            <a:endParaRPr lang="fr-FR" dirty="0" smtClean="0">
              <a:latin typeface="Comic Sans MS" pitchFamily="66" charset="0"/>
            </a:endParaRPr>
          </a:p>
          <a:p>
            <a:pPr marL="899146" lvl="1" indent="-475704">
              <a:buFont typeface="Calibri Light" pitchFamily="34" charset="0"/>
              <a:buAutoNum type="alphaLcParenR"/>
            </a:pPr>
            <a:endParaRPr lang="fr-FR" dirty="0" smtClean="0">
              <a:latin typeface="Comic Sans M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267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r-FR" dirty="0" smtClean="0"/>
              <a:t>QCM 32 </a:t>
            </a:r>
            <a:endParaRPr lang="fr-FR" dirty="0" smtClean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41999" y="1825729"/>
            <a:ext cx="9868075" cy="4351223"/>
          </a:xfrm>
        </p:spPr>
        <p:txBody>
          <a:bodyPr>
            <a:normAutofit lnSpcReduction="10000"/>
          </a:bodyPr>
          <a:lstStyle/>
          <a:p>
            <a:pPr marL="211862" indent="-211862">
              <a:spcBef>
                <a:spcPts val="927"/>
              </a:spcBef>
              <a:buNone/>
              <a:defRPr/>
            </a:pPr>
            <a:r>
              <a:rPr lang="fr-FR" dirty="0" smtClean="0">
                <a:latin typeface="Comic Sans MS" pitchFamily="66" charset="0"/>
              </a:rPr>
              <a:t>La rupture de la chaine épidémiologique des maladies transmissibles au niveau de l’hôte réceptif se fait par (cochez les réponses justes) :</a:t>
            </a:r>
          </a:p>
          <a:p>
            <a:pPr marL="434163" indent="-434163">
              <a:spcBef>
                <a:spcPts val="927"/>
              </a:spcBef>
              <a:buFont typeface="+mj-lt"/>
              <a:buAutoNum type="alphaLcParenR"/>
              <a:defRPr/>
            </a:pPr>
            <a:r>
              <a:rPr lang="fr-FR" dirty="0" smtClean="0">
                <a:latin typeface="Comic Sans MS" pitchFamily="66" charset="0"/>
              </a:rPr>
              <a:t>Le traitement</a:t>
            </a:r>
          </a:p>
          <a:p>
            <a:pPr marL="434163" indent="-434163">
              <a:spcBef>
                <a:spcPts val="927"/>
              </a:spcBef>
              <a:buFont typeface="+mj-lt"/>
              <a:buAutoNum type="alphaLcParenR"/>
              <a:defRPr/>
            </a:pPr>
            <a:r>
              <a:rPr lang="fr-FR" dirty="0" smtClean="0">
                <a:latin typeface="Comic Sans MS" pitchFamily="66" charset="0"/>
              </a:rPr>
              <a:t>La déclaration</a:t>
            </a:r>
          </a:p>
          <a:p>
            <a:pPr marL="434163" indent="-434163">
              <a:spcBef>
                <a:spcPts val="927"/>
              </a:spcBef>
              <a:buFont typeface="+mj-lt"/>
              <a:buAutoNum type="alphaLcParenR"/>
              <a:defRPr/>
            </a:pPr>
            <a:r>
              <a:rPr lang="fr-FR" dirty="0" smtClean="0">
                <a:latin typeface="Comic Sans MS" pitchFamily="66" charset="0"/>
              </a:rPr>
              <a:t>Les mesures d’hygiène</a:t>
            </a:r>
          </a:p>
          <a:p>
            <a:pPr marL="434163" indent="-434163">
              <a:spcBef>
                <a:spcPts val="927"/>
              </a:spcBef>
              <a:buFont typeface="+mj-lt"/>
              <a:buAutoNum type="alphaLcParenR"/>
              <a:defRPr/>
            </a:pPr>
            <a:r>
              <a:rPr lang="fr-FR" dirty="0" smtClean="0">
                <a:latin typeface="Comic Sans MS" pitchFamily="66" charset="0"/>
              </a:rPr>
              <a:t>La vaccination</a:t>
            </a:r>
          </a:p>
          <a:p>
            <a:pPr marL="434163" indent="-434163">
              <a:spcBef>
                <a:spcPts val="927"/>
              </a:spcBef>
              <a:buFont typeface="+mj-lt"/>
              <a:buAutoNum type="alphaLcParenR"/>
              <a:defRPr/>
            </a:pPr>
            <a:r>
              <a:rPr lang="fr-FR" dirty="0" smtClean="0">
                <a:latin typeface="Comic Sans MS" pitchFamily="66" charset="0"/>
              </a:rPr>
              <a:t>La chimio prophylaxie</a:t>
            </a:r>
          </a:p>
          <a:p>
            <a:pPr marL="211862" indent="-211862">
              <a:spcBef>
                <a:spcPts val="927"/>
              </a:spcBef>
              <a:buFont typeface="Arial" charset="0"/>
              <a:buChar char="•"/>
              <a:defRPr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96486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r-FR" dirty="0" smtClean="0"/>
              <a:t>QCM 32 </a:t>
            </a:r>
            <a:endParaRPr lang="fr-FR" dirty="0" smtClean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41999" y="1825729"/>
            <a:ext cx="9844968" cy="4351223"/>
          </a:xfrm>
        </p:spPr>
        <p:txBody>
          <a:bodyPr>
            <a:normAutofit lnSpcReduction="10000"/>
          </a:bodyPr>
          <a:lstStyle/>
          <a:p>
            <a:pPr marL="211862" indent="-211862">
              <a:spcBef>
                <a:spcPts val="927"/>
              </a:spcBef>
              <a:buNone/>
              <a:defRPr/>
            </a:pPr>
            <a:r>
              <a:rPr lang="fr-FR" dirty="0" smtClean="0">
                <a:latin typeface="Comic Sans MS" pitchFamily="66" charset="0"/>
              </a:rPr>
              <a:t>La rupture de la chaine épidémiologique des maladies transmissibles au niveau de l’hôte réceptif se fait par (cochez les réponses justes) :</a:t>
            </a:r>
          </a:p>
          <a:p>
            <a:pPr marL="434163" indent="-434163">
              <a:spcBef>
                <a:spcPts val="927"/>
              </a:spcBef>
              <a:buFont typeface="+mj-lt"/>
              <a:buAutoNum type="alphaLcParenR"/>
              <a:defRPr/>
            </a:pPr>
            <a:r>
              <a:rPr lang="fr-FR" dirty="0" smtClean="0">
                <a:latin typeface="Comic Sans MS" pitchFamily="66" charset="0"/>
              </a:rPr>
              <a:t>Le traitement</a:t>
            </a:r>
          </a:p>
          <a:p>
            <a:pPr marL="434163" indent="-434163">
              <a:spcBef>
                <a:spcPts val="927"/>
              </a:spcBef>
              <a:buFont typeface="+mj-lt"/>
              <a:buAutoNum type="alphaLcParenR"/>
              <a:defRPr/>
            </a:pPr>
            <a:r>
              <a:rPr lang="fr-FR" dirty="0" smtClean="0">
                <a:latin typeface="Comic Sans MS" pitchFamily="66" charset="0"/>
              </a:rPr>
              <a:t>La déclaration</a:t>
            </a:r>
          </a:p>
          <a:p>
            <a:pPr marL="434163" indent="-434163">
              <a:spcBef>
                <a:spcPts val="927"/>
              </a:spcBef>
              <a:buFont typeface="+mj-lt"/>
              <a:buAutoNum type="alphaLcParenR"/>
              <a:defRPr/>
            </a:pPr>
            <a:r>
              <a:rPr lang="fr-FR" dirty="0" smtClean="0">
                <a:solidFill>
                  <a:srgbClr val="C00000"/>
                </a:solidFill>
                <a:latin typeface="Comic Sans MS" pitchFamily="66" charset="0"/>
              </a:rPr>
              <a:t>Les mesures d’hygiène</a:t>
            </a:r>
          </a:p>
          <a:p>
            <a:pPr marL="434163" indent="-434163">
              <a:spcBef>
                <a:spcPts val="927"/>
              </a:spcBef>
              <a:buFont typeface="+mj-lt"/>
              <a:buAutoNum type="alphaLcParenR"/>
              <a:defRPr/>
            </a:pPr>
            <a:r>
              <a:rPr lang="fr-FR" dirty="0" smtClean="0">
                <a:solidFill>
                  <a:srgbClr val="C00000"/>
                </a:solidFill>
                <a:latin typeface="Comic Sans MS" pitchFamily="66" charset="0"/>
              </a:rPr>
              <a:t>La vaccination</a:t>
            </a:r>
          </a:p>
          <a:p>
            <a:pPr marL="434163" indent="-434163">
              <a:spcBef>
                <a:spcPts val="927"/>
              </a:spcBef>
              <a:buFont typeface="+mj-lt"/>
              <a:buAutoNum type="alphaLcParenR"/>
              <a:defRPr/>
            </a:pPr>
            <a:r>
              <a:rPr lang="fr-FR" dirty="0" smtClean="0">
                <a:solidFill>
                  <a:srgbClr val="C00000"/>
                </a:solidFill>
                <a:latin typeface="Comic Sans MS" pitchFamily="66" charset="0"/>
              </a:rPr>
              <a:t>La chimio prophylaxie</a:t>
            </a:r>
          </a:p>
          <a:p>
            <a:pPr marL="211862" indent="-211862">
              <a:spcBef>
                <a:spcPts val="927"/>
              </a:spcBef>
              <a:buFont typeface="Arial" charset="0"/>
              <a:buChar char="•"/>
              <a:defRPr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81705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re 1"/>
          <p:cNvSpPr>
            <a:spLocks noGrp="1"/>
          </p:cNvSpPr>
          <p:nvPr>
            <p:ph type="title"/>
          </p:nvPr>
        </p:nvSpPr>
        <p:spPr>
          <a:xfrm>
            <a:off x="741999" y="365722"/>
            <a:ext cx="9317352" cy="727124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fr-FR" dirty="0" smtClean="0"/>
              <a:t>QCM </a:t>
            </a:r>
            <a:r>
              <a:rPr lang="fr-FR" dirty="0" smtClean="0"/>
              <a:t>33</a:t>
            </a:r>
            <a:endParaRPr lang="fr-FR" dirty="0" smtClean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72678" y="1285786"/>
            <a:ext cx="9925842" cy="4351223"/>
          </a:xfrm>
        </p:spPr>
        <p:txBody>
          <a:bodyPr>
            <a:noAutofit/>
          </a:bodyPr>
          <a:lstStyle/>
          <a:p>
            <a:pPr marL="0" indent="0">
              <a:spcBef>
                <a:spcPts val="927"/>
              </a:spcBef>
              <a:buNone/>
              <a:defRPr/>
            </a:pPr>
            <a:r>
              <a:rPr lang="fr-FR" sz="2400" dirty="0" smtClean="0"/>
              <a:t>Cochez les réponses justes</a:t>
            </a:r>
          </a:p>
          <a:p>
            <a:pPr marL="434163" indent="-434163">
              <a:spcBef>
                <a:spcPts val="927"/>
              </a:spcBef>
              <a:buFont typeface="+mj-lt"/>
              <a:buAutoNum type="alphaLcParenR"/>
              <a:defRPr/>
            </a:pPr>
            <a:r>
              <a:rPr lang="fr-FR" sz="2400" dirty="0" smtClean="0"/>
              <a:t>Une maladie endémique est une maladie infectieuse communément présente au sein d'une population ou d'une région</a:t>
            </a:r>
          </a:p>
          <a:p>
            <a:pPr marL="434163" indent="-434163">
              <a:spcBef>
                <a:spcPts val="927"/>
              </a:spcBef>
              <a:buFont typeface="+mj-lt"/>
              <a:buAutoNum type="alphaLcParenR"/>
              <a:defRPr/>
            </a:pPr>
            <a:r>
              <a:rPr lang="fr-FR" sz="2400" dirty="0" smtClean="0"/>
              <a:t>Une maladie endémique désigne une maladie éradiquée de la population mondiale.</a:t>
            </a:r>
          </a:p>
          <a:p>
            <a:pPr marL="434163" indent="-434163">
              <a:spcBef>
                <a:spcPts val="927"/>
              </a:spcBef>
              <a:buFont typeface="+mj-lt"/>
              <a:buAutoNum type="alphaLcParenR"/>
              <a:defRPr/>
            </a:pPr>
            <a:r>
              <a:rPr lang="fr-FR" sz="2400" dirty="0" smtClean="0"/>
              <a:t>Une épidémie désigne une maladie infectieuse mortelle ayant développé une résistance aux antibiotiques.</a:t>
            </a:r>
          </a:p>
          <a:p>
            <a:pPr marL="434163" indent="-434163">
              <a:spcBef>
                <a:spcPts val="927"/>
              </a:spcBef>
              <a:buFont typeface="+mj-lt"/>
              <a:buAutoNum type="alphaLcParenR"/>
              <a:defRPr/>
            </a:pPr>
            <a:r>
              <a:rPr lang="fr-FR" sz="2400" dirty="0" smtClean="0"/>
              <a:t>Une épidémie désigne la multiplication de cas de contamination en un lieu et un endroit donnés.</a:t>
            </a:r>
          </a:p>
          <a:p>
            <a:pPr marL="434163" indent="-434163">
              <a:spcBef>
                <a:spcPts val="927"/>
              </a:spcBef>
              <a:buFont typeface="+mj-lt"/>
              <a:buAutoNum type="alphaLcParenR"/>
              <a:defRPr/>
            </a:pPr>
            <a:r>
              <a:rPr lang="fr-FR" sz="2400" dirty="0" smtClean="0"/>
              <a:t>Une pandémie est une maladie saisonnière et récurrente telle que la grippe.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2678597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re 1"/>
          <p:cNvSpPr>
            <a:spLocks noGrp="1"/>
          </p:cNvSpPr>
          <p:nvPr>
            <p:ph type="title"/>
          </p:nvPr>
        </p:nvSpPr>
        <p:spPr>
          <a:xfrm>
            <a:off x="741999" y="365722"/>
            <a:ext cx="9317352" cy="727124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fr-FR" dirty="0" smtClean="0"/>
              <a:t>QCM </a:t>
            </a:r>
            <a:r>
              <a:rPr lang="fr-FR" dirty="0" smtClean="0"/>
              <a:t>33</a:t>
            </a:r>
            <a:endParaRPr lang="fr-FR" dirty="0" smtClean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72678" y="1285786"/>
            <a:ext cx="9914289" cy="4351223"/>
          </a:xfrm>
        </p:spPr>
        <p:txBody>
          <a:bodyPr>
            <a:normAutofit fontScale="85000" lnSpcReduction="20000"/>
          </a:bodyPr>
          <a:lstStyle/>
          <a:p>
            <a:pPr marL="211862" indent="-211862">
              <a:spcBef>
                <a:spcPts val="927"/>
              </a:spcBef>
              <a:buFont typeface="Arial" charset="0"/>
              <a:buChar char="•"/>
              <a:defRPr/>
            </a:pPr>
            <a:r>
              <a:rPr lang="fr-FR" dirty="0" smtClean="0"/>
              <a:t>Cochez les réponses justes</a:t>
            </a:r>
          </a:p>
          <a:p>
            <a:pPr marL="434163" indent="-434163">
              <a:spcBef>
                <a:spcPts val="927"/>
              </a:spcBef>
              <a:buFont typeface="+mj-lt"/>
              <a:buAutoNum type="alphaLcParenR"/>
              <a:defRPr/>
            </a:pPr>
            <a:r>
              <a:rPr lang="fr-FR" dirty="0" smtClean="0">
                <a:solidFill>
                  <a:srgbClr val="C00000"/>
                </a:solidFill>
              </a:rPr>
              <a:t>Une maladie endémique est une maladie infectieuse communément présente au sein d'une population ou d'une région</a:t>
            </a:r>
          </a:p>
          <a:p>
            <a:pPr marL="434163" indent="-434163">
              <a:spcBef>
                <a:spcPts val="927"/>
              </a:spcBef>
              <a:buFont typeface="+mj-lt"/>
              <a:buAutoNum type="alphaLcParenR"/>
              <a:defRPr/>
            </a:pPr>
            <a:r>
              <a:rPr lang="fr-FR" dirty="0" smtClean="0"/>
              <a:t>Une maladie endémique désigne une maladie éradiquée de la population mondiale.</a:t>
            </a:r>
          </a:p>
          <a:p>
            <a:pPr marL="434163" indent="-434163">
              <a:spcBef>
                <a:spcPts val="927"/>
              </a:spcBef>
              <a:buFont typeface="+mj-lt"/>
              <a:buAutoNum type="alphaLcParenR"/>
              <a:defRPr/>
            </a:pPr>
            <a:r>
              <a:rPr lang="fr-FR" dirty="0" smtClean="0"/>
              <a:t>Une épidémie désigne une maladie infectieuse mortelle ayant développé une résistance aux antibiotiques.</a:t>
            </a:r>
          </a:p>
          <a:p>
            <a:pPr marL="434163" indent="-434163">
              <a:spcBef>
                <a:spcPts val="927"/>
              </a:spcBef>
              <a:buFont typeface="+mj-lt"/>
              <a:buAutoNum type="alphaLcParenR"/>
              <a:defRPr/>
            </a:pPr>
            <a:r>
              <a:rPr lang="fr-FR" dirty="0" smtClean="0">
                <a:solidFill>
                  <a:srgbClr val="C00000"/>
                </a:solidFill>
              </a:rPr>
              <a:t>Une épidémie désigne la multiplication de cas de contamination en un lieu et un endroit donnés</a:t>
            </a:r>
            <a:r>
              <a:rPr lang="fr-FR" dirty="0" smtClean="0"/>
              <a:t>.</a:t>
            </a:r>
          </a:p>
          <a:p>
            <a:pPr marL="434163" indent="-434163">
              <a:spcBef>
                <a:spcPts val="927"/>
              </a:spcBef>
              <a:buFont typeface="+mj-lt"/>
              <a:buAutoNum type="alphaLcParenR"/>
              <a:defRPr/>
            </a:pPr>
            <a:r>
              <a:rPr lang="fr-FR" dirty="0" smtClean="0"/>
              <a:t>Une pandémie est une maladie saisonnière et récurrente telle que la grippe.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61899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r-FR" dirty="0" smtClean="0"/>
              <a:t>QCM34</a:t>
            </a:r>
            <a:endParaRPr lang="fr-FR" dirty="0" smtClean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 rtlCol="0">
            <a:normAutofit fontScale="85000" lnSpcReduction="20000"/>
          </a:bodyPr>
          <a:lstStyle/>
          <a:p>
            <a:pPr marL="211862" indent="-211862">
              <a:spcBef>
                <a:spcPts val="927"/>
              </a:spcBef>
              <a:defRPr/>
            </a:pPr>
            <a:r>
              <a:rPr lang="fr-FR" dirty="0" smtClean="0"/>
              <a:t>Parmi les propositions suivantes laquelle (s)est  (sont )juste (s)</a:t>
            </a:r>
          </a:p>
          <a:p>
            <a:pPr marL="476691" indent="-476691">
              <a:spcBef>
                <a:spcPts val="927"/>
              </a:spcBef>
              <a:buFont typeface="+mj-lt"/>
              <a:buAutoNum type="alphaLcParenR"/>
              <a:defRPr/>
            </a:pPr>
            <a:r>
              <a:rPr lang="fr-FR" dirty="0" smtClean="0"/>
              <a:t>La prévention secondaire permet de diminuer la prévalence de la maladie</a:t>
            </a:r>
          </a:p>
          <a:p>
            <a:pPr marL="476691" indent="-476691">
              <a:spcBef>
                <a:spcPts val="927"/>
              </a:spcBef>
              <a:buFont typeface="+mj-lt"/>
              <a:buAutoNum type="alphaLcParenR"/>
              <a:defRPr/>
            </a:pPr>
            <a:r>
              <a:rPr lang="fr-FR" dirty="0" smtClean="0"/>
              <a:t>La prévention secondaire permet de diminuer la prévalence des incapacités chroniques</a:t>
            </a:r>
          </a:p>
          <a:p>
            <a:pPr marL="476691" indent="-476691">
              <a:spcBef>
                <a:spcPts val="927"/>
              </a:spcBef>
              <a:buFont typeface="+mj-lt"/>
              <a:buAutoNum type="alphaLcParenR"/>
              <a:defRPr/>
            </a:pPr>
            <a:r>
              <a:rPr lang="fr-FR" dirty="0" smtClean="0"/>
              <a:t>La prévention primaire permet de diminuer l’incidence de la maladie</a:t>
            </a:r>
          </a:p>
          <a:p>
            <a:pPr marL="476691" indent="-476691">
              <a:spcBef>
                <a:spcPts val="927"/>
              </a:spcBef>
              <a:buFont typeface="+mj-lt"/>
              <a:buAutoNum type="alphaLcParenR"/>
              <a:defRPr/>
            </a:pPr>
            <a:r>
              <a:rPr lang="fr-FR" dirty="0" smtClean="0"/>
              <a:t>La prévention tertiaire permet de diminuer la prévalence de la maladie</a:t>
            </a:r>
          </a:p>
          <a:p>
            <a:pPr marL="476691" indent="-476691">
              <a:spcBef>
                <a:spcPts val="927"/>
              </a:spcBef>
              <a:buFont typeface="+mj-lt"/>
              <a:buAutoNum type="alphaLcParenR"/>
              <a:defRPr/>
            </a:pPr>
            <a:r>
              <a:rPr lang="fr-FR" dirty="0" smtClean="0"/>
              <a:t>La prévention tertiaire permet de diminuer la prévalence des incapacités</a:t>
            </a:r>
          </a:p>
          <a:p>
            <a:pPr marL="476691" indent="-476691">
              <a:spcBef>
                <a:spcPts val="927"/>
              </a:spcBef>
              <a:buNone/>
              <a:defRPr/>
            </a:pPr>
            <a:endParaRPr lang="fr-FR" dirty="0" smtClean="0"/>
          </a:p>
          <a:p>
            <a:pPr marL="476691" indent="-476691">
              <a:spcBef>
                <a:spcPts val="927"/>
              </a:spcBef>
              <a:buFont typeface="+mj-lt"/>
              <a:buAutoNum type="alphaLcParenR"/>
              <a:defRPr/>
            </a:pPr>
            <a:endParaRPr lang="fr-FR" dirty="0" smtClean="0"/>
          </a:p>
          <a:p>
            <a:pPr marL="476691" indent="-476691">
              <a:spcBef>
                <a:spcPts val="927"/>
              </a:spcBef>
              <a:buFont typeface="+mj-lt"/>
              <a:buAutoNum type="alphaLcParenR"/>
              <a:defRPr/>
            </a:pPr>
            <a:endParaRPr lang="fr-FR" dirty="0" smtClean="0"/>
          </a:p>
          <a:p>
            <a:pPr marL="476691" indent="-476691">
              <a:spcBef>
                <a:spcPts val="927"/>
              </a:spcBef>
              <a:buFont typeface="+mj-lt"/>
              <a:buAutoNum type="alphaLcParenR"/>
              <a:defRPr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7550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r-FR" dirty="0" smtClean="0"/>
              <a:t>QCM34</a:t>
            </a:r>
            <a:endParaRPr lang="fr-FR" dirty="0" smtClean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 rtlCol="0">
            <a:normAutofit fontScale="85000" lnSpcReduction="20000"/>
          </a:bodyPr>
          <a:lstStyle/>
          <a:p>
            <a:pPr marL="211862" indent="-211862">
              <a:spcBef>
                <a:spcPts val="927"/>
              </a:spcBef>
              <a:defRPr/>
            </a:pPr>
            <a:r>
              <a:rPr lang="fr-FR" dirty="0" smtClean="0"/>
              <a:t>Parmi les propositions suivantes laquelle (s)est  (sont )juste (s)</a:t>
            </a:r>
          </a:p>
          <a:p>
            <a:pPr marL="476691" indent="-476691">
              <a:spcBef>
                <a:spcPts val="927"/>
              </a:spcBef>
              <a:buFont typeface="+mj-lt"/>
              <a:buAutoNum type="alphaLcParenR"/>
              <a:defRPr/>
            </a:pPr>
            <a:r>
              <a:rPr lang="fr-FR" dirty="0" smtClean="0">
                <a:solidFill>
                  <a:srgbClr val="FF0000"/>
                </a:solidFill>
              </a:rPr>
              <a:t>La prévention secondaire permet de diminuer la prévalence de la maladie</a:t>
            </a:r>
          </a:p>
          <a:p>
            <a:pPr marL="476691" indent="-476691">
              <a:spcBef>
                <a:spcPts val="927"/>
              </a:spcBef>
              <a:buFont typeface="+mj-lt"/>
              <a:buAutoNum type="alphaLcParenR"/>
              <a:defRPr/>
            </a:pPr>
            <a:r>
              <a:rPr lang="fr-FR" dirty="0" smtClean="0"/>
              <a:t>La prévention secondaire permet de diminuer la prévalence des incapacités chroniques</a:t>
            </a:r>
          </a:p>
          <a:p>
            <a:pPr marL="476691" indent="-476691">
              <a:spcBef>
                <a:spcPts val="927"/>
              </a:spcBef>
              <a:buFont typeface="+mj-lt"/>
              <a:buAutoNum type="alphaLcParenR"/>
              <a:defRPr/>
            </a:pPr>
            <a:r>
              <a:rPr lang="fr-FR" dirty="0" smtClean="0">
                <a:solidFill>
                  <a:srgbClr val="FF0000"/>
                </a:solidFill>
              </a:rPr>
              <a:t>La prévention primaire permet de diminuer l’incidence de la maladie</a:t>
            </a:r>
          </a:p>
          <a:p>
            <a:pPr marL="476691" indent="-476691">
              <a:spcBef>
                <a:spcPts val="927"/>
              </a:spcBef>
              <a:buFont typeface="+mj-lt"/>
              <a:buAutoNum type="alphaLcParenR"/>
              <a:defRPr/>
            </a:pPr>
            <a:r>
              <a:rPr lang="fr-FR" dirty="0" smtClean="0"/>
              <a:t>La prévention tertiaire permet de diminuer la prévalence de la maladie</a:t>
            </a:r>
          </a:p>
          <a:p>
            <a:pPr marL="476691" indent="-476691">
              <a:spcBef>
                <a:spcPts val="927"/>
              </a:spcBef>
              <a:buFont typeface="+mj-lt"/>
              <a:buAutoNum type="alphaLcParenR"/>
              <a:defRPr/>
            </a:pPr>
            <a:r>
              <a:rPr lang="fr-FR" dirty="0" smtClean="0">
                <a:solidFill>
                  <a:srgbClr val="FF0000"/>
                </a:solidFill>
              </a:rPr>
              <a:t>La prévention tertiaire permet de diminuer la prévalence des incapacités</a:t>
            </a:r>
          </a:p>
          <a:p>
            <a:pPr marL="476691" indent="-476691">
              <a:spcBef>
                <a:spcPts val="927"/>
              </a:spcBef>
              <a:buNone/>
              <a:defRPr/>
            </a:pPr>
            <a:endParaRPr lang="fr-FR" dirty="0" smtClean="0"/>
          </a:p>
          <a:p>
            <a:pPr marL="476691" indent="-476691">
              <a:spcBef>
                <a:spcPts val="927"/>
              </a:spcBef>
              <a:buFont typeface="+mj-lt"/>
              <a:buAutoNum type="alphaLcParenR"/>
              <a:defRPr/>
            </a:pPr>
            <a:endParaRPr lang="fr-FR" dirty="0" smtClean="0"/>
          </a:p>
          <a:p>
            <a:pPr marL="476691" indent="-476691">
              <a:spcBef>
                <a:spcPts val="927"/>
              </a:spcBef>
              <a:buFont typeface="+mj-lt"/>
              <a:buAutoNum type="alphaLcParenR"/>
              <a:defRPr/>
            </a:pPr>
            <a:endParaRPr lang="fr-FR" dirty="0" smtClean="0"/>
          </a:p>
          <a:p>
            <a:pPr marL="476691" indent="-476691">
              <a:spcBef>
                <a:spcPts val="927"/>
              </a:spcBef>
              <a:buFont typeface="+mj-lt"/>
              <a:buAutoNum type="alphaLcParenR"/>
              <a:defRPr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57195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r-FR" dirty="0" smtClean="0"/>
              <a:t>QCM35</a:t>
            </a:r>
            <a:endParaRPr lang="fr-FR" dirty="0" smtClean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 rtlCol="0">
            <a:normAutofit fontScale="92500"/>
          </a:bodyPr>
          <a:lstStyle/>
          <a:p>
            <a:pPr marL="211862" indent="-211862">
              <a:spcBef>
                <a:spcPts val="927"/>
              </a:spcBef>
              <a:defRPr/>
            </a:pPr>
            <a:r>
              <a:rPr lang="fr-FR" dirty="0" smtClean="0"/>
              <a:t>Parmi les actions classiques de prévention quelle est celle qui ne relève pas de la prévention primaire</a:t>
            </a:r>
          </a:p>
          <a:p>
            <a:pPr marL="476691" indent="-476691">
              <a:spcBef>
                <a:spcPts val="927"/>
              </a:spcBef>
              <a:buFont typeface="+mj-lt"/>
              <a:buAutoNum type="alphaLcPeriod"/>
              <a:defRPr/>
            </a:pPr>
            <a:r>
              <a:rPr lang="fr-BE" dirty="0" smtClean="0"/>
              <a:t>lutte anti-tabac pour le cancer du poumon et les cardiopathies ischémiques</a:t>
            </a:r>
            <a:endParaRPr lang="fr-FR" dirty="0" smtClean="0"/>
          </a:p>
          <a:p>
            <a:pPr marL="476691" indent="-476691">
              <a:spcBef>
                <a:spcPts val="927"/>
              </a:spcBef>
              <a:buFont typeface="+mj-lt"/>
              <a:buAutoNum type="alphaLcPeriod"/>
              <a:defRPr/>
            </a:pPr>
            <a:r>
              <a:rPr lang="fr-FR" dirty="0" smtClean="0"/>
              <a:t>plan nutrition manger moins salé, manger bouger</a:t>
            </a:r>
          </a:p>
          <a:p>
            <a:pPr marL="476691" indent="-476691">
              <a:spcBef>
                <a:spcPts val="927"/>
              </a:spcBef>
              <a:buFont typeface="+mj-lt"/>
              <a:buAutoNum type="alphaLcPeriod"/>
              <a:defRPr/>
            </a:pPr>
            <a:r>
              <a:rPr lang="fr-FR" dirty="0" smtClean="0"/>
              <a:t>la lutte contre les accidents</a:t>
            </a:r>
          </a:p>
          <a:p>
            <a:pPr marL="476691" indent="-476691">
              <a:spcBef>
                <a:spcPts val="927"/>
              </a:spcBef>
              <a:buFont typeface="+mj-lt"/>
              <a:buAutoNum type="alphaLcPeriod"/>
              <a:defRPr/>
            </a:pPr>
            <a:r>
              <a:rPr lang="fr-FR" dirty="0" smtClean="0"/>
              <a:t>lutte contre la tuberculose par le vaccin B.C.G</a:t>
            </a:r>
          </a:p>
          <a:p>
            <a:pPr marL="476691" indent="-476691">
              <a:spcBef>
                <a:spcPts val="927"/>
              </a:spcBef>
              <a:buFont typeface="+mj-lt"/>
              <a:buAutoNum type="alphaLcPeriod"/>
              <a:defRPr/>
            </a:pPr>
            <a:r>
              <a:rPr lang="fr-FR" dirty="0" smtClean="0"/>
              <a:t>dépistage précoce du cancer du sein par mammographie</a:t>
            </a:r>
          </a:p>
          <a:p>
            <a:pPr marL="211862" indent="-211862">
              <a:spcBef>
                <a:spcPts val="927"/>
              </a:spcBef>
              <a:defRPr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89093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r-FR" dirty="0" smtClean="0"/>
              <a:t>QCM35</a:t>
            </a:r>
            <a:endParaRPr lang="fr-FR" dirty="0" smtClean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 rtlCol="0">
            <a:normAutofit fontScale="92500"/>
          </a:bodyPr>
          <a:lstStyle/>
          <a:p>
            <a:pPr marL="211862" indent="-211862">
              <a:spcBef>
                <a:spcPts val="927"/>
              </a:spcBef>
              <a:defRPr/>
            </a:pPr>
            <a:r>
              <a:rPr lang="fr-FR" dirty="0" smtClean="0"/>
              <a:t>Parmi les actions classiques de prévention quelle est celle qui ne relève pas de la prévention primaire</a:t>
            </a:r>
          </a:p>
          <a:p>
            <a:pPr marL="476691" indent="-476691">
              <a:spcBef>
                <a:spcPts val="927"/>
              </a:spcBef>
              <a:buFont typeface="+mj-lt"/>
              <a:buAutoNum type="alphaLcPeriod"/>
              <a:defRPr/>
            </a:pPr>
            <a:r>
              <a:rPr lang="fr-BE" dirty="0" smtClean="0"/>
              <a:t>lutte anti-tabac pour le cancer du poumon et les cardiopathies ischémiques</a:t>
            </a:r>
            <a:endParaRPr lang="fr-FR" dirty="0" smtClean="0"/>
          </a:p>
          <a:p>
            <a:pPr marL="476691" indent="-476691">
              <a:spcBef>
                <a:spcPts val="927"/>
              </a:spcBef>
              <a:buFont typeface="+mj-lt"/>
              <a:buAutoNum type="alphaLcPeriod"/>
              <a:defRPr/>
            </a:pPr>
            <a:r>
              <a:rPr lang="fr-FR" dirty="0" smtClean="0"/>
              <a:t>plan nutrition manger moins salé, manger bouger</a:t>
            </a:r>
          </a:p>
          <a:p>
            <a:pPr marL="476691" indent="-476691">
              <a:spcBef>
                <a:spcPts val="927"/>
              </a:spcBef>
              <a:buFont typeface="+mj-lt"/>
              <a:buAutoNum type="alphaLcPeriod"/>
              <a:defRPr/>
            </a:pPr>
            <a:r>
              <a:rPr lang="fr-FR" dirty="0" smtClean="0"/>
              <a:t>la lutte contre les accidents</a:t>
            </a:r>
          </a:p>
          <a:p>
            <a:pPr marL="476691" indent="-476691">
              <a:spcBef>
                <a:spcPts val="927"/>
              </a:spcBef>
              <a:buFont typeface="+mj-lt"/>
              <a:buAutoNum type="alphaLcPeriod"/>
              <a:defRPr/>
            </a:pPr>
            <a:r>
              <a:rPr lang="fr-FR" dirty="0" smtClean="0"/>
              <a:t>lutte contre la tuberculose par le vaccin B.C.G</a:t>
            </a:r>
          </a:p>
          <a:p>
            <a:pPr marL="476691" indent="-476691">
              <a:spcBef>
                <a:spcPts val="927"/>
              </a:spcBef>
              <a:buFont typeface="+mj-lt"/>
              <a:buAutoNum type="alphaLcPeriod"/>
              <a:defRPr/>
            </a:pPr>
            <a:r>
              <a:rPr lang="fr-FR" dirty="0" smtClean="0">
                <a:solidFill>
                  <a:srgbClr val="FF0000"/>
                </a:solidFill>
              </a:rPr>
              <a:t>dépistage précoce du cancer du sein par mammographie</a:t>
            </a:r>
          </a:p>
          <a:p>
            <a:pPr marL="211862" indent="-211862">
              <a:spcBef>
                <a:spcPts val="927"/>
              </a:spcBef>
              <a:defRPr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93514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r-FR" dirty="0" smtClean="0"/>
              <a:t>QCM </a:t>
            </a:r>
            <a:r>
              <a:rPr lang="fr-FR" dirty="0" smtClean="0"/>
              <a:t>36</a:t>
            </a:r>
            <a:endParaRPr lang="fr-FR" dirty="0" smtClean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72678" y="1483045"/>
            <a:ext cx="9316068" cy="4351223"/>
          </a:xfrm>
        </p:spPr>
        <p:txBody>
          <a:bodyPr>
            <a:normAutofit fontScale="85000" lnSpcReduction="20000"/>
          </a:bodyPr>
          <a:lstStyle/>
          <a:p>
            <a:pPr marL="211862" indent="-211862">
              <a:spcBef>
                <a:spcPts val="927"/>
              </a:spcBef>
              <a:buFont typeface="Arial" charset="0"/>
              <a:buChar char="•"/>
              <a:defRPr/>
            </a:pPr>
            <a:r>
              <a:rPr lang="fr-FR" dirty="0" smtClean="0"/>
              <a:t>Cochez les réponses justes</a:t>
            </a:r>
          </a:p>
          <a:p>
            <a:pPr marL="434163" indent="-434163">
              <a:spcBef>
                <a:spcPts val="927"/>
              </a:spcBef>
              <a:buFont typeface="+mj-lt"/>
              <a:buAutoNum type="alphaLcParenR"/>
              <a:defRPr/>
            </a:pPr>
            <a:r>
              <a:rPr lang="fr-FR" dirty="0" smtClean="0"/>
              <a:t>Une épidémie correspond à une augmentation de l'incidence sur une période limitée</a:t>
            </a:r>
          </a:p>
          <a:p>
            <a:pPr marL="434163" indent="-434163">
              <a:spcBef>
                <a:spcPts val="927"/>
              </a:spcBef>
              <a:buFont typeface="+mj-lt"/>
              <a:buAutoNum type="alphaLcParenR"/>
              <a:defRPr/>
            </a:pPr>
            <a:r>
              <a:rPr lang="fr-FR" dirty="0" smtClean="0"/>
              <a:t>Une pandémie correspond à un taux d'incidence élevé sur plusieurs continents</a:t>
            </a:r>
          </a:p>
          <a:p>
            <a:pPr marL="434163" indent="-434163">
              <a:spcBef>
                <a:spcPts val="927"/>
              </a:spcBef>
              <a:buFont typeface="+mj-lt"/>
              <a:buAutoNum type="alphaLcParenR"/>
              <a:defRPr/>
            </a:pPr>
            <a:r>
              <a:rPr lang="fr-FR" dirty="0" smtClean="0"/>
              <a:t>La prévalence correspond au nombre de nouveaux cas sur une période donnée</a:t>
            </a:r>
          </a:p>
          <a:p>
            <a:pPr marL="434163" indent="-434163">
              <a:spcBef>
                <a:spcPts val="927"/>
              </a:spcBef>
              <a:buFont typeface="+mj-lt"/>
              <a:buAutoNum type="alphaLcParenR"/>
              <a:defRPr/>
            </a:pPr>
            <a:r>
              <a:rPr lang="fr-FR" dirty="0" smtClean="0"/>
              <a:t>La prévention primaire vise à réduire la prévalence d'une maladie</a:t>
            </a:r>
          </a:p>
          <a:p>
            <a:pPr marL="434163" indent="-434163">
              <a:spcBef>
                <a:spcPts val="927"/>
              </a:spcBef>
              <a:buFont typeface="+mj-lt"/>
              <a:buAutoNum type="alphaLcParenR"/>
              <a:defRPr/>
            </a:pPr>
            <a:r>
              <a:rPr lang="fr-FR" dirty="0" smtClean="0"/>
              <a:t>La prévention tertiaire vise à réduire la prévalence des incapacités chroniques liées à une maladie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77613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r-FR" dirty="0" smtClean="0"/>
              <a:t>QCM </a:t>
            </a:r>
            <a:r>
              <a:rPr lang="fr-FR" dirty="0" smtClean="0"/>
              <a:t>36</a:t>
            </a:r>
            <a:endParaRPr lang="fr-FR" dirty="0" smtClean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211862" indent="-211862">
              <a:spcBef>
                <a:spcPts val="927"/>
              </a:spcBef>
              <a:buFont typeface="Arial" charset="0"/>
              <a:buChar char="•"/>
              <a:defRPr/>
            </a:pPr>
            <a:r>
              <a:rPr lang="fr-FR" dirty="0" smtClean="0"/>
              <a:t>Cochez les réponses justes</a:t>
            </a:r>
          </a:p>
          <a:p>
            <a:pPr marL="434163" indent="-434163">
              <a:spcBef>
                <a:spcPts val="927"/>
              </a:spcBef>
              <a:buFont typeface="+mj-lt"/>
              <a:buAutoNum type="alphaLcParenR"/>
              <a:defRPr/>
            </a:pPr>
            <a:r>
              <a:rPr lang="fr-FR" dirty="0" smtClean="0">
                <a:solidFill>
                  <a:srgbClr val="C00000"/>
                </a:solidFill>
              </a:rPr>
              <a:t>Une épidémie correspond à une augmentation de l'incidence sur une période limitée</a:t>
            </a:r>
          </a:p>
          <a:p>
            <a:pPr marL="434163" indent="-434163">
              <a:spcBef>
                <a:spcPts val="927"/>
              </a:spcBef>
              <a:buFont typeface="+mj-lt"/>
              <a:buAutoNum type="alphaLcParenR"/>
              <a:defRPr/>
            </a:pPr>
            <a:r>
              <a:rPr lang="fr-FR" dirty="0" smtClean="0">
                <a:solidFill>
                  <a:srgbClr val="C00000"/>
                </a:solidFill>
              </a:rPr>
              <a:t>Une pandémie correspond à un taux d'incidence élevé sur plusieurs continents</a:t>
            </a:r>
          </a:p>
          <a:p>
            <a:pPr marL="434163" indent="-434163">
              <a:spcBef>
                <a:spcPts val="927"/>
              </a:spcBef>
              <a:buFont typeface="+mj-lt"/>
              <a:buAutoNum type="alphaLcParenR"/>
              <a:defRPr/>
            </a:pPr>
            <a:r>
              <a:rPr lang="fr-FR" dirty="0" smtClean="0"/>
              <a:t>La prévalence correspond au nombre de nouveaux cas sur une période donnée</a:t>
            </a:r>
          </a:p>
          <a:p>
            <a:pPr marL="434163" indent="-434163">
              <a:spcBef>
                <a:spcPts val="927"/>
              </a:spcBef>
              <a:buFont typeface="+mj-lt"/>
              <a:buAutoNum type="alphaLcParenR"/>
              <a:defRPr/>
            </a:pPr>
            <a:r>
              <a:rPr lang="fr-FR" dirty="0" smtClean="0"/>
              <a:t>La prévention primaire vise à réduire la prévalence d'une maladie</a:t>
            </a:r>
          </a:p>
          <a:p>
            <a:pPr marL="434163" indent="-434163">
              <a:spcBef>
                <a:spcPts val="927"/>
              </a:spcBef>
              <a:buFont typeface="+mj-lt"/>
              <a:buAutoNum type="alphaLcParenR"/>
              <a:defRPr/>
            </a:pPr>
            <a:r>
              <a:rPr lang="fr-FR" dirty="0" smtClean="0">
                <a:solidFill>
                  <a:srgbClr val="C00000"/>
                </a:solidFill>
              </a:rPr>
              <a:t>La prévention tertiaire vise à réduire la prévalence des incapacités chroniques liées à une maladie</a:t>
            </a:r>
            <a:endParaRPr lang="fr-FR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0400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r-FR" dirty="0" smtClean="0">
                <a:latin typeface="Comic Sans MS" pitchFamily="66" charset="0"/>
              </a:rPr>
              <a:t>QCM37</a:t>
            </a:r>
            <a:endParaRPr lang="fr-FR" dirty="0" smtClean="0">
              <a:latin typeface="Comic Sans MS" pitchFamily="66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18892" y="1549278"/>
            <a:ext cx="9316068" cy="4351223"/>
          </a:xfrm>
        </p:spPr>
        <p:txBody>
          <a:bodyPr>
            <a:normAutofit fontScale="85000" lnSpcReduction="20000"/>
          </a:bodyPr>
          <a:lstStyle/>
          <a:p>
            <a:pPr marL="211862" indent="-211862">
              <a:spcBef>
                <a:spcPts val="927"/>
              </a:spcBef>
              <a:buFont typeface="Arial" charset="0"/>
              <a:buChar char="•"/>
              <a:defRPr/>
            </a:pPr>
            <a:r>
              <a:rPr lang="fr-FR" dirty="0" smtClean="0"/>
              <a:t>Cochez les réponses justes</a:t>
            </a:r>
          </a:p>
          <a:p>
            <a:pPr marL="434163" indent="-434163">
              <a:spcBef>
                <a:spcPts val="927"/>
              </a:spcBef>
              <a:buFont typeface="+mj-lt"/>
              <a:buAutoNum type="alphaLcParenR"/>
              <a:defRPr/>
            </a:pPr>
            <a:r>
              <a:rPr lang="fr-FR" dirty="0" smtClean="0"/>
              <a:t>La surveillance des MNT repose sur la mise en place des registres</a:t>
            </a:r>
          </a:p>
          <a:p>
            <a:pPr marL="434163" indent="-434163">
              <a:spcBef>
                <a:spcPts val="927"/>
              </a:spcBef>
              <a:buFont typeface="+mj-lt"/>
              <a:buAutoNum type="alphaLcParenR"/>
              <a:defRPr/>
            </a:pPr>
            <a:r>
              <a:rPr lang="fr-FR" dirty="0" smtClean="0"/>
              <a:t>Les maladies chroniques sont le plus souvent multifactorielle et d’évolution rapide</a:t>
            </a:r>
          </a:p>
          <a:p>
            <a:pPr marL="434163" indent="-434163">
              <a:spcBef>
                <a:spcPts val="927"/>
              </a:spcBef>
              <a:buFont typeface="+mj-lt"/>
              <a:buAutoNum type="alphaLcParenR"/>
              <a:defRPr/>
            </a:pPr>
            <a:r>
              <a:rPr lang="fr-FR" dirty="0" smtClean="0"/>
              <a:t>Les maladies chroniques non transmissibles sont dues à des agents physique ou chimique ou social</a:t>
            </a:r>
          </a:p>
          <a:p>
            <a:pPr marL="434163" indent="-434163">
              <a:spcBef>
                <a:spcPts val="927"/>
              </a:spcBef>
              <a:buFont typeface="+mj-lt"/>
              <a:buAutoNum type="alphaLcParenR"/>
              <a:defRPr/>
            </a:pPr>
            <a:r>
              <a:rPr lang="fr-FR" dirty="0" smtClean="0"/>
              <a:t>Les MNT sont évolutives, souvent associées à une invalidité et à la menace de complications graves.</a:t>
            </a:r>
          </a:p>
          <a:p>
            <a:pPr marL="434163" indent="-434163">
              <a:spcBef>
                <a:spcPts val="927"/>
              </a:spcBef>
              <a:buFont typeface="+mj-lt"/>
              <a:buAutoNum type="alphaLcParenR"/>
              <a:defRPr/>
            </a:pPr>
            <a:r>
              <a:rPr lang="fr-FR" dirty="0" smtClean="0"/>
              <a:t>Les MNT sont d’origine inconnue dans 90%</a:t>
            </a:r>
          </a:p>
          <a:p>
            <a:pPr marL="434163" indent="-434163">
              <a:spcBef>
                <a:spcPts val="927"/>
              </a:spcBef>
              <a:buFont typeface="+mj-lt"/>
              <a:buAutoNum type="alphaLcParenR"/>
              <a:defRPr/>
            </a:pPr>
            <a:endParaRPr lang="fr-FR" dirty="0" smtClean="0"/>
          </a:p>
          <a:p>
            <a:pPr marL="434163" indent="-434163">
              <a:spcBef>
                <a:spcPts val="927"/>
              </a:spcBef>
              <a:buFont typeface="+mj-lt"/>
              <a:buAutoNum type="alphaLcParenR"/>
              <a:defRPr/>
            </a:pPr>
            <a:endParaRPr lang="fr-FR" dirty="0" smtClean="0"/>
          </a:p>
          <a:p>
            <a:pPr marL="434163" indent="-434163">
              <a:spcBef>
                <a:spcPts val="927"/>
              </a:spcBef>
              <a:buFont typeface="+mj-lt"/>
              <a:buAutoNum type="alphaLcParenR"/>
              <a:defRPr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8960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r-FR" dirty="0" smtClean="0">
                <a:latin typeface="Comic Sans MS" pitchFamily="66" charset="0"/>
              </a:rPr>
              <a:t>QCM37</a:t>
            </a:r>
            <a:endParaRPr lang="fr-FR" dirty="0" smtClean="0">
              <a:latin typeface="Comic Sans MS" pitchFamily="66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18892" y="1549278"/>
            <a:ext cx="9316068" cy="4351223"/>
          </a:xfrm>
        </p:spPr>
        <p:txBody>
          <a:bodyPr>
            <a:normAutofit fontScale="85000" lnSpcReduction="20000"/>
          </a:bodyPr>
          <a:lstStyle/>
          <a:p>
            <a:pPr marL="211862" indent="-211862">
              <a:spcBef>
                <a:spcPts val="927"/>
              </a:spcBef>
              <a:buFont typeface="Arial" charset="0"/>
              <a:buChar char="•"/>
              <a:defRPr/>
            </a:pPr>
            <a:r>
              <a:rPr lang="fr-FR" dirty="0" smtClean="0"/>
              <a:t>Cochez les réponses justes</a:t>
            </a:r>
          </a:p>
          <a:p>
            <a:pPr marL="434163" indent="-434163">
              <a:spcBef>
                <a:spcPts val="927"/>
              </a:spcBef>
              <a:buFont typeface="+mj-lt"/>
              <a:buAutoNum type="alphaLcParenR"/>
              <a:defRPr/>
            </a:pPr>
            <a:r>
              <a:rPr lang="fr-FR" dirty="0" smtClean="0">
                <a:solidFill>
                  <a:srgbClr val="C00000"/>
                </a:solidFill>
              </a:rPr>
              <a:t>La surveillance des MNT repose sur la mise en place des registres</a:t>
            </a:r>
          </a:p>
          <a:p>
            <a:pPr marL="434163" indent="-434163">
              <a:spcBef>
                <a:spcPts val="927"/>
              </a:spcBef>
              <a:buFont typeface="+mj-lt"/>
              <a:buAutoNum type="alphaLcParenR"/>
              <a:defRPr/>
            </a:pPr>
            <a:r>
              <a:rPr lang="fr-FR" dirty="0" smtClean="0"/>
              <a:t>Les maladies chroniques sont le plus souvent multifactorielle et d’évolution rapide</a:t>
            </a:r>
          </a:p>
          <a:p>
            <a:pPr marL="434163" indent="-434163">
              <a:spcBef>
                <a:spcPts val="927"/>
              </a:spcBef>
              <a:buFont typeface="+mj-lt"/>
              <a:buAutoNum type="alphaLcParenR"/>
              <a:defRPr/>
            </a:pPr>
            <a:r>
              <a:rPr lang="fr-FR" dirty="0" smtClean="0">
                <a:solidFill>
                  <a:srgbClr val="C00000"/>
                </a:solidFill>
              </a:rPr>
              <a:t>Les maladies chroniques non transmissibles sont dues à des agents physique ou chimique ou social</a:t>
            </a:r>
          </a:p>
          <a:p>
            <a:pPr marL="434163" indent="-434163">
              <a:spcBef>
                <a:spcPts val="927"/>
              </a:spcBef>
              <a:buFont typeface="+mj-lt"/>
              <a:buAutoNum type="alphaLcParenR"/>
              <a:defRPr/>
            </a:pPr>
            <a:r>
              <a:rPr lang="fr-FR" dirty="0" smtClean="0">
                <a:solidFill>
                  <a:srgbClr val="C00000"/>
                </a:solidFill>
              </a:rPr>
              <a:t>Les MNT sont évolutives, souvent associées à une invalidité et à la menace de complications graves</a:t>
            </a:r>
            <a:r>
              <a:rPr lang="fr-FR" dirty="0" smtClean="0"/>
              <a:t>.</a:t>
            </a:r>
          </a:p>
          <a:p>
            <a:pPr marL="434163" indent="-434163">
              <a:spcBef>
                <a:spcPts val="927"/>
              </a:spcBef>
              <a:buFont typeface="+mj-lt"/>
              <a:buAutoNum type="alphaLcParenR"/>
              <a:defRPr/>
            </a:pPr>
            <a:r>
              <a:rPr lang="fr-FR" dirty="0" smtClean="0"/>
              <a:t>Les MNT sont d’origine inconnue dans 90%</a:t>
            </a:r>
          </a:p>
          <a:p>
            <a:pPr marL="434163" indent="-434163">
              <a:spcBef>
                <a:spcPts val="927"/>
              </a:spcBef>
              <a:buFont typeface="+mj-lt"/>
              <a:buAutoNum type="alphaLcParenR"/>
              <a:defRPr/>
            </a:pPr>
            <a:endParaRPr lang="fr-FR" dirty="0" smtClean="0"/>
          </a:p>
          <a:p>
            <a:pPr marL="434163" indent="-434163">
              <a:spcBef>
                <a:spcPts val="927"/>
              </a:spcBef>
              <a:buFont typeface="+mj-lt"/>
              <a:buAutoNum type="alphaLcParenR"/>
              <a:defRPr/>
            </a:pPr>
            <a:endParaRPr lang="fr-FR" dirty="0" smtClean="0"/>
          </a:p>
          <a:p>
            <a:pPr marL="434163" indent="-434163">
              <a:spcBef>
                <a:spcPts val="927"/>
              </a:spcBef>
              <a:buFont typeface="+mj-lt"/>
              <a:buAutoNum type="alphaLcParenR"/>
              <a:defRPr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0526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r-FR" dirty="0" smtClean="0">
                <a:latin typeface="Comic Sans MS" pitchFamily="66" charset="0"/>
              </a:rPr>
              <a:t>QCM </a:t>
            </a:r>
            <a:r>
              <a:rPr lang="fr-FR" dirty="0" smtClean="0">
                <a:latin typeface="Comic Sans MS" pitchFamily="66" charset="0"/>
              </a:rPr>
              <a:t>38</a:t>
            </a:r>
            <a:endParaRPr lang="fr-FR" dirty="0" smtClean="0">
              <a:latin typeface="Comic Sans MS" pitchFamily="66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11862" indent="-211862">
              <a:spcBef>
                <a:spcPts val="927"/>
              </a:spcBef>
              <a:buFont typeface="Arial" charset="0"/>
              <a:buChar char="•"/>
              <a:defRPr/>
            </a:pPr>
            <a:r>
              <a:rPr lang="fr-FR" sz="2700" dirty="0">
                <a:latin typeface="Comic Sans MS" pitchFamily="66" charset="0"/>
                <a:ea typeface="Times New Roman" panose="02020603050405020304" pitchFamily="18" charset="0"/>
              </a:rPr>
              <a:t>Le programme national intégré de lutte contre les MNT repose sur ?cochez les réponses justes</a:t>
            </a:r>
          </a:p>
          <a:p>
            <a:pPr marL="434163" indent="-434163">
              <a:spcBef>
                <a:spcPts val="927"/>
              </a:spcBef>
              <a:buFont typeface="+mj-lt"/>
              <a:buAutoNum type="alphaLcParenR"/>
              <a:defRPr/>
            </a:pPr>
            <a:r>
              <a:rPr lang="fr-FR" sz="2700" dirty="0">
                <a:latin typeface="Comic Sans MS" pitchFamily="66" charset="0"/>
              </a:rPr>
              <a:t>Une approche sectorielle</a:t>
            </a:r>
          </a:p>
          <a:p>
            <a:pPr marL="434163" indent="-434163">
              <a:spcBef>
                <a:spcPts val="927"/>
              </a:spcBef>
              <a:buFont typeface="+mj-lt"/>
              <a:buAutoNum type="alphaLcParenR"/>
              <a:defRPr/>
            </a:pPr>
            <a:r>
              <a:rPr lang="fr-FR" sz="2700" dirty="0">
                <a:latin typeface="Comic Sans MS" pitchFamily="66" charset="0"/>
              </a:rPr>
              <a:t>La prévention </a:t>
            </a:r>
          </a:p>
          <a:p>
            <a:pPr marL="434163" indent="-434163">
              <a:spcBef>
                <a:spcPts val="927"/>
              </a:spcBef>
              <a:buFont typeface="+mj-lt"/>
              <a:buAutoNum type="alphaLcParenR"/>
              <a:defRPr/>
            </a:pPr>
            <a:r>
              <a:rPr lang="fr-FR" sz="2700" dirty="0">
                <a:latin typeface="Comic Sans MS" pitchFamily="66" charset="0"/>
              </a:rPr>
              <a:t>Actions </a:t>
            </a:r>
            <a:r>
              <a:rPr lang="fr-FR" sz="2700" dirty="0" err="1">
                <a:latin typeface="Comic Sans MS" pitchFamily="66" charset="0"/>
              </a:rPr>
              <a:t>mutlidisciplinaires</a:t>
            </a:r>
            <a:endParaRPr lang="fr-FR" sz="2700" dirty="0">
              <a:latin typeface="Comic Sans MS" pitchFamily="66" charset="0"/>
            </a:endParaRPr>
          </a:p>
          <a:p>
            <a:pPr marL="434163" indent="-434163">
              <a:spcBef>
                <a:spcPts val="927"/>
              </a:spcBef>
              <a:buFont typeface="+mj-lt"/>
              <a:buAutoNum type="alphaLcParenR"/>
              <a:defRPr/>
            </a:pPr>
            <a:r>
              <a:rPr lang="fr-FR" sz="2700" dirty="0">
                <a:latin typeface="Comic Sans MS" pitchFamily="66" charset="0"/>
              </a:rPr>
              <a:t>Implication collective mais surtout individuelle</a:t>
            </a:r>
          </a:p>
          <a:p>
            <a:pPr marL="434163" indent="-434163">
              <a:spcBef>
                <a:spcPts val="927"/>
              </a:spcBef>
              <a:buFont typeface="+mj-lt"/>
              <a:buAutoNum type="alphaLcParenR"/>
              <a:defRPr/>
            </a:pPr>
            <a:r>
              <a:rPr lang="fr-FR" sz="2700" dirty="0">
                <a:latin typeface="Comic Sans MS" pitchFamily="66" charset="0"/>
              </a:rPr>
              <a:t>Lutte contre facteurs de risque communs</a:t>
            </a:r>
          </a:p>
          <a:p>
            <a:pPr marL="434163" indent="-434163">
              <a:spcBef>
                <a:spcPts val="927"/>
              </a:spcBef>
              <a:buFont typeface="+mj-lt"/>
              <a:buAutoNum type="alphaLcParenR"/>
              <a:defRPr/>
            </a:pPr>
            <a:endParaRPr lang="fr-FR" sz="2700" dirty="0">
              <a:latin typeface="Comic Sans MS" pitchFamily="66" charset="0"/>
            </a:endParaRPr>
          </a:p>
          <a:p>
            <a:pPr marL="434163" indent="-434163">
              <a:spcBef>
                <a:spcPts val="927"/>
              </a:spcBef>
              <a:buFont typeface="+mj-lt"/>
              <a:buAutoNum type="alphaLcParenR"/>
              <a:defRPr/>
            </a:pPr>
            <a:endParaRPr lang="fr-FR" sz="2700" dirty="0">
              <a:latin typeface="Comic Sans MS" pitchFamily="66" charset="0"/>
            </a:endParaRPr>
          </a:p>
          <a:p>
            <a:pPr marL="434163" indent="-434163">
              <a:spcBef>
                <a:spcPts val="927"/>
              </a:spcBef>
              <a:buFont typeface="+mj-lt"/>
              <a:buAutoNum type="alphaLcParenR"/>
              <a:defRPr/>
            </a:pPr>
            <a:endParaRPr lang="fr-FR" sz="2700" dirty="0">
              <a:latin typeface="Comic Sans MS" pitchFamily="66" charset="0"/>
            </a:endParaRPr>
          </a:p>
          <a:p>
            <a:pPr marL="434163" indent="-434163">
              <a:spcBef>
                <a:spcPts val="927"/>
              </a:spcBef>
              <a:buFont typeface="+mj-lt"/>
              <a:buAutoNum type="alphaLcParenR"/>
              <a:defRPr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24796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r-FR" dirty="0" smtClean="0">
                <a:latin typeface="Comic Sans MS" pitchFamily="66" charset="0"/>
              </a:rPr>
              <a:t>QCM </a:t>
            </a:r>
            <a:r>
              <a:rPr lang="fr-FR" dirty="0" smtClean="0">
                <a:latin typeface="Comic Sans MS" pitchFamily="66" charset="0"/>
              </a:rPr>
              <a:t>38</a:t>
            </a:r>
            <a:endParaRPr lang="fr-FR" dirty="0" smtClean="0">
              <a:latin typeface="Comic Sans MS" pitchFamily="66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11862" indent="-211862">
              <a:spcBef>
                <a:spcPts val="927"/>
              </a:spcBef>
              <a:buFont typeface="Arial" charset="0"/>
              <a:buChar char="•"/>
              <a:defRPr/>
            </a:pPr>
            <a:r>
              <a:rPr lang="fr-FR" sz="2700" dirty="0">
                <a:latin typeface="Comic Sans MS" pitchFamily="66" charset="0"/>
                <a:ea typeface="Times New Roman" panose="02020603050405020304" pitchFamily="18" charset="0"/>
              </a:rPr>
              <a:t>Le programme national intégré de lutte contre les MNT repose sur ?cochez les réponses justes</a:t>
            </a:r>
          </a:p>
          <a:p>
            <a:pPr marL="434163" indent="-434163">
              <a:spcBef>
                <a:spcPts val="927"/>
              </a:spcBef>
              <a:buFont typeface="+mj-lt"/>
              <a:buAutoNum type="alphaLcParenR"/>
              <a:defRPr/>
            </a:pPr>
            <a:r>
              <a:rPr lang="fr-FR" sz="2700" dirty="0">
                <a:latin typeface="Comic Sans MS" pitchFamily="66" charset="0"/>
              </a:rPr>
              <a:t>Une approche sectorielle</a:t>
            </a:r>
          </a:p>
          <a:p>
            <a:pPr marL="434163" indent="-434163">
              <a:spcBef>
                <a:spcPts val="927"/>
              </a:spcBef>
              <a:buFont typeface="+mj-lt"/>
              <a:buAutoNum type="alphaLcParenR"/>
              <a:defRPr/>
            </a:pPr>
            <a:r>
              <a:rPr lang="fr-FR" sz="2700" dirty="0">
                <a:solidFill>
                  <a:srgbClr val="C00000"/>
                </a:solidFill>
                <a:latin typeface="Comic Sans MS" pitchFamily="66" charset="0"/>
              </a:rPr>
              <a:t>La prévention </a:t>
            </a:r>
          </a:p>
          <a:p>
            <a:pPr marL="434163" indent="-434163">
              <a:spcBef>
                <a:spcPts val="927"/>
              </a:spcBef>
              <a:buFont typeface="+mj-lt"/>
              <a:buAutoNum type="alphaLcParenR"/>
              <a:defRPr/>
            </a:pPr>
            <a:r>
              <a:rPr lang="fr-FR" sz="2700" dirty="0">
                <a:solidFill>
                  <a:srgbClr val="C00000"/>
                </a:solidFill>
                <a:latin typeface="Comic Sans MS" pitchFamily="66" charset="0"/>
              </a:rPr>
              <a:t>Actions </a:t>
            </a:r>
            <a:r>
              <a:rPr lang="fr-FR" sz="2700" dirty="0" err="1">
                <a:solidFill>
                  <a:srgbClr val="C00000"/>
                </a:solidFill>
                <a:latin typeface="Comic Sans MS" pitchFamily="66" charset="0"/>
              </a:rPr>
              <a:t>mutlidisciplinaires</a:t>
            </a:r>
            <a:endParaRPr lang="fr-FR" sz="2700" dirty="0">
              <a:solidFill>
                <a:srgbClr val="C00000"/>
              </a:solidFill>
              <a:latin typeface="Comic Sans MS" pitchFamily="66" charset="0"/>
            </a:endParaRPr>
          </a:p>
          <a:p>
            <a:pPr marL="434163" indent="-434163">
              <a:spcBef>
                <a:spcPts val="927"/>
              </a:spcBef>
              <a:buFont typeface="+mj-lt"/>
              <a:buAutoNum type="alphaLcParenR"/>
              <a:defRPr/>
            </a:pPr>
            <a:r>
              <a:rPr lang="fr-FR" sz="2700" dirty="0">
                <a:solidFill>
                  <a:srgbClr val="C00000"/>
                </a:solidFill>
                <a:latin typeface="Comic Sans MS" pitchFamily="66" charset="0"/>
              </a:rPr>
              <a:t>Implication collective mais surtout individuelle</a:t>
            </a:r>
          </a:p>
          <a:p>
            <a:pPr marL="434163" indent="-434163">
              <a:spcBef>
                <a:spcPts val="927"/>
              </a:spcBef>
              <a:buFont typeface="+mj-lt"/>
              <a:buAutoNum type="alphaLcParenR"/>
              <a:defRPr/>
            </a:pPr>
            <a:r>
              <a:rPr lang="fr-FR" sz="2700" dirty="0">
                <a:solidFill>
                  <a:srgbClr val="C00000"/>
                </a:solidFill>
                <a:latin typeface="Comic Sans MS" pitchFamily="66" charset="0"/>
              </a:rPr>
              <a:t>Lutte contre facteurs de risque communs</a:t>
            </a:r>
          </a:p>
          <a:p>
            <a:pPr marL="434163" indent="-434163">
              <a:spcBef>
                <a:spcPts val="927"/>
              </a:spcBef>
              <a:buFont typeface="+mj-lt"/>
              <a:buAutoNum type="alphaLcParenR"/>
              <a:defRPr/>
            </a:pPr>
            <a:endParaRPr lang="fr-FR" sz="2700" dirty="0">
              <a:latin typeface="Comic Sans MS" pitchFamily="66" charset="0"/>
            </a:endParaRPr>
          </a:p>
          <a:p>
            <a:pPr marL="434163" indent="-434163">
              <a:spcBef>
                <a:spcPts val="927"/>
              </a:spcBef>
              <a:buFont typeface="+mj-lt"/>
              <a:buAutoNum type="alphaLcParenR"/>
              <a:defRPr/>
            </a:pPr>
            <a:endParaRPr lang="fr-FR" sz="2700" dirty="0">
              <a:latin typeface="Comic Sans MS" pitchFamily="66" charset="0"/>
            </a:endParaRPr>
          </a:p>
          <a:p>
            <a:pPr marL="434163" indent="-434163">
              <a:spcBef>
                <a:spcPts val="927"/>
              </a:spcBef>
              <a:buFont typeface="+mj-lt"/>
              <a:buAutoNum type="alphaLcParenR"/>
              <a:defRPr/>
            </a:pPr>
            <a:endParaRPr lang="fr-FR" sz="2700" dirty="0">
              <a:latin typeface="Comic Sans MS" pitchFamily="66" charset="0"/>
            </a:endParaRPr>
          </a:p>
          <a:p>
            <a:pPr marL="434163" indent="-434163">
              <a:spcBef>
                <a:spcPts val="927"/>
              </a:spcBef>
              <a:buFont typeface="+mj-lt"/>
              <a:buAutoNum type="alphaLcParenR"/>
              <a:defRPr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14227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r-FR" dirty="0" smtClean="0">
                <a:latin typeface="Comic Sans MS" pitchFamily="66" charset="0"/>
              </a:rPr>
              <a:t>QCM39</a:t>
            </a:r>
            <a:endParaRPr lang="fr-FR" dirty="0" smtClean="0">
              <a:latin typeface="Comic Sans MS" pitchFamily="66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11862" indent="-211862">
              <a:spcBef>
                <a:spcPts val="927"/>
              </a:spcBef>
              <a:buFont typeface="Arial" charset="0"/>
              <a:buChar char="•"/>
              <a:defRPr/>
            </a:pPr>
            <a:r>
              <a:rPr lang="fr-FR" sz="2700" dirty="0">
                <a:solidFill>
                  <a:srgbClr val="000000"/>
                </a:solidFill>
              </a:rPr>
              <a:t>Cochez les réponses justes</a:t>
            </a:r>
          </a:p>
          <a:p>
            <a:pPr marL="434163" indent="-434163">
              <a:spcBef>
                <a:spcPts val="927"/>
              </a:spcBef>
              <a:buFont typeface="+mj-lt"/>
              <a:buAutoNum type="alphaLcParenR"/>
              <a:defRPr/>
            </a:pPr>
            <a:r>
              <a:rPr lang="fr-FR" sz="2700" dirty="0">
                <a:solidFill>
                  <a:srgbClr val="000000"/>
                </a:solidFill>
              </a:rPr>
              <a:t>Age et le sexe sont des facteurs de risque</a:t>
            </a:r>
          </a:p>
          <a:p>
            <a:pPr marL="434163" indent="-434163">
              <a:spcBef>
                <a:spcPts val="927"/>
              </a:spcBef>
              <a:buFont typeface="+mj-lt"/>
              <a:buAutoNum type="alphaLcParenR"/>
              <a:defRPr/>
            </a:pPr>
            <a:r>
              <a:rPr lang="fr-FR" sz="2700" dirty="0">
                <a:solidFill>
                  <a:srgbClr val="000000"/>
                </a:solidFill>
              </a:rPr>
              <a:t>Age et le sexe sont des marqueurs de risque</a:t>
            </a:r>
          </a:p>
          <a:p>
            <a:pPr marL="434163" indent="-434163">
              <a:spcBef>
                <a:spcPts val="927"/>
              </a:spcBef>
              <a:buFont typeface="+mj-lt"/>
              <a:buAutoNum type="alphaLcParenR"/>
              <a:defRPr/>
            </a:pPr>
            <a:r>
              <a:rPr lang="fr-FR" sz="2700" dirty="0">
                <a:solidFill>
                  <a:srgbClr val="000000"/>
                </a:solidFill>
              </a:rPr>
              <a:t>On parle de  causalité entre deux événements lorsque la modification de la fréquence ou de la qualité  de l’une est suivie d’une modification de l’autre</a:t>
            </a:r>
          </a:p>
          <a:p>
            <a:pPr marL="434163" indent="-434163">
              <a:spcBef>
                <a:spcPts val="927"/>
              </a:spcBef>
              <a:buFont typeface="+mj-lt"/>
              <a:buAutoNum type="alphaLcParenR"/>
              <a:defRPr/>
            </a:pPr>
            <a:r>
              <a:rPr lang="fr-FR" sz="2700" dirty="0">
                <a:solidFill>
                  <a:srgbClr val="000000"/>
                </a:solidFill>
              </a:rPr>
              <a:t>Tabac, alcool et sédentarité sont les principaux facteurs des MNT selon OMS</a:t>
            </a:r>
          </a:p>
          <a:p>
            <a:pPr marL="434163" indent="-434163">
              <a:spcBef>
                <a:spcPts val="927"/>
              </a:spcBef>
              <a:buFont typeface="+mj-lt"/>
              <a:buAutoNum type="alphaLcParenR"/>
              <a:defRPr/>
            </a:pPr>
            <a:r>
              <a:rPr lang="fr-FR" sz="2700" dirty="0">
                <a:solidFill>
                  <a:srgbClr val="000000"/>
                </a:solidFill>
              </a:rPr>
              <a:t>Sont moins fréquentes que les MT en Algérie</a:t>
            </a:r>
          </a:p>
          <a:p>
            <a:pPr marL="434163" indent="-434163">
              <a:spcBef>
                <a:spcPts val="927"/>
              </a:spcBef>
              <a:buFont typeface="+mj-lt"/>
              <a:buAutoNum type="alphaLcParenR"/>
              <a:defRPr/>
            </a:pPr>
            <a:endParaRPr lang="fr-FR" sz="2700" dirty="0">
              <a:solidFill>
                <a:srgbClr val="000000"/>
              </a:solidFill>
            </a:endParaRPr>
          </a:p>
          <a:p>
            <a:pPr marL="434163" indent="-434163">
              <a:spcBef>
                <a:spcPts val="927"/>
              </a:spcBef>
              <a:buFont typeface="+mj-lt"/>
              <a:buAutoNum type="alphaLcParenR"/>
              <a:defRPr/>
            </a:pPr>
            <a:endParaRPr lang="fr-FR" dirty="0" smtClean="0"/>
          </a:p>
          <a:p>
            <a:pPr marL="434163" indent="-434163">
              <a:spcBef>
                <a:spcPts val="927"/>
              </a:spcBef>
              <a:buFont typeface="+mj-lt"/>
              <a:buAutoNum type="alphaLcParenR"/>
              <a:defRPr/>
            </a:pPr>
            <a:endParaRPr lang="fr-FR" dirty="0" smtClean="0"/>
          </a:p>
          <a:p>
            <a:pPr marL="434163" indent="-434163">
              <a:spcBef>
                <a:spcPts val="927"/>
              </a:spcBef>
              <a:buFont typeface="+mj-lt"/>
              <a:buAutoNum type="alphaLcParenR"/>
              <a:defRPr/>
            </a:pPr>
            <a:endParaRPr lang="fr-FR" dirty="0" smtClean="0"/>
          </a:p>
          <a:p>
            <a:pPr marL="434163" indent="-434163">
              <a:spcBef>
                <a:spcPts val="927"/>
              </a:spcBef>
              <a:buFont typeface="+mj-lt"/>
              <a:buAutoNum type="alphaLcParenR"/>
              <a:defRPr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33206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r-FR" dirty="0" smtClean="0">
                <a:latin typeface="Comic Sans MS" pitchFamily="66" charset="0"/>
              </a:rPr>
              <a:t>QCM39</a:t>
            </a:r>
            <a:endParaRPr lang="fr-FR" dirty="0" smtClean="0">
              <a:latin typeface="Comic Sans MS" pitchFamily="66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11862" indent="-211862">
              <a:spcBef>
                <a:spcPts val="927"/>
              </a:spcBef>
              <a:buFont typeface="Arial" charset="0"/>
              <a:buChar char="•"/>
              <a:defRPr/>
            </a:pPr>
            <a:r>
              <a:rPr lang="fr-FR" sz="2700" dirty="0">
                <a:solidFill>
                  <a:srgbClr val="000000"/>
                </a:solidFill>
              </a:rPr>
              <a:t>Cochez les réponses justes</a:t>
            </a:r>
          </a:p>
          <a:p>
            <a:pPr marL="434163" indent="-434163">
              <a:spcBef>
                <a:spcPts val="927"/>
              </a:spcBef>
              <a:buFont typeface="+mj-lt"/>
              <a:buAutoNum type="alphaLcParenR"/>
              <a:defRPr/>
            </a:pPr>
            <a:r>
              <a:rPr lang="fr-FR" sz="2700" dirty="0">
                <a:solidFill>
                  <a:srgbClr val="000000"/>
                </a:solidFill>
              </a:rPr>
              <a:t>Age et le sexe sont des facteurs de risque</a:t>
            </a:r>
          </a:p>
          <a:p>
            <a:pPr marL="434163" indent="-434163">
              <a:spcBef>
                <a:spcPts val="927"/>
              </a:spcBef>
              <a:buFont typeface="+mj-lt"/>
              <a:buAutoNum type="alphaLcParenR"/>
              <a:defRPr/>
            </a:pPr>
            <a:r>
              <a:rPr lang="fr-FR" sz="2700" dirty="0">
                <a:solidFill>
                  <a:srgbClr val="C00000"/>
                </a:solidFill>
              </a:rPr>
              <a:t>Age et le sexe sont des marqueurs de risque</a:t>
            </a:r>
          </a:p>
          <a:p>
            <a:pPr marL="434163" indent="-434163">
              <a:spcBef>
                <a:spcPts val="927"/>
              </a:spcBef>
              <a:buFont typeface="+mj-lt"/>
              <a:buAutoNum type="alphaLcParenR"/>
              <a:defRPr/>
            </a:pPr>
            <a:r>
              <a:rPr lang="fr-FR" sz="2700" dirty="0">
                <a:solidFill>
                  <a:srgbClr val="C00000"/>
                </a:solidFill>
              </a:rPr>
              <a:t>On parle de  causalité entre deux événements lorsque la modification de la fréquence ou de la qualité  de l’une est suivie d’une modification de l’autre</a:t>
            </a:r>
          </a:p>
          <a:p>
            <a:pPr marL="434163" indent="-434163">
              <a:spcBef>
                <a:spcPts val="927"/>
              </a:spcBef>
              <a:buFont typeface="+mj-lt"/>
              <a:buAutoNum type="alphaLcParenR"/>
              <a:defRPr/>
            </a:pPr>
            <a:r>
              <a:rPr lang="fr-FR" sz="2700" dirty="0">
                <a:solidFill>
                  <a:srgbClr val="C00000"/>
                </a:solidFill>
              </a:rPr>
              <a:t>Tabac, alcool et sédentarité sont les principaux facteurs des MNT selon OMS</a:t>
            </a:r>
          </a:p>
          <a:p>
            <a:pPr marL="434163" indent="-434163">
              <a:spcBef>
                <a:spcPts val="927"/>
              </a:spcBef>
              <a:buFont typeface="+mj-lt"/>
              <a:buAutoNum type="alphaLcParenR"/>
              <a:defRPr/>
            </a:pPr>
            <a:r>
              <a:rPr lang="fr-FR" sz="2700" dirty="0">
                <a:solidFill>
                  <a:srgbClr val="000000"/>
                </a:solidFill>
              </a:rPr>
              <a:t>Sont moins fréquentes que les MT en Algérie</a:t>
            </a:r>
          </a:p>
          <a:p>
            <a:pPr marL="434163" indent="-434163">
              <a:spcBef>
                <a:spcPts val="927"/>
              </a:spcBef>
              <a:buFont typeface="+mj-lt"/>
              <a:buAutoNum type="alphaLcParenR"/>
              <a:defRPr/>
            </a:pPr>
            <a:endParaRPr lang="fr-FR" sz="2700" dirty="0">
              <a:solidFill>
                <a:srgbClr val="000000"/>
              </a:solidFill>
            </a:endParaRPr>
          </a:p>
          <a:p>
            <a:pPr marL="434163" indent="-434163">
              <a:spcBef>
                <a:spcPts val="927"/>
              </a:spcBef>
              <a:buFont typeface="+mj-lt"/>
              <a:buAutoNum type="alphaLcParenR"/>
              <a:defRPr/>
            </a:pPr>
            <a:endParaRPr lang="fr-FR" dirty="0" smtClean="0"/>
          </a:p>
          <a:p>
            <a:pPr marL="434163" indent="-434163">
              <a:spcBef>
                <a:spcPts val="927"/>
              </a:spcBef>
              <a:buFont typeface="+mj-lt"/>
              <a:buAutoNum type="alphaLcParenR"/>
              <a:defRPr/>
            </a:pPr>
            <a:endParaRPr lang="fr-FR" dirty="0" smtClean="0"/>
          </a:p>
          <a:p>
            <a:pPr marL="434163" indent="-434163">
              <a:spcBef>
                <a:spcPts val="927"/>
              </a:spcBef>
              <a:buFont typeface="+mj-lt"/>
              <a:buAutoNum type="alphaLcParenR"/>
              <a:defRPr/>
            </a:pPr>
            <a:endParaRPr lang="fr-FR" dirty="0" smtClean="0"/>
          </a:p>
          <a:p>
            <a:pPr marL="434163" indent="-434163">
              <a:spcBef>
                <a:spcPts val="927"/>
              </a:spcBef>
              <a:buFont typeface="+mj-lt"/>
              <a:buAutoNum type="alphaLcParenR"/>
              <a:defRPr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70797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r-FR" dirty="0" smtClean="0">
                <a:latin typeface="Comic Sans MS" pitchFamily="66" charset="0"/>
              </a:rPr>
              <a:t>QCM </a:t>
            </a:r>
            <a:r>
              <a:rPr lang="fr-FR" dirty="0" smtClean="0">
                <a:latin typeface="Comic Sans MS" pitchFamily="66" charset="0"/>
              </a:rPr>
              <a:t>40</a:t>
            </a:r>
            <a:endParaRPr lang="fr-FR" dirty="0" smtClean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42000" y="1825729"/>
            <a:ext cx="9739701" cy="4351223"/>
          </a:xfrm>
        </p:spPr>
        <p:txBody>
          <a:bodyPr>
            <a:normAutofit/>
          </a:bodyPr>
          <a:lstStyle/>
          <a:p>
            <a:pPr marL="211862" indent="-211862">
              <a:spcBef>
                <a:spcPts val="927"/>
              </a:spcBef>
              <a:buFont typeface="Arial" charset="0"/>
              <a:buChar char="•"/>
              <a:defRPr/>
            </a:pPr>
            <a:r>
              <a:rPr lang="fr-FR" dirty="0" smtClean="0">
                <a:cs typeface="Times New Roman" pitchFamily="18" charset="0"/>
              </a:rPr>
              <a:t>Parmi les facteurs responsables du développement des maladies chroniques en Algérie, cochez la réponse fausse</a:t>
            </a:r>
          </a:p>
          <a:p>
            <a:pPr marL="434163" indent="-434163">
              <a:spcBef>
                <a:spcPts val="927"/>
              </a:spcBef>
              <a:buFont typeface="+mj-lt"/>
              <a:buAutoNum type="alphaLcParenR"/>
              <a:defRPr/>
            </a:pPr>
            <a:r>
              <a:rPr lang="fr-FR" dirty="0" smtClean="0">
                <a:cs typeface="Times New Roman" pitchFamily="18" charset="0"/>
              </a:rPr>
              <a:t>L’amélioration du niveau de vie et du revenu</a:t>
            </a:r>
          </a:p>
          <a:p>
            <a:pPr marL="434163" indent="-434163">
              <a:spcBef>
                <a:spcPts val="927"/>
              </a:spcBef>
              <a:buFont typeface="+mj-lt"/>
              <a:buAutoNum type="alphaLcParenR"/>
              <a:defRPr/>
            </a:pPr>
            <a:r>
              <a:rPr lang="fr-FR" sz="2700" dirty="0">
                <a:cs typeface="Times New Roman" pitchFamily="18" charset="0"/>
              </a:rPr>
              <a:t>la modification des comportements</a:t>
            </a:r>
          </a:p>
          <a:p>
            <a:pPr marL="434163" indent="-434163">
              <a:spcBef>
                <a:spcPts val="927"/>
              </a:spcBef>
              <a:buFont typeface="+mj-lt"/>
              <a:buAutoNum type="alphaLcParenR"/>
              <a:defRPr/>
            </a:pPr>
            <a:r>
              <a:rPr lang="fr-FR" sz="2700" dirty="0">
                <a:cs typeface="Times New Roman" pitchFamily="18" charset="0"/>
              </a:rPr>
              <a:t>Le jeune âge de la population</a:t>
            </a:r>
          </a:p>
          <a:p>
            <a:pPr marL="434163" indent="-434163">
              <a:spcBef>
                <a:spcPts val="927"/>
              </a:spcBef>
              <a:buFont typeface="+mj-lt"/>
              <a:buAutoNum type="alphaLcParenR"/>
              <a:defRPr/>
            </a:pPr>
            <a:r>
              <a:rPr lang="fr-FR" sz="2700" dirty="0">
                <a:cs typeface="Times New Roman" pitchFamily="18" charset="0"/>
              </a:rPr>
              <a:t>la modification des schémas de consommation alimentaire</a:t>
            </a:r>
          </a:p>
          <a:p>
            <a:pPr marL="434163" indent="-434163">
              <a:spcBef>
                <a:spcPts val="927"/>
              </a:spcBef>
              <a:buFont typeface="+mj-lt"/>
              <a:buAutoNum type="alphaLcParenR"/>
              <a:defRPr/>
            </a:pPr>
            <a:r>
              <a:rPr lang="fr-FR" sz="2700" dirty="0">
                <a:cs typeface="Times New Roman" pitchFamily="18" charset="0"/>
              </a:rPr>
              <a:t>Un meilleur accès aux soins</a:t>
            </a:r>
          </a:p>
          <a:p>
            <a:pPr marL="434163" indent="-434163">
              <a:spcBef>
                <a:spcPts val="927"/>
              </a:spcBef>
              <a:buFont typeface="+mj-lt"/>
              <a:buAutoNum type="alphaLcParenR"/>
              <a:defRPr/>
            </a:pPr>
            <a:endParaRPr lang="fr-FR" dirty="0" smtClean="0">
              <a:cs typeface="Times New Roman" pitchFamily="18" charset="0"/>
            </a:endParaRPr>
          </a:p>
          <a:p>
            <a:pPr marL="434163" indent="-434163">
              <a:spcBef>
                <a:spcPts val="927"/>
              </a:spcBef>
              <a:buFont typeface="+mj-lt"/>
              <a:buAutoNum type="alphaLcParenR"/>
              <a:defRPr/>
            </a:pPr>
            <a:endParaRPr lang="fr-FR" dirty="0" smtClean="0">
              <a:cs typeface="Times New Roman" pitchFamily="18" charset="0"/>
            </a:endParaRPr>
          </a:p>
          <a:p>
            <a:pPr marL="211862" indent="-211862">
              <a:spcBef>
                <a:spcPts val="927"/>
              </a:spcBef>
              <a:buFont typeface="Arial" charset="0"/>
              <a:buChar char="•"/>
              <a:defRPr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11583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r-FR" dirty="0" smtClean="0">
                <a:latin typeface="Comic Sans MS" pitchFamily="66" charset="0"/>
              </a:rPr>
              <a:t>QCM </a:t>
            </a:r>
            <a:r>
              <a:rPr lang="fr-FR" dirty="0" smtClean="0">
                <a:latin typeface="Comic Sans MS" pitchFamily="66" charset="0"/>
              </a:rPr>
              <a:t>40</a:t>
            </a:r>
            <a:endParaRPr lang="fr-FR" dirty="0" smtClean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42000" y="1825729"/>
            <a:ext cx="9739701" cy="4351223"/>
          </a:xfrm>
        </p:spPr>
        <p:txBody>
          <a:bodyPr>
            <a:normAutofit/>
          </a:bodyPr>
          <a:lstStyle/>
          <a:p>
            <a:pPr marL="211862" indent="-211862">
              <a:spcBef>
                <a:spcPts val="927"/>
              </a:spcBef>
              <a:buFont typeface="Arial" charset="0"/>
              <a:buChar char="•"/>
              <a:defRPr/>
            </a:pPr>
            <a:r>
              <a:rPr lang="fr-FR" dirty="0" smtClean="0">
                <a:cs typeface="Times New Roman" pitchFamily="18" charset="0"/>
              </a:rPr>
              <a:t>Parmi les facteurs responsables du développement des maladies chroniques en Algérie, cochez la réponse fausse</a:t>
            </a:r>
          </a:p>
          <a:p>
            <a:pPr marL="434163" indent="-434163">
              <a:spcBef>
                <a:spcPts val="927"/>
              </a:spcBef>
              <a:buFont typeface="+mj-lt"/>
              <a:buAutoNum type="alphaLcParenR"/>
              <a:defRPr/>
            </a:pPr>
            <a:r>
              <a:rPr lang="fr-FR" dirty="0" smtClean="0">
                <a:cs typeface="Times New Roman" pitchFamily="18" charset="0"/>
              </a:rPr>
              <a:t>L’amélioration du niveau de vie et du revenu</a:t>
            </a:r>
          </a:p>
          <a:p>
            <a:pPr marL="434163" indent="-434163">
              <a:spcBef>
                <a:spcPts val="927"/>
              </a:spcBef>
              <a:buFont typeface="+mj-lt"/>
              <a:buAutoNum type="alphaLcParenR"/>
              <a:defRPr/>
            </a:pPr>
            <a:r>
              <a:rPr lang="fr-FR" sz="2700" dirty="0">
                <a:cs typeface="Times New Roman" pitchFamily="18" charset="0"/>
              </a:rPr>
              <a:t>la modification des comportements</a:t>
            </a:r>
          </a:p>
          <a:p>
            <a:pPr marL="434163" indent="-434163">
              <a:spcBef>
                <a:spcPts val="927"/>
              </a:spcBef>
              <a:buFont typeface="+mj-lt"/>
              <a:buAutoNum type="alphaLcParenR"/>
              <a:defRPr/>
            </a:pPr>
            <a:r>
              <a:rPr lang="fr-FR" sz="2700" dirty="0">
                <a:solidFill>
                  <a:srgbClr val="C00000"/>
                </a:solidFill>
                <a:cs typeface="Times New Roman" pitchFamily="18" charset="0"/>
              </a:rPr>
              <a:t>Le jeune âge de la population</a:t>
            </a:r>
          </a:p>
          <a:p>
            <a:pPr marL="434163" indent="-434163">
              <a:spcBef>
                <a:spcPts val="927"/>
              </a:spcBef>
              <a:buFont typeface="+mj-lt"/>
              <a:buAutoNum type="alphaLcParenR"/>
              <a:defRPr/>
            </a:pPr>
            <a:r>
              <a:rPr lang="fr-FR" sz="2700" dirty="0">
                <a:cs typeface="Times New Roman" pitchFamily="18" charset="0"/>
              </a:rPr>
              <a:t>la modification des schémas de consommation alimentaire</a:t>
            </a:r>
          </a:p>
          <a:p>
            <a:pPr marL="434163" indent="-434163">
              <a:spcBef>
                <a:spcPts val="927"/>
              </a:spcBef>
              <a:buFont typeface="+mj-lt"/>
              <a:buAutoNum type="alphaLcParenR"/>
              <a:defRPr/>
            </a:pPr>
            <a:r>
              <a:rPr lang="fr-FR" sz="2700" dirty="0">
                <a:cs typeface="Times New Roman" pitchFamily="18" charset="0"/>
              </a:rPr>
              <a:t>Un meilleur accès aux soins</a:t>
            </a:r>
          </a:p>
          <a:p>
            <a:pPr marL="434163" indent="-434163">
              <a:spcBef>
                <a:spcPts val="927"/>
              </a:spcBef>
              <a:buFont typeface="+mj-lt"/>
              <a:buAutoNum type="alphaLcParenR"/>
              <a:defRPr/>
            </a:pPr>
            <a:endParaRPr lang="fr-FR" dirty="0" smtClean="0">
              <a:cs typeface="Times New Roman" pitchFamily="18" charset="0"/>
            </a:endParaRPr>
          </a:p>
          <a:p>
            <a:pPr marL="434163" indent="-434163">
              <a:spcBef>
                <a:spcPts val="927"/>
              </a:spcBef>
              <a:buFont typeface="+mj-lt"/>
              <a:buAutoNum type="alphaLcParenR"/>
              <a:defRPr/>
            </a:pPr>
            <a:endParaRPr lang="fr-FR" dirty="0" smtClean="0">
              <a:cs typeface="Times New Roman" pitchFamily="18" charset="0"/>
            </a:endParaRPr>
          </a:p>
          <a:p>
            <a:pPr marL="211862" indent="-211862">
              <a:spcBef>
                <a:spcPts val="927"/>
              </a:spcBef>
              <a:buFont typeface="Arial" charset="0"/>
              <a:buChar char="•"/>
              <a:defRPr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16798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389</TotalTime>
  <Words>3867</Words>
  <Application>Microsoft Office PowerPoint</Application>
  <PresentationFormat>Personnalisé</PresentationFormat>
  <Paragraphs>610</Paragraphs>
  <Slides>86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86</vt:i4>
      </vt:variant>
    </vt:vector>
  </HeadingPairs>
  <TitlesOfParts>
    <vt:vector size="87" baseType="lpstr">
      <vt:lpstr>Thème Office</vt:lpstr>
      <vt:lpstr>Atelier de révision  épidémiologie </vt:lpstr>
      <vt:lpstr>QCM1</vt:lpstr>
      <vt:lpstr>QCM1</vt:lpstr>
      <vt:lpstr>QCM 2</vt:lpstr>
      <vt:lpstr>QCM 2</vt:lpstr>
      <vt:lpstr>QCM 3</vt:lpstr>
      <vt:lpstr>QCM 3</vt:lpstr>
      <vt:lpstr>QCM 4</vt:lpstr>
      <vt:lpstr>QCM 4</vt:lpstr>
      <vt:lpstr>QCM 5</vt:lpstr>
      <vt:lpstr>QCM 5</vt:lpstr>
      <vt:lpstr>QCM6</vt:lpstr>
      <vt:lpstr>QCM6</vt:lpstr>
      <vt:lpstr>QCM 7</vt:lpstr>
      <vt:lpstr>QCM 7</vt:lpstr>
      <vt:lpstr>QCM 8</vt:lpstr>
      <vt:lpstr>QCM 8</vt:lpstr>
      <vt:lpstr>QCM 9</vt:lpstr>
      <vt:lpstr>QCM 9</vt:lpstr>
      <vt:lpstr>QCM 10</vt:lpstr>
      <vt:lpstr>QCM 10</vt:lpstr>
      <vt:lpstr>PARTIE II</vt:lpstr>
      <vt:lpstr>QCM 11</vt:lpstr>
      <vt:lpstr>QCM 11</vt:lpstr>
      <vt:lpstr>QCM 12</vt:lpstr>
      <vt:lpstr>QCM 12</vt:lpstr>
      <vt:lpstr>QCM 13</vt:lpstr>
      <vt:lpstr>QCM 13</vt:lpstr>
      <vt:lpstr>QCM 14</vt:lpstr>
      <vt:lpstr>QCM 14</vt:lpstr>
      <vt:lpstr>QCM 15</vt:lpstr>
      <vt:lpstr>QCM 15</vt:lpstr>
      <vt:lpstr>QCM 16</vt:lpstr>
      <vt:lpstr>QCM 16</vt:lpstr>
      <vt:lpstr>QCM 17</vt:lpstr>
      <vt:lpstr>QCM 17</vt:lpstr>
      <vt:lpstr>QCM 18</vt:lpstr>
      <vt:lpstr>QCM 18</vt:lpstr>
      <vt:lpstr>QCM 19</vt:lpstr>
      <vt:lpstr>QCM 19</vt:lpstr>
      <vt:lpstr>QCM 20</vt:lpstr>
      <vt:lpstr>QCM 20</vt:lpstr>
      <vt:lpstr>QCM 21</vt:lpstr>
      <vt:lpstr>QCM 21</vt:lpstr>
      <vt:lpstr>QCM 22</vt:lpstr>
      <vt:lpstr>QCM 22</vt:lpstr>
      <vt:lpstr>PARTIE III</vt:lpstr>
      <vt:lpstr>QCM 23</vt:lpstr>
      <vt:lpstr>QCM 23</vt:lpstr>
      <vt:lpstr>QCM 24</vt:lpstr>
      <vt:lpstr>QCM 24</vt:lpstr>
      <vt:lpstr>QCM 25</vt:lpstr>
      <vt:lpstr>QCM 25</vt:lpstr>
      <vt:lpstr>QCM 26</vt:lpstr>
      <vt:lpstr>QCM 26</vt:lpstr>
      <vt:lpstr>QCM 27</vt:lpstr>
      <vt:lpstr>QCM 27</vt:lpstr>
      <vt:lpstr>QCM 28</vt:lpstr>
      <vt:lpstr>QCM 28</vt:lpstr>
      <vt:lpstr>QCM 29</vt:lpstr>
      <vt:lpstr>QCM 28</vt:lpstr>
      <vt:lpstr>QCM 29</vt:lpstr>
      <vt:lpstr>QCM 29</vt:lpstr>
      <vt:lpstr>PARTEI IV</vt:lpstr>
      <vt:lpstr>QCM 30</vt:lpstr>
      <vt:lpstr>QCM 30</vt:lpstr>
      <vt:lpstr>QCM 31</vt:lpstr>
      <vt:lpstr>QCM 31</vt:lpstr>
      <vt:lpstr>QCM 32 </vt:lpstr>
      <vt:lpstr>QCM 32 </vt:lpstr>
      <vt:lpstr>QCM 33</vt:lpstr>
      <vt:lpstr>QCM 33</vt:lpstr>
      <vt:lpstr>QCM34</vt:lpstr>
      <vt:lpstr>QCM34</vt:lpstr>
      <vt:lpstr>QCM35</vt:lpstr>
      <vt:lpstr>QCM35</vt:lpstr>
      <vt:lpstr>QCM 36</vt:lpstr>
      <vt:lpstr>QCM 36</vt:lpstr>
      <vt:lpstr>QCM37</vt:lpstr>
      <vt:lpstr>QCM37</vt:lpstr>
      <vt:lpstr>QCM 38</vt:lpstr>
      <vt:lpstr>QCM 38</vt:lpstr>
      <vt:lpstr>QCM39</vt:lpstr>
      <vt:lpstr>QCM39</vt:lpstr>
      <vt:lpstr>QCM 40</vt:lpstr>
      <vt:lpstr>QCM 40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Atelier de révision  épidémiologie </dc:title>
  <dc:creator>seven</dc:creator>
  <cp:lastModifiedBy>seven</cp:lastModifiedBy>
  <cp:revision>23</cp:revision>
  <dcterms:created xsi:type="dcterms:W3CDTF">2023-10-13T08:23:28Z</dcterms:created>
  <dcterms:modified xsi:type="dcterms:W3CDTF">2023-10-13T14:53:13Z</dcterms:modified>
</cp:coreProperties>
</file>