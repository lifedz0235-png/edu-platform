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xlsx" ContentType="application/vnd.openxmlformats-officedocument.spreadsheetml.sheet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357" r:id="rId2"/>
    <p:sldId id="389" r:id="rId3"/>
    <p:sldId id="396" r:id="rId4"/>
    <p:sldId id="344" r:id="rId5"/>
    <p:sldId id="348" r:id="rId6"/>
    <p:sldId id="345" r:id="rId7"/>
    <p:sldId id="397" r:id="rId8"/>
    <p:sldId id="293" r:id="rId9"/>
    <p:sldId id="420" r:id="rId10"/>
    <p:sldId id="292" r:id="rId11"/>
    <p:sldId id="415" r:id="rId12"/>
    <p:sldId id="300" r:id="rId13"/>
    <p:sldId id="301" r:id="rId14"/>
    <p:sldId id="299" r:id="rId15"/>
    <p:sldId id="302" r:id="rId16"/>
    <p:sldId id="258" r:id="rId17"/>
    <p:sldId id="257" r:id="rId18"/>
    <p:sldId id="383" r:id="rId19"/>
    <p:sldId id="421" r:id="rId20"/>
    <p:sldId id="422" r:id="rId21"/>
    <p:sldId id="367" r:id="rId22"/>
    <p:sldId id="425" r:id="rId23"/>
    <p:sldId id="375" r:id="rId24"/>
    <p:sldId id="343" r:id="rId25"/>
    <p:sldId id="390" r:id="rId26"/>
    <p:sldId id="260" r:id="rId27"/>
    <p:sldId id="376" r:id="rId28"/>
    <p:sldId id="398" r:id="rId29"/>
    <p:sldId id="377" r:id="rId30"/>
    <p:sldId id="261" r:id="rId31"/>
    <p:sldId id="340" r:id="rId32"/>
    <p:sldId id="341" r:id="rId33"/>
    <p:sldId id="342" r:id="rId34"/>
    <p:sldId id="399" r:id="rId35"/>
    <p:sldId id="385" r:id="rId36"/>
    <p:sldId id="303" r:id="rId37"/>
    <p:sldId id="387" r:id="rId38"/>
    <p:sldId id="263" r:id="rId39"/>
    <p:sldId id="264" r:id="rId40"/>
    <p:sldId id="265" r:id="rId41"/>
    <p:sldId id="266" r:id="rId42"/>
    <p:sldId id="416" r:id="rId43"/>
    <p:sldId id="268" r:id="rId44"/>
    <p:sldId id="304" r:id="rId45"/>
    <p:sldId id="358" r:id="rId46"/>
    <p:sldId id="400" r:id="rId47"/>
    <p:sldId id="417" r:id="rId48"/>
    <p:sldId id="423" r:id="rId49"/>
    <p:sldId id="386" r:id="rId50"/>
    <p:sldId id="276" r:id="rId51"/>
    <p:sldId id="370" r:id="rId52"/>
    <p:sldId id="305" r:id="rId53"/>
    <p:sldId id="426" r:id="rId54"/>
    <p:sldId id="306" r:id="rId55"/>
    <p:sldId id="401" r:id="rId56"/>
    <p:sldId id="424" r:id="rId57"/>
    <p:sldId id="418" r:id="rId58"/>
    <p:sldId id="402" r:id="rId59"/>
    <p:sldId id="307" r:id="rId60"/>
    <p:sldId id="371" r:id="rId61"/>
    <p:sldId id="419" r:id="rId62"/>
    <p:sldId id="277" r:id="rId63"/>
    <p:sldId id="278" r:id="rId64"/>
    <p:sldId id="279" r:id="rId6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F3FE"/>
    <a:srgbClr val="0000FF"/>
    <a:srgbClr val="00009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9" autoAdjust="0"/>
    <p:restoredTop sz="90640" autoAdjust="0"/>
  </p:normalViewPr>
  <p:slideViewPr>
    <p:cSldViewPr>
      <p:cViewPr>
        <p:scale>
          <a:sx n="60" d="100"/>
          <a:sy n="60" d="100"/>
        </p:scale>
        <p:origin x="-1146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Microsoft_Office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fr-FR"/>
  <c:chart>
    <c:autoTitleDeleted val="1"/>
    <c:view3D>
      <c:rotX val="2"/>
      <c:hPercent val="49"/>
      <c:rotY val="44"/>
      <c:depthPercent val="60"/>
      <c:rAngAx val="1"/>
    </c:view3D>
    <c:plotArea>
      <c:layout>
        <c:manualLayout>
          <c:layoutTarget val="inner"/>
          <c:xMode val="edge"/>
          <c:yMode val="edge"/>
          <c:x val="0.17869822485207146"/>
          <c:y val="0.31365935919055682"/>
          <c:w val="0.82130177514792857"/>
          <c:h val="0.48060708263069141"/>
        </c:manualLayout>
      </c:layout>
      <c:bar3DChart>
        <c:barDir val="col"/>
        <c:grouping val="clustered"/>
        <c:varyColors val="1"/>
        <c:ser>
          <c:idx val="0"/>
          <c:order val="0"/>
          <c:tx>
            <c:strRef>
              <c:f>Sheet1!$A$2</c:f>
              <c:strCache>
                <c:ptCount val="1"/>
                <c:pt idx="0">
                  <c:v>AES</c:v>
                </c:pt>
              </c:strCache>
            </c:strRef>
          </c:tx>
          <c:dLbls>
            <c:dLbl>
              <c:idx val="0"/>
              <c:layout>
                <c:manualLayout>
                  <c:x val="1.9460621385481977E-2"/>
                  <c:y val="-8.9059590453945577E-3"/>
                </c:manualLayout>
              </c:layout>
              <c:showVal val="1"/>
            </c:dLbl>
            <c:dLbl>
              <c:idx val="1"/>
              <c:layout>
                <c:manualLayout>
                  <c:x val="1.43292907646879E-2"/>
                  <c:y val="-1.2278640327013918E-2"/>
                </c:manualLayout>
              </c:layout>
              <c:showVal val="1"/>
            </c:dLbl>
            <c:dLbl>
              <c:idx val="2"/>
              <c:layout>
                <c:manualLayout>
                  <c:x val="1.3931576345533438E-2"/>
                  <c:y val="-5.4881262994780139E-3"/>
                </c:manualLayout>
              </c:layout>
              <c:showVal val="1"/>
            </c:dLbl>
            <c:dLbl>
              <c:idx val="3"/>
              <c:layout>
                <c:manualLayout>
                  <c:x val="1.1649428963060225E-2"/>
                  <c:y val="-5.3979776499190205E-3"/>
                </c:manualLayout>
              </c:layout>
              <c:showVal val="1"/>
            </c:dLbl>
            <c:dLbl>
              <c:idx val="4"/>
              <c:layout>
                <c:manualLayout>
                  <c:x val="1.1952715554561642E-2"/>
                  <c:y val="-8.8495197150222568E-3"/>
                </c:manualLayout>
              </c:layout>
              <c:showVal val="1"/>
            </c:dLbl>
            <c:dLbl>
              <c:idx val="5"/>
              <c:layout>
                <c:manualLayout>
                  <c:x val="1.1555001135407215E-2"/>
                  <c:y val="-3.7680763394820536E-3"/>
                </c:manualLayout>
              </c:layout>
              <c:showVal val="1"/>
            </c:dLbl>
            <c:dLbl>
              <c:idx val="6"/>
              <c:layout>
                <c:manualLayout>
                  <c:x val="8.0895334092825222E-3"/>
                  <c:y val="-3.5197432858431648E-3"/>
                </c:manualLayout>
              </c:layout>
              <c:showVal val="1"/>
            </c:dLbl>
            <c:dLbl>
              <c:idx val="7"/>
              <c:layout>
                <c:manualLayout>
                  <c:x val="4.1415231321398939E-3"/>
                  <c:y val="-8.7142196011650783E-3"/>
                </c:manualLayout>
              </c:layout>
              <c:showVal val="1"/>
            </c:dLbl>
            <c:dLbl>
              <c:idx val="8"/>
              <c:layout>
                <c:manualLayout>
                  <c:x val="6.1106726183105834E-3"/>
                  <c:y val="-8.6916438690162797E-3"/>
                </c:manualLayout>
              </c:layout>
              <c:showVal val="1"/>
            </c:dLbl>
            <c:dLbl>
              <c:idx val="9"/>
              <c:layout>
                <c:manualLayout>
                  <c:x val="4.5296378555049806E-3"/>
                  <c:y val="-1.9914327700765577E-3"/>
                </c:manualLayout>
              </c:layout>
              <c:showVal val="1"/>
            </c:dLbl>
            <c:dLbl>
              <c:idx val="10"/>
              <c:layout>
                <c:manualLayout>
                  <c:x val="2.9484914836877289E-3"/>
                  <c:y val="1.7197302147402597E-3"/>
                </c:manualLayout>
              </c:layout>
              <c:showVal val="1"/>
            </c:dLbl>
            <c:dLbl>
              <c:idx val="11"/>
              <c:layout>
                <c:manualLayout>
                  <c:x val="3.7342090171959652E-3"/>
                  <c:y val="-5.0256323484974491E-3"/>
                </c:manualLayout>
              </c:layout>
              <c:showVal val="1"/>
            </c:dLbl>
            <c:dLbl>
              <c:idx val="12"/>
              <c:layout>
                <c:manualLayout>
                  <c:x val="9.6963069271569489E-4"/>
                  <c:y val="-3.1927037277565662E-3"/>
                </c:manualLayout>
              </c:layout>
              <c:showVal val="1"/>
            </c:dLbl>
            <c:dLbl>
              <c:idx val="13"/>
              <c:layout>
                <c:manualLayout>
                  <c:x val="-4.1618115370894819E-3"/>
                  <c:y val="-1.1567967601431301E-2"/>
                </c:manualLayout>
              </c:layout>
              <c:showVal val="1"/>
            </c:dLbl>
            <c:dLbl>
              <c:idx val="14"/>
              <c:layout>
                <c:manualLayout>
                  <c:x val="-1.0091184892445841E-3"/>
                  <c:y val="-9.859051228472835E-3"/>
                </c:manualLayout>
              </c:layout>
              <c:showVal val="1"/>
            </c:dLbl>
            <c:showVal val="1"/>
          </c:dLbls>
          <c:cat>
            <c:numRef>
              <c:f>Sheet1!$B$1:$P$1</c:f>
              <c:numCache>
                <c:formatCode>General</c:formatCode>
                <c:ptCount val="1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</c:numCache>
            </c:numRef>
          </c:cat>
          <c:val>
            <c:numRef>
              <c:f>Sheet1!$B$2:$P$2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6</c:v>
                </c:pt>
                <c:pt idx="3">
                  <c:v>14</c:v>
                </c:pt>
                <c:pt idx="4">
                  <c:v>7</c:v>
                </c:pt>
                <c:pt idx="5">
                  <c:v>9</c:v>
                </c:pt>
                <c:pt idx="6">
                  <c:v>31</c:v>
                </c:pt>
                <c:pt idx="7">
                  <c:v>19</c:v>
                </c:pt>
                <c:pt idx="8">
                  <c:v>21</c:v>
                </c:pt>
                <c:pt idx="9">
                  <c:v>17</c:v>
                </c:pt>
                <c:pt idx="10">
                  <c:v>47</c:v>
                </c:pt>
                <c:pt idx="11">
                  <c:v>47</c:v>
                </c:pt>
                <c:pt idx="12">
                  <c:v>60</c:v>
                </c:pt>
                <c:pt idx="13">
                  <c:v>65</c:v>
                </c:pt>
                <c:pt idx="14">
                  <c:v>67</c:v>
                </c:pt>
              </c:numCache>
            </c:numRef>
          </c:val>
        </c:ser>
        <c:gapDepth val="0"/>
        <c:shape val="box"/>
        <c:axId val="187432960"/>
        <c:axId val="187434880"/>
        <c:axId val="0"/>
      </c:bar3DChart>
      <c:catAx>
        <c:axId val="18743296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fr-FR"/>
                  <a:t>Années</a:t>
                </a:r>
              </a:p>
            </c:rich>
          </c:tx>
          <c:layout>
            <c:manualLayout>
              <c:xMode val="edge"/>
              <c:yMode val="edge"/>
              <c:x val="0.53727810650887786"/>
              <c:y val="0.90725126475548068"/>
            </c:manualLayout>
          </c:layout>
        </c:title>
        <c:numFmt formatCode="General" sourceLinked="1"/>
        <c:tickLblPos val="low"/>
        <c:txPr>
          <a:bodyPr rot="-4020000" vert="horz"/>
          <a:lstStyle/>
          <a:p>
            <a:pPr>
              <a:defRPr/>
            </a:pPr>
            <a:endParaRPr lang="fr-FR"/>
          </a:p>
        </c:txPr>
        <c:crossAx val="187434880"/>
        <c:crosses val="autoZero"/>
        <c:auto val="1"/>
        <c:lblAlgn val="ctr"/>
        <c:lblOffset val="100"/>
        <c:tickLblSkip val="1"/>
        <c:tickMarkSkip val="1"/>
      </c:catAx>
      <c:valAx>
        <c:axId val="187434880"/>
        <c:scaling>
          <c:orientation val="minMax"/>
        </c:scaling>
        <c:axPos val="l"/>
        <c:majorGridlines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fr-FR"/>
                  <a:t>Fréquence</a:t>
                </a:r>
              </a:p>
            </c:rich>
          </c:tx>
          <c:layout>
            <c:manualLayout>
              <c:xMode val="edge"/>
              <c:yMode val="edge"/>
              <c:x val="8.9940828402367043E-2"/>
              <c:y val="0.1686340640809445"/>
            </c:manualLayout>
          </c:layout>
        </c:title>
        <c:numFmt formatCode="General" sourceLinked="1"/>
        <c:tickLblPos val="nextTo"/>
        <c:txPr>
          <a:bodyPr rot="0" vert="horz"/>
          <a:lstStyle/>
          <a:p>
            <a:pPr>
              <a:defRPr/>
            </a:pPr>
            <a:endParaRPr lang="fr-FR"/>
          </a:p>
        </c:txPr>
        <c:crossAx val="187432960"/>
        <c:crosses val="autoZero"/>
        <c:crossBetween val="between"/>
      </c:valAx>
    </c:plotArea>
    <c:plotVisOnly val="1"/>
    <c:dispBlanksAs val="gap"/>
  </c:chart>
  <c:txPr>
    <a:bodyPr/>
    <a:lstStyle/>
    <a:p>
      <a:pPr>
        <a:defRPr sz="1800"/>
      </a:pPr>
      <a:endParaRPr lang="fr-FR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3B5077-9876-431A-B7E1-642C1C426583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94C8FFC1-65C1-4A61-8B84-682DF6F0E96A}">
      <dgm:prSet phldrT="[Texte]" custT="1"/>
      <dgm:spPr/>
      <dgm:t>
        <a:bodyPr/>
        <a:lstStyle/>
        <a:p>
          <a:r>
            <a:rPr lang="fr-FR" sz="2400" b="1" u="sng" smtClean="0"/>
            <a:t>immédiatement </a:t>
          </a:r>
          <a:endParaRPr lang="fr-FR" sz="2400" dirty="0"/>
        </a:p>
      </dgm:t>
    </dgm:pt>
    <dgm:pt modelId="{D846E0ED-78A4-400B-BD61-A9EDEE962A14}" type="parTrans" cxnId="{AF5FD1A1-9EB9-43B6-B240-4FEEEE5A56D2}">
      <dgm:prSet/>
      <dgm:spPr/>
      <dgm:t>
        <a:bodyPr/>
        <a:lstStyle/>
        <a:p>
          <a:endParaRPr lang="fr-FR"/>
        </a:p>
      </dgm:t>
    </dgm:pt>
    <dgm:pt modelId="{2E6EC88F-96DC-4090-94F5-9BD1C99D242D}" type="sibTrans" cxnId="{AF5FD1A1-9EB9-43B6-B240-4FEEEE5A56D2}">
      <dgm:prSet/>
      <dgm:spPr/>
      <dgm:t>
        <a:bodyPr/>
        <a:lstStyle/>
        <a:p>
          <a:endParaRPr lang="fr-FR"/>
        </a:p>
      </dgm:t>
    </dgm:pt>
    <dgm:pt modelId="{094F209F-4282-4899-B7BB-1A4CF8CBB1FA}">
      <dgm:prSet phldrT="[Texte]" custT="1"/>
      <dgm:spPr/>
      <dgm:t>
        <a:bodyPr/>
        <a:lstStyle/>
        <a:p>
          <a:pPr>
            <a:spcAft>
              <a:spcPts val="0"/>
            </a:spcAft>
          </a:pPr>
          <a:r>
            <a:rPr lang="fr-FR" sz="3200" b="1" dirty="0" smtClean="0"/>
            <a:t>par </a:t>
          </a:r>
          <a:r>
            <a:rPr lang="fr-FR" sz="3200" b="1" i="1" dirty="0" smtClean="0"/>
            <a:t>la victime</a:t>
          </a:r>
        </a:p>
        <a:p>
          <a:pPr>
            <a:spcAft>
              <a:spcPts val="0"/>
            </a:spcAft>
          </a:pPr>
          <a:r>
            <a:rPr lang="fr-FR" sz="2000" dirty="0" smtClean="0"/>
            <a:t>ou ses représentants</a:t>
          </a:r>
          <a:endParaRPr lang="fr-FR" sz="2000" dirty="0"/>
        </a:p>
      </dgm:t>
    </dgm:pt>
    <dgm:pt modelId="{E0E7A7AB-4DDC-4821-AE09-64DFE1475763}" type="parTrans" cxnId="{8601700A-5253-4646-969B-504D702E85BF}">
      <dgm:prSet/>
      <dgm:spPr/>
      <dgm:t>
        <a:bodyPr/>
        <a:lstStyle/>
        <a:p>
          <a:endParaRPr lang="fr-FR"/>
        </a:p>
      </dgm:t>
    </dgm:pt>
    <dgm:pt modelId="{559914F6-53E5-4532-A8CB-84F5081980B4}" type="sibTrans" cxnId="{8601700A-5253-4646-969B-504D702E85BF}">
      <dgm:prSet/>
      <dgm:spPr/>
      <dgm:t>
        <a:bodyPr/>
        <a:lstStyle/>
        <a:p>
          <a:endParaRPr lang="fr-FR"/>
        </a:p>
      </dgm:t>
    </dgm:pt>
    <dgm:pt modelId="{FACADBDA-C0F6-4DE6-8828-4A13D6FBAD74}">
      <dgm:prSet phldrT="[Texte]" custT="1"/>
      <dgm:spPr/>
      <dgm:t>
        <a:bodyPr/>
        <a:lstStyle/>
        <a:p>
          <a:r>
            <a:rPr lang="fr-FR" sz="2800" dirty="0" smtClean="0"/>
            <a:t>dans les </a:t>
          </a:r>
          <a:r>
            <a:rPr lang="fr-FR" sz="2800" b="1" dirty="0" smtClean="0"/>
            <a:t>24</a:t>
          </a:r>
          <a:r>
            <a:rPr lang="fr-FR" sz="2800" dirty="0" smtClean="0"/>
            <a:t> heures</a:t>
          </a:r>
          <a:r>
            <a:rPr lang="fr-FR" sz="1400" dirty="0" smtClean="0"/>
            <a:t>,                                     sauf cas de force majeure, JNO-NC;</a:t>
          </a:r>
          <a:endParaRPr lang="fr-FR" sz="1400" dirty="0"/>
        </a:p>
      </dgm:t>
    </dgm:pt>
    <dgm:pt modelId="{0D074FEB-60E0-4D16-9339-CAD5A6E63085}" type="parTrans" cxnId="{862F0E4F-AF73-48FA-9B57-6B1805942204}">
      <dgm:prSet/>
      <dgm:spPr/>
      <dgm:t>
        <a:bodyPr/>
        <a:lstStyle/>
        <a:p>
          <a:endParaRPr lang="fr-FR"/>
        </a:p>
      </dgm:t>
    </dgm:pt>
    <dgm:pt modelId="{470EA3E0-F23A-4030-9EC4-9EE49B7098DC}" type="sibTrans" cxnId="{862F0E4F-AF73-48FA-9B57-6B1805942204}">
      <dgm:prSet/>
      <dgm:spPr/>
      <dgm:t>
        <a:bodyPr/>
        <a:lstStyle/>
        <a:p>
          <a:endParaRPr lang="fr-FR"/>
        </a:p>
      </dgm:t>
    </dgm:pt>
    <dgm:pt modelId="{DF1CC683-2C97-4DB3-8C3C-F0EF961775CE}">
      <dgm:prSet phldrT="[Texte]" custT="1"/>
      <dgm:spPr/>
      <dgm:t>
        <a:bodyPr/>
        <a:lstStyle/>
        <a:p>
          <a:r>
            <a:rPr lang="fr-FR" sz="2800" b="1" i="0" dirty="0" smtClean="0"/>
            <a:t>Par l'employeur, </a:t>
          </a:r>
          <a:r>
            <a:rPr lang="fr-FR" sz="1600" dirty="0" smtClean="0"/>
            <a:t> </a:t>
          </a:r>
          <a:r>
            <a:rPr lang="fr-FR" sz="1800" dirty="0" smtClean="0"/>
            <a:t>à compter de la date où il en a eu connaissance</a:t>
          </a:r>
          <a:endParaRPr lang="fr-FR" sz="1600" dirty="0"/>
        </a:p>
      </dgm:t>
    </dgm:pt>
    <dgm:pt modelId="{CDD7FD70-DFEE-4AAC-A901-4CE164E2BB45}" type="parTrans" cxnId="{4EA03729-C66B-4936-9E2C-6736F37CCCDB}">
      <dgm:prSet/>
      <dgm:spPr/>
      <dgm:t>
        <a:bodyPr/>
        <a:lstStyle/>
        <a:p>
          <a:endParaRPr lang="fr-FR"/>
        </a:p>
      </dgm:t>
    </dgm:pt>
    <dgm:pt modelId="{EAE4E6AA-4CFB-41FE-8EDE-4B43313E9215}" type="sibTrans" cxnId="{4EA03729-C66B-4936-9E2C-6736F37CCCDB}">
      <dgm:prSet/>
      <dgm:spPr/>
      <dgm:t>
        <a:bodyPr/>
        <a:lstStyle/>
        <a:p>
          <a:endParaRPr lang="fr-FR"/>
        </a:p>
      </dgm:t>
    </dgm:pt>
    <dgm:pt modelId="{1CFE1301-B175-454C-B7BA-476187D0EE9F}">
      <dgm:prSet phldrT="[Texte]" custT="1"/>
      <dgm:spPr/>
      <dgm:t>
        <a:bodyPr/>
        <a:lstStyle/>
        <a:p>
          <a:r>
            <a:rPr lang="fr-FR" sz="3200" dirty="0" smtClean="0"/>
            <a:t>à l'organisme de </a:t>
          </a:r>
          <a:r>
            <a:rPr lang="fr-FR" sz="3200" b="1" dirty="0" smtClean="0"/>
            <a:t>S.S</a:t>
          </a:r>
          <a:r>
            <a:rPr lang="fr-FR" sz="3200" dirty="0" smtClean="0"/>
            <a:t>, dans les </a:t>
          </a:r>
          <a:r>
            <a:rPr lang="fr-FR" sz="3200" b="1" dirty="0" smtClean="0"/>
            <a:t>48</a:t>
          </a:r>
          <a:r>
            <a:rPr lang="fr-FR" sz="3200" dirty="0" smtClean="0"/>
            <a:t> heures, </a:t>
          </a:r>
          <a:r>
            <a:rPr lang="fr-FR" sz="2000" dirty="0" smtClean="0"/>
            <a:t>JNO-NC; </a:t>
          </a:r>
          <a:endParaRPr lang="fr-FR" sz="2000" dirty="0"/>
        </a:p>
      </dgm:t>
    </dgm:pt>
    <dgm:pt modelId="{51453609-65A9-42C1-8B2D-6EA9744318FB}" type="parTrans" cxnId="{C972A37B-08BB-49A9-B15E-CB0CE4A46BB7}">
      <dgm:prSet/>
      <dgm:spPr/>
      <dgm:t>
        <a:bodyPr/>
        <a:lstStyle/>
        <a:p>
          <a:endParaRPr lang="fr-FR"/>
        </a:p>
      </dgm:t>
    </dgm:pt>
    <dgm:pt modelId="{EF6D3339-134C-4585-B777-BCE1B578E666}" type="sibTrans" cxnId="{C972A37B-08BB-49A9-B15E-CB0CE4A46BB7}">
      <dgm:prSet/>
      <dgm:spPr/>
      <dgm:t>
        <a:bodyPr/>
        <a:lstStyle/>
        <a:p>
          <a:endParaRPr lang="fr-FR"/>
        </a:p>
      </dgm:t>
    </dgm:pt>
    <dgm:pt modelId="{0E59A8BE-915E-4EAF-9E44-4E52E7E0EBFF}">
      <dgm:prSet phldrT="[Texte]" custT="1"/>
      <dgm:spPr/>
      <dgm:t>
        <a:bodyPr/>
        <a:lstStyle/>
        <a:p>
          <a:r>
            <a:rPr lang="fr-FR" sz="2800" b="1" dirty="0" smtClean="0"/>
            <a:t>à l'inspecteur du travail </a:t>
          </a:r>
          <a:r>
            <a:rPr lang="fr-FR" sz="1500" dirty="0" smtClean="0"/>
            <a:t>dont relève l'entreprise </a:t>
          </a:r>
          <a:endParaRPr lang="fr-FR" sz="1500" dirty="0"/>
        </a:p>
      </dgm:t>
    </dgm:pt>
    <dgm:pt modelId="{CBC24B43-589C-403F-9C21-9D07BE4385B0}" type="parTrans" cxnId="{D4045014-40FD-4DCA-9F7E-A4642D92FC38}">
      <dgm:prSet/>
      <dgm:spPr/>
      <dgm:t>
        <a:bodyPr/>
        <a:lstStyle/>
        <a:p>
          <a:endParaRPr lang="fr-FR"/>
        </a:p>
      </dgm:t>
    </dgm:pt>
    <dgm:pt modelId="{AF96FF74-69CE-49C0-9815-CC36BE42F754}" type="sibTrans" cxnId="{D4045014-40FD-4DCA-9F7E-A4642D92FC38}">
      <dgm:prSet/>
      <dgm:spPr/>
      <dgm:t>
        <a:bodyPr/>
        <a:lstStyle/>
        <a:p>
          <a:endParaRPr lang="fr-FR"/>
        </a:p>
      </dgm:t>
    </dgm:pt>
    <dgm:pt modelId="{A22D8CA2-A832-434F-A1CE-338623C92D1F}">
      <dgm:prSet/>
      <dgm:spPr/>
      <dgm:t>
        <a:bodyPr/>
        <a:lstStyle/>
        <a:p>
          <a:endParaRPr lang="fr-FR" sz="1100" dirty="0"/>
        </a:p>
      </dgm:t>
    </dgm:pt>
    <dgm:pt modelId="{6106F310-78D0-49A3-99F7-1F04FAF77F37}" type="parTrans" cxnId="{00840E0B-691C-4F9F-97F1-F3E9B28812A5}">
      <dgm:prSet/>
      <dgm:spPr/>
      <dgm:t>
        <a:bodyPr/>
        <a:lstStyle/>
        <a:p>
          <a:endParaRPr lang="fr-FR"/>
        </a:p>
      </dgm:t>
    </dgm:pt>
    <dgm:pt modelId="{4780366A-E0EE-43C5-9654-AEF1680C7350}" type="sibTrans" cxnId="{00840E0B-691C-4F9F-97F1-F3E9B28812A5}">
      <dgm:prSet/>
      <dgm:spPr/>
      <dgm:t>
        <a:bodyPr/>
        <a:lstStyle/>
        <a:p>
          <a:endParaRPr lang="fr-FR"/>
        </a:p>
      </dgm:t>
    </dgm:pt>
    <dgm:pt modelId="{A85BF58F-A97C-4E83-A9D9-803953A11892}">
      <dgm:prSet custT="1"/>
      <dgm:spPr/>
      <dgm:t>
        <a:bodyPr/>
        <a:lstStyle/>
        <a:p>
          <a:r>
            <a:rPr lang="fr-FR" sz="2400" dirty="0" smtClean="0"/>
            <a:t>ou au fonctionnaire qui en exerce les attributions.</a:t>
          </a:r>
        </a:p>
      </dgm:t>
    </dgm:pt>
    <dgm:pt modelId="{3E83AAA2-7715-49E3-8D53-55DFA6EB9512}" type="parTrans" cxnId="{7F4DE18E-4935-417F-9203-30399F096067}">
      <dgm:prSet/>
      <dgm:spPr/>
      <dgm:t>
        <a:bodyPr/>
        <a:lstStyle/>
        <a:p>
          <a:endParaRPr lang="fr-FR"/>
        </a:p>
      </dgm:t>
    </dgm:pt>
    <dgm:pt modelId="{DEBDB1DE-B5B0-4751-9DE4-A908228DE44A}" type="sibTrans" cxnId="{7F4DE18E-4935-417F-9203-30399F096067}">
      <dgm:prSet/>
      <dgm:spPr/>
      <dgm:t>
        <a:bodyPr/>
        <a:lstStyle/>
        <a:p>
          <a:endParaRPr lang="fr-FR"/>
        </a:p>
      </dgm:t>
    </dgm:pt>
    <dgm:pt modelId="{25B566AF-2CF0-4169-AA0B-12A2BE13F067}" type="pres">
      <dgm:prSet presAssocID="{F13B5077-9876-431A-B7E1-642C1C42658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A54F7A11-1A0A-41D9-A80F-650C8A681901}" type="pres">
      <dgm:prSet presAssocID="{0E59A8BE-915E-4EAF-9E44-4E52E7E0EBFF}" presName="boxAndChildren" presStyleCnt="0"/>
      <dgm:spPr/>
    </dgm:pt>
    <dgm:pt modelId="{4B146ABC-E594-4FD7-B8B3-59342901BE75}" type="pres">
      <dgm:prSet presAssocID="{0E59A8BE-915E-4EAF-9E44-4E52E7E0EBFF}" presName="parentTextBox" presStyleLbl="node1" presStyleIdx="0" presStyleCnt="3"/>
      <dgm:spPr/>
      <dgm:t>
        <a:bodyPr/>
        <a:lstStyle/>
        <a:p>
          <a:endParaRPr lang="fr-FR"/>
        </a:p>
      </dgm:t>
    </dgm:pt>
    <dgm:pt modelId="{47725823-6656-42D2-AE63-D29514A049CC}" type="pres">
      <dgm:prSet presAssocID="{0E59A8BE-915E-4EAF-9E44-4E52E7E0EBFF}" presName="entireBox" presStyleLbl="node1" presStyleIdx="0" presStyleCnt="3" custLinFactNeighborX="0" custLinFactNeighborY="-8898"/>
      <dgm:spPr/>
      <dgm:t>
        <a:bodyPr/>
        <a:lstStyle/>
        <a:p>
          <a:endParaRPr lang="fr-FR"/>
        </a:p>
      </dgm:t>
    </dgm:pt>
    <dgm:pt modelId="{2C4A79C4-48D7-485F-BA9F-1C6AA505E124}" type="pres">
      <dgm:prSet presAssocID="{0E59A8BE-915E-4EAF-9E44-4E52E7E0EBFF}" presName="descendantBox" presStyleCnt="0"/>
      <dgm:spPr/>
    </dgm:pt>
    <dgm:pt modelId="{F7772B60-B437-4E3C-9EEB-AE0BC29C51B0}" type="pres">
      <dgm:prSet presAssocID="{A85BF58F-A97C-4E83-A9D9-803953A11892}" presName="childTextBox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BF33F4-A8BD-4C97-97DD-473C48CBD053}" type="pres">
      <dgm:prSet presAssocID="{EAE4E6AA-4CFB-41FE-8EDE-4B43313E9215}" presName="sp" presStyleCnt="0"/>
      <dgm:spPr/>
    </dgm:pt>
    <dgm:pt modelId="{435A34F0-6FB7-4409-9510-42970EE4CB83}" type="pres">
      <dgm:prSet presAssocID="{DF1CC683-2C97-4DB3-8C3C-F0EF961775CE}" presName="arrowAndChildren" presStyleCnt="0"/>
      <dgm:spPr/>
    </dgm:pt>
    <dgm:pt modelId="{67DA4847-E0AF-40DB-BB7C-A66F2A0C887E}" type="pres">
      <dgm:prSet presAssocID="{DF1CC683-2C97-4DB3-8C3C-F0EF961775CE}" presName="parentTextArrow" presStyleLbl="node1" presStyleIdx="0" presStyleCnt="3"/>
      <dgm:spPr/>
      <dgm:t>
        <a:bodyPr/>
        <a:lstStyle/>
        <a:p>
          <a:endParaRPr lang="fr-FR"/>
        </a:p>
      </dgm:t>
    </dgm:pt>
    <dgm:pt modelId="{63D250CD-A811-4384-8BAD-906C9FE02C89}" type="pres">
      <dgm:prSet presAssocID="{DF1CC683-2C97-4DB3-8C3C-F0EF961775CE}" presName="arrow" presStyleLbl="node1" presStyleIdx="1" presStyleCnt="3" custLinFactNeighborX="-749" custLinFactNeighborY="3077"/>
      <dgm:spPr/>
      <dgm:t>
        <a:bodyPr/>
        <a:lstStyle/>
        <a:p>
          <a:endParaRPr lang="fr-FR"/>
        </a:p>
      </dgm:t>
    </dgm:pt>
    <dgm:pt modelId="{CD5E6713-805C-4E49-997E-5161E621406B}" type="pres">
      <dgm:prSet presAssocID="{DF1CC683-2C97-4DB3-8C3C-F0EF961775CE}" presName="descendantArrow" presStyleCnt="0"/>
      <dgm:spPr/>
    </dgm:pt>
    <dgm:pt modelId="{4E165025-2D5C-46CD-83B5-8BABF94DECC9}" type="pres">
      <dgm:prSet presAssocID="{1CFE1301-B175-454C-B7BA-476187D0EE9F}" presName="childTextArrow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4F87CF9-2992-4E47-93AC-B99352AF197E}" type="pres">
      <dgm:prSet presAssocID="{2E6EC88F-96DC-4090-94F5-9BD1C99D242D}" presName="sp" presStyleCnt="0"/>
      <dgm:spPr/>
    </dgm:pt>
    <dgm:pt modelId="{AE1BDF47-A952-491D-927C-423589B6C31C}" type="pres">
      <dgm:prSet presAssocID="{94C8FFC1-65C1-4A61-8B84-682DF6F0E96A}" presName="arrowAndChildren" presStyleCnt="0"/>
      <dgm:spPr/>
    </dgm:pt>
    <dgm:pt modelId="{AC621E72-7176-41D3-ADA8-45607534388E}" type="pres">
      <dgm:prSet presAssocID="{94C8FFC1-65C1-4A61-8B84-682DF6F0E96A}" presName="parentTextArrow" presStyleLbl="node1" presStyleIdx="1" presStyleCnt="3"/>
      <dgm:spPr/>
      <dgm:t>
        <a:bodyPr/>
        <a:lstStyle/>
        <a:p>
          <a:endParaRPr lang="fr-FR"/>
        </a:p>
      </dgm:t>
    </dgm:pt>
    <dgm:pt modelId="{63902E87-107A-4EDE-B3A6-A98DDB7A483F}" type="pres">
      <dgm:prSet presAssocID="{94C8FFC1-65C1-4A61-8B84-682DF6F0E96A}" presName="arrow" presStyleLbl="node1" presStyleIdx="2" presStyleCnt="3"/>
      <dgm:spPr/>
      <dgm:t>
        <a:bodyPr/>
        <a:lstStyle/>
        <a:p>
          <a:endParaRPr lang="fr-FR"/>
        </a:p>
      </dgm:t>
    </dgm:pt>
    <dgm:pt modelId="{991F907D-AD97-4921-903F-654CD063ECFB}" type="pres">
      <dgm:prSet presAssocID="{94C8FFC1-65C1-4A61-8B84-682DF6F0E96A}" presName="descendantArrow" presStyleCnt="0"/>
      <dgm:spPr/>
    </dgm:pt>
    <dgm:pt modelId="{D447F6D0-E1EE-4849-B058-867EE8BF5228}" type="pres">
      <dgm:prSet presAssocID="{094F209F-4282-4899-B7BB-1A4CF8CBB1FA}" presName="childTextArrow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6F9F8D3-606D-46FF-8B84-B60413E65BBA}" type="pres">
      <dgm:prSet presAssocID="{FACADBDA-C0F6-4DE6-8828-4A13D6FBAD74}" presName="childTextArrow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ECA8B79-2B4E-4947-9296-1DEC8C1783AA}" type="presOf" srcId="{0E59A8BE-915E-4EAF-9E44-4E52E7E0EBFF}" destId="{47725823-6656-42D2-AE63-D29514A049CC}" srcOrd="1" destOrd="0" presId="urn:microsoft.com/office/officeart/2005/8/layout/process4"/>
    <dgm:cxn modelId="{F0DA2142-1AC5-47ED-893D-A9F1FB3E7E0B}" type="presOf" srcId="{94C8FFC1-65C1-4A61-8B84-682DF6F0E96A}" destId="{AC621E72-7176-41D3-ADA8-45607534388E}" srcOrd="0" destOrd="0" presId="urn:microsoft.com/office/officeart/2005/8/layout/process4"/>
    <dgm:cxn modelId="{DB41DCB5-3BC3-461E-B6D2-CF41194C7CF9}" type="presOf" srcId="{DF1CC683-2C97-4DB3-8C3C-F0EF961775CE}" destId="{63D250CD-A811-4384-8BAD-906C9FE02C89}" srcOrd="1" destOrd="0" presId="urn:microsoft.com/office/officeart/2005/8/layout/process4"/>
    <dgm:cxn modelId="{4EA03729-C66B-4936-9E2C-6736F37CCCDB}" srcId="{F13B5077-9876-431A-B7E1-642C1C426583}" destId="{DF1CC683-2C97-4DB3-8C3C-F0EF961775CE}" srcOrd="1" destOrd="0" parTransId="{CDD7FD70-DFEE-4AAC-A901-4CE164E2BB45}" sibTransId="{EAE4E6AA-4CFB-41FE-8EDE-4B43313E9215}"/>
    <dgm:cxn modelId="{E8F42A32-A61B-4401-AE9A-4E3AD1ACABD5}" type="presOf" srcId="{1CFE1301-B175-454C-B7BA-476187D0EE9F}" destId="{4E165025-2D5C-46CD-83B5-8BABF94DECC9}" srcOrd="0" destOrd="0" presId="urn:microsoft.com/office/officeart/2005/8/layout/process4"/>
    <dgm:cxn modelId="{C972A37B-08BB-49A9-B15E-CB0CE4A46BB7}" srcId="{DF1CC683-2C97-4DB3-8C3C-F0EF961775CE}" destId="{1CFE1301-B175-454C-B7BA-476187D0EE9F}" srcOrd="0" destOrd="0" parTransId="{51453609-65A9-42C1-8B2D-6EA9744318FB}" sibTransId="{EF6D3339-134C-4585-B777-BCE1B578E666}"/>
    <dgm:cxn modelId="{0D67B07D-1F7D-4FD4-A4C5-267AB7C1F0AA}" type="presOf" srcId="{F13B5077-9876-431A-B7E1-642C1C426583}" destId="{25B566AF-2CF0-4169-AA0B-12A2BE13F067}" srcOrd="0" destOrd="0" presId="urn:microsoft.com/office/officeart/2005/8/layout/process4"/>
    <dgm:cxn modelId="{862F0E4F-AF73-48FA-9B57-6B1805942204}" srcId="{94C8FFC1-65C1-4A61-8B84-682DF6F0E96A}" destId="{FACADBDA-C0F6-4DE6-8828-4A13D6FBAD74}" srcOrd="1" destOrd="0" parTransId="{0D074FEB-60E0-4D16-9339-CAD5A6E63085}" sibTransId="{470EA3E0-F23A-4030-9EC4-9EE49B7098DC}"/>
    <dgm:cxn modelId="{8601700A-5253-4646-969B-504D702E85BF}" srcId="{94C8FFC1-65C1-4A61-8B84-682DF6F0E96A}" destId="{094F209F-4282-4899-B7BB-1A4CF8CBB1FA}" srcOrd="0" destOrd="0" parTransId="{E0E7A7AB-4DDC-4821-AE09-64DFE1475763}" sibTransId="{559914F6-53E5-4532-A8CB-84F5081980B4}"/>
    <dgm:cxn modelId="{16C904B9-69A3-409A-83A2-ABCBF1F64DE3}" type="presOf" srcId="{FACADBDA-C0F6-4DE6-8828-4A13D6FBAD74}" destId="{A6F9F8D3-606D-46FF-8B84-B60413E65BBA}" srcOrd="0" destOrd="0" presId="urn:microsoft.com/office/officeart/2005/8/layout/process4"/>
    <dgm:cxn modelId="{FF56EC43-F1A0-41DA-9D49-046D06D75A6D}" type="presOf" srcId="{DF1CC683-2C97-4DB3-8C3C-F0EF961775CE}" destId="{67DA4847-E0AF-40DB-BB7C-A66F2A0C887E}" srcOrd="0" destOrd="0" presId="urn:microsoft.com/office/officeart/2005/8/layout/process4"/>
    <dgm:cxn modelId="{D4045014-40FD-4DCA-9F7E-A4642D92FC38}" srcId="{F13B5077-9876-431A-B7E1-642C1C426583}" destId="{0E59A8BE-915E-4EAF-9E44-4E52E7E0EBFF}" srcOrd="2" destOrd="0" parTransId="{CBC24B43-589C-403F-9C21-9D07BE4385B0}" sibTransId="{AF96FF74-69CE-49C0-9815-CC36BE42F754}"/>
    <dgm:cxn modelId="{CEF8668E-14E3-426C-AD52-7B75D1353BAB}" type="presOf" srcId="{094F209F-4282-4899-B7BB-1A4CF8CBB1FA}" destId="{D447F6D0-E1EE-4849-B058-867EE8BF5228}" srcOrd="0" destOrd="0" presId="urn:microsoft.com/office/officeart/2005/8/layout/process4"/>
    <dgm:cxn modelId="{00840E0B-691C-4F9F-97F1-F3E9B28812A5}" srcId="{FACADBDA-C0F6-4DE6-8828-4A13D6FBAD74}" destId="{A22D8CA2-A832-434F-A1CE-338623C92D1F}" srcOrd="0" destOrd="0" parTransId="{6106F310-78D0-49A3-99F7-1F04FAF77F37}" sibTransId="{4780366A-E0EE-43C5-9654-AEF1680C7350}"/>
    <dgm:cxn modelId="{FF185B8D-EC3E-4844-A431-719983E77C70}" type="presOf" srcId="{A85BF58F-A97C-4E83-A9D9-803953A11892}" destId="{F7772B60-B437-4E3C-9EEB-AE0BC29C51B0}" srcOrd="0" destOrd="0" presId="urn:microsoft.com/office/officeart/2005/8/layout/process4"/>
    <dgm:cxn modelId="{A9F0997E-69AA-4F46-B054-1FF9246EE476}" type="presOf" srcId="{94C8FFC1-65C1-4A61-8B84-682DF6F0E96A}" destId="{63902E87-107A-4EDE-B3A6-A98DDB7A483F}" srcOrd="1" destOrd="0" presId="urn:microsoft.com/office/officeart/2005/8/layout/process4"/>
    <dgm:cxn modelId="{7F4DE18E-4935-417F-9203-30399F096067}" srcId="{0E59A8BE-915E-4EAF-9E44-4E52E7E0EBFF}" destId="{A85BF58F-A97C-4E83-A9D9-803953A11892}" srcOrd="0" destOrd="0" parTransId="{3E83AAA2-7715-49E3-8D53-55DFA6EB9512}" sibTransId="{DEBDB1DE-B5B0-4751-9DE4-A908228DE44A}"/>
    <dgm:cxn modelId="{7DBD5AFE-9978-4A44-A4BC-7F9D91568047}" type="presOf" srcId="{0E59A8BE-915E-4EAF-9E44-4E52E7E0EBFF}" destId="{4B146ABC-E594-4FD7-B8B3-59342901BE75}" srcOrd="0" destOrd="0" presId="urn:microsoft.com/office/officeart/2005/8/layout/process4"/>
    <dgm:cxn modelId="{AF5FD1A1-9EB9-43B6-B240-4FEEEE5A56D2}" srcId="{F13B5077-9876-431A-B7E1-642C1C426583}" destId="{94C8FFC1-65C1-4A61-8B84-682DF6F0E96A}" srcOrd="0" destOrd="0" parTransId="{D846E0ED-78A4-400B-BD61-A9EDEE962A14}" sibTransId="{2E6EC88F-96DC-4090-94F5-9BD1C99D242D}"/>
    <dgm:cxn modelId="{7841E079-FB1A-4AF7-BB48-6AEE49BEE201}" type="presOf" srcId="{A22D8CA2-A832-434F-A1CE-338623C92D1F}" destId="{A6F9F8D3-606D-46FF-8B84-B60413E65BBA}" srcOrd="0" destOrd="1" presId="urn:microsoft.com/office/officeart/2005/8/layout/process4"/>
    <dgm:cxn modelId="{D820B12B-6595-43D2-A171-5561ECEB0BA9}" type="presParOf" srcId="{25B566AF-2CF0-4169-AA0B-12A2BE13F067}" destId="{A54F7A11-1A0A-41D9-A80F-650C8A681901}" srcOrd="0" destOrd="0" presId="urn:microsoft.com/office/officeart/2005/8/layout/process4"/>
    <dgm:cxn modelId="{4585B339-1FBC-4132-93A1-5D1B2FFE21A0}" type="presParOf" srcId="{A54F7A11-1A0A-41D9-A80F-650C8A681901}" destId="{4B146ABC-E594-4FD7-B8B3-59342901BE75}" srcOrd="0" destOrd="0" presId="urn:microsoft.com/office/officeart/2005/8/layout/process4"/>
    <dgm:cxn modelId="{8BBB05C9-B126-4678-AB6A-AB3E6059719C}" type="presParOf" srcId="{A54F7A11-1A0A-41D9-A80F-650C8A681901}" destId="{47725823-6656-42D2-AE63-D29514A049CC}" srcOrd="1" destOrd="0" presId="urn:microsoft.com/office/officeart/2005/8/layout/process4"/>
    <dgm:cxn modelId="{45C4F654-D760-42CC-94DD-182CFB908B15}" type="presParOf" srcId="{A54F7A11-1A0A-41D9-A80F-650C8A681901}" destId="{2C4A79C4-48D7-485F-BA9F-1C6AA505E124}" srcOrd="2" destOrd="0" presId="urn:microsoft.com/office/officeart/2005/8/layout/process4"/>
    <dgm:cxn modelId="{4E5E004F-4F39-4CB5-A368-41B3872329BE}" type="presParOf" srcId="{2C4A79C4-48D7-485F-BA9F-1C6AA505E124}" destId="{F7772B60-B437-4E3C-9EEB-AE0BC29C51B0}" srcOrd="0" destOrd="0" presId="urn:microsoft.com/office/officeart/2005/8/layout/process4"/>
    <dgm:cxn modelId="{8791142D-2424-481B-8545-C25AC730E2CF}" type="presParOf" srcId="{25B566AF-2CF0-4169-AA0B-12A2BE13F067}" destId="{A7BF33F4-A8BD-4C97-97DD-473C48CBD053}" srcOrd="1" destOrd="0" presId="urn:microsoft.com/office/officeart/2005/8/layout/process4"/>
    <dgm:cxn modelId="{6982ABD0-73F4-44B1-BEB8-98492143F4C0}" type="presParOf" srcId="{25B566AF-2CF0-4169-AA0B-12A2BE13F067}" destId="{435A34F0-6FB7-4409-9510-42970EE4CB83}" srcOrd="2" destOrd="0" presId="urn:microsoft.com/office/officeart/2005/8/layout/process4"/>
    <dgm:cxn modelId="{2E997EA4-A169-49DE-AA7E-A3D806C5AF43}" type="presParOf" srcId="{435A34F0-6FB7-4409-9510-42970EE4CB83}" destId="{67DA4847-E0AF-40DB-BB7C-A66F2A0C887E}" srcOrd="0" destOrd="0" presId="urn:microsoft.com/office/officeart/2005/8/layout/process4"/>
    <dgm:cxn modelId="{103A8C87-E4CA-4DD2-B676-B059641ED34B}" type="presParOf" srcId="{435A34F0-6FB7-4409-9510-42970EE4CB83}" destId="{63D250CD-A811-4384-8BAD-906C9FE02C89}" srcOrd="1" destOrd="0" presId="urn:microsoft.com/office/officeart/2005/8/layout/process4"/>
    <dgm:cxn modelId="{E5B491EC-7CA8-4195-830A-C066C976E08A}" type="presParOf" srcId="{435A34F0-6FB7-4409-9510-42970EE4CB83}" destId="{CD5E6713-805C-4E49-997E-5161E621406B}" srcOrd="2" destOrd="0" presId="urn:microsoft.com/office/officeart/2005/8/layout/process4"/>
    <dgm:cxn modelId="{7C6310A7-1A77-4618-8AA7-EEFA7B240CC8}" type="presParOf" srcId="{CD5E6713-805C-4E49-997E-5161E621406B}" destId="{4E165025-2D5C-46CD-83B5-8BABF94DECC9}" srcOrd="0" destOrd="0" presId="urn:microsoft.com/office/officeart/2005/8/layout/process4"/>
    <dgm:cxn modelId="{DEE21D7C-7562-4541-B5FA-92DF817886E3}" type="presParOf" srcId="{25B566AF-2CF0-4169-AA0B-12A2BE13F067}" destId="{44F87CF9-2992-4E47-93AC-B99352AF197E}" srcOrd="3" destOrd="0" presId="urn:microsoft.com/office/officeart/2005/8/layout/process4"/>
    <dgm:cxn modelId="{58CF1F31-E5C6-4EA9-9144-0D21DAB653EF}" type="presParOf" srcId="{25B566AF-2CF0-4169-AA0B-12A2BE13F067}" destId="{AE1BDF47-A952-491D-927C-423589B6C31C}" srcOrd="4" destOrd="0" presId="urn:microsoft.com/office/officeart/2005/8/layout/process4"/>
    <dgm:cxn modelId="{1C741506-0041-4935-8F84-941E8B87FEC0}" type="presParOf" srcId="{AE1BDF47-A952-491D-927C-423589B6C31C}" destId="{AC621E72-7176-41D3-ADA8-45607534388E}" srcOrd="0" destOrd="0" presId="urn:microsoft.com/office/officeart/2005/8/layout/process4"/>
    <dgm:cxn modelId="{0041C7D0-9F94-44F4-92AE-061F1F1ED914}" type="presParOf" srcId="{AE1BDF47-A952-491D-927C-423589B6C31C}" destId="{63902E87-107A-4EDE-B3A6-A98DDB7A483F}" srcOrd="1" destOrd="0" presId="urn:microsoft.com/office/officeart/2005/8/layout/process4"/>
    <dgm:cxn modelId="{A9789350-96E1-4EA6-9003-56E79C00EAA4}" type="presParOf" srcId="{AE1BDF47-A952-491D-927C-423589B6C31C}" destId="{991F907D-AD97-4921-903F-654CD063ECFB}" srcOrd="2" destOrd="0" presId="urn:microsoft.com/office/officeart/2005/8/layout/process4"/>
    <dgm:cxn modelId="{522F5982-ADC2-4383-8A9F-D74354453FBD}" type="presParOf" srcId="{991F907D-AD97-4921-903F-654CD063ECFB}" destId="{D447F6D0-E1EE-4849-B058-867EE8BF5228}" srcOrd="0" destOrd="0" presId="urn:microsoft.com/office/officeart/2005/8/layout/process4"/>
    <dgm:cxn modelId="{C801DCCC-BF8A-4C84-9568-8F70C817FB8D}" type="presParOf" srcId="{991F907D-AD97-4921-903F-654CD063ECFB}" destId="{A6F9F8D3-606D-46FF-8B84-B60413E65BBA}" srcOrd="1" destOrd="0" presId="urn:microsoft.com/office/officeart/2005/8/layout/process4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EA03C-6E33-4CE1-B6FA-F870BB69206C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3B507-688E-4A06-A383-C9B6DCE192C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3B507-688E-4A06-A383-C9B6DCE192C3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r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graphique 2"/>
          <p:cNvSpPr>
            <a:spLocks noGrp="1"/>
          </p:cNvSpPr>
          <p:nvPr>
            <p:ph type="chart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fr-FR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2BB034-A1A8-4BF6-AF21-1232B8B6F11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2E817-3711-4DFC-8271-83CB4E236D55}" type="datetimeFigureOut">
              <a:rPr lang="fr-FR" smtClean="0"/>
              <a:pPr/>
              <a:t>10/09/2021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4AEBC-F8D4-4EB0-8601-B5768AE07042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ultation.avocat.fr/blog/sophie-moutot-noce/article-19821-etat-anterieur-et-aggravation-d-une-pathologie-preexistante-consequences-en-matiere-d-indemnisation-des-victimes-d-accident.html" TargetMode="External"/><Relationship Id="rId2" Type="http://schemas.openxmlformats.org/officeDocument/2006/relationships/hyperlink" Target="http://campus.cerimes.fr/medecine-du-travail/enseignement/medtravail_109/site/html/cours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785926"/>
            <a:ext cx="7772400" cy="1470025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</a:rPr>
              <a:t>ACCIDENT DU TRAVAIL</a:t>
            </a:r>
            <a:br>
              <a:rPr lang="fr-FR" dirty="0" smtClean="0">
                <a:solidFill>
                  <a:srgbClr val="0070C0"/>
                </a:solidFill>
              </a:rPr>
            </a:br>
            <a:r>
              <a:rPr lang="fr-FR" dirty="0" smtClean="0">
                <a:solidFill>
                  <a:srgbClr val="0070C0"/>
                </a:solidFill>
              </a:rPr>
              <a:t>MALADIE PROFESSIONNELLE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/>
          <a:p>
            <a:r>
              <a:rPr lang="fr-FR" dirty="0" smtClean="0"/>
              <a:t>Pr </a:t>
            </a:r>
            <a:r>
              <a:rPr lang="fr-FR" dirty="0" err="1" smtClean="0"/>
              <a:t>Tebboune</a:t>
            </a:r>
            <a:r>
              <a:rPr lang="fr-FR" dirty="0" smtClean="0"/>
              <a:t> </a:t>
            </a:r>
            <a:r>
              <a:rPr lang="fr-FR" dirty="0" smtClean="0"/>
              <a:t>C.B</a:t>
            </a:r>
          </a:p>
          <a:p>
            <a:r>
              <a:rPr lang="fr-FR" sz="2400" dirty="0" smtClean="0"/>
              <a:t>Année 2021</a:t>
            </a:r>
            <a:endParaRPr lang="fr-FR" sz="2400" dirty="0"/>
          </a:p>
        </p:txBody>
      </p:sp>
      <p:pic>
        <p:nvPicPr>
          <p:cNvPr id="6145" name="Picture 1" descr="C:\Users\pc\Pictures\AES-A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4869160"/>
            <a:ext cx="2978274" cy="1602106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3131840" y="6309320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*URPS Infirmière PACA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2286000" y="78579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buFont typeface="Arial" charset="0"/>
              <a:buNone/>
            </a:pPr>
            <a:r>
              <a:rPr lang="fr-FR" sz="2400" dirty="0" smtClean="0">
                <a:latin typeface="Tahoma" pitchFamily="34" charset="0"/>
                <a:cs typeface="Tahoma" pitchFamily="34" charset="0"/>
              </a:rPr>
              <a:t>Institut d’enseignement Antar</a:t>
            </a:r>
          </a:p>
          <a:p>
            <a:pPr algn="ctr">
              <a:buFont typeface="Arial" charset="0"/>
              <a:buNone/>
            </a:pPr>
            <a:r>
              <a:rPr lang="fr-FR" sz="2400" dirty="0" smtClean="0">
                <a:latin typeface="Tahoma" pitchFamily="34" charset="0"/>
                <a:cs typeface="Tahoma" pitchFamily="34" charset="0"/>
              </a:rPr>
              <a:t>Oran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fr-FR" dirty="0" smtClean="0"/>
              <a:t>Maîtriser les concepts en matière d’accident du travail (AT) et de maladies professionnels (MP) tels que définis par la loi.</a:t>
            </a:r>
          </a:p>
          <a:p>
            <a:r>
              <a:rPr lang="fr-FR" dirty="0" smtClean="0"/>
              <a:t>Connaitre les critères qui déterminent les AT et MP.</a:t>
            </a:r>
          </a:p>
          <a:p>
            <a:r>
              <a:rPr lang="fr-FR" dirty="0" smtClean="0"/>
              <a:t>Enumérer les différentes catégories de MP.</a:t>
            </a:r>
          </a:p>
          <a:p>
            <a:r>
              <a:rPr lang="fr-FR" dirty="0" smtClean="0"/>
              <a:t>Connaitre les bénéficiaires de la loi</a:t>
            </a:r>
          </a:p>
          <a:p>
            <a:r>
              <a:rPr lang="fr-FR" dirty="0" smtClean="0"/>
              <a:t>Connaitre les conditions d’ouverture des droits et les procédures de déclaration AT et MP.</a:t>
            </a:r>
          </a:p>
          <a:p>
            <a:r>
              <a:rPr lang="fr-FR" dirty="0" smtClean="0"/>
              <a:t>Maîtriser la constatations des lésions (certificats médicaux AT et MP).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fr-FR" sz="3600" b="1" dirty="0" smtClean="0"/>
              <a:t>Documents consultés</a:t>
            </a:r>
          </a:p>
        </p:txBody>
      </p:sp>
      <p:sp>
        <p:nvSpPr>
          <p:cNvPr id="43011" name="Espace réservé du contenu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589240"/>
          </a:xfrm>
          <a:ln>
            <a:solidFill>
              <a:schemeClr val="accent1"/>
            </a:solidFill>
          </a:ln>
        </p:spPr>
        <p:txBody>
          <a:bodyPr>
            <a:normAutofit fontScale="25000" lnSpcReduction="20000"/>
          </a:bodyPr>
          <a:lstStyle/>
          <a:p>
            <a:r>
              <a:rPr lang="fr-FR" sz="7200" dirty="0" smtClean="0"/>
              <a:t>JORA </a:t>
            </a:r>
            <a:r>
              <a:rPr lang="fr-FR" sz="7200" b="1" dirty="0" smtClean="0"/>
              <a:t>Loi n° 83-13 du 2 juillet 1983 relative aux AT/MP  JORA n° 28, du 5 juillet 1983 </a:t>
            </a:r>
            <a:r>
              <a:rPr lang="fr-FR" sz="7200" dirty="0" smtClean="0"/>
              <a:t>modifiée et </a:t>
            </a:r>
            <a:r>
              <a:rPr lang="fr-FR" sz="7200" dirty="0" err="1" smtClean="0"/>
              <a:t>compléteé</a:t>
            </a:r>
            <a:r>
              <a:rPr lang="fr-FR" sz="7200" dirty="0" smtClean="0"/>
              <a:t> par l’ordonnance n°96/19 du 06/07/96. </a:t>
            </a:r>
            <a:endParaRPr lang="fr-FR" sz="7200" b="1" dirty="0" smtClean="0"/>
          </a:p>
          <a:p>
            <a:r>
              <a:rPr lang="fr-FR" sz="7200" dirty="0" smtClean="0"/>
              <a:t>JORA n°4 / 1988 : Loi n° 88-07 du 26 Janvier 1988 relative à l’hygiène, la sécurité et la médecine du travail. </a:t>
            </a:r>
          </a:p>
          <a:p>
            <a:r>
              <a:rPr lang="fr-FR" sz="7200" dirty="0" smtClean="0"/>
              <a:t>JORA Arrêté du 05/05/1996 fixant la liste des maladies présumées d’origine professionnelle. </a:t>
            </a:r>
          </a:p>
          <a:p>
            <a:r>
              <a:rPr lang="fr-FR" sz="7200" dirty="0" smtClean="0"/>
              <a:t>JORA Arrêté du 02 mai 2002 complétant l’arrêté du 05/05/1996</a:t>
            </a:r>
            <a:endParaRPr lang="fr-FR" sz="7200" dirty="0" smtClean="0">
              <a:hlinkClick r:id="rId2"/>
            </a:endParaRPr>
          </a:p>
          <a:p>
            <a:r>
              <a:rPr lang="fr-FR" sz="7200" dirty="0" smtClean="0">
                <a:hlinkClick r:id="rId2"/>
              </a:rPr>
              <a:t>http://campus.cerimes.fr/medecine-du-travail/enseignement/medtravail_109/site/html/cours.pdf</a:t>
            </a:r>
            <a:endParaRPr lang="fr-FR" sz="7200" dirty="0" smtClean="0"/>
          </a:p>
          <a:p>
            <a:r>
              <a:rPr lang="fr-FR" sz="7200" dirty="0" smtClean="0"/>
              <a:t>Cours graduation AT/MP - Faculté de médecine d’</a:t>
            </a:r>
            <a:r>
              <a:rPr lang="fr-FR" sz="7200" dirty="0" err="1" smtClean="0"/>
              <a:t>oran</a:t>
            </a:r>
            <a:r>
              <a:rPr lang="fr-FR" sz="7200" dirty="0" smtClean="0"/>
              <a:t> - Pr </a:t>
            </a:r>
            <a:r>
              <a:rPr lang="fr-FR" sz="7200" dirty="0" err="1" smtClean="0"/>
              <a:t>Tebboune</a:t>
            </a:r>
            <a:r>
              <a:rPr lang="fr-FR" sz="7200" dirty="0" smtClean="0"/>
              <a:t> </a:t>
            </a:r>
            <a:r>
              <a:rPr lang="fr-FR" sz="7200" dirty="0" err="1" smtClean="0"/>
              <a:t>cB</a:t>
            </a:r>
            <a:endParaRPr lang="fr-FR" sz="7200" dirty="0" smtClean="0"/>
          </a:p>
          <a:p>
            <a:pPr eaLnBrk="1" hangingPunct="1"/>
            <a:r>
              <a:rPr lang="fr-FR" sz="7200" dirty="0" smtClean="0"/>
              <a:t>Toxicologie industrielle et intoxications professionnelles- R. </a:t>
            </a:r>
            <a:r>
              <a:rPr lang="fr-FR" sz="7200" dirty="0" err="1" smtClean="0"/>
              <a:t>Lauwérys</a:t>
            </a:r>
            <a:endParaRPr lang="fr-FR" sz="7200" dirty="0" smtClean="0"/>
          </a:p>
          <a:p>
            <a:pPr eaLnBrk="1" hangingPunct="1"/>
            <a:r>
              <a:rPr lang="fr-FR" sz="7200" dirty="0" smtClean="0"/>
              <a:t>Cours africain de santé au travail- OMS-MSP/DASS/SDST-INSP-Alger 2001</a:t>
            </a:r>
          </a:p>
          <a:p>
            <a:pPr eaLnBrk="1" hangingPunct="1"/>
            <a:r>
              <a:rPr lang="fr-FR" sz="7200" dirty="0" smtClean="0"/>
              <a:t>Médecine du travail: manuel module MED 449- faculté de médecine- </a:t>
            </a:r>
            <a:r>
              <a:rPr lang="fr-FR" sz="7200" dirty="0" err="1" smtClean="0"/>
              <a:t>Univ</a:t>
            </a:r>
            <a:r>
              <a:rPr lang="fr-FR" sz="7200" dirty="0" smtClean="0"/>
              <a:t>. Oran</a:t>
            </a:r>
          </a:p>
          <a:p>
            <a:pPr eaLnBrk="1" hangingPunct="1"/>
            <a:r>
              <a:rPr lang="fr-FR" sz="7200" dirty="0" smtClean="0"/>
              <a:t>Dictionnaires Le robert, Larousse</a:t>
            </a:r>
          </a:p>
          <a:p>
            <a:pPr eaLnBrk="1" hangingPunct="1"/>
            <a:r>
              <a:rPr lang="fr-FR" sz="7200" dirty="0" smtClean="0"/>
              <a:t>CNAS: Statistiques nationales des accidents du travail </a:t>
            </a:r>
          </a:p>
          <a:p>
            <a:r>
              <a:rPr lang="fr-FR" sz="7200" dirty="0" smtClean="0">
                <a:hlinkClick r:id="rId3"/>
              </a:rPr>
              <a:t>https://consultation.avocat.fr/blog/sophie-moutot-noce/article-19821-etat-anterieur-et-aggravation-d-une-pathologie-preexistante-consequences-en-matiere-d-indemnisation-des-victimes-d-accident.html</a:t>
            </a:r>
            <a:endParaRPr lang="fr-FR" sz="7200" dirty="0" smtClean="0"/>
          </a:p>
          <a:p>
            <a:r>
              <a:rPr lang="fr-FR" sz="7200" dirty="0" err="1" smtClean="0"/>
              <a:t>Sedjelmassi</a:t>
            </a:r>
            <a:r>
              <a:rPr lang="fr-FR" sz="7200" dirty="0" smtClean="0"/>
              <a:t>-</a:t>
            </a:r>
            <a:r>
              <a:rPr lang="fr-FR" sz="7200" dirty="0" err="1" smtClean="0"/>
              <a:t>Kaid</a:t>
            </a:r>
            <a:r>
              <a:rPr lang="fr-FR" sz="7200" dirty="0" smtClean="0"/>
              <a:t>, Slimane F, </a:t>
            </a:r>
            <a:r>
              <a:rPr lang="fr-FR" sz="7200" dirty="0" err="1" smtClean="0"/>
              <a:t>Fyad</a:t>
            </a:r>
            <a:r>
              <a:rPr lang="fr-FR" sz="7200" dirty="0" smtClean="0"/>
              <a:t> A, </a:t>
            </a:r>
            <a:r>
              <a:rPr lang="fr-FR" sz="7200" dirty="0" err="1" smtClean="0"/>
              <a:t>Ossoukine</a:t>
            </a:r>
            <a:r>
              <a:rPr lang="fr-FR" sz="7200" dirty="0" smtClean="0"/>
              <a:t> A. Législation et Médecine du Travail. Outils législatifs et réglementaires pour le médecin du travail. Laboratoire de Pédagogie et de Développement Didactique, 216p. </a:t>
            </a:r>
          </a:p>
          <a:p>
            <a:pPr eaLnBrk="1" hangingPunct="1"/>
            <a:endParaRPr lang="fr-FR" sz="4000" dirty="0" smtClean="0"/>
          </a:p>
          <a:p>
            <a:pPr eaLnBrk="1" hangingPunct="1">
              <a:buNone/>
            </a:pPr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fr-FR" sz="3600" b="1" dirty="0" smtClean="0"/>
              <a:t>L’accident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472608"/>
          </a:xfrm>
          <a:ln>
            <a:solidFill>
              <a:srgbClr val="000099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fr-FR" sz="3300" dirty="0" smtClean="0"/>
              <a:t>Du latin</a:t>
            </a:r>
            <a:r>
              <a:rPr lang="fr-FR" sz="3600" dirty="0" smtClean="0"/>
              <a:t> </a:t>
            </a:r>
            <a:r>
              <a:rPr lang="fr-FR" sz="3600" b="1" i="1" dirty="0" err="1" smtClean="0"/>
              <a:t>accidens</a:t>
            </a:r>
            <a:r>
              <a:rPr lang="fr-FR" sz="3300" dirty="0" smtClean="0"/>
              <a:t>, « de </a:t>
            </a:r>
            <a:r>
              <a:rPr lang="fr-FR" sz="3300" dirty="0" err="1" smtClean="0"/>
              <a:t>accidere</a:t>
            </a:r>
            <a:r>
              <a:rPr lang="fr-FR" sz="3300" dirty="0" smtClean="0"/>
              <a:t>, ce qui survient ». </a:t>
            </a:r>
          </a:p>
          <a:p>
            <a:pPr lvl="3"/>
            <a:endParaRPr lang="fr-FR" sz="1900" dirty="0" smtClean="0"/>
          </a:p>
          <a:p>
            <a:r>
              <a:rPr lang="fr-FR" sz="3300" dirty="0" smtClean="0"/>
              <a:t>Dictionnaire Le Robert:</a:t>
            </a:r>
          </a:p>
          <a:p>
            <a:pPr lvl="1"/>
            <a:r>
              <a:rPr lang="fr-FR" sz="3300" dirty="0" smtClean="0"/>
              <a:t>en philosophie: ce qui n'est pas essentiel; accessoire</a:t>
            </a:r>
          </a:p>
          <a:p>
            <a:pPr lvl="1"/>
            <a:r>
              <a:rPr lang="fr-FR" sz="3300" dirty="0" smtClean="0"/>
              <a:t>Mais généralement, il s’agit </a:t>
            </a:r>
            <a:r>
              <a:rPr lang="fr-FR" sz="3300" i="1" dirty="0" smtClean="0"/>
              <a:t>d’évènement imprévu, inopiné et soudain qui entraîne des dégâts et met en danger.</a:t>
            </a:r>
          </a:p>
          <a:p>
            <a:r>
              <a:rPr lang="fr-FR" sz="3300" dirty="0" smtClean="0"/>
              <a:t>Le Larousse:</a:t>
            </a:r>
          </a:p>
          <a:p>
            <a:pPr lvl="1"/>
            <a:r>
              <a:rPr lang="fr-FR" sz="3300" dirty="0" smtClean="0"/>
              <a:t>c’est un événement fortuit qui a des effets plus ou moins dommageables pour les personnes ou pour les choses: </a:t>
            </a:r>
          </a:p>
          <a:p>
            <a:pPr lvl="2"/>
            <a:r>
              <a:rPr lang="fr-FR" sz="2800" dirty="0" smtClean="0"/>
              <a:t>Accident de la route,  Accident d'avion, accident domestique…</a:t>
            </a:r>
          </a:p>
          <a:p>
            <a:pPr lvl="2"/>
            <a:r>
              <a:rPr lang="fr-FR" sz="2800" dirty="0" smtClean="0"/>
              <a:t>En médecine, AVC </a:t>
            </a:r>
          </a:p>
          <a:p>
            <a:pPr lvl="3"/>
            <a:r>
              <a:rPr lang="fr-FR" dirty="0" smtClean="0"/>
              <a:t>épisode morbide inattendu, survenant ou non au cours d'une maladie: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fr-FR" sz="3600" b="1" dirty="0" smtClean="0"/>
              <a:t>L’accident  </a:t>
            </a:r>
            <a:r>
              <a:rPr lang="fr-FR" sz="3200" dirty="0" smtClean="0"/>
              <a:t>(OMS)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  <a:ln>
            <a:solidFill>
              <a:srgbClr val="000099"/>
            </a:solidFill>
          </a:ln>
        </p:spPr>
        <p:txBody>
          <a:bodyPr>
            <a:normAutofit/>
          </a:bodyPr>
          <a:lstStyle/>
          <a:p>
            <a:pPr algn="ctr">
              <a:buNone/>
            </a:pPr>
            <a:endParaRPr lang="fr-FR" sz="2000" dirty="0" smtClean="0"/>
          </a:p>
          <a:p>
            <a:pPr algn="ctr">
              <a:buNone/>
            </a:pPr>
            <a:r>
              <a:rPr lang="fr-FR" sz="3600" dirty="0" smtClean="0"/>
              <a:t>« </a:t>
            </a:r>
            <a:r>
              <a:rPr lang="fr-FR" sz="3600" dirty="0" smtClean="0">
                <a:solidFill>
                  <a:srgbClr val="000099"/>
                </a:solidFill>
              </a:rPr>
              <a:t>un événement </a:t>
            </a:r>
          </a:p>
          <a:p>
            <a:pPr lvl="4" algn="ctr">
              <a:buNone/>
            </a:pPr>
            <a:endParaRPr lang="fr-FR" dirty="0" smtClean="0">
              <a:solidFill>
                <a:srgbClr val="000099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fr-FR" sz="3600" dirty="0" smtClean="0">
                <a:solidFill>
                  <a:srgbClr val="000099"/>
                </a:solidFill>
              </a:rPr>
              <a:t>indépendant de la volonté humaine </a:t>
            </a:r>
          </a:p>
          <a:p>
            <a:pPr>
              <a:buFont typeface="Wingdings" pitchFamily="2" charset="2"/>
              <a:buChar char="§"/>
            </a:pPr>
            <a:r>
              <a:rPr lang="fr-FR" sz="3600" dirty="0" smtClean="0">
                <a:solidFill>
                  <a:srgbClr val="000099"/>
                </a:solidFill>
              </a:rPr>
              <a:t>provoqué par une force extérieure </a:t>
            </a:r>
          </a:p>
          <a:p>
            <a:pPr lvl="1">
              <a:buFont typeface="Wingdings" pitchFamily="2" charset="2"/>
              <a:buChar char="§"/>
            </a:pPr>
            <a:r>
              <a:rPr lang="fr-FR" dirty="0" smtClean="0">
                <a:solidFill>
                  <a:srgbClr val="000099"/>
                </a:solidFill>
              </a:rPr>
              <a:t>agissant rapidement </a:t>
            </a:r>
          </a:p>
          <a:p>
            <a:pPr>
              <a:buFont typeface="Wingdings" pitchFamily="2" charset="2"/>
              <a:buChar char="§"/>
            </a:pPr>
            <a:r>
              <a:rPr lang="fr-FR" sz="3600" dirty="0" smtClean="0">
                <a:solidFill>
                  <a:srgbClr val="000099"/>
                </a:solidFill>
              </a:rPr>
              <a:t>et qui se manifeste par un dommage </a:t>
            </a:r>
          </a:p>
          <a:p>
            <a:pPr lvl="1">
              <a:buFont typeface="Wingdings" pitchFamily="2" charset="2"/>
              <a:buChar char="§"/>
            </a:pPr>
            <a:r>
              <a:rPr lang="fr-FR" dirty="0" smtClean="0">
                <a:solidFill>
                  <a:srgbClr val="000099"/>
                </a:solidFill>
              </a:rPr>
              <a:t>corporel et/ou mental </a:t>
            </a:r>
            <a:r>
              <a:rPr lang="fr-FR" dirty="0" smtClean="0"/>
              <a:t>».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>
            <a:normAutofit/>
          </a:bodyPr>
          <a:lstStyle/>
          <a:p>
            <a:r>
              <a:rPr lang="fr-FR" sz="3200" b="1" dirty="0" smtClean="0"/>
              <a:t>Différence entre accident et incident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  <a:ln>
            <a:solidFill>
              <a:srgbClr val="000099"/>
            </a:solidFill>
          </a:ln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fr-FR" sz="4100" dirty="0" smtClean="0"/>
              <a:t>les 2 termes évoquent l'idée d'une </a:t>
            </a:r>
          </a:p>
          <a:p>
            <a:pPr algn="ctr">
              <a:buNone/>
            </a:pPr>
            <a:r>
              <a:rPr lang="fr-FR" sz="4500" b="1" dirty="0" smtClean="0">
                <a:solidFill>
                  <a:srgbClr val="000099"/>
                </a:solidFill>
              </a:rPr>
              <a:t>interruption</a:t>
            </a:r>
            <a:r>
              <a:rPr lang="fr-FR" sz="3400" dirty="0" smtClean="0"/>
              <a:t> </a:t>
            </a:r>
          </a:p>
          <a:p>
            <a:pPr algn="ctr">
              <a:buNone/>
            </a:pPr>
            <a:endParaRPr lang="fr-FR" sz="3400" dirty="0" smtClean="0"/>
          </a:p>
          <a:p>
            <a:r>
              <a:rPr lang="fr-FR" sz="4000" dirty="0" smtClean="0"/>
              <a:t>généralement </a:t>
            </a:r>
            <a:r>
              <a:rPr lang="fr-FR" sz="4000" b="1" i="1" dirty="0" smtClean="0">
                <a:solidFill>
                  <a:srgbClr val="000099"/>
                </a:solidFill>
              </a:rPr>
              <a:t>fâcheuse</a:t>
            </a:r>
            <a:r>
              <a:rPr lang="fr-FR" sz="4000" dirty="0" smtClean="0"/>
              <a:t> pour </a:t>
            </a:r>
            <a:r>
              <a:rPr lang="fr-FR" sz="4000" b="1" dirty="0" smtClean="0"/>
              <a:t>l’accident</a:t>
            </a:r>
            <a:r>
              <a:rPr lang="fr-FR" sz="4000" dirty="0" smtClean="0"/>
              <a:t> </a:t>
            </a:r>
          </a:p>
          <a:p>
            <a:pPr lvl="1"/>
            <a:r>
              <a:rPr lang="fr-FR" sz="3600" dirty="0" smtClean="0"/>
              <a:t>qui s'applique de préférence à un évènement relevant du hasard, </a:t>
            </a:r>
          </a:p>
          <a:p>
            <a:endParaRPr lang="fr-FR" sz="4000" b="1" dirty="0" smtClean="0"/>
          </a:p>
          <a:p>
            <a:r>
              <a:rPr lang="fr-FR" sz="4000" b="1" dirty="0" smtClean="0"/>
              <a:t>L’incident</a:t>
            </a:r>
            <a:r>
              <a:rPr lang="fr-FR" sz="4000" dirty="0" smtClean="0"/>
              <a:t>: </a:t>
            </a:r>
          </a:p>
          <a:p>
            <a:pPr lvl="1"/>
            <a:r>
              <a:rPr lang="fr-FR" sz="3600" dirty="0" smtClean="0"/>
              <a:t>évènement </a:t>
            </a:r>
            <a:r>
              <a:rPr lang="fr-FR" sz="3600" dirty="0" smtClean="0">
                <a:solidFill>
                  <a:srgbClr val="0000FF"/>
                </a:solidFill>
              </a:rPr>
              <a:t>sans grande importance, secondaire</a:t>
            </a:r>
            <a:r>
              <a:rPr lang="fr-FR" sz="3600" dirty="0" smtClean="0"/>
              <a:t>, </a:t>
            </a:r>
          </a:p>
          <a:p>
            <a:pPr lvl="1"/>
            <a:r>
              <a:rPr lang="fr-FR" sz="3600" dirty="0" smtClean="0"/>
              <a:t>avec des </a:t>
            </a:r>
            <a:r>
              <a:rPr lang="fr-FR" sz="3600" b="1" i="1" dirty="0" smtClean="0">
                <a:solidFill>
                  <a:srgbClr val="000099"/>
                </a:solidFill>
              </a:rPr>
              <a:t>dommages minimes ou inexistants</a:t>
            </a:r>
            <a:r>
              <a:rPr lang="fr-FR" sz="3600" dirty="0" smtClean="0"/>
              <a:t>. </a:t>
            </a:r>
          </a:p>
          <a:p>
            <a:pPr lvl="2"/>
            <a:r>
              <a:rPr lang="fr-FR" sz="2900" dirty="0" smtClean="0"/>
              <a:t>Si l'on a frôlé de près l'accident, c'est un incident critique.</a:t>
            </a:r>
          </a:p>
          <a:p>
            <a:endParaRPr lang="fr-FR" sz="3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78098"/>
          </a:xfrm>
        </p:spPr>
        <p:txBody>
          <a:bodyPr>
            <a:normAutofit/>
          </a:bodyPr>
          <a:lstStyle/>
          <a:p>
            <a:r>
              <a:rPr lang="fr-FR" sz="3200" b="1" dirty="0" smtClean="0"/>
              <a:t>Différence entre accident et incident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  <a:ln>
            <a:solidFill>
              <a:srgbClr val="000099"/>
            </a:solidFill>
          </a:ln>
        </p:spPr>
        <p:txBody>
          <a:bodyPr>
            <a:normAutofit fontScale="92500" lnSpcReduction="10000"/>
          </a:bodyPr>
          <a:lstStyle/>
          <a:p>
            <a:endParaRPr lang="fr-FR" sz="1700" dirty="0" smtClean="0"/>
          </a:p>
          <a:p>
            <a:r>
              <a:rPr lang="fr-FR" sz="3400" dirty="0" smtClean="0"/>
              <a:t>Les accidents peuvent être prévisibles ou non, </a:t>
            </a:r>
          </a:p>
          <a:p>
            <a:pPr lvl="1"/>
            <a:r>
              <a:rPr lang="fr-FR" sz="3400" dirty="0" smtClean="0"/>
              <a:t>évitables par la prévention primaire</a:t>
            </a:r>
          </a:p>
          <a:p>
            <a:pPr lvl="1"/>
            <a:r>
              <a:rPr lang="fr-FR" sz="3400" dirty="0" smtClean="0"/>
              <a:t>ou inévitables :</a:t>
            </a:r>
          </a:p>
          <a:p>
            <a:pPr lvl="2"/>
            <a:r>
              <a:rPr lang="fr-FR" sz="3000" dirty="0" smtClean="0"/>
              <a:t>acceptation d'un risque normal.</a:t>
            </a:r>
          </a:p>
          <a:p>
            <a:pPr lvl="5"/>
            <a:endParaRPr lang="fr-FR" sz="2200" dirty="0" smtClean="0"/>
          </a:p>
          <a:p>
            <a:r>
              <a:rPr lang="fr-FR" sz="3400" dirty="0" smtClean="0"/>
              <a:t>Si l'on évalue la probabilité des risques </a:t>
            </a:r>
            <a:r>
              <a:rPr lang="fr-FR" sz="3400" u="sng" dirty="0" smtClean="0"/>
              <a:t>avant</a:t>
            </a:r>
            <a:r>
              <a:rPr lang="fr-FR" sz="3400" dirty="0" smtClean="0"/>
              <a:t> l'accident, </a:t>
            </a:r>
          </a:p>
          <a:p>
            <a:pPr lvl="1"/>
            <a:r>
              <a:rPr lang="fr-FR" sz="3400" dirty="0" smtClean="0"/>
              <a:t>par une démarche </a:t>
            </a:r>
            <a:r>
              <a:rPr lang="fr-FR" sz="3400" dirty="0" err="1" smtClean="0"/>
              <a:t>bayésienne</a:t>
            </a:r>
            <a:r>
              <a:rPr lang="fr-FR" sz="3400" dirty="0" smtClean="0"/>
              <a:t>, </a:t>
            </a:r>
          </a:p>
          <a:p>
            <a:pPr lvl="2"/>
            <a:r>
              <a:rPr lang="fr-FR" sz="3000" dirty="0" smtClean="0"/>
              <a:t>on peut estimer la probabilité des causes qui y ont concouru,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sz="3600" b="1" dirty="0" smtClean="0"/>
              <a:t>Accident du travail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fr-FR" dirty="0" smtClean="0"/>
              <a:t>L’exercice d’une activité professionnelle </a:t>
            </a:r>
            <a:r>
              <a:rPr lang="fr-FR" i="1" dirty="0" smtClean="0"/>
              <a:t>expose à des </a:t>
            </a:r>
            <a:r>
              <a:rPr lang="fr-FR" i="1" dirty="0" smtClean="0">
                <a:solidFill>
                  <a:srgbClr val="0000FF"/>
                </a:solidFill>
              </a:rPr>
              <a:t>risques de:</a:t>
            </a:r>
          </a:p>
          <a:p>
            <a:pPr lvl="1">
              <a:defRPr/>
            </a:pPr>
            <a:r>
              <a:rPr lang="fr-FR" dirty="0" smtClean="0">
                <a:solidFill>
                  <a:srgbClr val="0000FF"/>
                </a:solidFill>
              </a:rPr>
              <a:t>accidents </a:t>
            </a:r>
          </a:p>
          <a:p>
            <a:pPr lvl="1">
              <a:defRPr/>
            </a:pPr>
            <a:r>
              <a:rPr lang="fr-FR" dirty="0" smtClean="0">
                <a:solidFill>
                  <a:srgbClr val="0000FF"/>
                </a:solidFill>
              </a:rPr>
              <a:t>ou maladies </a:t>
            </a:r>
          </a:p>
          <a:p>
            <a:pPr>
              <a:buNone/>
              <a:defRPr/>
            </a:pPr>
            <a:r>
              <a:rPr lang="fr-FR" dirty="0" smtClean="0"/>
              <a:t>  ayant parfois des </a:t>
            </a:r>
            <a:r>
              <a:rPr lang="fr-FR" i="1" dirty="0" smtClean="0">
                <a:solidFill>
                  <a:srgbClr val="0070C0"/>
                </a:solidFill>
              </a:rPr>
              <a:t>conséquences durables </a:t>
            </a:r>
            <a:r>
              <a:rPr lang="fr-FR" dirty="0" smtClean="0"/>
              <a:t>sur les </a:t>
            </a:r>
          </a:p>
          <a:p>
            <a:pPr lvl="1">
              <a:defRPr/>
            </a:pPr>
            <a:r>
              <a:rPr lang="fr-FR" dirty="0" smtClean="0"/>
              <a:t>capacités de travail et </a:t>
            </a:r>
          </a:p>
          <a:p>
            <a:pPr lvl="1">
              <a:defRPr/>
            </a:pPr>
            <a:r>
              <a:rPr lang="fr-FR" dirty="0" smtClean="0"/>
              <a:t>revenus de la victime.</a:t>
            </a:r>
          </a:p>
          <a:p>
            <a:pPr eaLnBrk="1" hangingPunct="1">
              <a:defRPr/>
            </a:pPr>
            <a:r>
              <a:rPr lang="fr-FR" dirty="0" smtClean="0"/>
              <a:t>Intérêt de la prévention</a:t>
            </a:r>
          </a:p>
          <a:p>
            <a:pPr lvl="1">
              <a:defRPr/>
            </a:pPr>
            <a:r>
              <a:rPr lang="fr-FR" dirty="0" smtClean="0"/>
              <a:t>Etape d’analyse obligatoire</a:t>
            </a:r>
          </a:p>
          <a:p>
            <a:pPr eaLnBrk="1" hangingPunct="1">
              <a:defRPr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/>
              <a:t>Au quotidien, les situations varient…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4768865"/>
          </a:xfrm>
          <a:solidFill>
            <a:srgbClr val="A2F3FE"/>
          </a:solidFill>
          <a:ln>
            <a:solidFill>
              <a:srgbClr val="0000FF"/>
            </a:solidFill>
          </a:ln>
        </p:spPr>
        <p:txBody>
          <a:bodyPr>
            <a:normAutofit lnSpcReduction="10000"/>
          </a:bodyPr>
          <a:lstStyle/>
          <a:p>
            <a:r>
              <a:rPr lang="fr-FR" sz="2400" dirty="0" smtClean="0"/>
              <a:t>Mr R.D, ouvrier sur chantier BTP, sans casque, vient de recevoir une brique sur la tête</a:t>
            </a:r>
          </a:p>
          <a:p>
            <a:r>
              <a:rPr lang="fr-FR" sz="2400" dirty="0" smtClean="0"/>
              <a:t>Mr </a:t>
            </a:r>
            <a:r>
              <a:rPr lang="fr-FR" sz="2400" dirty="0" err="1" smtClean="0"/>
              <a:t>A.Md</a:t>
            </a:r>
            <a:r>
              <a:rPr lang="fr-FR" sz="2400" dirty="0" smtClean="0"/>
              <a:t>, opérateur sur site au sud, est pris de malaise en fin de journée caniculaire. Evacué en urgence</a:t>
            </a:r>
          </a:p>
          <a:p>
            <a:r>
              <a:rPr lang="fr-FR" sz="2400" dirty="0" smtClean="0"/>
              <a:t>Mme Z. Fatima, infirmière, avant d’aller au travail, dépose son fils de 4 ans à la crèche. En sortant, elle est renversée par une voiture.</a:t>
            </a:r>
          </a:p>
          <a:p>
            <a:r>
              <a:rPr lang="fr-FR" sz="2400" dirty="0" smtClean="0"/>
              <a:t>Mme Z. Fatima, infirmière, se pique avec une aiguille.</a:t>
            </a:r>
          </a:p>
          <a:p>
            <a:r>
              <a:rPr lang="fr-FR" sz="2400" dirty="0" smtClean="0"/>
              <a:t>Mr Z.R, élève dans établissement technique se brûle avec un chalumeau.</a:t>
            </a:r>
          </a:p>
          <a:p>
            <a:r>
              <a:rPr lang="fr-FR" sz="2400" dirty="0" smtClean="0"/>
              <a:t>Mr K.Z, 35 ans, chaudronnier, Surdité.</a:t>
            </a:r>
          </a:p>
          <a:p>
            <a:r>
              <a:rPr lang="fr-FR" sz="2400" dirty="0" smtClean="0"/>
              <a:t>Mme A.S, 40 ans, tisseuse, surdité.</a:t>
            </a:r>
            <a:endParaRPr lang="fr-FR" sz="2400" dirty="0"/>
          </a:p>
        </p:txBody>
      </p:sp>
      <p:sp>
        <p:nvSpPr>
          <p:cNvPr id="4" name="Rectangle 3"/>
          <p:cNvSpPr/>
          <p:nvPr/>
        </p:nvSpPr>
        <p:spPr>
          <a:xfrm>
            <a:off x="1214414" y="5844621"/>
            <a:ext cx="6749540" cy="5847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fr-FR" sz="3200" dirty="0" smtClean="0"/>
              <a:t>S’agit-il de AT ? ATJ? MP?  MPC? AVP?...</a:t>
            </a: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fr-FR" sz="3600" b="1" dirty="0" smtClean="0"/>
              <a:t>Problème de santé publique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1"/>
            <a:ext cx="8229600" cy="5256585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fr-FR" dirty="0" smtClean="0"/>
              <a:t>Importance du problème AT et MP</a:t>
            </a:r>
          </a:p>
          <a:p>
            <a:pPr lvl="1"/>
            <a:r>
              <a:rPr lang="fr-FR" dirty="0" smtClean="0"/>
              <a:t>Statistiques CNAS: AT et MP</a:t>
            </a:r>
          </a:p>
          <a:p>
            <a:pPr lvl="1"/>
            <a:endParaRPr lang="fr-FR" sz="1300" dirty="0" smtClean="0"/>
          </a:p>
          <a:p>
            <a:r>
              <a:rPr lang="fr-FR" dirty="0" smtClean="0"/>
              <a:t>Causes multiples à identifier et analyser</a:t>
            </a:r>
          </a:p>
          <a:p>
            <a:pPr lvl="1"/>
            <a:r>
              <a:rPr lang="fr-FR" dirty="0" err="1" smtClean="0"/>
              <a:t>Multicausalité</a:t>
            </a:r>
            <a:endParaRPr lang="fr-FR" dirty="0" smtClean="0"/>
          </a:p>
          <a:p>
            <a:pPr lvl="1"/>
            <a:endParaRPr lang="fr-FR" sz="1400" dirty="0" smtClean="0"/>
          </a:p>
          <a:p>
            <a:r>
              <a:rPr lang="fr-FR" dirty="0" smtClean="0"/>
              <a:t>Surveillance du milieu de travail et des travailleurs</a:t>
            </a:r>
          </a:p>
          <a:p>
            <a:pPr lvl="1"/>
            <a:r>
              <a:rPr lang="fr-FR" dirty="0" smtClean="0">
                <a:solidFill>
                  <a:srgbClr val="0000FF"/>
                </a:solidFill>
              </a:rPr>
              <a:t>Prévention:</a:t>
            </a:r>
            <a:r>
              <a:rPr lang="fr-FR" dirty="0" smtClean="0"/>
              <a:t> </a:t>
            </a:r>
          </a:p>
          <a:p>
            <a:pPr lvl="2"/>
            <a:r>
              <a:rPr lang="fr-FR" b="1" dirty="0" smtClean="0">
                <a:solidFill>
                  <a:srgbClr val="0000FF"/>
                </a:solidFill>
              </a:rPr>
              <a:t>I</a:t>
            </a:r>
            <a:r>
              <a:rPr lang="fr-FR" sz="1900" b="1" dirty="0" smtClean="0">
                <a:solidFill>
                  <a:srgbClr val="0000FF"/>
                </a:solidFill>
              </a:rPr>
              <a:t>ère</a:t>
            </a:r>
            <a:r>
              <a:rPr lang="fr-FR" dirty="0" smtClean="0"/>
              <a:t>: éliminer le risque</a:t>
            </a:r>
          </a:p>
          <a:p>
            <a:pPr lvl="3"/>
            <a:r>
              <a:rPr lang="fr-FR" dirty="0" smtClean="0"/>
              <a:t>mesures techniques , ergonomie conception</a:t>
            </a:r>
          </a:p>
          <a:p>
            <a:pPr lvl="2"/>
            <a:r>
              <a:rPr lang="fr-FR" b="1" dirty="0" err="1" smtClean="0">
                <a:solidFill>
                  <a:srgbClr val="0000FF"/>
                </a:solidFill>
              </a:rPr>
              <a:t>II</a:t>
            </a:r>
            <a:r>
              <a:rPr lang="fr-FR" sz="1900" b="1" dirty="0" err="1" smtClean="0">
                <a:solidFill>
                  <a:srgbClr val="0000FF"/>
                </a:solidFill>
              </a:rPr>
              <a:t>ère</a:t>
            </a:r>
            <a:r>
              <a:rPr lang="fr-FR" b="1" dirty="0" smtClean="0">
                <a:solidFill>
                  <a:srgbClr val="0000FF"/>
                </a:solidFill>
              </a:rPr>
              <a:t>:</a:t>
            </a:r>
            <a:r>
              <a:rPr lang="fr-FR" dirty="0" smtClean="0"/>
              <a:t> minimiser le risque</a:t>
            </a:r>
          </a:p>
          <a:p>
            <a:pPr lvl="3"/>
            <a:r>
              <a:rPr lang="fr-FR" dirty="0" smtClean="0"/>
              <a:t>mesures de protection, mesures médicales</a:t>
            </a:r>
          </a:p>
          <a:p>
            <a:pPr lvl="2"/>
            <a:r>
              <a:rPr lang="fr-FR" b="1" dirty="0" err="1" smtClean="0">
                <a:solidFill>
                  <a:srgbClr val="0000FF"/>
                </a:solidFill>
              </a:rPr>
              <a:t>III</a:t>
            </a:r>
            <a:r>
              <a:rPr lang="fr-FR" sz="1900" b="1" dirty="0" err="1" smtClean="0">
                <a:solidFill>
                  <a:srgbClr val="0000FF"/>
                </a:solidFill>
              </a:rPr>
              <a:t>ère</a:t>
            </a:r>
            <a:r>
              <a:rPr lang="fr-FR" b="1" dirty="0" smtClean="0"/>
              <a:t>: </a:t>
            </a:r>
            <a:r>
              <a:rPr lang="fr-FR" dirty="0" smtClean="0"/>
              <a:t>minimiser les effets des dommages subis</a:t>
            </a:r>
          </a:p>
          <a:p>
            <a:pPr lvl="3"/>
            <a:r>
              <a:rPr lang="fr-FR" dirty="0" smtClean="0"/>
              <a:t>réadaptation, aménagement de postes, reclassement.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725487"/>
          </a:xfrm>
          <a:ln>
            <a:solidFill>
              <a:srgbClr val="0070C0"/>
            </a:solidFill>
          </a:ln>
        </p:spPr>
        <p:txBody>
          <a:bodyPr/>
          <a:lstStyle/>
          <a:p>
            <a:r>
              <a:rPr lang="fr-FR" sz="3200" smtClean="0"/>
              <a:t>LE TRAVAIL (activité): </a:t>
            </a:r>
            <a:r>
              <a:rPr lang="fr-FR" sz="3200" b="1" smtClean="0">
                <a:solidFill>
                  <a:srgbClr val="0000FF"/>
                </a:solidFill>
              </a:rPr>
              <a:t>source de danger</a:t>
            </a:r>
            <a:endParaRPr lang="fr-FR" sz="3600" b="1" smtClean="0">
              <a:solidFill>
                <a:srgbClr val="0000FF"/>
              </a:solidFill>
            </a:endParaRPr>
          </a:p>
        </p:txBody>
      </p:sp>
      <p:sp>
        <p:nvSpPr>
          <p:cNvPr id="21507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38"/>
            <a:ext cx="8472488" cy="5357812"/>
          </a:xfrm>
          <a:ln>
            <a:solidFill>
              <a:srgbClr val="0070C0"/>
            </a:solidFill>
          </a:ln>
        </p:spPr>
        <p:txBody>
          <a:bodyPr/>
          <a:lstStyle/>
          <a:p>
            <a:pPr>
              <a:buFont typeface="Arial" pitchFamily="34" charset="0"/>
              <a:buNone/>
            </a:pPr>
            <a:endParaRPr lang="fr-FR" sz="2800" b="1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None/>
            </a:pPr>
            <a:r>
              <a:rPr lang="fr-FR" sz="2800" b="1" dirty="0" smtClean="0">
                <a:solidFill>
                  <a:srgbClr val="0000FF"/>
                </a:solidFill>
              </a:rPr>
              <a:t>Stat. AT/MP dans le Monde (OIT):   </a:t>
            </a:r>
            <a:r>
              <a:rPr lang="fr-FR" sz="2400" dirty="0" smtClean="0">
                <a:solidFill>
                  <a:srgbClr val="0000FF"/>
                </a:solidFill>
              </a:rPr>
              <a:t>Sous-déclaration</a:t>
            </a:r>
            <a:endParaRPr lang="fr-FR" sz="2800" dirty="0" smtClean="0">
              <a:solidFill>
                <a:srgbClr val="0000FF"/>
              </a:solidFill>
            </a:endParaRPr>
          </a:p>
          <a:p>
            <a:pPr lvl="1"/>
            <a:r>
              <a:rPr lang="fr-FR" dirty="0" smtClean="0"/>
              <a:t>2,78 millions de décès/ an        </a:t>
            </a:r>
          </a:p>
          <a:p>
            <a:pPr lvl="2"/>
            <a:r>
              <a:rPr lang="fr-FR" b="1" dirty="0" smtClean="0">
                <a:solidFill>
                  <a:srgbClr val="FF0000"/>
                </a:solidFill>
              </a:rPr>
              <a:t>1 mort  toutes les 15 sec</a:t>
            </a:r>
          </a:p>
          <a:p>
            <a:pPr lvl="1"/>
            <a:r>
              <a:rPr lang="fr-FR" dirty="0" smtClean="0"/>
              <a:t>270 millions AT    et    160 millions MP </a:t>
            </a:r>
            <a:endParaRPr lang="fr-FR" sz="3200" dirty="0" smtClean="0"/>
          </a:p>
          <a:p>
            <a:pPr>
              <a:buFont typeface="Arial" pitchFamily="34" charset="0"/>
              <a:buNone/>
            </a:pPr>
            <a:endParaRPr lang="fr-FR" sz="300" dirty="0" smtClean="0"/>
          </a:p>
          <a:p>
            <a:pPr>
              <a:buFont typeface="Arial" pitchFamily="34" charset="0"/>
              <a:buNone/>
            </a:pPr>
            <a:endParaRPr lang="fr-FR" sz="1600" b="1" dirty="0" smtClean="0">
              <a:solidFill>
                <a:srgbClr val="0000FF"/>
              </a:solidFill>
            </a:endParaRPr>
          </a:p>
          <a:p>
            <a:pPr>
              <a:buFont typeface="Arial" pitchFamily="34" charset="0"/>
              <a:buNone/>
            </a:pPr>
            <a:r>
              <a:rPr lang="fr-FR" sz="2800" b="1" dirty="0" smtClean="0">
                <a:solidFill>
                  <a:srgbClr val="0000FF"/>
                </a:solidFill>
              </a:rPr>
              <a:t>Statistiques</a:t>
            </a:r>
            <a:r>
              <a:rPr lang="fr-FR" sz="2800" dirty="0" smtClean="0">
                <a:solidFill>
                  <a:srgbClr val="0000FF"/>
                </a:solidFill>
              </a:rPr>
              <a:t> (Algérie) </a:t>
            </a:r>
            <a:r>
              <a:rPr lang="fr-FR" sz="2800" b="1" dirty="0" smtClean="0">
                <a:solidFill>
                  <a:srgbClr val="0000FF"/>
                </a:solidFill>
              </a:rPr>
              <a:t> </a:t>
            </a:r>
            <a:r>
              <a:rPr lang="fr-FR" sz="2800" dirty="0" smtClean="0">
                <a:solidFill>
                  <a:srgbClr val="0000FF"/>
                </a:solidFill>
              </a:rPr>
              <a:t>: </a:t>
            </a:r>
          </a:p>
          <a:p>
            <a:r>
              <a:rPr lang="fr-FR" sz="2800" dirty="0" smtClean="0">
                <a:solidFill>
                  <a:srgbClr val="0000FF"/>
                </a:solidFill>
              </a:rPr>
              <a:t>CNAS: 50.000- 80.000 AT/ an    et  ~ 800-1000 MP/an </a:t>
            </a:r>
          </a:p>
          <a:p>
            <a:r>
              <a:rPr lang="fr-FR" sz="2400" dirty="0" smtClean="0"/>
              <a:t>ONS: Population Algérie: 43.9 M (en 2020)</a:t>
            </a:r>
          </a:p>
          <a:p>
            <a:pPr lvl="1"/>
            <a:r>
              <a:rPr lang="fr-FR" sz="2400" dirty="0" smtClean="0"/>
              <a:t>Population active globale: 12.73 M</a:t>
            </a:r>
          </a:p>
          <a:p>
            <a:pPr lvl="1"/>
            <a:r>
              <a:rPr lang="fr-FR" sz="2400" dirty="0" smtClean="0"/>
              <a:t>Population occupée (ayant un emploi): 11.28 M</a:t>
            </a: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rgbClr val="663300"/>
          </a:solidFill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2400" b="1" smtClean="0">
                <a:solidFill>
                  <a:srgbClr val="FFFFFF"/>
                </a:solidFill>
              </a:rPr>
              <a:t>Evolution du nombre des accidents du travail de 1993 à 2003. </a:t>
            </a:r>
            <a:r>
              <a:rPr lang="fr-FR" sz="2000" b="1" smtClean="0">
                <a:solidFill>
                  <a:srgbClr val="FFFFFF"/>
                </a:solidFill>
              </a:rPr>
              <a:t>(statistiques nationales, CNAS 2004)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76200" y="990600"/>
          <a:ext cx="8839200" cy="5649913"/>
        </p:xfrm>
        <a:graphic>
          <a:graphicData uri="http://schemas.openxmlformats.org/presentationml/2006/ole">
            <p:oleObj spid="_x0000_s3074" name="Graphique" r:id="rId3" imgW="6096135" imgH="4076790" progId="MSGraph.Chart.8">
              <p:embed followColorScheme="full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pPr eaLnBrk="1" hangingPunct="1">
              <a:defRPr/>
            </a:pPr>
            <a:r>
              <a:rPr lang="fr-FR" sz="3200" b="1" smtClean="0"/>
              <a:t>Les coûts des accidents du travail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05800" cy="5562600"/>
          </a:xfrm>
          <a:ln>
            <a:solidFill>
              <a:srgbClr val="000099"/>
            </a:solidFill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lang="fr-FR" sz="2000" b="1" u="sng" dirty="0" smtClean="0">
                <a:solidFill>
                  <a:srgbClr val="000099"/>
                </a:solidFill>
              </a:rPr>
              <a:t>Les co</a:t>
            </a:r>
            <a:r>
              <a:rPr lang="fr-FR" sz="2000" b="1" u="sng" dirty="0" smtClean="0">
                <a:solidFill>
                  <a:srgbClr val="000099"/>
                </a:solidFill>
                <a:latin typeface="Times New Roman"/>
              </a:rPr>
              <a:t>û</a:t>
            </a:r>
            <a:r>
              <a:rPr lang="fr-FR" sz="2000" b="1" u="sng" dirty="0" smtClean="0">
                <a:solidFill>
                  <a:srgbClr val="000099"/>
                </a:solidFill>
              </a:rPr>
              <a:t>ts directs</a:t>
            </a:r>
            <a:r>
              <a:rPr lang="fr-FR" sz="2000" b="1" dirty="0" smtClean="0">
                <a:solidFill>
                  <a:srgbClr val="000099"/>
                </a:solidFill>
              </a:rPr>
              <a:t> :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soins de sant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, hospitalisation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indemnit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s journali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è</a:t>
            </a:r>
            <a:r>
              <a:rPr lang="fr-FR" sz="2000" b="1" dirty="0" smtClean="0">
                <a:cs typeface="Times New Roman" pitchFamily="18" charset="0"/>
              </a:rPr>
              <a:t>res, rentes</a:t>
            </a:r>
          </a:p>
          <a:p>
            <a:pPr marL="0" indent="0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Font typeface="Wingdings" pitchFamily="2" charset="2"/>
              <a:buNone/>
              <a:defRPr/>
            </a:pPr>
            <a:r>
              <a:rPr lang="fr-FR" sz="2000" b="1" u="sng" dirty="0" smtClean="0">
                <a:solidFill>
                  <a:srgbClr val="000099"/>
                </a:solidFill>
                <a:cs typeface="Times New Roman" pitchFamily="18" charset="0"/>
              </a:rPr>
              <a:t>les co</a:t>
            </a:r>
            <a:r>
              <a:rPr lang="fr-FR" sz="2000" b="1" u="sng" dirty="0" smtClean="0">
                <a:solidFill>
                  <a:srgbClr val="000099"/>
                </a:solidFill>
                <a:latin typeface="Times New Roman"/>
                <a:cs typeface="Times New Roman" pitchFamily="18" charset="0"/>
              </a:rPr>
              <a:t>û</a:t>
            </a:r>
            <a:r>
              <a:rPr lang="fr-FR" sz="2000" b="1" u="sng" dirty="0" smtClean="0">
                <a:solidFill>
                  <a:srgbClr val="000099"/>
                </a:solidFill>
                <a:cs typeface="Times New Roman" pitchFamily="18" charset="0"/>
              </a:rPr>
              <a:t>ts indirects</a:t>
            </a:r>
            <a:r>
              <a:rPr lang="fr-FR" sz="2000" b="1" dirty="0" smtClean="0">
                <a:solidFill>
                  <a:srgbClr val="000099"/>
                </a:solidFill>
                <a:cs typeface="Times New Roman" pitchFamily="18" charset="0"/>
              </a:rPr>
              <a:t> : </a:t>
            </a:r>
            <a:r>
              <a:rPr lang="fr-FR" sz="2000" b="1" dirty="0" smtClean="0">
                <a:cs typeface="Times New Roman" pitchFamily="18" charset="0"/>
              </a:rPr>
              <a:t>1 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à</a:t>
            </a:r>
            <a:r>
              <a:rPr lang="fr-FR" sz="2000" b="1" dirty="0" smtClean="0">
                <a:cs typeface="Times New Roman" pitchFamily="18" charset="0"/>
              </a:rPr>
              <a:t> 4 fois les 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directs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salariaux: remplacement du salari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 accident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, retraite anticip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e, nouveaux recrutements, recyclage du personnel;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mat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riels: d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gâts caus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s 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à</a:t>
            </a:r>
            <a:r>
              <a:rPr lang="fr-FR" sz="2000" b="1" dirty="0" smtClean="0">
                <a:cs typeface="Times New Roman" pitchFamily="18" charset="0"/>
              </a:rPr>
              <a:t> l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’</a:t>
            </a:r>
            <a:r>
              <a:rPr lang="fr-FR" sz="2000" b="1" dirty="0" smtClean="0">
                <a:cs typeface="Times New Roman" pitchFamily="18" charset="0"/>
              </a:rPr>
              <a:t>usine, au mat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riel, aux 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quipements et aux produits 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 de production: perte de temps, de production;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administratifs: gestion administrative de l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’</a:t>
            </a:r>
            <a:r>
              <a:rPr lang="fr-FR" sz="2000" b="1" dirty="0" smtClean="0">
                <a:cs typeface="Times New Roman" pitchFamily="18" charset="0"/>
              </a:rPr>
              <a:t>accident, contestations m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dicales ou juridiques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commerciaux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 </a:t>
            </a:r>
            <a:r>
              <a:rPr lang="fr-FR" sz="2000" b="1" dirty="0" smtClean="0">
                <a:cs typeface="Times New Roman" pitchFamily="18" charset="0"/>
              </a:rPr>
              <a:t>: retards de livraison, pertes de produits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sociaux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 </a:t>
            </a:r>
            <a:r>
              <a:rPr lang="fr-FR" sz="2000" b="1" dirty="0" smtClean="0">
                <a:cs typeface="Times New Roman" pitchFamily="18" charset="0"/>
              </a:rPr>
              <a:t>: baisse du moral des salari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s</a:t>
            </a:r>
          </a:p>
          <a:p>
            <a:pPr marL="476250" lvl="1" eaLnBrk="1" hangingPunct="1">
              <a:lnSpc>
                <a:spcPct val="90000"/>
              </a:lnSpc>
              <a:spcBef>
                <a:spcPct val="25000"/>
              </a:spcBef>
              <a:spcAft>
                <a:spcPct val="2500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defRPr/>
            </a:pPr>
            <a:r>
              <a:rPr lang="fr-FR" sz="2000" b="1" dirty="0" smtClean="0">
                <a:cs typeface="Times New Roman" pitchFamily="18" charset="0"/>
              </a:rPr>
              <a:t>co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û</a:t>
            </a:r>
            <a:r>
              <a:rPr lang="fr-FR" sz="2000" b="1" dirty="0" smtClean="0">
                <a:cs typeface="Times New Roman" pitchFamily="18" charset="0"/>
              </a:rPr>
              <a:t>ts de pr</a:t>
            </a:r>
            <a:r>
              <a:rPr lang="fr-FR" sz="2000" b="1" dirty="0" smtClean="0">
                <a:latin typeface="Times New Roman"/>
                <a:cs typeface="Times New Roman" pitchFamily="18" charset="0"/>
              </a:rPr>
              <a:t>é</a:t>
            </a:r>
            <a:r>
              <a:rPr lang="fr-FR" sz="2000" b="1" dirty="0" smtClean="0">
                <a:cs typeface="Times New Roman" pitchFamily="18" charset="0"/>
              </a:rPr>
              <a:t>vention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rgbClr val="006600"/>
          </a:solidFill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2400" b="1" smtClean="0">
                <a:solidFill>
                  <a:srgbClr val="FFFFFF"/>
                </a:solidFill>
              </a:rPr>
              <a:t>Nombre d’AT déclarés par branche professionnelle en 2003.</a:t>
            </a:r>
            <a:br>
              <a:rPr lang="fr-FR" sz="2400" b="1" smtClean="0">
                <a:solidFill>
                  <a:srgbClr val="FFFFFF"/>
                </a:solidFill>
              </a:rPr>
            </a:br>
            <a:r>
              <a:rPr lang="fr-FR" sz="2000" b="1" smtClean="0">
                <a:solidFill>
                  <a:srgbClr val="FFFFFF"/>
                </a:solidFill>
              </a:rPr>
              <a:t>(statistiques nationales, CNAS 2004)</a:t>
            </a:r>
            <a:endParaRPr lang="fr-FR" smtClean="0">
              <a:solidFill>
                <a:schemeClr val="tx1"/>
              </a:solidFill>
            </a:endParaRPr>
          </a:p>
        </p:txBody>
      </p:sp>
      <p:graphicFrame>
        <p:nvGraphicFramePr>
          <p:cNvPr id="6146" name="Object 8"/>
          <p:cNvGraphicFramePr>
            <a:graphicFrameLocks noChangeAspect="1"/>
          </p:cNvGraphicFramePr>
          <p:nvPr/>
        </p:nvGraphicFramePr>
        <p:xfrm>
          <a:off x="457200" y="1143000"/>
          <a:ext cx="8505825" cy="5648325"/>
        </p:xfrm>
        <a:graphic>
          <a:graphicData uri="http://schemas.openxmlformats.org/presentationml/2006/ole">
            <p:oleObj spid="_x0000_s1026" name="Graphique" r:id="rId3" imgW="8981958" imgH="5962740" progId="MSGraph.Chart.8">
              <p:embed followColorScheme="full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0"/>
          </a:xfrm>
        </p:spPr>
        <p:txBody>
          <a:bodyPr>
            <a:normAutofit fontScale="90000"/>
          </a:bodyPr>
          <a:lstStyle/>
          <a:p>
            <a:pPr algn="l" eaLnBrk="1" hangingPunct="1">
              <a:defRPr/>
            </a:pPr>
            <a:r>
              <a:rPr lang="fr-FR" sz="3200" smtClean="0">
                <a:solidFill>
                  <a:schemeClr val="tx1"/>
                </a:solidFill>
              </a:rPr>
              <a:t>Répartition des AES notifiés (registre) par année (1991-2005) </a:t>
            </a:r>
            <a:r>
              <a:rPr lang="fr-FR" sz="2800" smtClean="0">
                <a:solidFill>
                  <a:schemeClr val="tx1"/>
                </a:solidFill>
              </a:rPr>
              <a:t>Tebboune CB, Ghézini Y</a:t>
            </a:r>
          </a:p>
        </p:txBody>
      </p:sp>
      <p:graphicFrame>
        <p:nvGraphicFramePr>
          <p:cNvPr id="8" name="Object 3"/>
          <p:cNvGraphicFramePr>
            <a:graphicFrameLocks noGrp="1" noChangeAspect="1"/>
          </p:cNvGraphicFramePr>
          <p:nvPr>
            <p:ph type="chart" idx="1"/>
          </p:nvPr>
        </p:nvGraphicFramePr>
        <p:xfrm>
          <a:off x="153988" y="296863"/>
          <a:ext cx="8959850" cy="6481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2771775" y="2276475"/>
            <a:ext cx="1223963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latin typeface="Arial" charset="0"/>
                <a:cs typeface="Arial" charset="0"/>
              </a:rPr>
              <a:t>N=129</a:t>
            </a:r>
          </a:p>
          <a:p>
            <a:pPr>
              <a:spcBef>
                <a:spcPct val="50000"/>
              </a:spcBef>
            </a:pPr>
            <a:endParaRPr lang="fr-FR" sz="1800" b="1">
              <a:latin typeface="Arial" charset="0"/>
              <a:cs typeface="Arial" charset="0"/>
            </a:endParaRP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5580063" y="2276475"/>
            <a:ext cx="1223962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800" b="1">
                <a:latin typeface="Arial" charset="0"/>
                <a:cs typeface="Arial" charset="0"/>
              </a:rPr>
              <a:t>N=286</a:t>
            </a:r>
          </a:p>
          <a:p>
            <a:pPr>
              <a:spcBef>
                <a:spcPct val="50000"/>
              </a:spcBef>
            </a:pPr>
            <a:endParaRPr lang="fr-FR" sz="1800" b="1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282154"/>
          </a:xfrm>
          <a:ln>
            <a:solidFill>
              <a:srgbClr val="0000FF"/>
            </a:solidFill>
          </a:ln>
        </p:spPr>
        <p:txBody>
          <a:bodyPr>
            <a:noAutofit/>
          </a:bodyPr>
          <a:lstStyle/>
          <a:p>
            <a:r>
              <a:rPr lang="fr-FR" sz="2800" b="1" dirty="0" smtClean="0"/>
              <a:t>Accidents indemnisés </a:t>
            </a:r>
            <a:r>
              <a:rPr lang="fr-FR" sz="1600" dirty="0" smtClean="0"/>
              <a:t>(Chapitre III)  </a:t>
            </a:r>
            <a:r>
              <a:rPr lang="fr-FR" sz="2000" dirty="0" smtClean="0"/>
              <a:t>   </a:t>
            </a:r>
            <a:r>
              <a:rPr lang="fr-FR" sz="2800" b="1" dirty="0" smtClean="0"/>
              <a:t/>
            </a:r>
            <a:br>
              <a:rPr lang="fr-FR" sz="2800" b="1" dirty="0" smtClean="0"/>
            </a:br>
            <a:r>
              <a:rPr lang="fr-FR" sz="2800" b="1" dirty="0" smtClean="0">
                <a:solidFill>
                  <a:srgbClr val="0000FF"/>
                </a:solidFill>
              </a:rPr>
              <a:t>Loi n° 83-13 </a:t>
            </a:r>
            <a:r>
              <a:rPr lang="fr-FR" sz="2800" dirty="0" smtClean="0">
                <a:solidFill>
                  <a:srgbClr val="0000FF"/>
                </a:solidFill>
              </a:rPr>
              <a:t>du </a:t>
            </a:r>
            <a:r>
              <a:rPr lang="fr-FR" sz="2800" b="1" dirty="0" smtClean="0">
                <a:solidFill>
                  <a:srgbClr val="0000FF"/>
                </a:solidFill>
              </a:rPr>
              <a:t>2 juillet 1983 </a:t>
            </a:r>
            <a:r>
              <a:rPr lang="fr-FR" sz="2800" dirty="0" smtClean="0">
                <a:solidFill>
                  <a:srgbClr val="0000FF"/>
                </a:solidFill>
              </a:rPr>
              <a:t>relative aux </a:t>
            </a:r>
            <a:r>
              <a:rPr lang="fr-FR" sz="2800" b="1" dirty="0" smtClean="0">
                <a:solidFill>
                  <a:srgbClr val="0000FF"/>
                </a:solidFill>
              </a:rPr>
              <a:t>AT/MP  </a:t>
            </a:r>
            <a:r>
              <a:rPr lang="fr-FR" sz="2400" dirty="0" smtClean="0">
                <a:solidFill>
                  <a:srgbClr val="FF0000"/>
                </a:solidFill>
              </a:rPr>
              <a:t/>
            </a:r>
            <a:br>
              <a:rPr lang="fr-FR" sz="2400" dirty="0" smtClean="0">
                <a:solidFill>
                  <a:srgbClr val="FF0000"/>
                </a:solidFill>
              </a:rPr>
            </a:br>
            <a:r>
              <a:rPr lang="fr-FR" sz="2000" b="1" dirty="0" smtClean="0"/>
              <a:t>JO n° 28, du 5 juillet 1983</a:t>
            </a:r>
            <a:endParaRPr lang="fr-FR" sz="2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28800"/>
            <a:ext cx="8401080" cy="4968552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algn="ctr">
              <a:buNone/>
            </a:pPr>
            <a:endParaRPr lang="fr-FR" sz="1800" b="1" dirty="0" smtClean="0"/>
          </a:p>
          <a:p>
            <a:pPr algn="ctr">
              <a:buNone/>
            </a:pPr>
            <a:r>
              <a:rPr lang="fr-FR" sz="3200" i="1" dirty="0" smtClean="0"/>
              <a:t>Est considéré comme AT, </a:t>
            </a:r>
          </a:p>
          <a:p>
            <a:pPr algn="ctr">
              <a:buNone/>
            </a:pPr>
            <a:endParaRPr lang="fr-FR" sz="1200" b="1" dirty="0" smtClean="0"/>
          </a:p>
          <a:p>
            <a:pPr algn="ctr">
              <a:buNone/>
            </a:pPr>
            <a:r>
              <a:rPr lang="fr-FR" sz="3200" b="1" dirty="0" smtClean="0"/>
              <a:t>tout accident ayant entraîné: </a:t>
            </a:r>
            <a:r>
              <a:rPr lang="fr-FR" dirty="0" smtClean="0"/>
              <a:t>(A6)</a:t>
            </a:r>
            <a:endParaRPr lang="fr-FR" sz="3200" dirty="0" smtClean="0"/>
          </a:p>
          <a:p>
            <a:r>
              <a:rPr lang="fr-FR" sz="3400" b="1" dirty="0" smtClean="0">
                <a:solidFill>
                  <a:srgbClr val="0000FF"/>
                </a:solidFill>
              </a:rPr>
              <a:t>une lésion corporelle, </a:t>
            </a:r>
          </a:p>
          <a:p>
            <a:r>
              <a:rPr lang="fr-FR" sz="3400" b="1" dirty="0" smtClean="0">
                <a:solidFill>
                  <a:srgbClr val="0000FF"/>
                </a:solidFill>
              </a:rPr>
              <a:t>imputable à une </a:t>
            </a:r>
            <a:r>
              <a:rPr lang="fr-FR" sz="3400" b="1" i="1" dirty="0" smtClean="0">
                <a:solidFill>
                  <a:srgbClr val="0000FF"/>
                </a:solidFill>
              </a:rPr>
              <a:t>cause </a:t>
            </a:r>
          </a:p>
          <a:p>
            <a:pPr lvl="1"/>
            <a:r>
              <a:rPr lang="fr-FR" sz="3000" b="1" i="1" dirty="0" smtClean="0">
                <a:solidFill>
                  <a:srgbClr val="0000FF"/>
                </a:solidFill>
              </a:rPr>
              <a:t>soudaine, extérieure</a:t>
            </a:r>
            <a:r>
              <a:rPr lang="fr-FR" sz="3000" b="1" dirty="0" smtClean="0">
                <a:solidFill>
                  <a:srgbClr val="0000FF"/>
                </a:solidFill>
              </a:rPr>
              <a:t>, </a:t>
            </a:r>
          </a:p>
          <a:p>
            <a:r>
              <a:rPr lang="fr-FR" sz="3400" b="1" dirty="0" smtClean="0">
                <a:solidFill>
                  <a:srgbClr val="0000FF"/>
                </a:solidFill>
              </a:rPr>
              <a:t>et survenu dans le cadre de la </a:t>
            </a:r>
            <a:r>
              <a:rPr lang="fr-FR" sz="3400" b="1" i="1" dirty="0" smtClean="0">
                <a:solidFill>
                  <a:srgbClr val="0000FF"/>
                </a:solidFill>
              </a:rPr>
              <a:t>relation de travail.</a:t>
            </a:r>
            <a:r>
              <a:rPr lang="fr-FR" sz="3400" i="1" dirty="0" smtClean="0">
                <a:solidFill>
                  <a:srgbClr val="0000FF"/>
                </a:solidFill>
              </a:rPr>
              <a:t> </a:t>
            </a:r>
          </a:p>
          <a:p>
            <a:pPr>
              <a:buNone/>
            </a:pPr>
            <a:endParaRPr lang="fr-FR" sz="3400" dirty="0" smtClean="0"/>
          </a:p>
          <a:p>
            <a:pPr>
              <a:buNone/>
            </a:pPr>
            <a:endParaRPr lang="fr-FR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b="1" dirty="0" smtClean="0"/>
              <a:t>Définition légale de A.T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14422"/>
            <a:ext cx="4038600" cy="5214974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endParaRPr lang="fr-FR" dirty="0" smtClean="0"/>
          </a:p>
          <a:p>
            <a:pPr>
              <a:buNone/>
            </a:pPr>
            <a:r>
              <a:rPr lang="fr-FR" sz="2900" dirty="0" smtClean="0"/>
              <a:t>Loi n° 83-13 du 2/7/1983 relative aux  AT/MP,  </a:t>
            </a:r>
          </a:p>
          <a:p>
            <a:pPr>
              <a:buNone/>
            </a:pPr>
            <a:r>
              <a:rPr lang="fr-FR" sz="2900" dirty="0" smtClean="0"/>
              <a:t>Est considéré comme AT,</a:t>
            </a:r>
          </a:p>
          <a:p>
            <a:pPr>
              <a:buNone/>
            </a:pPr>
            <a:r>
              <a:rPr lang="fr-FR" sz="2900" dirty="0" smtClean="0"/>
              <a:t>A6: </a:t>
            </a:r>
            <a:r>
              <a:rPr lang="fr-FR" sz="2900" b="1" dirty="0" smtClean="0"/>
              <a:t>tout accident </a:t>
            </a:r>
            <a:r>
              <a:rPr lang="fr-FR" sz="3300" dirty="0" smtClean="0"/>
              <a:t>ayant entraîné: </a:t>
            </a:r>
            <a:endParaRPr lang="fr-FR" sz="3600" dirty="0" smtClean="0"/>
          </a:p>
          <a:p>
            <a:r>
              <a:rPr lang="fr-FR" sz="4400" b="1" dirty="0" smtClean="0">
                <a:solidFill>
                  <a:srgbClr val="0000FF"/>
                </a:solidFill>
              </a:rPr>
              <a:t>une lésion corporelle, </a:t>
            </a:r>
          </a:p>
          <a:p>
            <a:r>
              <a:rPr lang="fr-FR" sz="4400" b="1" dirty="0" smtClean="0">
                <a:solidFill>
                  <a:srgbClr val="0000FF"/>
                </a:solidFill>
              </a:rPr>
              <a:t>imputable à une cause: </a:t>
            </a:r>
          </a:p>
          <a:p>
            <a:pPr lvl="1"/>
            <a:r>
              <a:rPr lang="fr-FR" sz="3600" b="1" dirty="0" smtClean="0">
                <a:solidFill>
                  <a:srgbClr val="00B050"/>
                </a:solidFill>
              </a:rPr>
              <a:t>soudaine, </a:t>
            </a:r>
          </a:p>
          <a:p>
            <a:pPr lvl="1"/>
            <a:r>
              <a:rPr lang="fr-FR" sz="3600" b="1" dirty="0" smtClean="0">
                <a:solidFill>
                  <a:srgbClr val="00B050"/>
                </a:solidFill>
              </a:rPr>
              <a:t>extérieure, </a:t>
            </a:r>
          </a:p>
          <a:p>
            <a:r>
              <a:rPr lang="fr-FR" sz="4400" b="1" dirty="0" smtClean="0"/>
              <a:t>et survenu dans le cadre de la </a:t>
            </a:r>
            <a:r>
              <a:rPr lang="fr-FR" sz="4400" b="1" dirty="0" smtClean="0">
                <a:solidFill>
                  <a:srgbClr val="0000FF"/>
                </a:solidFill>
              </a:rPr>
              <a:t>relation de travail</a:t>
            </a:r>
            <a:r>
              <a:rPr lang="fr-FR" sz="4400" b="1" dirty="0" smtClean="0"/>
              <a:t>.</a:t>
            </a:r>
            <a:r>
              <a:rPr lang="fr-FR" sz="4400" dirty="0" smtClean="0"/>
              <a:t> </a:t>
            </a:r>
          </a:p>
          <a:p>
            <a:pPr>
              <a:buNone/>
            </a:pPr>
            <a:endParaRPr lang="fr-FR" sz="2900" dirty="0" smtClean="0"/>
          </a:p>
          <a:p>
            <a:pPr>
              <a:buNone/>
            </a:pPr>
            <a:r>
              <a:rPr lang="fr-FR" sz="2900" dirty="0" smtClean="0"/>
              <a:t>A. 7. l'accident survenu </a:t>
            </a:r>
            <a:r>
              <a:rPr lang="fr-FR" sz="2900" b="1" dirty="0" smtClean="0"/>
              <a:t>au cours</a:t>
            </a:r>
            <a:r>
              <a:rPr lang="fr-FR" sz="2900" dirty="0" smtClean="0"/>
              <a:t>: </a:t>
            </a:r>
          </a:p>
          <a:p>
            <a:r>
              <a:rPr lang="fr-FR" sz="2900" dirty="0" smtClean="0"/>
              <a:t>d'une </a:t>
            </a:r>
            <a:r>
              <a:rPr lang="fr-FR" sz="2900" i="1" dirty="0" smtClean="0"/>
              <a:t>mission exceptionnel ou permanent,  </a:t>
            </a:r>
            <a:r>
              <a:rPr lang="fr-FR" sz="2900" b="1" i="1" dirty="0" smtClean="0"/>
              <a:t>hors de l'établissement conformément aux instructions de l'employeur</a:t>
            </a:r>
            <a:r>
              <a:rPr lang="fr-FR" sz="2900" b="1" dirty="0" smtClean="0"/>
              <a:t>; </a:t>
            </a:r>
          </a:p>
          <a:p>
            <a:r>
              <a:rPr lang="fr-FR" sz="2900" i="1" dirty="0" smtClean="0"/>
              <a:t>à l'occasion de l'exercice d'un </a:t>
            </a:r>
            <a:r>
              <a:rPr lang="fr-FR" sz="2900" b="1" i="1" dirty="0" smtClean="0"/>
              <a:t>mandat politique </a:t>
            </a:r>
            <a:r>
              <a:rPr lang="fr-FR" sz="2900" i="1" dirty="0" smtClean="0"/>
              <a:t>électoral,  organisation de masse; … </a:t>
            </a:r>
            <a:endParaRPr lang="fr-FR" sz="2900" dirty="0" smtClean="0"/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14422"/>
            <a:ext cx="4038600" cy="5214974"/>
          </a:xfrm>
          <a:ln>
            <a:solidFill>
              <a:srgbClr val="00B050"/>
            </a:solidFill>
          </a:ln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dirty="0" smtClean="0"/>
              <a:t>Régime </a:t>
            </a:r>
            <a:r>
              <a:rPr lang="fr-FR" dirty="0" err="1" smtClean="0"/>
              <a:t>gl</a:t>
            </a:r>
            <a:r>
              <a:rPr lang="fr-FR" dirty="0" smtClean="0"/>
              <a:t> S.S ,art L.411 du Code SS : </a:t>
            </a:r>
          </a:p>
          <a:p>
            <a:pPr>
              <a:buNone/>
            </a:pPr>
            <a:r>
              <a:rPr lang="fr-FR" dirty="0" smtClean="0"/>
              <a:t>"Est considéré comme accident du travail </a:t>
            </a:r>
            <a:r>
              <a:rPr lang="fr-FR" b="1" i="1" dirty="0" smtClean="0">
                <a:solidFill>
                  <a:srgbClr val="0000FF"/>
                </a:solidFill>
              </a:rPr>
              <a:t>quelle </a:t>
            </a:r>
          </a:p>
          <a:p>
            <a:pPr>
              <a:buNone/>
            </a:pPr>
            <a:r>
              <a:rPr lang="fr-FR" b="1" i="1" dirty="0" smtClean="0">
                <a:solidFill>
                  <a:srgbClr val="0000FF"/>
                </a:solidFill>
              </a:rPr>
              <a:t>qu'en soit la cause, </a:t>
            </a:r>
          </a:p>
          <a:p>
            <a:r>
              <a:rPr lang="fr-FR" sz="4400" b="1" dirty="0" smtClean="0"/>
              <a:t>l'accident survenu </a:t>
            </a:r>
          </a:p>
          <a:p>
            <a:pPr lvl="1"/>
            <a:r>
              <a:rPr lang="fr-FR" sz="3600" b="1" dirty="0" smtClean="0">
                <a:solidFill>
                  <a:srgbClr val="0000FF"/>
                </a:solidFill>
              </a:rPr>
              <a:t>par le fait </a:t>
            </a:r>
          </a:p>
          <a:p>
            <a:pPr lvl="1"/>
            <a:r>
              <a:rPr lang="fr-FR" sz="3600" b="1" dirty="0" smtClean="0"/>
              <a:t>ou </a:t>
            </a:r>
            <a:r>
              <a:rPr lang="fr-FR" sz="3600" b="1" dirty="0" smtClean="0">
                <a:solidFill>
                  <a:srgbClr val="0000FF"/>
                </a:solidFill>
              </a:rPr>
              <a:t>à l'occasion du</a:t>
            </a:r>
            <a:r>
              <a:rPr lang="fr-FR" sz="3600" b="1" dirty="0" smtClean="0"/>
              <a:t> </a:t>
            </a:r>
            <a:r>
              <a:rPr lang="fr-FR" sz="3600" b="1" dirty="0" smtClean="0">
                <a:solidFill>
                  <a:srgbClr val="0000FF"/>
                </a:solidFill>
              </a:rPr>
              <a:t>travail </a:t>
            </a:r>
          </a:p>
          <a:p>
            <a:r>
              <a:rPr lang="fr-FR" sz="4400" b="1" dirty="0" smtClean="0"/>
              <a:t>à toute personne </a:t>
            </a:r>
          </a:p>
          <a:p>
            <a:pPr lvl="1"/>
            <a:r>
              <a:rPr lang="fr-FR" sz="3600" b="1" i="1" dirty="0" smtClean="0">
                <a:solidFill>
                  <a:srgbClr val="0000FF"/>
                </a:solidFill>
              </a:rPr>
              <a:t>salariée</a:t>
            </a:r>
            <a:r>
              <a:rPr lang="fr-FR" sz="3600" b="1" dirty="0" smtClean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fr-FR" sz="3600" dirty="0" smtClean="0"/>
              <a:t>ou</a:t>
            </a:r>
            <a:r>
              <a:rPr lang="fr-FR" sz="3600" b="1" dirty="0" smtClean="0"/>
              <a:t> </a:t>
            </a:r>
            <a:r>
              <a:rPr lang="fr-FR" sz="3600" b="1" dirty="0" smtClean="0">
                <a:solidFill>
                  <a:srgbClr val="0000FF"/>
                </a:solidFill>
              </a:rPr>
              <a:t>travaillant à quelque titre que ce soit </a:t>
            </a:r>
          </a:p>
          <a:p>
            <a:pPr lvl="2"/>
            <a:r>
              <a:rPr lang="fr-FR" sz="2900" dirty="0" smtClean="0"/>
              <a:t>pour un ou plusieurs employeurs ou chefs d'entreprise</a:t>
            </a:r>
            <a:r>
              <a:rPr lang="fr-FR" sz="2900" b="1" dirty="0" smtClean="0"/>
              <a:t>.</a:t>
            </a:r>
            <a:r>
              <a:rPr lang="fr-FR" sz="2900" dirty="0" smtClean="0"/>
              <a:t>"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* La jurisprudence des tribunaux caractérise l’AT par l’existence </a:t>
            </a:r>
          </a:p>
          <a:p>
            <a:r>
              <a:rPr lang="fr-FR" dirty="0" smtClean="0">
                <a:solidFill>
                  <a:srgbClr val="00B050"/>
                </a:solidFill>
              </a:rPr>
              <a:t>d</a:t>
            </a:r>
            <a:r>
              <a:rPr lang="fr-FR" b="1" dirty="0" smtClean="0">
                <a:solidFill>
                  <a:srgbClr val="00B050"/>
                </a:solidFill>
              </a:rPr>
              <a:t>’un fait accidentel </a:t>
            </a:r>
          </a:p>
          <a:p>
            <a:r>
              <a:rPr lang="fr-FR" b="1" dirty="0" smtClean="0"/>
              <a:t>et d’</a:t>
            </a:r>
            <a:r>
              <a:rPr lang="fr-FR" b="1" dirty="0" smtClean="0">
                <a:solidFill>
                  <a:srgbClr val="00B050"/>
                </a:solidFill>
              </a:rPr>
              <a:t>un lien entre le fait accidentel et le travail</a:t>
            </a:r>
            <a:r>
              <a:rPr lang="fr-FR" dirty="0" smtClean="0"/>
              <a:t>. Lorsque ces deux conditions sont réunies la victime bénéficie de la présomption d’imputabilité.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 smtClean="0"/>
              <a:t>Quels sont les 2 critères important de l’AT?  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4016" y="1600200"/>
            <a:ext cx="4499992" cy="4525963"/>
          </a:xfrm>
          <a:solidFill>
            <a:srgbClr val="A2F3FE"/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endParaRPr lang="fr-FR" b="1" dirty="0" smtClean="0">
              <a:solidFill>
                <a:srgbClr val="0000FF"/>
              </a:solidFill>
            </a:endParaRPr>
          </a:p>
          <a:p>
            <a:pPr marL="514350" indent="-514350">
              <a:buNone/>
            </a:pPr>
            <a:r>
              <a:rPr lang="fr-FR" b="1" dirty="0" smtClean="0">
                <a:solidFill>
                  <a:srgbClr val="0000FF"/>
                </a:solidFill>
              </a:rPr>
              <a:t>1.Relation de cause à effet</a:t>
            </a:r>
          </a:p>
          <a:p>
            <a:pPr marL="514350" indent="-514350">
              <a:buNone/>
            </a:pPr>
            <a:endParaRPr lang="fr-FR" b="1" dirty="0" smtClean="0">
              <a:solidFill>
                <a:srgbClr val="0000FF"/>
              </a:solidFill>
            </a:endParaRPr>
          </a:p>
          <a:p>
            <a:pPr lvl="1"/>
            <a:r>
              <a:rPr lang="fr-FR" sz="2800" b="1" dirty="0" smtClean="0"/>
              <a:t>Le Temps de travail</a:t>
            </a:r>
          </a:p>
          <a:p>
            <a:pPr lvl="1"/>
            <a:endParaRPr lang="fr-FR" b="1" dirty="0" smtClean="0"/>
          </a:p>
          <a:p>
            <a:pPr lvl="1"/>
            <a:r>
              <a:rPr lang="fr-FR" sz="2800" b="1" dirty="0" smtClean="0"/>
              <a:t>Le Lieu de travail</a:t>
            </a:r>
          </a:p>
          <a:p>
            <a:pPr lvl="1"/>
            <a:endParaRPr lang="fr-FR" b="1" dirty="0" smtClean="0"/>
          </a:p>
          <a:p>
            <a:pPr lvl="1"/>
            <a:r>
              <a:rPr lang="fr-FR" sz="2800" b="1" dirty="0" smtClean="0"/>
              <a:t>Le lien de subordination</a:t>
            </a:r>
            <a:endParaRPr lang="fr-FR" sz="28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60032" y="1600200"/>
            <a:ext cx="4176464" cy="4525963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buNone/>
            </a:pPr>
            <a:endParaRPr lang="fr-FR" b="1" dirty="0" smtClean="0">
              <a:solidFill>
                <a:srgbClr val="0000FF"/>
              </a:solidFill>
            </a:endParaRPr>
          </a:p>
          <a:p>
            <a:pPr>
              <a:buNone/>
            </a:pPr>
            <a:r>
              <a:rPr lang="fr-FR" b="1" dirty="0" smtClean="0">
                <a:solidFill>
                  <a:srgbClr val="0000FF"/>
                </a:solidFill>
              </a:rPr>
              <a:t>2. Matérialité de l’accident</a:t>
            </a:r>
          </a:p>
          <a:p>
            <a:pPr lvl="2"/>
            <a:r>
              <a:rPr lang="fr-FR" dirty="0" smtClean="0"/>
              <a:t>3 éléments</a:t>
            </a:r>
          </a:p>
          <a:p>
            <a:pPr lvl="2"/>
            <a:endParaRPr lang="fr-FR" sz="1100" dirty="0" smtClean="0"/>
          </a:p>
          <a:p>
            <a:pPr lvl="1"/>
            <a:r>
              <a:rPr lang="fr-FR" sz="2800" b="1" dirty="0" smtClean="0"/>
              <a:t>Lésion corporelle</a:t>
            </a:r>
          </a:p>
          <a:p>
            <a:pPr lvl="1"/>
            <a:endParaRPr lang="fr-FR" b="1" dirty="0" smtClean="0"/>
          </a:p>
          <a:p>
            <a:pPr lvl="1"/>
            <a:r>
              <a:rPr lang="fr-FR" sz="2800" b="1" dirty="0" smtClean="0"/>
              <a:t>Soudaineté</a:t>
            </a:r>
          </a:p>
          <a:p>
            <a:pPr lvl="1"/>
            <a:endParaRPr lang="fr-FR" b="1" dirty="0" smtClean="0"/>
          </a:p>
          <a:p>
            <a:pPr lvl="1"/>
            <a:r>
              <a:rPr lang="fr-FR" sz="2800" b="1" dirty="0" smtClean="0"/>
              <a:t>Origine extérieure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  <p:bldP spid="4" grpId="0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fr-FR" sz="3200" b="1" dirty="0" smtClean="0"/>
              <a:t>Au quotidien, les situations varient…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124745"/>
            <a:ext cx="4038600" cy="3816424"/>
          </a:xfrm>
          <a:solidFill>
            <a:srgbClr val="A2F3FE"/>
          </a:solidFill>
          <a:ln>
            <a:solidFill>
              <a:srgbClr val="0000FF"/>
            </a:solidFill>
          </a:ln>
        </p:spPr>
        <p:txBody>
          <a:bodyPr/>
          <a:lstStyle/>
          <a:p>
            <a:pPr>
              <a:buNone/>
            </a:pPr>
            <a:r>
              <a:rPr lang="fr-FR" dirty="0" smtClean="0"/>
              <a:t>1. Mr R.D, ouvrier sur chantier BTP, sans casque, vient de recevoir une brique sur la tête: </a:t>
            </a:r>
          </a:p>
          <a:p>
            <a:pPr lvl="1"/>
            <a:r>
              <a:rPr lang="fr-FR" dirty="0" smtClean="0"/>
              <a:t>Diagnostic:        </a:t>
            </a:r>
            <a:r>
              <a:rPr lang="fr-FR" b="1" dirty="0" smtClean="0">
                <a:solidFill>
                  <a:srgbClr val="0000FF"/>
                </a:solidFill>
              </a:rPr>
              <a:t>contusion avec plaie</a:t>
            </a:r>
          </a:p>
          <a:p>
            <a:r>
              <a:rPr lang="fr-FR" dirty="0" smtClean="0"/>
              <a:t>?...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124745"/>
            <a:ext cx="4038600" cy="3816423"/>
          </a:xfrm>
          <a:solidFill>
            <a:schemeClr val="tx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/>
          <a:lstStyle/>
          <a:p>
            <a:pPr>
              <a:buNone/>
            </a:pPr>
            <a:r>
              <a:rPr lang="fr-FR" dirty="0" smtClean="0"/>
              <a:t>2. Mr A.M, opérateur sur site au sud, est pris de malaise en fin de journée caniculaire. Evacué en urgence</a:t>
            </a:r>
          </a:p>
          <a:p>
            <a:pPr lvl="1"/>
            <a:r>
              <a:rPr lang="fr-FR" dirty="0" smtClean="0"/>
              <a:t>Vous diagnostiquez une </a:t>
            </a:r>
            <a:r>
              <a:rPr lang="fr-FR" b="1" dirty="0" smtClean="0">
                <a:solidFill>
                  <a:srgbClr val="0000FF"/>
                </a:solidFill>
              </a:rPr>
              <a:t>insolation</a:t>
            </a:r>
            <a:r>
              <a:rPr lang="fr-FR" dirty="0" smtClean="0"/>
              <a:t>.</a:t>
            </a:r>
          </a:p>
          <a:p>
            <a:r>
              <a:rPr lang="fr-FR" dirty="0" smtClean="0"/>
              <a:t>?...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1907705" y="5157192"/>
            <a:ext cx="51125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dirty="0" smtClean="0"/>
              <a:t>S’agit-il de AT ? ATJ? MP?  MPC? AVP?...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fr-FR" sz="3200" b="1" dirty="0" smtClean="0"/>
              <a:t>Au quotidien, les situations varient…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67544" y="1000108"/>
            <a:ext cx="4038600" cy="4231941"/>
          </a:xfrm>
          <a:solidFill>
            <a:schemeClr val="accent4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smtClean="0"/>
              <a:t>3. Mme Z. Fatima, infirmière, avant d’aller au travail, dépose son fils de 4 ans à la crèche. </a:t>
            </a:r>
          </a:p>
          <a:p>
            <a:r>
              <a:rPr lang="fr-FR" dirty="0" smtClean="0"/>
              <a:t>En sortant, elle est renversée par une voiture.</a:t>
            </a:r>
          </a:p>
          <a:p>
            <a:pPr lvl="1"/>
            <a:r>
              <a:rPr lang="fr-FR" dirty="0" smtClean="0"/>
              <a:t>Dg: </a:t>
            </a:r>
            <a:r>
              <a:rPr lang="fr-FR" b="1" dirty="0" smtClean="0">
                <a:solidFill>
                  <a:srgbClr val="0000FF"/>
                </a:solidFill>
              </a:rPr>
              <a:t>fracture péroné D</a:t>
            </a:r>
          </a:p>
          <a:p>
            <a:r>
              <a:rPr lang="fr-FR" b="1" dirty="0" smtClean="0">
                <a:solidFill>
                  <a:srgbClr val="0000FF"/>
                </a:solidFill>
              </a:rPr>
              <a:t>A </a:t>
            </a:r>
          </a:p>
          <a:p>
            <a:pPr lvl="1"/>
            <a:r>
              <a:rPr lang="fr-FR" b="1" dirty="0" smtClean="0">
                <a:solidFill>
                  <a:srgbClr val="0000FF"/>
                </a:solidFill>
              </a:rPr>
              <a:t>AES ? </a:t>
            </a:r>
          </a:p>
          <a:p>
            <a:pPr lvl="1"/>
            <a:endParaRPr lang="fr-FR" b="1" dirty="0" smtClean="0">
              <a:solidFill>
                <a:srgbClr val="0000FF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058435"/>
            <a:ext cx="4038600" cy="4156515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4. Mr élève dans établissement technique </a:t>
            </a:r>
          </a:p>
          <a:p>
            <a:r>
              <a:rPr lang="fr-FR" dirty="0" smtClean="0"/>
              <a:t>se brûle avec un chalumeau.</a:t>
            </a:r>
          </a:p>
          <a:p>
            <a:pPr lvl="1"/>
            <a:r>
              <a:rPr lang="fr-FR" dirty="0" smtClean="0"/>
              <a:t>Dg: </a:t>
            </a:r>
            <a:r>
              <a:rPr lang="fr-FR" b="1" dirty="0" smtClean="0">
                <a:solidFill>
                  <a:srgbClr val="0000FF"/>
                </a:solidFill>
              </a:rPr>
              <a:t>brûlure de 2</a:t>
            </a:r>
            <a:r>
              <a:rPr lang="fr-FR" b="1" baseline="30000" dirty="0" smtClean="0">
                <a:solidFill>
                  <a:srgbClr val="0000FF"/>
                </a:solidFill>
              </a:rPr>
              <a:t>ème</a:t>
            </a:r>
            <a:r>
              <a:rPr lang="fr-FR" b="1" dirty="0" smtClean="0">
                <a:solidFill>
                  <a:srgbClr val="0000FF"/>
                </a:solidFill>
              </a:rPr>
              <a:t> degré à la main G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7317" y="5435932"/>
            <a:ext cx="51608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 smtClean="0"/>
              <a:t>S’agit-il de AT ? ATJ? MP?  MPC? AVP?...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25" y="71438"/>
            <a:ext cx="7072313" cy="5303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642938" y="5351463"/>
            <a:ext cx="7858125" cy="1292662"/>
          </a:xfrm>
          <a:prstGeom prst="rect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fr-FR" sz="3200" b="1" dirty="0">
                <a:solidFill>
                  <a:srgbClr val="0000FF"/>
                </a:solidFill>
              </a:rPr>
              <a:t>Risque biologique:   AES </a:t>
            </a:r>
            <a:r>
              <a:rPr lang="fr-FR" sz="3200" b="1" dirty="0" smtClean="0">
                <a:solidFill>
                  <a:srgbClr val="0000FF"/>
                </a:solidFill>
              </a:rPr>
              <a:t>/ HVB &amp; C </a:t>
            </a:r>
            <a:r>
              <a:rPr lang="fr-FR" sz="2000" dirty="0" smtClean="0">
                <a:solidFill>
                  <a:srgbClr val="0000FF"/>
                </a:solidFill>
              </a:rPr>
              <a:t>CHUO</a:t>
            </a:r>
            <a:endParaRPr lang="fr-FR" sz="200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fr-FR" sz="2000" dirty="0">
                <a:solidFill>
                  <a:srgbClr val="0000FF"/>
                </a:solidFill>
              </a:rPr>
              <a:t>*</a:t>
            </a:r>
            <a:r>
              <a:rPr lang="fr-FR" sz="2000" dirty="0" err="1">
                <a:solidFill>
                  <a:srgbClr val="0000FF"/>
                </a:solidFill>
              </a:rPr>
              <a:t>Tebboune</a:t>
            </a:r>
            <a:r>
              <a:rPr lang="fr-FR" sz="2000" dirty="0">
                <a:solidFill>
                  <a:srgbClr val="0000FF"/>
                </a:solidFill>
              </a:rPr>
              <a:t> CB</a:t>
            </a:r>
            <a:endParaRPr lang="fr-FR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1071538" y="2000240"/>
          <a:ext cx="7715311" cy="350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82"/>
                <a:gridCol w="2454868"/>
                <a:gridCol w="1402787"/>
                <a:gridCol w="2571774"/>
              </a:tblGrid>
              <a:tr h="948319">
                <a:tc>
                  <a:txBody>
                    <a:bodyPr/>
                    <a:lstStyle/>
                    <a:p>
                      <a:pPr algn="ctr"/>
                      <a:endParaRPr lang="fr-FR" sz="1600" dirty="0" smtClean="0">
                        <a:solidFill>
                          <a:srgbClr val="0000FF"/>
                        </a:solidFill>
                      </a:endParaRPr>
                    </a:p>
                    <a:p>
                      <a:pPr algn="ctr"/>
                      <a:r>
                        <a:rPr lang="fr-FR" sz="1600" dirty="0" smtClean="0">
                          <a:solidFill>
                            <a:srgbClr val="0000FF"/>
                          </a:solidFill>
                        </a:rPr>
                        <a:t>VIRUS</a:t>
                      </a:r>
                      <a:endParaRPr lang="fr-FR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rgbClr val="0EE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smtClean="0">
                          <a:solidFill>
                            <a:srgbClr val="0000FF"/>
                          </a:solidFill>
                        </a:rPr>
                        <a:t>Taux</a:t>
                      </a:r>
                      <a:r>
                        <a:rPr lang="fr-FR" sz="1600" baseline="0" dirty="0" smtClean="0">
                          <a:solidFill>
                            <a:srgbClr val="0000FF"/>
                          </a:solidFill>
                        </a:rPr>
                        <a:t> de transmission après  APC</a:t>
                      </a:r>
                      <a:r>
                        <a:rPr lang="fr-FR" sz="1600" baseline="0" dirty="0" smtClean="0">
                          <a:solidFill>
                            <a:srgbClr val="0000FF"/>
                          </a:solidFill>
                          <a:latin typeface="Calibri"/>
                        </a:rPr>
                        <a:t>**</a:t>
                      </a:r>
                      <a:endParaRPr lang="fr-FR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rgbClr val="0EE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rgbClr val="0000FF"/>
                          </a:solidFill>
                        </a:rPr>
                        <a:t>Vaccin</a:t>
                      </a:r>
                      <a:endParaRPr lang="fr-FR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rgbClr val="0EE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>
                          <a:solidFill>
                            <a:srgbClr val="0000FF"/>
                          </a:solidFill>
                        </a:rPr>
                        <a:t>Prophylaxie</a:t>
                      </a:r>
                      <a:endParaRPr lang="fr-FR" sz="18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rgbClr val="0EE9F4"/>
                    </a:solidFill>
                  </a:tcPr>
                </a:tc>
              </a:tr>
              <a:tr h="806983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VIH</a:t>
                      </a:r>
                      <a:endParaRPr lang="fr-FR" sz="18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>
                          <a:solidFill>
                            <a:srgbClr val="0000FF"/>
                          </a:solidFill>
                        </a:rPr>
                        <a:t>0.03 </a:t>
                      </a:r>
                      <a:r>
                        <a:rPr lang="fr-FR" sz="2800" b="1" dirty="0" smtClean="0">
                          <a:solidFill>
                            <a:srgbClr val="0000FF"/>
                          </a:solidFill>
                          <a:latin typeface="Calibri"/>
                        </a:rPr>
                        <a:t>%</a:t>
                      </a:r>
                      <a:endParaRPr lang="fr-FR" sz="2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Non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Oui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799261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VHC</a:t>
                      </a:r>
                      <a:endParaRPr lang="fr-FR" sz="18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>
                          <a:solidFill>
                            <a:srgbClr val="0000FF"/>
                          </a:solidFill>
                        </a:rPr>
                        <a:t>0.5 - 3  </a:t>
                      </a:r>
                      <a:r>
                        <a:rPr lang="fr-FR" sz="2800" b="1" dirty="0" smtClean="0">
                          <a:solidFill>
                            <a:srgbClr val="0000FF"/>
                          </a:solidFill>
                          <a:latin typeface="Calibri"/>
                        </a:rPr>
                        <a:t>%</a:t>
                      </a:r>
                      <a:endParaRPr lang="fr-FR" sz="2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Non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Non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945898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VHB</a:t>
                      </a:r>
                      <a:endParaRPr lang="fr-FR" sz="1800" b="1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>
                          <a:solidFill>
                            <a:srgbClr val="0000FF"/>
                          </a:solidFill>
                        </a:rPr>
                        <a:t>6 - 30 </a:t>
                      </a:r>
                      <a:r>
                        <a:rPr lang="fr-FR" sz="2800" b="1" dirty="0" smtClean="0">
                          <a:solidFill>
                            <a:srgbClr val="0000FF"/>
                          </a:solidFill>
                          <a:latin typeface="Calibri"/>
                        </a:rPr>
                        <a:t>%</a:t>
                      </a:r>
                      <a:endParaRPr lang="fr-FR" sz="2800" b="1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Oui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smtClean="0"/>
                        <a:t>Oui</a:t>
                      </a:r>
                      <a:endParaRPr lang="fr-FR" sz="24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14512" y="214313"/>
            <a:ext cx="65008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3200" b="1" dirty="0">
                <a:solidFill>
                  <a:srgbClr val="0000FF"/>
                </a:solidFill>
                <a:latin typeface="Calibri"/>
              </a:rPr>
              <a:t>Risque </a:t>
            </a:r>
            <a:r>
              <a:rPr lang="fr-FR" b="1" dirty="0" smtClean="0">
                <a:solidFill>
                  <a:srgbClr val="0000FF"/>
                </a:solidFill>
                <a:latin typeface="Calibri"/>
              </a:rPr>
              <a:t>Accident </a:t>
            </a:r>
            <a:r>
              <a:rPr lang="fr-FR" b="1" dirty="0">
                <a:solidFill>
                  <a:srgbClr val="0000FF"/>
                </a:solidFill>
                <a:latin typeface="Calibri"/>
              </a:rPr>
              <a:t>percutané</a:t>
            </a:r>
            <a:r>
              <a:rPr lang="fr-FR" sz="3600" b="1" dirty="0" smtClean="0">
                <a:solidFill>
                  <a:srgbClr val="0000FF"/>
                </a:solidFill>
                <a:latin typeface="Calibri"/>
              </a:rPr>
              <a:t>,  </a:t>
            </a:r>
            <a:r>
              <a:rPr lang="fr-FR" sz="3200" b="1" dirty="0" smtClean="0">
                <a:solidFill>
                  <a:srgbClr val="0000FF"/>
                </a:solidFill>
                <a:latin typeface="Calibri"/>
              </a:rPr>
              <a:t>APC </a:t>
            </a:r>
            <a:endParaRPr lang="fr-FR" sz="3200" b="1" dirty="0">
              <a:solidFill>
                <a:srgbClr val="0000FF"/>
              </a:solidFill>
              <a:latin typeface="Calibri"/>
            </a:endParaRPr>
          </a:p>
          <a:p>
            <a:pPr algn="ctr">
              <a:defRPr/>
            </a:pPr>
            <a:r>
              <a:rPr lang="fr-FR" sz="1800" b="1" dirty="0"/>
              <a:t>Enquête </a:t>
            </a:r>
            <a:r>
              <a:rPr lang="fr-FR" sz="1800" b="1" dirty="0" smtClean="0"/>
              <a:t> *</a:t>
            </a:r>
            <a:r>
              <a:rPr lang="fr-FR" sz="1800" b="1" dirty="0"/>
              <a:t>AFSSAPS –GERES </a:t>
            </a:r>
          </a:p>
          <a:p>
            <a:pPr algn="ctr">
              <a:defRPr/>
            </a:pPr>
            <a:r>
              <a:rPr lang="fr-FR" sz="1800" b="1" dirty="0"/>
              <a:t>(2005-2006</a:t>
            </a:r>
            <a:r>
              <a:rPr lang="fr-FR" sz="1600" dirty="0"/>
              <a:t>)</a:t>
            </a:r>
            <a:endParaRPr lang="fr-F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Est considéré comme AT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fr-FR" dirty="0" smtClean="0"/>
              <a:t>quelle qu'en soit la cause, </a:t>
            </a:r>
          </a:p>
          <a:p>
            <a:r>
              <a:rPr lang="fr-FR" dirty="0" smtClean="0"/>
              <a:t>l'accident survenu par </a:t>
            </a:r>
          </a:p>
          <a:p>
            <a:pPr lvl="1"/>
            <a:r>
              <a:rPr lang="fr-FR" dirty="0" smtClean="0"/>
              <a:t>le fait ou à l'occasion du travail à toute personne salariée </a:t>
            </a:r>
          </a:p>
          <a:p>
            <a:pPr lvl="1"/>
            <a:r>
              <a:rPr lang="fr-FR" dirty="0" smtClean="0"/>
              <a:t>ou travaillant, à quelque titre </a:t>
            </a:r>
          </a:p>
          <a:p>
            <a:pPr lvl="1"/>
            <a:r>
              <a:rPr lang="fr-FR" dirty="0" smtClean="0"/>
              <a:t>ou en quelque lieu que ce soit, </a:t>
            </a:r>
          </a:p>
          <a:p>
            <a:r>
              <a:rPr lang="fr-FR" dirty="0" smtClean="0"/>
              <a:t>pour un ou plusieurs employeurs ou chefs d'entreprise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857232"/>
          </a:xfrm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fr-FR" sz="3200" b="1" dirty="0" smtClean="0">
                <a:solidFill>
                  <a:srgbClr val="FF0000"/>
                </a:solidFill>
              </a:rPr>
              <a:t>Autres  cas AT ?  </a:t>
            </a:r>
            <a:r>
              <a:rPr lang="fr-FR" sz="2400" b="1" dirty="0" smtClean="0">
                <a:solidFill>
                  <a:srgbClr val="FF0000"/>
                </a:solidFill>
              </a:rPr>
              <a:t/>
            </a:r>
            <a:br>
              <a:rPr lang="fr-FR" sz="2400" b="1" dirty="0" smtClean="0">
                <a:solidFill>
                  <a:srgbClr val="FF0000"/>
                </a:solidFill>
              </a:rPr>
            </a:br>
            <a:r>
              <a:rPr lang="fr-FR" sz="2000" dirty="0" smtClean="0"/>
              <a:t>Loi n° 83-13 du 2 juillet 1983 relative aux AT/MP  </a:t>
            </a:r>
            <a:endParaRPr lang="fr-FR" sz="20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052736"/>
            <a:ext cx="8401080" cy="5715039"/>
          </a:xfrm>
          <a:ln>
            <a:solidFill>
              <a:srgbClr val="0000FF"/>
            </a:solidFill>
          </a:ln>
        </p:spPr>
        <p:txBody>
          <a:bodyPr>
            <a:normAutofit fontScale="55000" lnSpcReduction="20000"/>
          </a:bodyPr>
          <a:lstStyle/>
          <a:p>
            <a:pPr>
              <a:buNone/>
            </a:pPr>
            <a:endParaRPr lang="fr-FR" sz="1600" dirty="0" smtClean="0"/>
          </a:p>
          <a:p>
            <a:pPr>
              <a:buNone/>
            </a:pPr>
            <a:r>
              <a:rPr lang="fr-FR" sz="4400" dirty="0" smtClean="0"/>
              <a:t>l'accident </a:t>
            </a:r>
            <a:r>
              <a:rPr lang="fr-FR" sz="4400" dirty="0"/>
              <a:t>survenu </a:t>
            </a:r>
            <a:r>
              <a:rPr lang="fr-FR" sz="4400" b="1" dirty="0"/>
              <a:t>au </a:t>
            </a:r>
            <a:r>
              <a:rPr lang="fr-FR" sz="4400" b="1" dirty="0" smtClean="0"/>
              <a:t>cours de</a:t>
            </a:r>
            <a:r>
              <a:rPr lang="fr-FR" sz="4400" dirty="0" smtClean="0"/>
              <a:t>: (A7)  *</a:t>
            </a:r>
            <a:endParaRPr lang="fr-FR" sz="4400" dirty="0"/>
          </a:p>
          <a:p>
            <a:r>
              <a:rPr lang="fr-FR" sz="4400" b="1" dirty="0" smtClean="0">
                <a:solidFill>
                  <a:srgbClr val="0000FF"/>
                </a:solidFill>
              </a:rPr>
              <a:t>M</a:t>
            </a:r>
            <a:r>
              <a:rPr lang="fr-FR" sz="4400" b="1" i="1" dirty="0" smtClean="0">
                <a:solidFill>
                  <a:srgbClr val="0000FF"/>
                </a:solidFill>
              </a:rPr>
              <a:t>ission</a:t>
            </a:r>
            <a:r>
              <a:rPr lang="fr-FR" sz="4400" i="1" dirty="0" smtClean="0">
                <a:solidFill>
                  <a:srgbClr val="0000FF"/>
                </a:solidFill>
              </a:rPr>
              <a:t> </a:t>
            </a:r>
            <a:r>
              <a:rPr lang="fr-FR" sz="4400" i="1" dirty="0"/>
              <a:t>à caractère exceptionnel ou permanent, </a:t>
            </a:r>
            <a:endParaRPr lang="fr-FR" sz="4400" i="1" dirty="0" smtClean="0"/>
          </a:p>
          <a:p>
            <a:pPr lvl="1"/>
            <a:r>
              <a:rPr lang="fr-FR" sz="3600" i="1" dirty="0" smtClean="0"/>
              <a:t>accomplie </a:t>
            </a:r>
            <a:r>
              <a:rPr lang="fr-FR" sz="3600" b="1" i="1" dirty="0"/>
              <a:t>hors de l'établissement </a:t>
            </a:r>
            <a:endParaRPr lang="fr-FR" sz="3600" b="1" i="1" dirty="0" smtClean="0"/>
          </a:p>
          <a:p>
            <a:pPr lvl="1"/>
            <a:r>
              <a:rPr lang="fr-FR" sz="3600" b="1" i="1" dirty="0" smtClean="0"/>
              <a:t>conformément </a:t>
            </a:r>
            <a:r>
              <a:rPr lang="fr-FR" sz="3600" b="1" i="1" dirty="0"/>
              <a:t>aux instructions de l'employeur</a:t>
            </a:r>
            <a:r>
              <a:rPr lang="fr-FR" sz="3600" b="1" dirty="0"/>
              <a:t>; </a:t>
            </a:r>
          </a:p>
          <a:p>
            <a:r>
              <a:rPr lang="fr-FR" sz="4400" b="1" i="1" dirty="0" smtClean="0">
                <a:solidFill>
                  <a:srgbClr val="0000FF"/>
                </a:solidFill>
              </a:rPr>
              <a:t>Exercice d'un mandat </a:t>
            </a:r>
            <a:r>
              <a:rPr lang="fr-FR" sz="4400" b="1" i="1" dirty="0" smtClean="0"/>
              <a:t>politique </a:t>
            </a:r>
            <a:r>
              <a:rPr lang="fr-FR" sz="4400" i="1" dirty="0" smtClean="0"/>
              <a:t>électoral, </a:t>
            </a:r>
          </a:p>
          <a:p>
            <a:pPr lvl="1"/>
            <a:r>
              <a:rPr lang="fr-FR" sz="4000" i="1" dirty="0" smtClean="0"/>
              <a:t>ou au titre d'une organisation de masse; </a:t>
            </a:r>
            <a:endParaRPr lang="fr-FR" sz="4000" dirty="0" smtClean="0"/>
          </a:p>
          <a:p>
            <a:r>
              <a:rPr lang="fr-FR" sz="4400" b="1" i="1" dirty="0" smtClean="0">
                <a:solidFill>
                  <a:srgbClr val="0000FF"/>
                </a:solidFill>
              </a:rPr>
              <a:t>Cours </a:t>
            </a:r>
            <a:r>
              <a:rPr lang="fr-FR" sz="4400" b="1" i="1" dirty="0">
                <a:solidFill>
                  <a:srgbClr val="0000FF"/>
                </a:solidFill>
              </a:rPr>
              <a:t>d'études </a:t>
            </a:r>
            <a:r>
              <a:rPr lang="fr-FR" sz="4400" i="1" dirty="0"/>
              <a:t>suivis régulièrement </a:t>
            </a:r>
            <a:endParaRPr lang="fr-FR" sz="4400" i="1" dirty="0" smtClean="0"/>
          </a:p>
          <a:p>
            <a:pPr lvl="1"/>
            <a:r>
              <a:rPr lang="fr-FR" sz="3600" i="1" dirty="0" smtClean="0"/>
              <a:t>en </a:t>
            </a:r>
            <a:r>
              <a:rPr lang="fr-FR" sz="3600" i="1" dirty="0"/>
              <a:t>dehors des heures de travail. </a:t>
            </a:r>
            <a:endParaRPr lang="fr-FR" sz="3600" dirty="0"/>
          </a:p>
          <a:p>
            <a:pPr>
              <a:buNone/>
            </a:pPr>
            <a:endParaRPr lang="fr-FR" sz="2200" dirty="0" smtClean="0"/>
          </a:p>
          <a:p>
            <a:pPr>
              <a:buNone/>
            </a:pPr>
            <a:r>
              <a:rPr lang="fr-FR" sz="4400" i="1" dirty="0" smtClean="0"/>
              <a:t>même si l</a:t>
            </a:r>
            <a:r>
              <a:rPr lang="fr-FR" sz="4400" b="1" i="1" dirty="0" smtClean="0"/>
              <a:t>'intéressé n'a pas la qualité d'assuré social</a:t>
            </a:r>
            <a:r>
              <a:rPr lang="fr-FR" sz="4400" i="1" dirty="0" smtClean="0"/>
              <a:t>, </a:t>
            </a:r>
          </a:p>
          <a:p>
            <a:pPr>
              <a:buNone/>
            </a:pPr>
            <a:r>
              <a:rPr lang="fr-FR" sz="4400" i="1" dirty="0" smtClean="0"/>
              <a:t>	l'accident survenu au cours de; A8</a:t>
            </a:r>
            <a:endParaRPr lang="fr-FR" sz="4400" dirty="0" smtClean="0"/>
          </a:p>
          <a:p>
            <a:r>
              <a:rPr lang="fr-FR" sz="4400" b="1" i="1" dirty="0" smtClean="0">
                <a:solidFill>
                  <a:srgbClr val="0000FF"/>
                </a:solidFill>
              </a:rPr>
              <a:t>Activités commandées</a:t>
            </a:r>
            <a:r>
              <a:rPr lang="fr-FR" sz="4400" i="1" dirty="0" smtClean="0"/>
              <a:t>, qu'organisent </a:t>
            </a:r>
          </a:p>
          <a:p>
            <a:pPr lvl="1"/>
            <a:r>
              <a:rPr lang="fr-FR" sz="4000" i="1" dirty="0" smtClean="0"/>
              <a:t>le Parti, les organisations de masse et les unions professionnelles; </a:t>
            </a:r>
            <a:endParaRPr lang="fr-FR" sz="4000" dirty="0" smtClean="0"/>
          </a:p>
          <a:p>
            <a:r>
              <a:rPr lang="fr-FR" sz="4400" b="1" i="1" dirty="0" smtClean="0">
                <a:solidFill>
                  <a:srgbClr val="0000FF"/>
                </a:solidFill>
              </a:rPr>
              <a:t>Activités sportives </a:t>
            </a:r>
            <a:r>
              <a:rPr lang="fr-FR" sz="4400" i="1" dirty="0" smtClean="0"/>
              <a:t>organisées dans le cadre d'associations; </a:t>
            </a:r>
            <a:endParaRPr lang="fr-FR" sz="4400" dirty="0" smtClean="0"/>
          </a:p>
          <a:p>
            <a:r>
              <a:rPr lang="fr-FR" sz="4400" i="1" dirty="0" smtClean="0"/>
              <a:t>Accomplissement d'un</a:t>
            </a:r>
            <a:r>
              <a:rPr lang="fr-FR" sz="4400" b="1" i="1" dirty="0" smtClean="0"/>
              <a:t> </a:t>
            </a:r>
            <a:r>
              <a:rPr lang="fr-FR" sz="4400" b="1" i="1" dirty="0" smtClean="0">
                <a:solidFill>
                  <a:srgbClr val="0000FF"/>
                </a:solidFill>
              </a:rPr>
              <a:t>acte de dévouement </a:t>
            </a:r>
          </a:p>
          <a:p>
            <a:pPr lvl="1"/>
            <a:r>
              <a:rPr lang="fr-FR" sz="4000" i="1" dirty="0" smtClean="0"/>
              <a:t>dans un intérêt public ou de sauvetage d'une personne en danger</a:t>
            </a:r>
            <a:r>
              <a:rPr lang="fr-FR" sz="3400" i="1" dirty="0" smtClean="0"/>
              <a:t>. </a:t>
            </a:r>
          </a:p>
          <a:p>
            <a:pPr>
              <a:buNone/>
            </a:pPr>
            <a:endParaRPr lang="fr-FR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/>
              <a:t>Quels sont les bénéficiaires de la loi </a:t>
            </a:r>
            <a:r>
              <a:rPr lang="fr-FR" sz="2700" b="1" dirty="0" smtClean="0"/>
              <a:t>AT/MP 83-13</a:t>
            </a:r>
            <a:r>
              <a:rPr lang="fr-FR" sz="3600" b="1" dirty="0" smtClean="0"/>
              <a:t>?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00600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fr-FR" sz="2400" b="1" dirty="0" smtClean="0"/>
              <a:t>Tous les travailleurs assujettis </a:t>
            </a:r>
            <a:r>
              <a:rPr lang="fr-FR" sz="2400" dirty="0" smtClean="0"/>
              <a:t>aux assurances sociales (AS), </a:t>
            </a:r>
          </a:p>
          <a:p>
            <a:pPr lvl="1"/>
            <a:r>
              <a:rPr lang="fr-FR" sz="2400" dirty="0" err="1" smtClean="0"/>
              <a:t>qq</a:t>
            </a:r>
            <a:r>
              <a:rPr lang="fr-FR" sz="2400" dirty="0" smtClean="0"/>
              <a:t> soit leur nationalité, occupés sur le territoire national, </a:t>
            </a:r>
          </a:p>
          <a:p>
            <a:pPr lvl="1"/>
            <a:r>
              <a:rPr lang="fr-FR" sz="2400" dirty="0" smtClean="0"/>
              <a:t>salariés ou assimilés </a:t>
            </a:r>
            <a:r>
              <a:rPr lang="fr-FR" sz="2400" dirty="0" err="1" smtClean="0"/>
              <a:t>qq</a:t>
            </a:r>
            <a:r>
              <a:rPr lang="fr-FR" sz="2400" dirty="0" smtClean="0"/>
              <a:t> soit le titre ou le lieu, pour 1 ou plusieurs employeurs, </a:t>
            </a:r>
            <a:r>
              <a:rPr lang="fr-FR" sz="2400" dirty="0" err="1" smtClean="0"/>
              <a:t>qq</a:t>
            </a:r>
            <a:r>
              <a:rPr lang="fr-FR" sz="2400" dirty="0" smtClean="0"/>
              <a:t> soit le secteur d’activité,</a:t>
            </a:r>
          </a:p>
          <a:p>
            <a:r>
              <a:rPr lang="fr-FR" sz="2400" b="1" dirty="0" smtClean="0"/>
              <a:t>Etudiants,  élèves des établissements techniques,</a:t>
            </a:r>
          </a:p>
          <a:p>
            <a:r>
              <a:rPr lang="fr-FR" sz="2400" b="1" dirty="0" smtClean="0"/>
              <a:t>Personnes accomplissant un stage </a:t>
            </a:r>
            <a:r>
              <a:rPr lang="fr-FR" sz="2400" dirty="0" smtClean="0"/>
              <a:t>de </a:t>
            </a:r>
          </a:p>
          <a:p>
            <a:pPr lvl="1"/>
            <a:r>
              <a:rPr lang="fr-FR" sz="2000" dirty="0" smtClean="0"/>
              <a:t>rééducation fonctionnelle ou réadaptation professionnelle, </a:t>
            </a:r>
          </a:p>
          <a:p>
            <a:r>
              <a:rPr lang="fr-FR" sz="2400" b="1" dirty="0" smtClean="0"/>
              <a:t>Personnes participant bénévolement </a:t>
            </a:r>
            <a:endParaRPr lang="fr-FR" sz="2400" dirty="0" smtClean="0"/>
          </a:p>
          <a:p>
            <a:pPr lvl="1"/>
            <a:r>
              <a:rPr lang="fr-FR" sz="2000" dirty="0" smtClean="0"/>
              <a:t>au fonctionnement de l’organisme S.S,</a:t>
            </a:r>
          </a:p>
          <a:p>
            <a:r>
              <a:rPr lang="fr-FR" sz="2400" b="1" dirty="0" smtClean="0"/>
              <a:t>Pupilles</a:t>
            </a:r>
            <a:r>
              <a:rPr lang="fr-FR" sz="2400" dirty="0" smtClean="0"/>
              <a:t> relevant de la sauvegarde de la jeunesse </a:t>
            </a:r>
          </a:p>
          <a:p>
            <a:pPr lvl="1"/>
            <a:r>
              <a:rPr lang="fr-FR" sz="2000" dirty="0" smtClean="0"/>
              <a:t>(AT survenu à l’occasion d’un travail commandé),</a:t>
            </a:r>
          </a:p>
          <a:p>
            <a:r>
              <a:rPr lang="fr-FR" sz="2400" b="1" dirty="0" smtClean="0"/>
              <a:t>Détenus</a:t>
            </a:r>
            <a:r>
              <a:rPr lang="fr-FR" sz="2400" dirty="0" smtClean="0"/>
              <a:t> exécutant un travail durant la période de  peine,</a:t>
            </a:r>
          </a:p>
          <a:p>
            <a:r>
              <a:rPr lang="fr-FR" sz="2400" dirty="0" smtClean="0"/>
              <a:t>Personnes participant aux actions … (*)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Définition légale de A.T  </a:t>
            </a:r>
            <a:r>
              <a:rPr lang="fr-FR" sz="3600" b="1" dirty="0" smtClean="0"/>
              <a:t>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715016"/>
          </a:xfrm>
          <a:ln>
            <a:solidFill>
              <a:srgbClr val="0000FF"/>
            </a:solidFill>
          </a:ln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§"/>
            </a:pPr>
            <a:r>
              <a:rPr lang="fr-FR" b="1" dirty="0" smtClean="0"/>
              <a:t>La </a:t>
            </a:r>
            <a:r>
              <a:rPr lang="fr-FR" b="1" dirty="0"/>
              <a:t>lésion </a:t>
            </a:r>
            <a:r>
              <a:rPr lang="fr-FR" dirty="0"/>
              <a:t>se produisant ou </a:t>
            </a:r>
            <a:r>
              <a:rPr lang="fr-FR" b="1" dirty="0">
                <a:solidFill>
                  <a:srgbClr val="0000FF"/>
                </a:solidFill>
              </a:rPr>
              <a:t>le </a:t>
            </a:r>
            <a:r>
              <a:rPr lang="fr-FR" sz="3500" b="1" dirty="0">
                <a:solidFill>
                  <a:srgbClr val="0000FF"/>
                </a:solidFill>
              </a:rPr>
              <a:t>décès</a:t>
            </a:r>
            <a:r>
              <a:rPr lang="fr-FR" sz="3500" dirty="0"/>
              <a:t> </a:t>
            </a:r>
            <a:r>
              <a:rPr lang="fr-FR" sz="3500" dirty="0" smtClean="0"/>
              <a:t>s</a:t>
            </a:r>
            <a:r>
              <a:rPr lang="fr-FR" dirty="0" smtClean="0"/>
              <a:t>urvenant</a:t>
            </a:r>
            <a:r>
              <a:rPr lang="fr-FR" dirty="0"/>
              <a:t>, </a:t>
            </a:r>
            <a:r>
              <a:rPr lang="fr-FR" sz="2200" dirty="0" smtClean="0"/>
              <a:t>A.9</a:t>
            </a:r>
            <a:r>
              <a:rPr lang="fr-FR" sz="2300" dirty="0" smtClean="0"/>
              <a:t> </a:t>
            </a:r>
            <a:endParaRPr lang="fr-FR" dirty="0" smtClean="0"/>
          </a:p>
          <a:p>
            <a:pPr lvl="1"/>
            <a:r>
              <a:rPr lang="fr-FR" dirty="0" smtClean="0"/>
              <a:t>soit </a:t>
            </a:r>
            <a:r>
              <a:rPr lang="fr-FR" dirty="0"/>
              <a:t>au lieu et au temps du travail, </a:t>
            </a:r>
            <a:endParaRPr lang="fr-FR" dirty="0" smtClean="0"/>
          </a:p>
          <a:p>
            <a:pPr lvl="1"/>
            <a:r>
              <a:rPr lang="fr-FR" dirty="0" smtClean="0"/>
              <a:t>soit </a:t>
            </a:r>
            <a:r>
              <a:rPr lang="fr-FR" dirty="0"/>
              <a:t>en un temps voisin de l'accident, </a:t>
            </a:r>
            <a:endParaRPr lang="fr-FR" dirty="0" smtClean="0"/>
          </a:p>
          <a:p>
            <a:pPr lvl="1"/>
            <a:r>
              <a:rPr lang="fr-FR" dirty="0" smtClean="0"/>
              <a:t>soit </a:t>
            </a:r>
            <a:r>
              <a:rPr lang="fr-FR" dirty="0"/>
              <a:t>au cours du </a:t>
            </a:r>
            <a:r>
              <a:rPr lang="fr-FR" b="1" i="1" u="sng" dirty="0">
                <a:solidFill>
                  <a:srgbClr val="0000FF"/>
                </a:solidFill>
              </a:rPr>
              <a:t>traitement consécutif à </a:t>
            </a:r>
            <a:r>
              <a:rPr lang="fr-FR" b="1" i="1" u="sng" dirty="0" smtClean="0">
                <a:solidFill>
                  <a:srgbClr val="0000FF"/>
                </a:solidFill>
              </a:rPr>
              <a:t>l'accident</a:t>
            </a:r>
            <a:r>
              <a:rPr lang="fr-FR" b="1" dirty="0" smtClean="0"/>
              <a:t>,</a:t>
            </a:r>
          </a:p>
          <a:p>
            <a:pPr>
              <a:buNone/>
            </a:pPr>
            <a:r>
              <a:rPr lang="fr-FR" b="1" dirty="0" smtClean="0"/>
              <a:t>    </a:t>
            </a:r>
            <a:r>
              <a:rPr lang="fr-FR" dirty="0" smtClean="0"/>
              <a:t>doivent </a:t>
            </a:r>
            <a:r>
              <a:rPr lang="fr-FR" dirty="0"/>
              <a:t>être considérés, </a:t>
            </a:r>
            <a:r>
              <a:rPr lang="fr-FR" sz="2200" dirty="0"/>
              <a:t>sauf preuve contraire</a:t>
            </a:r>
            <a:r>
              <a:rPr lang="fr-FR" dirty="0"/>
              <a:t>, </a:t>
            </a:r>
            <a:endParaRPr lang="fr-FR" dirty="0" smtClean="0"/>
          </a:p>
          <a:p>
            <a:pPr lvl="1"/>
            <a:r>
              <a:rPr lang="fr-FR" dirty="0" smtClean="0"/>
              <a:t>comme </a:t>
            </a:r>
            <a:r>
              <a:rPr lang="fr-FR" b="1" dirty="0"/>
              <a:t>résultat du travail</a:t>
            </a:r>
            <a:r>
              <a:rPr lang="fr-FR" dirty="0"/>
              <a:t>. </a:t>
            </a:r>
          </a:p>
          <a:p>
            <a:pPr>
              <a:buNone/>
            </a:pPr>
            <a:endParaRPr lang="fr-FR" sz="1700" dirty="0" smtClean="0"/>
          </a:p>
          <a:p>
            <a:pPr>
              <a:buFont typeface="Wingdings" pitchFamily="2" charset="2"/>
              <a:buChar char="§"/>
            </a:pPr>
            <a:r>
              <a:rPr lang="fr-FR" dirty="0" smtClean="0"/>
              <a:t>Toute </a:t>
            </a:r>
            <a:r>
              <a:rPr lang="fr-FR" b="1" dirty="0">
                <a:solidFill>
                  <a:srgbClr val="0000FF"/>
                </a:solidFill>
              </a:rPr>
              <a:t>affection préexistante</a:t>
            </a:r>
            <a:r>
              <a:rPr lang="fr-FR" dirty="0">
                <a:solidFill>
                  <a:srgbClr val="0000FF"/>
                </a:solidFill>
              </a:rPr>
              <a:t> </a:t>
            </a:r>
            <a:r>
              <a:rPr lang="fr-FR" dirty="0" smtClean="0">
                <a:solidFill>
                  <a:srgbClr val="0000FF"/>
                </a:solidFill>
              </a:rPr>
              <a:t>  </a:t>
            </a:r>
            <a:r>
              <a:rPr lang="fr-FR" sz="3100" dirty="0" smtClean="0">
                <a:solidFill>
                  <a:srgbClr val="0000FF"/>
                </a:solidFill>
              </a:rPr>
              <a:t> </a:t>
            </a:r>
            <a:r>
              <a:rPr lang="fr-FR" sz="2300" dirty="0" smtClean="0"/>
              <a:t>A.10 </a:t>
            </a:r>
            <a:endParaRPr lang="fr-FR" dirty="0" smtClean="0">
              <a:solidFill>
                <a:srgbClr val="0000FF"/>
              </a:solidFill>
            </a:endParaRPr>
          </a:p>
          <a:p>
            <a:pPr lvl="1"/>
            <a:r>
              <a:rPr lang="fr-FR" dirty="0" smtClean="0"/>
              <a:t>dont </a:t>
            </a:r>
            <a:r>
              <a:rPr lang="fr-FR" dirty="0"/>
              <a:t>la preuve est administrée qu'elle n'a été </a:t>
            </a:r>
            <a:r>
              <a:rPr lang="fr-FR" dirty="0" smtClean="0"/>
              <a:t>             </a:t>
            </a:r>
            <a:r>
              <a:rPr lang="fr-FR" i="1" dirty="0" smtClean="0"/>
              <a:t>ni </a:t>
            </a:r>
            <a:r>
              <a:rPr lang="fr-FR" i="1" dirty="0"/>
              <a:t>aggravée, ni provoquée, ni révélée par l'accident, </a:t>
            </a:r>
            <a:endParaRPr lang="fr-FR" i="1" dirty="0" smtClean="0"/>
          </a:p>
          <a:p>
            <a:pPr lvl="1"/>
            <a:r>
              <a:rPr lang="fr-FR" dirty="0" smtClean="0"/>
              <a:t>ne </a:t>
            </a:r>
            <a:r>
              <a:rPr lang="fr-FR" dirty="0"/>
              <a:t>peut être prise en charge au titre de la présente loi. </a:t>
            </a:r>
          </a:p>
          <a:p>
            <a:pPr>
              <a:buNone/>
            </a:pP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Présomption d'imputabilité ?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382930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FR" b="1" dirty="0" smtClean="0"/>
              <a:t>L’AT est imputable au travail </a:t>
            </a:r>
          </a:p>
          <a:p>
            <a:pPr lvl="1"/>
            <a:r>
              <a:rPr lang="fr-FR" b="1" dirty="0" smtClean="0">
                <a:solidFill>
                  <a:srgbClr val="0000FF"/>
                </a:solidFill>
              </a:rPr>
              <a:t>s’il correspond bien à la </a:t>
            </a:r>
            <a:r>
              <a:rPr lang="fr-FR" b="1" u="sng" dirty="0" smtClean="0">
                <a:solidFill>
                  <a:srgbClr val="0000FF"/>
                </a:solidFill>
              </a:rPr>
              <a:t>définition</a:t>
            </a:r>
            <a:r>
              <a:rPr lang="fr-FR" b="1" dirty="0" smtClean="0">
                <a:solidFill>
                  <a:srgbClr val="0000FF"/>
                </a:solidFill>
              </a:rPr>
              <a:t> qui en est donnée</a:t>
            </a:r>
            <a:r>
              <a:rPr lang="fr-FR" dirty="0" smtClean="0"/>
              <a:t>. </a:t>
            </a:r>
          </a:p>
          <a:p>
            <a:pPr lvl="2"/>
            <a:r>
              <a:rPr lang="fr-FR" dirty="0" smtClean="0"/>
              <a:t>tout accident, quelle qu’en soit la cause, survenu par le fait ou à l’occasion du travail, </a:t>
            </a:r>
          </a:p>
          <a:p>
            <a:pPr lvl="2"/>
            <a:r>
              <a:rPr lang="fr-FR" dirty="0" smtClean="0"/>
              <a:t>est donc considéré comme un accident du travail</a:t>
            </a:r>
            <a:endParaRPr lang="fr-FR" b="1" dirty="0" smtClean="0"/>
          </a:p>
          <a:p>
            <a:pPr lvl="1"/>
            <a:r>
              <a:rPr lang="fr-FR" b="1" dirty="0" smtClean="0">
                <a:solidFill>
                  <a:srgbClr val="0000FF"/>
                </a:solidFill>
              </a:rPr>
              <a:t>S'il survient bien au </a:t>
            </a:r>
            <a:r>
              <a:rPr lang="fr-FR" b="1" u="sng" dirty="0" smtClean="0">
                <a:solidFill>
                  <a:srgbClr val="0000FF"/>
                </a:solidFill>
              </a:rPr>
              <a:t>temps </a:t>
            </a:r>
            <a:r>
              <a:rPr lang="fr-FR" b="1" dirty="0" smtClean="0">
                <a:solidFill>
                  <a:srgbClr val="0000FF"/>
                </a:solidFill>
              </a:rPr>
              <a:t>et au </a:t>
            </a:r>
            <a:r>
              <a:rPr lang="fr-FR" b="1" u="sng" dirty="0" smtClean="0">
                <a:solidFill>
                  <a:srgbClr val="0000FF"/>
                </a:solidFill>
              </a:rPr>
              <a:t>lieu de travail</a:t>
            </a:r>
            <a:r>
              <a:rPr lang="fr-FR" b="1" dirty="0" smtClean="0">
                <a:solidFill>
                  <a:srgbClr val="0000FF"/>
                </a:solidFill>
              </a:rPr>
              <a:t>. </a:t>
            </a:r>
          </a:p>
          <a:p>
            <a:pPr lvl="1"/>
            <a:endParaRPr lang="fr-FR" sz="1700" b="1" dirty="0" smtClean="0">
              <a:solidFill>
                <a:srgbClr val="0000FF"/>
              </a:solidFill>
            </a:endParaRPr>
          </a:p>
          <a:p>
            <a:pPr lvl="0"/>
            <a:r>
              <a:rPr lang="fr-FR" sz="2200" dirty="0" smtClean="0"/>
              <a:t>Dans ce cadre, </a:t>
            </a:r>
            <a:r>
              <a:rPr lang="fr-FR" dirty="0" smtClean="0">
                <a:solidFill>
                  <a:srgbClr val="FF0000"/>
                </a:solidFill>
              </a:rPr>
              <a:t>la victime n’a </a:t>
            </a:r>
            <a:r>
              <a:rPr lang="fr-FR" i="1" dirty="0" smtClean="0">
                <a:solidFill>
                  <a:srgbClr val="FF0000"/>
                </a:solidFill>
              </a:rPr>
              <a:t>pas à apporter de preuve</a:t>
            </a:r>
            <a:r>
              <a:rPr lang="fr-FR" i="1" dirty="0" smtClean="0"/>
              <a:t>.</a:t>
            </a:r>
            <a:endParaRPr lang="fr-FR" b="1" i="1" dirty="0" smtClean="0"/>
          </a:p>
          <a:p>
            <a:r>
              <a:rPr lang="fr-FR" u="sng" dirty="0" smtClean="0"/>
              <a:t>On présume </a:t>
            </a:r>
            <a:r>
              <a:rPr lang="fr-FR" dirty="0" smtClean="0"/>
              <a:t>que son accident est imputable à son travail. </a:t>
            </a:r>
          </a:p>
          <a:p>
            <a:pPr lvl="1"/>
            <a:r>
              <a:rPr lang="fr-FR" dirty="0" smtClean="0"/>
              <a:t>Ainsi, elle sera </a:t>
            </a:r>
            <a:r>
              <a:rPr lang="fr-FR" i="1" u="sng" dirty="0" smtClean="0"/>
              <a:t>automatiquement prise en charge</a:t>
            </a:r>
            <a:r>
              <a:rPr lang="fr-FR" dirty="0" smtClean="0"/>
              <a:t>.</a:t>
            </a:r>
            <a:endParaRPr lang="fr-FR" b="1" dirty="0" smtClean="0"/>
          </a:p>
          <a:p>
            <a:pPr lvl="1"/>
            <a:r>
              <a:rPr lang="fr-FR" dirty="0" smtClean="0"/>
              <a:t>Cela vaut aussi pour la maladie professionnelle</a:t>
            </a:r>
          </a:p>
          <a:p>
            <a:endParaRPr lang="fr-FR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0000FF"/>
                </a:solidFill>
              </a:rPr>
              <a:t>La présomption d'imputabilité</a:t>
            </a:r>
            <a:r>
              <a:rPr lang="fr-FR" sz="3600" dirty="0" smtClean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pPr>
              <a:buFontTx/>
              <a:buChar char="-"/>
            </a:pPr>
            <a:r>
              <a:rPr lang="fr-FR" dirty="0" smtClean="0"/>
              <a:t>La présomption I. du </a:t>
            </a:r>
            <a:r>
              <a:rPr lang="fr-FR" b="1" dirty="0" smtClean="0"/>
              <a:t>décès au travail </a:t>
            </a:r>
          </a:p>
          <a:p>
            <a:pPr lvl="1">
              <a:buFontTx/>
              <a:buChar char="-"/>
            </a:pPr>
            <a:r>
              <a:rPr lang="fr-FR" dirty="0" smtClean="0"/>
              <a:t>ou de </a:t>
            </a:r>
            <a:r>
              <a:rPr lang="fr-FR" b="1" dirty="0" smtClean="0"/>
              <a:t>l'accident </a:t>
            </a:r>
            <a:r>
              <a:rPr lang="fr-FR" b="1" dirty="0" smtClean="0">
                <a:solidFill>
                  <a:srgbClr val="0000FF"/>
                </a:solidFill>
              </a:rPr>
              <a:t>tombe</a:t>
            </a:r>
            <a:r>
              <a:rPr lang="fr-FR" dirty="0" smtClean="0">
                <a:solidFill>
                  <a:srgbClr val="0000FF"/>
                </a:solidFill>
              </a:rPr>
              <a:t>,</a:t>
            </a:r>
            <a:r>
              <a:rPr lang="fr-FR" dirty="0" smtClean="0"/>
              <a:t>  </a:t>
            </a:r>
            <a:r>
              <a:rPr lang="fr-FR" sz="1600" dirty="0" smtClean="0"/>
              <a:t>(A.11) </a:t>
            </a:r>
          </a:p>
          <a:p>
            <a:pPr lvl="1">
              <a:buFontTx/>
              <a:buChar char="-"/>
            </a:pPr>
            <a:endParaRPr lang="fr-FR" sz="1400" dirty="0" smtClean="0"/>
          </a:p>
          <a:p>
            <a:pPr lvl="1"/>
            <a:r>
              <a:rPr lang="fr-FR" dirty="0" smtClean="0"/>
              <a:t>si les ayants droit de la victime </a:t>
            </a:r>
            <a:r>
              <a:rPr lang="fr-FR" b="1" dirty="0" smtClean="0"/>
              <a:t>s'opposent à</a:t>
            </a:r>
            <a:r>
              <a:rPr lang="fr-FR" dirty="0" smtClean="0"/>
              <a:t> ce qu'il soit procédé à l</a:t>
            </a:r>
            <a:r>
              <a:rPr lang="fr-FR" b="1" dirty="0" smtClean="0"/>
              <a:t>'autopsie</a:t>
            </a:r>
            <a:r>
              <a:rPr lang="fr-FR" dirty="0" smtClean="0"/>
              <a:t> demandée par l'organisme de S.S, </a:t>
            </a:r>
          </a:p>
          <a:p>
            <a:pPr lvl="3"/>
            <a:endParaRPr lang="fr-FR" dirty="0" smtClean="0"/>
          </a:p>
          <a:p>
            <a:pPr lvl="2"/>
            <a:r>
              <a:rPr lang="fr-FR" dirty="0" smtClean="0"/>
              <a:t>à moins qu'ils n'apportent la preuve du lien de causalité entre l'accident et le décès.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Qui doit apporter la Preuve ?</a:t>
            </a:r>
            <a:endParaRPr lang="fr-FR" sz="3600" dirty="0" smtClean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r>
              <a:rPr lang="fr-FR" dirty="0" smtClean="0">
                <a:solidFill>
                  <a:srgbClr val="0000FF"/>
                </a:solidFill>
              </a:rPr>
              <a:t>Ce n’est donc pas au salarié </a:t>
            </a:r>
            <a:r>
              <a:rPr lang="fr-FR" dirty="0" smtClean="0"/>
              <a:t>d’apporter la preuve que l’accident est bien d’origine professionnelle </a:t>
            </a:r>
          </a:p>
          <a:p>
            <a:pPr lvl="1"/>
            <a:r>
              <a:rPr lang="fr-FR" dirty="0" smtClean="0"/>
              <a:t>pourvu qu’il réponde à la définition initiale. </a:t>
            </a:r>
          </a:p>
          <a:p>
            <a:pPr lvl="1"/>
            <a:r>
              <a:rPr lang="fr-FR" dirty="0" smtClean="0"/>
              <a:t>Il doit toutefois démontrer que l’accident est bien survenu au temps et lieu du travail.</a:t>
            </a:r>
          </a:p>
          <a:p>
            <a:pPr lvl="1"/>
            <a:endParaRPr lang="fr-FR" dirty="0" smtClean="0"/>
          </a:p>
          <a:p>
            <a:r>
              <a:rPr lang="fr-FR" dirty="0" smtClean="0">
                <a:solidFill>
                  <a:srgbClr val="0000FF"/>
                </a:solidFill>
              </a:rPr>
              <a:t>L’employeur</a:t>
            </a:r>
            <a:r>
              <a:rPr lang="fr-FR" dirty="0" smtClean="0"/>
              <a:t> ou </a:t>
            </a:r>
            <a:r>
              <a:rPr lang="fr-FR" dirty="0" smtClean="0">
                <a:solidFill>
                  <a:srgbClr val="0000FF"/>
                </a:solidFill>
              </a:rPr>
              <a:t>la caisse S.S </a:t>
            </a:r>
            <a:r>
              <a:rPr lang="fr-FR" dirty="0" smtClean="0"/>
              <a:t>pourront toujours, s’ils disposent d’éléments suffisamment solides, </a:t>
            </a:r>
          </a:p>
          <a:p>
            <a:pPr lvl="1"/>
            <a:r>
              <a:rPr lang="fr-FR" dirty="0" smtClean="0"/>
              <a:t>tenter de </a:t>
            </a:r>
            <a:r>
              <a:rPr lang="fr-FR" b="1" dirty="0" smtClean="0"/>
              <a:t>renverser cette présomption</a:t>
            </a:r>
            <a:r>
              <a:rPr lang="fr-FR" dirty="0" smtClean="0"/>
              <a:t> d’imputabilité </a:t>
            </a:r>
          </a:p>
          <a:p>
            <a:pPr lvl="1"/>
            <a:r>
              <a:rPr lang="fr-FR" dirty="0" smtClean="0"/>
              <a:t>et démontrer que l’accident en question n’est pas imputable au travail. 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0000FF"/>
                </a:solidFill>
              </a:rPr>
              <a:t>Accident du Trajet ?</a:t>
            </a:r>
            <a:endParaRPr lang="fr-FR" sz="3600" b="1" dirty="0">
              <a:solidFill>
                <a:srgbClr val="0000FF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19536"/>
          </a:xfrm>
          <a:ln>
            <a:solidFill>
              <a:srgbClr val="0000FF"/>
            </a:solidFill>
          </a:ln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2800" dirty="0" smtClean="0"/>
              <a:t>Est assimilé à un A.T, </a:t>
            </a:r>
            <a:r>
              <a:rPr lang="fr-FR" sz="2600" dirty="0" smtClean="0"/>
              <a:t>l'accident </a:t>
            </a:r>
            <a:r>
              <a:rPr lang="fr-FR" sz="2600" dirty="0"/>
              <a:t>survenu </a:t>
            </a:r>
            <a:endParaRPr lang="fr-FR" sz="2600" dirty="0" smtClean="0"/>
          </a:p>
          <a:p>
            <a:r>
              <a:rPr lang="fr-FR" sz="2800" dirty="0" smtClean="0"/>
              <a:t>pendant </a:t>
            </a:r>
            <a:r>
              <a:rPr lang="fr-FR" sz="3300" b="1" dirty="0"/>
              <a:t>le trajet </a:t>
            </a:r>
            <a:r>
              <a:rPr lang="fr-FR" sz="2800" dirty="0"/>
              <a:t>effectué par l'assuré </a:t>
            </a:r>
            <a:r>
              <a:rPr lang="fr-FR" sz="2200" dirty="0" smtClean="0"/>
              <a:t>(A.12)</a:t>
            </a:r>
          </a:p>
          <a:p>
            <a:pPr lvl="2">
              <a:buNone/>
            </a:pPr>
            <a:r>
              <a:rPr lang="fr-FR" sz="1400" dirty="0" smtClean="0"/>
              <a:t> </a:t>
            </a:r>
            <a:endParaRPr lang="fr-FR" dirty="0" smtClean="0"/>
          </a:p>
          <a:p>
            <a:r>
              <a:rPr lang="fr-FR" dirty="0" smtClean="0"/>
              <a:t>pour </a:t>
            </a:r>
            <a:r>
              <a:rPr lang="fr-FR" dirty="0"/>
              <a:t>se rendre à son travail </a:t>
            </a:r>
            <a:endParaRPr lang="fr-FR" dirty="0" smtClean="0"/>
          </a:p>
          <a:p>
            <a:pPr lvl="1"/>
            <a:r>
              <a:rPr lang="fr-FR" dirty="0" smtClean="0"/>
              <a:t>ou </a:t>
            </a:r>
            <a:r>
              <a:rPr lang="fr-FR" dirty="0"/>
              <a:t>en revenir, </a:t>
            </a:r>
            <a:endParaRPr lang="fr-FR" dirty="0" smtClean="0"/>
          </a:p>
          <a:p>
            <a:r>
              <a:rPr lang="fr-FR" dirty="0" smtClean="0"/>
              <a:t>quelque </a:t>
            </a:r>
            <a:r>
              <a:rPr lang="fr-FR" dirty="0"/>
              <a:t>soit </a:t>
            </a:r>
            <a:r>
              <a:rPr lang="fr-FR" u="sng" dirty="0"/>
              <a:t>le mode de transport </a:t>
            </a:r>
            <a:r>
              <a:rPr lang="fr-FR" dirty="0"/>
              <a:t>utilisée, </a:t>
            </a:r>
            <a:endParaRPr lang="fr-FR" dirty="0" smtClean="0"/>
          </a:p>
          <a:p>
            <a:r>
              <a:rPr lang="fr-FR" dirty="0" smtClean="0"/>
              <a:t>à </a:t>
            </a:r>
            <a:r>
              <a:rPr lang="fr-FR" dirty="0"/>
              <a:t>condition que </a:t>
            </a:r>
            <a:r>
              <a:rPr lang="fr-FR" b="1" dirty="0">
                <a:solidFill>
                  <a:srgbClr val="0000FF"/>
                </a:solidFill>
              </a:rPr>
              <a:t>le parcours </a:t>
            </a:r>
            <a:r>
              <a:rPr lang="fr-FR" b="1" dirty="0" smtClean="0">
                <a:solidFill>
                  <a:srgbClr val="0000FF"/>
                </a:solidFill>
              </a:rPr>
              <a:t> n'ait </a:t>
            </a:r>
            <a:r>
              <a:rPr lang="fr-FR" b="1" dirty="0">
                <a:solidFill>
                  <a:srgbClr val="0000FF"/>
                </a:solidFill>
              </a:rPr>
              <a:t>pas </a:t>
            </a:r>
            <a:r>
              <a:rPr lang="fr-FR" b="1" dirty="0" smtClean="0">
                <a:solidFill>
                  <a:srgbClr val="0000FF"/>
                </a:solidFill>
              </a:rPr>
              <a:t>été </a:t>
            </a:r>
          </a:p>
          <a:p>
            <a:pPr lvl="1"/>
            <a:r>
              <a:rPr lang="fr-FR" b="1" i="1" dirty="0" smtClean="0">
                <a:solidFill>
                  <a:srgbClr val="0000FF"/>
                </a:solidFill>
              </a:rPr>
              <a:t>interrompu ou détourné</a:t>
            </a:r>
            <a:r>
              <a:rPr lang="fr-FR" b="1" dirty="0" smtClean="0"/>
              <a:t>, </a:t>
            </a:r>
          </a:p>
          <a:p>
            <a:pPr lvl="2"/>
            <a:r>
              <a:rPr lang="fr-FR" dirty="0" smtClean="0"/>
              <a:t>sauf urgence, </a:t>
            </a:r>
            <a:r>
              <a:rPr lang="fr-FR" dirty="0"/>
              <a:t>nécessité, cas fortuit ou force majeure</a:t>
            </a:r>
            <a:r>
              <a:rPr lang="fr-FR" dirty="0" smtClean="0"/>
              <a:t>,</a:t>
            </a:r>
            <a:r>
              <a:rPr lang="fr-FR" dirty="0" smtClean="0">
                <a:solidFill>
                  <a:srgbClr val="0000FF"/>
                </a:solidFill>
              </a:rPr>
              <a:t>. </a:t>
            </a:r>
          </a:p>
          <a:p>
            <a:r>
              <a:rPr lang="fr-FR" dirty="0" smtClean="0"/>
              <a:t>Le </a:t>
            </a:r>
            <a:r>
              <a:rPr lang="fr-FR" dirty="0"/>
              <a:t>parcours ainsi garanti est compris entre, 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0000FF"/>
                </a:solidFill>
              </a:rPr>
              <a:t>le </a:t>
            </a:r>
            <a:r>
              <a:rPr lang="fr-FR" b="1" dirty="0">
                <a:solidFill>
                  <a:srgbClr val="0000FF"/>
                </a:solidFill>
              </a:rPr>
              <a:t>lieu du travail </a:t>
            </a:r>
            <a:r>
              <a:rPr lang="fr-FR" dirty="0"/>
              <a:t>et, 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0000FF"/>
                </a:solidFill>
              </a:rPr>
              <a:t>le </a:t>
            </a:r>
            <a:r>
              <a:rPr lang="fr-FR" b="1" dirty="0">
                <a:solidFill>
                  <a:srgbClr val="0000FF"/>
                </a:solidFill>
              </a:rPr>
              <a:t>lieu de résidence </a:t>
            </a:r>
            <a:r>
              <a:rPr lang="fr-FR" i="1" dirty="0" smtClean="0"/>
              <a:t>ou </a:t>
            </a:r>
            <a:r>
              <a:rPr lang="fr-FR" i="1" dirty="0"/>
              <a:t>un </a:t>
            </a:r>
            <a:r>
              <a:rPr lang="fr-FR" i="1" dirty="0">
                <a:solidFill>
                  <a:srgbClr val="0000FF"/>
                </a:solidFill>
              </a:rPr>
              <a:t>lieu assimilé</a:t>
            </a:r>
            <a:r>
              <a:rPr lang="fr-FR" i="1" dirty="0"/>
              <a:t>,</a:t>
            </a:r>
            <a:r>
              <a:rPr lang="fr-FR" dirty="0"/>
              <a:t> </a:t>
            </a:r>
            <a:endParaRPr lang="fr-FR" dirty="0" smtClean="0"/>
          </a:p>
          <a:p>
            <a:pPr lvl="3"/>
            <a:r>
              <a:rPr lang="fr-FR" dirty="0" smtClean="0"/>
              <a:t>tel </a:t>
            </a:r>
            <a:r>
              <a:rPr lang="fr-FR" dirty="0"/>
              <a:t>que celui où le travailleur se rend </a:t>
            </a:r>
            <a:r>
              <a:rPr lang="fr-FR" u="sng" dirty="0">
                <a:solidFill>
                  <a:srgbClr val="0000FF"/>
                </a:solidFill>
              </a:rPr>
              <a:t>habituellement</a:t>
            </a:r>
            <a:r>
              <a:rPr lang="fr-FR" dirty="0"/>
              <a:t>, </a:t>
            </a:r>
            <a:endParaRPr lang="fr-FR" dirty="0" smtClean="0"/>
          </a:p>
          <a:p>
            <a:pPr lvl="4"/>
            <a:r>
              <a:rPr lang="fr-FR" dirty="0" smtClean="0"/>
              <a:t>soit </a:t>
            </a:r>
            <a:r>
              <a:rPr lang="fr-FR" dirty="0"/>
              <a:t>pour </a:t>
            </a:r>
            <a:r>
              <a:rPr lang="fr-FR" dirty="0">
                <a:solidFill>
                  <a:srgbClr val="0000FF"/>
                </a:solidFill>
              </a:rPr>
              <a:t>prendre ses repas</a:t>
            </a:r>
            <a:r>
              <a:rPr lang="fr-FR" dirty="0"/>
              <a:t>, </a:t>
            </a:r>
            <a:endParaRPr lang="fr-FR" dirty="0" smtClean="0"/>
          </a:p>
          <a:p>
            <a:pPr lvl="4"/>
            <a:r>
              <a:rPr lang="fr-FR" dirty="0" smtClean="0"/>
              <a:t>soit </a:t>
            </a:r>
            <a:r>
              <a:rPr lang="fr-FR" dirty="0"/>
              <a:t>pour des </a:t>
            </a:r>
            <a:r>
              <a:rPr lang="fr-FR" dirty="0">
                <a:solidFill>
                  <a:srgbClr val="0000FF"/>
                </a:solidFill>
              </a:rPr>
              <a:t>motifs d'ordre familial</a:t>
            </a:r>
            <a:r>
              <a:rPr lang="fr-FR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pPr eaLnBrk="1" hangingPunct="1">
              <a:defRPr/>
            </a:pPr>
            <a:r>
              <a:rPr lang="fr-FR" dirty="0" smtClean="0"/>
              <a:t>AT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001419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fr-FR" sz="3600" u="sng" dirty="0" smtClean="0"/>
              <a:t>Définition médico-légale:</a:t>
            </a:r>
          </a:p>
          <a:p>
            <a:pPr lvl="1" eaLnBrk="1" hangingPunct="1">
              <a:defRPr/>
            </a:pPr>
            <a:r>
              <a:rPr lang="fr-FR" sz="3600" b="1" dirty="0" smtClean="0">
                <a:solidFill>
                  <a:srgbClr val="0070C0"/>
                </a:solidFill>
              </a:rPr>
              <a:t>Logique de réparation</a:t>
            </a:r>
            <a:endParaRPr lang="fr-FR" sz="3200" b="1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fr-FR" sz="3200" dirty="0" smtClean="0"/>
              <a:t>Restrictive: </a:t>
            </a:r>
          </a:p>
          <a:p>
            <a:pPr lvl="2">
              <a:defRPr/>
            </a:pPr>
            <a:r>
              <a:rPr lang="fr-FR" dirty="0" smtClean="0"/>
              <a:t>accidents matériels non évoqués</a:t>
            </a:r>
          </a:p>
          <a:p>
            <a:pPr lvl="1" eaLnBrk="1" hangingPunct="1">
              <a:defRPr/>
            </a:pPr>
            <a:r>
              <a:rPr lang="fr-FR" sz="3200" dirty="0" smtClean="0"/>
              <a:t>Pas de logique de prévention I</a:t>
            </a:r>
            <a:r>
              <a:rPr lang="fr-FR" sz="2400" dirty="0" smtClean="0"/>
              <a:t>ère</a:t>
            </a:r>
            <a:r>
              <a:rPr lang="fr-FR" sz="3200" dirty="0" smtClean="0"/>
              <a:t> ou </a:t>
            </a:r>
            <a:r>
              <a:rPr lang="fr-FR" sz="3200" dirty="0" err="1" smtClean="0"/>
              <a:t>II</a:t>
            </a:r>
            <a:r>
              <a:rPr lang="fr-FR" sz="2400" dirty="0" err="1" smtClean="0"/>
              <a:t>ère</a:t>
            </a:r>
            <a:r>
              <a:rPr lang="fr-FR" sz="2400" dirty="0" smtClean="0"/>
              <a:t> </a:t>
            </a:r>
            <a:endParaRPr lang="fr-FR" sz="3200" dirty="0" smtClean="0"/>
          </a:p>
          <a:p>
            <a:pPr lvl="4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sz="3600" u="sng" dirty="0" smtClean="0"/>
              <a:t>LEPLAT</a:t>
            </a:r>
            <a:r>
              <a:rPr lang="fr-FR" sz="3600" dirty="0" smtClean="0"/>
              <a:t>: 1967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fr-FR" sz="3600" dirty="0" smtClean="0">
                <a:solidFill>
                  <a:srgbClr val="FFFF00"/>
                </a:solidFill>
              </a:rPr>
              <a:t>	</a:t>
            </a:r>
            <a:r>
              <a:rPr lang="fr-FR" sz="3600" dirty="0" smtClean="0"/>
              <a:t>L’accident 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fr-FR" sz="3600" dirty="0" smtClean="0"/>
              <a:t>        = </a:t>
            </a:r>
            <a:r>
              <a:rPr lang="fr-FR" sz="3600" i="1" dirty="0" smtClean="0">
                <a:solidFill>
                  <a:srgbClr val="0070C0"/>
                </a:solidFill>
              </a:rPr>
              <a:t>dysfonctionnement</a:t>
            </a:r>
            <a:r>
              <a:rPr lang="fr-FR" sz="3600" dirty="0" smtClean="0">
                <a:solidFill>
                  <a:srgbClr val="0070C0"/>
                </a:solidFill>
              </a:rPr>
              <a:t> du </a:t>
            </a:r>
            <a:r>
              <a:rPr lang="fr-FR" sz="3600" i="1" dirty="0" smtClean="0">
                <a:solidFill>
                  <a:srgbClr val="0070C0"/>
                </a:solidFill>
              </a:rPr>
              <a:t>Système</a:t>
            </a:r>
            <a:r>
              <a:rPr lang="fr-FR" sz="3600" i="1" dirty="0" smtClean="0"/>
              <a:t>.</a:t>
            </a:r>
          </a:p>
          <a:p>
            <a:pPr eaLnBrk="1" hangingPunct="1">
              <a:defRPr/>
            </a:pPr>
            <a:endParaRPr lang="fr-FR" i="1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1"/>
            <a:ext cx="8229600" cy="72037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3600" b="1" dirty="0" smtClean="0"/>
              <a:t>CONCEPTS  A.T </a:t>
            </a:r>
            <a:r>
              <a:rPr lang="fr-FR" sz="3200" dirty="0" smtClean="0"/>
              <a:t> &amp;  </a:t>
            </a:r>
            <a:r>
              <a:rPr lang="fr-FR" sz="3600" b="1" dirty="0" smtClean="0"/>
              <a:t>statistiques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1"/>
            <a:ext cx="8229600" cy="5328890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fr-FR" sz="2800" b="1" dirty="0" smtClean="0">
                <a:solidFill>
                  <a:srgbClr val="0070C0"/>
                </a:solidFill>
              </a:rPr>
              <a:t>Accident du Travail</a:t>
            </a:r>
            <a:r>
              <a:rPr lang="fr-FR" sz="2800" dirty="0" smtClean="0">
                <a:solidFill>
                  <a:srgbClr val="0070C0"/>
                </a:solidFill>
              </a:rPr>
              <a:t>: </a:t>
            </a:r>
            <a:r>
              <a:rPr lang="fr-FR" sz="2800" dirty="0" smtClean="0"/>
              <a:t>AT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fr-FR" sz="2400" dirty="0" smtClean="0"/>
              <a:t>Tout accident ayant entraîné une lésion corporelle imputable à une cause soudaine extérieure survenue dans le cadre de la relation de travail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sz="2800" b="1" dirty="0" smtClean="0">
                <a:solidFill>
                  <a:srgbClr val="0070C0"/>
                </a:solidFill>
              </a:rPr>
              <a:t>Accident du trajet</a:t>
            </a:r>
            <a:r>
              <a:rPr lang="fr-FR" sz="2800" dirty="0" smtClean="0">
                <a:solidFill>
                  <a:srgbClr val="0070C0"/>
                </a:solidFill>
              </a:rPr>
              <a:t>: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fr-FR" sz="2400" dirty="0" smtClean="0"/>
              <a:t>Accident survenu </a:t>
            </a:r>
            <a:r>
              <a:rPr lang="fr-FR" sz="2400" dirty="0" err="1" smtClean="0"/>
              <a:t>pdt</a:t>
            </a:r>
            <a:r>
              <a:rPr lang="fr-FR" sz="2400" dirty="0" smtClean="0"/>
              <a:t> le trajet…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fr-FR" sz="2800" b="1" dirty="0" smtClean="0">
                <a:solidFill>
                  <a:srgbClr val="0070C0"/>
                </a:solidFill>
              </a:rPr>
              <a:t>AT avec Arrêt</a:t>
            </a:r>
            <a:r>
              <a:rPr lang="fr-FR" sz="2800" dirty="0" smtClean="0"/>
              <a:t>: ATA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fr-FR" sz="2400" dirty="0" smtClean="0"/>
              <a:t>Accident ayant entraîné une interruption de travail d’au moins 1 j en sus de la journée au cours de laquelle l’accident est survenu et ayant donné lieu à réparation…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Pr Tebboune C.B   SMT CHUO  2007</a:t>
            </a:r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fr-FR" sz="4000" dirty="0" smtClean="0"/>
              <a:t>CONCEPTS</a:t>
            </a:r>
            <a:br>
              <a:rPr lang="fr-FR" sz="4000" dirty="0" smtClean="0"/>
            </a:br>
            <a:r>
              <a:rPr lang="fr-FR" sz="4000" dirty="0" smtClean="0"/>
              <a:t>(en statistiques)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fr-FR" b="1" dirty="0" smtClean="0">
                <a:solidFill>
                  <a:srgbClr val="0070C0"/>
                </a:solidFill>
              </a:rPr>
              <a:t>AT Grave:</a:t>
            </a:r>
          </a:p>
          <a:p>
            <a:pPr lvl="1" eaLnBrk="1" hangingPunct="1">
              <a:defRPr/>
            </a:pPr>
            <a:r>
              <a:rPr lang="fr-FR" dirty="0" smtClean="0"/>
              <a:t>AT ayant entraîné la fixation d’un </a:t>
            </a:r>
            <a:r>
              <a:rPr lang="fr-FR" dirty="0" err="1" smtClean="0"/>
              <a:t>Tx</a:t>
            </a:r>
            <a:r>
              <a:rPr lang="fr-FR" dirty="0" smtClean="0"/>
              <a:t> </a:t>
            </a:r>
          </a:p>
          <a:p>
            <a:pPr lvl="2">
              <a:defRPr/>
            </a:pPr>
            <a:r>
              <a:rPr lang="fr-FR" dirty="0" smtClean="0"/>
              <a:t>IPP ou IPT (totale), notifié.</a:t>
            </a:r>
          </a:p>
          <a:p>
            <a:pPr eaLnBrk="1" hangingPunct="1">
              <a:defRPr/>
            </a:pPr>
            <a:r>
              <a:rPr lang="fr-FR" b="1" dirty="0" smtClean="0">
                <a:solidFill>
                  <a:srgbClr val="0070C0"/>
                </a:solidFill>
              </a:rPr>
              <a:t>AT Mortel:</a:t>
            </a:r>
          </a:p>
          <a:p>
            <a:pPr lvl="1" eaLnBrk="1" hangingPunct="1">
              <a:defRPr/>
            </a:pPr>
            <a:r>
              <a:rPr lang="fr-FR" dirty="0" smtClean="0"/>
              <a:t>Caractère professionnel du décès reconnu</a:t>
            </a:r>
          </a:p>
          <a:p>
            <a:pPr lvl="1" eaLnBrk="1" hangingPunct="1">
              <a:defRPr/>
            </a:pPr>
            <a:r>
              <a:rPr lang="fr-FR" dirty="0" smtClean="0"/>
              <a:t>Uniquement si mort survenue avant consolidation (avant fixation IPP).  </a:t>
            </a:r>
          </a:p>
          <a:p>
            <a:pPr>
              <a:lnSpc>
                <a:spcPct val="110000"/>
              </a:lnSpc>
              <a:defRPr/>
            </a:pPr>
            <a:r>
              <a:rPr lang="fr-FR" b="1" dirty="0" smtClean="0">
                <a:solidFill>
                  <a:srgbClr val="FF3300"/>
                </a:solidFill>
              </a:rPr>
              <a:t>AT sans arrêt </a:t>
            </a:r>
            <a:r>
              <a:rPr lang="fr-FR" dirty="0" smtClean="0"/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Conditions d’ouverture des droits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51917"/>
            <a:ext cx="8229600" cy="4857403"/>
          </a:xfrm>
          <a:ln>
            <a:solidFill>
              <a:srgbClr val="0000FF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Pas de période minimum de stage </a:t>
            </a:r>
            <a:r>
              <a:rPr lang="fr-FR" sz="1600" dirty="0" smtClean="0"/>
              <a:t>(≠ assurance maladie)</a:t>
            </a:r>
          </a:p>
          <a:p>
            <a:pPr lvl="1"/>
            <a:r>
              <a:rPr lang="fr-FR" dirty="0" smtClean="0"/>
              <a:t>Travailleur n’est tenu à aucune condition </a:t>
            </a:r>
          </a:p>
          <a:p>
            <a:pPr lvl="2"/>
            <a:r>
              <a:rPr lang="fr-FR" dirty="0" smtClean="0"/>
              <a:t>d’immatriculation ou durée de travail</a:t>
            </a:r>
          </a:p>
          <a:p>
            <a:r>
              <a:rPr lang="fr-FR" dirty="0" smtClean="0"/>
              <a:t>Droit réparation reconnu </a:t>
            </a:r>
          </a:p>
          <a:p>
            <a:pPr lvl="1"/>
            <a:r>
              <a:rPr lang="fr-FR" dirty="0" smtClean="0"/>
              <a:t>même si négligence employeur</a:t>
            </a:r>
          </a:p>
          <a:p>
            <a:pPr lvl="1"/>
            <a:r>
              <a:rPr lang="fr-FR" dirty="0" smtClean="0"/>
              <a:t>Il importe que l’accident se produise par le fait </a:t>
            </a:r>
          </a:p>
          <a:p>
            <a:pPr lvl="2"/>
            <a:r>
              <a:rPr lang="fr-FR" dirty="0" smtClean="0"/>
              <a:t>ou à l’occasion du travail +++</a:t>
            </a:r>
          </a:p>
          <a:p>
            <a:r>
              <a:rPr lang="fr-FR" dirty="0" smtClean="0"/>
              <a:t>Déclaration de l’accident</a:t>
            </a:r>
          </a:p>
          <a:p>
            <a:r>
              <a:rPr lang="fr-FR" dirty="0" smtClean="0"/>
              <a:t>Constatation des lésions</a:t>
            </a:r>
          </a:p>
          <a:p>
            <a:pPr lvl="1"/>
            <a:r>
              <a:rPr lang="fr-FR" dirty="0" smtClean="0"/>
              <a:t>Certificats médicaux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0000FF"/>
                </a:solidFill>
              </a:rPr>
              <a:t>Déclaration de l'accident</a:t>
            </a:r>
            <a:endParaRPr lang="fr-FR" sz="3600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323528" y="980728"/>
          <a:ext cx="8604448" cy="5616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  <a:ln>
            <a:solidFill>
              <a:srgbClr val="0000FF"/>
            </a:solidFill>
          </a:ln>
        </p:spPr>
        <p:txBody>
          <a:bodyPr>
            <a:noAutofit/>
          </a:bodyPr>
          <a:lstStyle/>
          <a:p>
            <a:r>
              <a:rPr lang="fr-FR" sz="2800" dirty="0" smtClean="0"/>
              <a:t>Constatation de l'accident </a:t>
            </a:r>
            <a:r>
              <a:rPr lang="fr-FR" sz="2000" b="1" dirty="0" smtClean="0"/>
              <a:t>TITRE II. </a:t>
            </a:r>
            <a:r>
              <a:rPr lang="fr-FR" sz="2000" b="1" dirty="0" err="1" smtClean="0"/>
              <a:t>Chap</a:t>
            </a:r>
            <a:r>
              <a:rPr lang="fr-FR" sz="2000" b="1" dirty="0" smtClean="0"/>
              <a:t> I. </a:t>
            </a:r>
            <a:br>
              <a:rPr lang="fr-FR" sz="2000" b="1" dirty="0" smtClean="0"/>
            </a:br>
            <a:r>
              <a:rPr lang="fr-FR" sz="2800" b="1" dirty="0" smtClean="0"/>
              <a:t> </a:t>
            </a:r>
            <a:r>
              <a:rPr lang="fr-FR" sz="3200" b="1" dirty="0" smtClean="0">
                <a:solidFill>
                  <a:srgbClr val="0000FF"/>
                </a:solidFill>
              </a:rPr>
              <a:t>Déclaration de l'accident </a:t>
            </a:r>
            <a:r>
              <a:rPr lang="fr-FR" sz="2400" dirty="0" smtClean="0"/>
              <a:t>Section I.</a:t>
            </a:r>
            <a:r>
              <a:rPr lang="fr-FR" sz="2800" dirty="0" smtClean="0"/>
              <a:t> .</a:t>
            </a:r>
            <a:endParaRPr lang="fr-FR" sz="28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143536"/>
          </a:xfrm>
          <a:ln>
            <a:solidFill>
              <a:srgbClr val="0000FF"/>
            </a:solidFill>
          </a:ln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fr-FR" b="1" dirty="0" smtClean="0"/>
              <a:t>                 </a:t>
            </a:r>
            <a:endParaRPr lang="fr-FR" dirty="0" smtClean="0"/>
          </a:p>
          <a:p>
            <a:r>
              <a:rPr lang="fr-FR" sz="3300" dirty="0" smtClean="0"/>
              <a:t>En </a:t>
            </a:r>
            <a:r>
              <a:rPr lang="fr-FR" sz="3300" dirty="0"/>
              <a:t>cas de </a:t>
            </a:r>
            <a:r>
              <a:rPr lang="fr-FR" sz="3300" b="1" u="sng" dirty="0">
                <a:solidFill>
                  <a:srgbClr val="0070C0"/>
                </a:solidFill>
              </a:rPr>
              <a:t>carence de l'employeur</a:t>
            </a:r>
            <a:r>
              <a:rPr lang="fr-FR" sz="3300" dirty="0"/>
              <a:t>, </a:t>
            </a:r>
            <a:r>
              <a:rPr lang="fr-FR" sz="2100" dirty="0" smtClean="0"/>
              <a:t>A14 </a:t>
            </a:r>
            <a:r>
              <a:rPr lang="fr-FR" sz="2600" dirty="0" smtClean="0"/>
              <a:t> </a:t>
            </a:r>
            <a:r>
              <a:rPr lang="fr-FR" sz="3300" b="1" dirty="0" smtClean="0"/>
              <a:t>la </a:t>
            </a:r>
            <a:r>
              <a:rPr lang="fr-FR" sz="3300" b="1" dirty="0"/>
              <a:t>déclaration à </a:t>
            </a:r>
            <a:r>
              <a:rPr lang="fr-FR" sz="3300" b="1" dirty="0" smtClean="0"/>
              <a:t>S.S </a:t>
            </a:r>
            <a:r>
              <a:rPr lang="fr-FR" sz="3300" b="1" dirty="0"/>
              <a:t>peut être faite </a:t>
            </a:r>
            <a:r>
              <a:rPr lang="fr-FR" sz="3300" b="1" dirty="0" smtClean="0"/>
              <a:t>par:</a:t>
            </a:r>
          </a:p>
          <a:p>
            <a:pPr lvl="1"/>
            <a:r>
              <a:rPr lang="fr-FR" sz="3300" i="1" dirty="0" smtClean="0">
                <a:solidFill>
                  <a:srgbClr val="0000FF"/>
                </a:solidFill>
              </a:rPr>
              <a:t>La victime</a:t>
            </a:r>
            <a:r>
              <a:rPr lang="fr-FR" sz="3300" dirty="0" smtClean="0">
                <a:solidFill>
                  <a:srgbClr val="0000FF"/>
                </a:solidFill>
              </a:rPr>
              <a:t> </a:t>
            </a:r>
            <a:r>
              <a:rPr lang="fr-FR" sz="3300" dirty="0">
                <a:solidFill>
                  <a:srgbClr val="0000FF"/>
                </a:solidFill>
              </a:rPr>
              <a:t>ou </a:t>
            </a:r>
            <a:r>
              <a:rPr lang="fr-FR" sz="3300" i="1" dirty="0">
                <a:solidFill>
                  <a:srgbClr val="0000FF"/>
                </a:solidFill>
              </a:rPr>
              <a:t>ses ayants droit</a:t>
            </a:r>
            <a:r>
              <a:rPr lang="fr-FR" sz="3300" dirty="0">
                <a:solidFill>
                  <a:srgbClr val="0000FF"/>
                </a:solidFill>
              </a:rPr>
              <a:t>, </a:t>
            </a:r>
            <a:endParaRPr lang="fr-FR" sz="3300" dirty="0" smtClean="0">
              <a:solidFill>
                <a:srgbClr val="0000FF"/>
              </a:solidFill>
            </a:endParaRPr>
          </a:p>
          <a:p>
            <a:pPr lvl="1"/>
            <a:r>
              <a:rPr lang="fr-FR" sz="3300" i="1" dirty="0" smtClean="0">
                <a:solidFill>
                  <a:srgbClr val="0000FF"/>
                </a:solidFill>
              </a:rPr>
              <a:t>L'organisation </a:t>
            </a:r>
            <a:r>
              <a:rPr lang="fr-FR" sz="3300" i="1" dirty="0">
                <a:solidFill>
                  <a:srgbClr val="0000FF"/>
                </a:solidFill>
              </a:rPr>
              <a:t>syndicale </a:t>
            </a:r>
            <a:endParaRPr lang="fr-FR" sz="3300" i="1" dirty="0" smtClean="0">
              <a:solidFill>
                <a:srgbClr val="0000FF"/>
              </a:solidFill>
            </a:endParaRPr>
          </a:p>
          <a:p>
            <a:pPr lvl="1"/>
            <a:r>
              <a:rPr lang="fr-FR" sz="3300" dirty="0" smtClean="0">
                <a:solidFill>
                  <a:srgbClr val="0000FF"/>
                </a:solidFill>
              </a:rPr>
              <a:t>Et </a:t>
            </a:r>
            <a:r>
              <a:rPr lang="fr-FR" sz="3300" i="1" dirty="0" smtClean="0">
                <a:solidFill>
                  <a:srgbClr val="0000FF"/>
                </a:solidFill>
              </a:rPr>
              <a:t>l'inspection </a:t>
            </a:r>
            <a:r>
              <a:rPr lang="fr-FR" sz="3300" i="1" dirty="0">
                <a:solidFill>
                  <a:srgbClr val="0000FF"/>
                </a:solidFill>
              </a:rPr>
              <a:t>du travail</a:t>
            </a:r>
            <a:r>
              <a:rPr lang="fr-FR" sz="3300" dirty="0">
                <a:solidFill>
                  <a:srgbClr val="0000FF"/>
                </a:solidFill>
              </a:rPr>
              <a:t>, </a:t>
            </a:r>
            <a:endParaRPr lang="fr-FR" sz="3300" dirty="0" smtClean="0">
              <a:solidFill>
                <a:srgbClr val="0000FF"/>
              </a:solidFill>
            </a:endParaRPr>
          </a:p>
          <a:p>
            <a:pPr lvl="7"/>
            <a:endParaRPr lang="fr-FR" sz="1800" dirty="0" smtClean="0"/>
          </a:p>
          <a:p>
            <a:pPr>
              <a:buNone/>
            </a:pPr>
            <a:r>
              <a:rPr lang="fr-FR" sz="3300" dirty="0" smtClean="0"/>
              <a:t>   dans </a:t>
            </a:r>
            <a:r>
              <a:rPr lang="fr-FR" sz="3300" dirty="0"/>
              <a:t>un </a:t>
            </a:r>
            <a:r>
              <a:rPr lang="fr-FR" sz="3300" b="1" dirty="0">
                <a:solidFill>
                  <a:srgbClr val="0070C0"/>
                </a:solidFill>
              </a:rPr>
              <a:t>délai </a:t>
            </a:r>
            <a:r>
              <a:rPr lang="fr-FR" sz="3300" b="1" dirty="0" smtClean="0">
                <a:solidFill>
                  <a:srgbClr val="0070C0"/>
                </a:solidFill>
              </a:rPr>
              <a:t>de 04 </a:t>
            </a:r>
            <a:r>
              <a:rPr lang="fr-FR" sz="3300" b="1" dirty="0">
                <a:solidFill>
                  <a:srgbClr val="0070C0"/>
                </a:solidFill>
              </a:rPr>
              <a:t>ans </a:t>
            </a:r>
            <a:r>
              <a:rPr lang="fr-FR" sz="3300" dirty="0"/>
              <a:t>à compter du jour de l'accident</a:t>
            </a:r>
            <a:r>
              <a:rPr lang="fr-FR" dirty="0"/>
              <a:t>. </a:t>
            </a:r>
          </a:p>
          <a:p>
            <a:pPr>
              <a:buNone/>
            </a:pPr>
            <a:endParaRPr lang="fr-FR" dirty="0" smtClean="0"/>
          </a:p>
          <a:p>
            <a:r>
              <a:rPr lang="fr-FR" u="sng" dirty="0" smtClean="0"/>
              <a:t>L'obligation</a:t>
            </a:r>
            <a:r>
              <a:rPr lang="fr-FR" dirty="0" smtClean="0"/>
              <a:t> </a:t>
            </a:r>
            <a:r>
              <a:rPr lang="fr-FR" dirty="0"/>
              <a:t>faite à l'employeur </a:t>
            </a:r>
            <a:r>
              <a:rPr lang="fr-FR" i="1" dirty="0">
                <a:solidFill>
                  <a:srgbClr val="0000FF"/>
                </a:solidFill>
              </a:rPr>
              <a:t>de souscrire une déclaration </a:t>
            </a:r>
            <a:r>
              <a:rPr lang="fr-FR" sz="2600" dirty="0" smtClean="0"/>
              <a:t> A15 </a:t>
            </a:r>
            <a:endParaRPr lang="fr-FR" dirty="0" smtClean="0"/>
          </a:p>
          <a:p>
            <a:pPr lvl="1"/>
            <a:r>
              <a:rPr lang="fr-FR" dirty="0" smtClean="0"/>
              <a:t>même </a:t>
            </a:r>
            <a:r>
              <a:rPr lang="fr-FR" dirty="0"/>
              <a:t>si l'accident n'a pas entraîné d'incapacité de travail </a:t>
            </a:r>
            <a:endParaRPr lang="fr-FR" dirty="0" smtClean="0"/>
          </a:p>
          <a:p>
            <a:pPr lvl="1"/>
            <a:r>
              <a:rPr lang="fr-FR" dirty="0" smtClean="0"/>
              <a:t>ou </a:t>
            </a:r>
            <a:r>
              <a:rPr lang="fr-FR" dirty="0"/>
              <a:t>ne paraît pas être imputable au travail. </a:t>
            </a:r>
            <a:endParaRPr lang="fr-FR" dirty="0" smtClean="0"/>
          </a:p>
          <a:p>
            <a:pPr lvl="2"/>
            <a:r>
              <a:rPr lang="fr-FR" dirty="0" smtClean="0"/>
              <a:t>Dans </a:t>
            </a:r>
            <a:r>
              <a:rPr lang="fr-FR" dirty="0"/>
              <a:t>ce dernier cas, l'employeur fait assortir sa déclaration de réserves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423559" y="6345816"/>
            <a:ext cx="5157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JNO-NC/ les jours non ouvrables n'étant pas comptés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Pourquoi déclarer un AT, …MP 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3"/>
            <a:ext cx="8229600" cy="5328592"/>
          </a:xfrm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fr-FR" dirty="0" smtClean="0"/>
              <a:t>Dans ce cadre, les victimes AT ou MP sont </a:t>
            </a:r>
            <a:r>
              <a:rPr lang="fr-FR" b="1" dirty="0" smtClean="0">
                <a:solidFill>
                  <a:srgbClr val="0000FF"/>
                </a:solidFill>
              </a:rPr>
              <a:t>intégralement prises en charge </a:t>
            </a:r>
            <a:r>
              <a:rPr lang="fr-FR" dirty="0" smtClean="0"/>
              <a:t>par leur caisse de sécurité sociale. </a:t>
            </a:r>
          </a:p>
          <a:p>
            <a:r>
              <a:rPr lang="fr-FR" dirty="0" smtClean="0"/>
              <a:t>Elles peuvent bénéficier de:</a:t>
            </a:r>
          </a:p>
          <a:p>
            <a:pPr lvl="3"/>
            <a:endParaRPr lang="fr-FR" dirty="0" smtClean="0"/>
          </a:p>
          <a:p>
            <a:pPr lvl="1"/>
            <a:r>
              <a:rPr lang="fr-FR" sz="3300" dirty="0" smtClean="0"/>
              <a:t>la prise en charge </a:t>
            </a:r>
            <a:r>
              <a:rPr lang="fr-FR" sz="3300" b="1" dirty="0" smtClean="0"/>
              <a:t>à 100 %</a:t>
            </a:r>
            <a:r>
              <a:rPr lang="fr-FR" sz="3300" dirty="0" smtClean="0"/>
              <a:t> de leurs </a:t>
            </a:r>
            <a:r>
              <a:rPr lang="fr-FR" sz="3300" b="1" i="1" dirty="0" smtClean="0"/>
              <a:t>frais de santé</a:t>
            </a:r>
            <a:r>
              <a:rPr lang="fr-FR" sz="3300" i="1" dirty="0" smtClean="0"/>
              <a:t> </a:t>
            </a:r>
            <a:r>
              <a:rPr lang="fr-FR" sz="3300" dirty="0" smtClean="0"/>
              <a:t>sans avance de frais, </a:t>
            </a:r>
          </a:p>
          <a:p>
            <a:pPr lvl="2"/>
            <a:r>
              <a:rPr lang="fr-FR" sz="2900" dirty="0" smtClean="0"/>
              <a:t>dans la limite des tarifs de l’Assurance maladie ;</a:t>
            </a:r>
          </a:p>
          <a:p>
            <a:pPr lvl="4"/>
            <a:endParaRPr lang="fr-FR" sz="1400" dirty="0" smtClean="0"/>
          </a:p>
          <a:p>
            <a:pPr lvl="1"/>
            <a:r>
              <a:rPr lang="fr-FR" sz="3300" b="1" i="1" dirty="0" smtClean="0"/>
              <a:t>indemnités journalières</a:t>
            </a:r>
            <a:r>
              <a:rPr lang="fr-FR" sz="3300" dirty="0" smtClean="0"/>
              <a:t> qui </a:t>
            </a:r>
            <a:r>
              <a:rPr lang="fr-FR" sz="3300" b="1" dirty="0" smtClean="0"/>
              <a:t>compensent</a:t>
            </a:r>
            <a:r>
              <a:rPr lang="fr-FR" sz="3300" dirty="0" smtClean="0"/>
              <a:t> </a:t>
            </a:r>
          </a:p>
          <a:p>
            <a:pPr lvl="2"/>
            <a:r>
              <a:rPr lang="fr-FR" sz="2900" dirty="0" smtClean="0"/>
              <a:t>en grande partie la perte de salaire durant l’arrêt de travail ;</a:t>
            </a:r>
          </a:p>
          <a:p>
            <a:pPr lvl="4"/>
            <a:endParaRPr lang="fr-FR" sz="2200" dirty="0" smtClean="0"/>
          </a:p>
          <a:p>
            <a:pPr lvl="1"/>
            <a:r>
              <a:rPr lang="fr-FR" sz="3300" b="1" dirty="0" smtClean="0"/>
              <a:t>Indemnité</a:t>
            </a:r>
            <a:r>
              <a:rPr lang="fr-FR" sz="3300" dirty="0" smtClean="0"/>
              <a:t> </a:t>
            </a:r>
            <a:r>
              <a:rPr lang="fr-FR" sz="2900" b="1" dirty="0" smtClean="0"/>
              <a:t>en capital </a:t>
            </a:r>
          </a:p>
          <a:p>
            <a:pPr lvl="2"/>
            <a:r>
              <a:rPr lang="fr-FR" sz="2600" dirty="0" smtClean="0"/>
              <a:t>ou d’une</a:t>
            </a:r>
            <a:r>
              <a:rPr lang="fr-FR" sz="2600" b="1" dirty="0" smtClean="0"/>
              <a:t> rente </a:t>
            </a:r>
            <a:r>
              <a:rPr lang="fr-FR" sz="2600" dirty="0" smtClean="0"/>
              <a:t>en cas d’incapacité permanente </a:t>
            </a:r>
            <a:r>
              <a:rPr lang="fr-FR" sz="2500" dirty="0" smtClean="0"/>
              <a:t>;</a:t>
            </a:r>
          </a:p>
          <a:p>
            <a:pPr lvl="8"/>
            <a:endParaRPr lang="fr-FR" sz="2200" dirty="0" smtClean="0"/>
          </a:p>
          <a:p>
            <a:pPr lvl="1"/>
            <a:r>
              <a:rPr lang="fr-FR" sz="3300" b="1" dirty="0" smtClean="0"/>
              <a:t>Rente</a:t>
            </a:r>
            <a:r>
              <a:rPr lang="fr-FR" sz="3300" dirty="0" smtClean="0"/>
              <a:t> pour les ayants droit en cas de</a:t>
            </a:r>
            <a:r>
              <a:rPr lang="fr-FR" sz="3300" u="sng" dirty="0" smtClean="0"/>
              <a:t> décès </a:t>
            </a:r>
            <a:r>
              <a:rPr lang="fr-FR" sz="3300" dirty="0" smtClean="0"/>
              <a:t>du salarié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Instruction du dossier </a:t>
            </a:r>
            <a:r>
              <a:rPr lang="fr-FR" sz="2700" dirty="0" smtClean="0"/>
              <a:t>(SECTION II )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28736"/>
            <a:ext cx="8329642" cy="5072098"/>
          </a:xfrm>
          <a:ln>
            <a:solidFill>
              <a:srgbClr val="0000FF"/>
            </a:solidFill>
          </a:ln>
        </p:spPr>
        <p:txBody>
          <a:bodyPr>
            <a:normAutofit fontScale="70000" lnSpcReduction="20000"/>
          </a:bodyPr>
          <a:lstStyle/>
          <a:p>
            <a:r>
              <a:rPr lang="fr-FR" sz="3600" dirty="0" smtClean="0"/>
              <a:t>Quand S.S </a:t>
            </a:r>
            <a:r>
              <a:rPr lang="fr-FR" sz="3600" dirty="0"/>
              <a:t>est en possession </a:t>
            </a:r>
            <a:r>
              <a:rPr lang="fr-FR" sz="3600" dirty="0" smtClean="0"/>
              <a:t>du dossier </a:t>
            </a:r>
            <a:r>
              <a:rPr lang="fr-FR" sz="2300" dirty="0" smtClean="0"/>
              <a:t>(déclaration d'accident -</a:t>
            </a:r>
            <a:r>
              <a:rPr lang="fr-FR" sz="1600" dirty="0" smtClean="0"/>
              <a:t>A16</a:t>
            </a:r>
            <a:r>
              <a:rPr lang="fr-FR" sz="2300" dirty="0" smtClean="0"/>
              <a:t>),  </a:t>
            </a:r>
            <a:endParaRPr lang="fr-FR" sz="3100" dirty="0" smtClean="0"/>
          </a:p>
          <a:p>
            <a:pPr lvl="1"/>
            <a:r>
              <a:rPr lang="fr-FR" sz="3400" b="1" dirty="0" smtClean="0">
                <a:solidFill>
                  <a:srgbClr val="000099"/>
                </a:solidFill>
              </a:rPr>
              <a:t>doit </a:t>
            </a:r>
            <a:r>
              <a:rPr lang="fr-FR" sz="3400" b="1" dirty="0">
                <a:solidFill>
                  <a:srgbClr val="000099"/>
                </a:solidFill>
              </a:rPr>
              <a:t>se prononcer </a:t>
            </a:r>
            <a:r>
              <a:rPr lang="fr-FR" sz="3400" dirty="0">
                <a:solidFill>
                  <a:srgbClr val="000099"/>
                </a:solidFill>
              </a:rPr>
              <a:t>sur </a:t>
            </a:r>
            <a:r>
              <a:rPr lang="fr-FR" sz="3400" u="sng" dirty="0">
                <a:solidFill>
                  <a:srgbClr val="000099"/>
                </a:solidFill>
              </a:rPr>
              <a:t>le caractère professionnel </a:t>
            </a:r>
            <a:r>
              <a:rPr lang="fr-FR" sz="3400" dirty="0"/>
              <a:t>de l'accident dans un </a:t>
            </a:r>
            <a:r>
              <a:rPr lang="fr-FR" sz="3400" dirty="0">
                <a:solidFill>
                  <a:srgbClr val="0000FF"/>
                </a:solidFill>
              </a:rPr>
              <a:t>délai de </a:t>
            </a:r>
            <a:r>
              <a:rPr lang="fr-FR" sz="3400" b="1" dirty="0" smtClean="0">
                <a:solidFill>
                  <a:srgbClr val="0000FF"/>
                </a:solidFill>
              </a:rPr>
              <a:t>20 </a:t>
            </a:r>
            <a:r>
              <a:rPr lang="fr-FR" sz="3400" dirty="0" smtClean="0">
                <a:solidFill>
                  <a:srgbClr val="0000FF"/>
                </a:solidFill>
              </a:rPr>
              <a:t>j</a:t>
            </a:r>
            <a:r>
              <a:rPr lang="fr-FR" sz="3400" dirty="0" smtClean="0"/>
              <a:t>. </a:t>
            </a:r>
          </a:p>
          <a:p>
            <a:pPr lvl="1"/>
            <a:endParaRPr lang="fr-FR" sz="1800" dirty="0"/>
          </a:p>
          <a:p>
            <a:r>
              <a:rPr lang="fr-FR" dirty="0" smtClean="0"/>
              <a:t>Si </a:t>
            </a:r>
            <a:r>
              <a:rPr lang="fr-FR" b="1" dirty="0"/>
              <a:t>contestation du caractère professionnel </a:t>
            </a:r>
            <a:r>
              <a:rPr lang="fr-FR" dirty="0"/>
              <a:t>de l'accident par </a:t>
            </a:r>
            <a:r>
              <a:rPr lang="fr-FR" dirty="0" smtClean="0"/>
              <a:t> </a:t>
            </a:r>
            <a:r>
              <a:rPr lang="fr-FR" sz="2900" dirty="0" smtClean="0"/>
              <a:t>S.S, </a:t>
            </a:r>
            <a:r>
              <a:rPr lang="fr-FR" sz="2300" dirty="0" smtClean="0"/>
              <a:t>A17 </a:t>
            </a:r>
            <a:endParaRPr lang="fr-FR" dirty="0" smtClean="0"/>
          </a:p>
          <a:p>
            <a:pPr lvl="1"/>
            <a:r>
              <a:rPr lang="fr-FR" sz="3400" dirty="0" smtClean="0"/>
              <a:t>celui-ci </a:t>
            </a:r>
            <a:r>
              <a:rPr lang="fr-FR" sz="3400" b="1" dirty="0"/>
              <a:t>doit notifier sa décision </a:t>
            </a:r>
            <a:r>
              <a:rPr lang="fr-FR" sz="3400" dirty="0"/>
              <a:t>à la victime ou à ses ayants droit dans un </a:t>
            </a:r>
            <a:r>
              <a:rPr lang="fr-FR" sz="3400" dirty="0">
                <a:solidFill>
                  <a:srgbClr val="0000FF"/>
                </a:solidFill>
              </a:rPr>
              <a:t>délai </a:t>
            </a:r>
            <a:r>
              <a:rPr lang="fr-FR" sz="3400" dirty="0" smtClean="0">
                <a:solidFill>
                  <a:srgbClr val="0000FF"/>
                </a:solidFill>
              </a:rPr>
              <a:t>de </a:t>
            </a:r>
            <a:r>
              <a:rPr lang="fr-FR" sz="3400" b="1" dirty="0" smtClean="0">
                <a:solidFill>
                  <a:srgbClr val="0000FF"/>
                </a:solidFill>
              </a:rPr>
              <a:t>20 </a:t>
            </a:r>
            <a:r>
              <a:rPr lang="fr-FR" sz="3400" b="1" dirty="0">
                <a:solidFill>
                  <a:srgbClr val="0000FF"/>
                </a:solidFill>
              </a:rPr>
              <a:t>jours</a:t>
            </a:r>
            <a:r>
              <a:rPr lang="fr-FR" sz="3400" dirty="0"/>
              <a:t>, </a:t>
            </a:r>
            <a:endParaRPr lang="fr-FR" sz="3400" dirty="0" smtClean="0"/>
          </a:p>
          <a:p>
            <a:pPr lvl="2"/>
            <a:r>
              <a:rPr lang="fr-FR" dirty="0" smtClean="0"/>
              <a:t>à </a:t>
            </a:r>
            <a:r>
              <a:rPr lang="fr-FR" dirty="0"/>
              <a:t>compter de la date à laquelle il a eu connaissance de l'accident par </a:t>
            </a:r>
            <a:r>
              <a:rPr lang="fr-FR" dirty="0" err="1" smtClean="0"/>
              <a:t>qq</a:t>
            </a:r>
            <a:r>
              <a:rPr lang="fr-FR" dirty="0" smtClean="0"/>
              <a:t> </a:t>
            </a:r>
            <a:r>
              <a:rPr lang="fr-FR" dirty="0"/>
              <a:t>moyen que ce soit.</a:t>
            </a:r>
          </a:p>
          <a:p>
            <a:pPr>
              <a:buNone/>
            </a:pPr>
            <a:endParaRPr lang="fr-FR" sz="1500" dirty="0" smtClean="0"/>
          </a:p>
          <a:p>
            <a:r>
              <a:rPr lang="fr-FR" sz="3400" dirty="0" smtClean="0"/>
              <a:t>Les </a:t>
            </a:r>
            <a:r>
              <a:rPr lang="fr-FR" sz="3400" u="sng" dirty="0"/>
              <a:t>prestations</a:t>
            </a:r>
            <a:r>
              <a:rPr lang="fr-FR" sz="3400" dirty="0"/>
              <a:t> </a:t>
            </a:r>
            <a:r>
              <a:rPr lang="fr-FR" sz="2300" dirty="0"/>
              <a:t>des assurances sociales sont </a:t>
            </a:r>
            <a:r>
              <a:rPr lang="fr-FR" sz="2600" dirty="0"/>
              <a:t>servies à </a:t>
            </a:r>
            <a:r>
              <a:rPr lang="fr-FR" sz="3400" dirty="0" smtClean="0"/>
              <a:t>titre </a:t>
            </a:r>
            <a:r>
              <a:rPr lang="fr-FR" sz="3400" b="1" dirty="0" smtClean="0"/>
              <a:t>provisionnel</a:t>
            </a:r>
            <a:r>
              <a:rPr lang="fr-FR" sz="3400" b="1" dirty="0"/>
              <a:t>, </a:t>
            </a:r>
            <a:endParaRPr lang="fr-FR" sz="3400" b="1" dirty="0" smtClean="0"/>
          </a:p>
          <a:p>
            <a:pPr lvl="1"/>
            <a:r>
              <a:rPr lang="fr-FR" sz="2500" dirty="0" smtClean="0"/>
              <a:t>tant </a:t>
            </a:r>
            <a:r>
              <a:rPr lang="fr-FR" sz="2500" dirty="0"/>
              <a:t>que </a:t>
            </a:r>
            <a:r>
              <a:rPr lang="fr-FR" sz="2500" dirty="0" smtClean="0"/>
              <a:t>l'</a:t>
            </a:r>
            <a:r>
              <a:rPr lang="fr-FR" sz="2500" dirty="0" err="1" smtClean="0"/>
              <a:t>org</a:t>
            </a:r>
            <a:r>
              <a:rPr lang="fr-FR" sz="2500" dirty="0" smtClean="0"/>
              <a:t>. S.S </a:t>
            </a:r>
            <a:r>
              <a:rPr lang="fr-FR" sz="2500" dirty="0"/>
              <a:t>n'a pas notifié sa décision, à la victime ou à ses ayants droit, </a:t>
            </a:r>
            <a:r>
              <a:rPr lang="fr-FR" sz="2500" u="sng" dirty="0"/>
              <a:t>par lettre recommandée </a:t>
            </a:r>
            <a:r>
              <a:rPr lang="fr-FR" sz="2500" dirty="0"/>
              <a:t>avec demande </a:t>
            </a:r>
            <a:r>
              <a:rPr lang="fr-FR" sz="2500" u="sng" dirty="0"/>
              <a:t>d'avis de réception</a:t>
            </a:r>
            <a:r>
              <a:rPr lang="fr-FR" sz="2500" dirty="0"/>
              <a:t>. </a:t>
            </a:r>
            <a:endParaRPr lang="fr-FR" sz="2500" dirty="0" smtClean="0"/>
          </a:p>
          <a:p>
            <a:pPr lvl="1"/>
            <a:r>
              <a:rPr lang="fr-FR" dirty="0" smtClean="0"/>
              <a:t>Dans </a:t>
            </a:r>
            <a:r>
              <a:rPr lang="fr-FR" dirty="0"/>
              <a:t>le cas où </a:t>
            </a:r>
            <a:r>
              <a:rPr lang="fr-FR" dirty="0" smtClean="0"/>
              <a:t>l'</a:t>
            </a:r>
            <a:r>
              <a:rPr lang="fr-FR" dirty="0" err="1" smtClean="0"/>
              <a:t>org</a:t>
            </a:r>
            <a:r>
              <a:rPr lang="fr-FR" dirty="0" smtClean="0"/>
              <a:t>. S.S </a:t>
            </a:r>
            <a:r>
              <a:rPr lang="fr-FR" dirty="0"/>
              <a:t>n'a pas usé de la faculté prévue au 1er alinéa du présent article, le caractère professionnel de l'accident est considéré comme établi à son égard.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Instruction du dossier </a:t>
            </a:r>
            <a:r>
              <a:rPr lang="fr-FR" sz="1800" dirty="0" smtClean="0"/>
              <a:t>(SECTION II )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5040560"/>
          </a:xfrm>
          <a:ln>
            <a:solidFill>
              <a:srgbClr val="0000FF"/>
            </a:solidFill>
          </a:ln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fr-FR" dirty="0" smtClean="0"/>
              <a:t>Lorsqu'il </a:t>
            </a:r>
            <a:r>
              <a:rPr lang="fr-FR" dirty="0"/>
              <a:t>est </a:t>
            </a:r>
            <a:r>
              <a:rPr lang="fr-FR" u="sng" dirty="0"/>
              <a:t>fait état, pour </a:t>
            </a:r>
            <a:r>
              <a:rPr lang="fr-FR" u="sng" dirty="0" smtClean="0"/>
              <a:t>la 1</a:t>
            </a:r>
            <a:r>
              <a:rPr lang="fr-FR" u="sng" baseline="30000" dirty="0" smtClean="0"/>
              <a:t>ère</a:t>
            </a:r>
            <a:r>
              <a:rPr lang="fr-FR" u="sng" dirty="0" smtClean="0"/>
              <a:t> fois </a:t>
            </a:r>
            <a:r>
              <a:rPr lang="fr-FR" sz="2600" u="sng" dirty="0" smtClean="0"/>
              <a:t>(</a:t>
            </a:r>
            <a:r>
              <a:rPr lang="fr-FR" sz="2600" dirty="0" smtClean="0"/>
              <a:t>A18</a:t>
            </a:r>
            <a:r>
              <a:rPr lang="fr-FR" u="sng" dirty="0" smtClean="0"/>
              <a:t>)</a:t>
            </a:r>
            <a:r>
              <a:rPr lang="fr-FR" dirty="0" smtClean="0"/>
              <a:t>, </a:t>
            </a:r>
            <a:r>
              <a:rPr lang="fr-FR" dirty="0"/>
              <a:t>d'une lésion ou d'une maladie </a:t>
            </a:r>
            <a:r>
              <a:rPr lang="fr-FR" sz="2600" dirty="0"/>
              <a:t>présentée par l'intéressé comme </a:t>
            </a:r>
            <a:r>
              <a:rPr lang="fr-FR" sz="2600" u="sng" dirty="0"/>
              <a:t>se rattachant à un </a:t>
            </a:r>
            <a:r>
              <a:rPr lang="fr-FR" sz="2600" u="sng" dirty="0" smtClean="0"/>
              <a:t>A.T</a:t>
            </a:r>
            <a:r>
              <a:rPr lang="fr-FR" sz="2600" dirty="0" smtClean="0"/>
              <a:t>, </a:t>
            </a:r>
            <a:r>
              <a:rPr lang="fr-FR" b="1" dirty="0" smtClean="0"/>
              <a:t> S.S </a:t>
            </a:r>
            <a:r>
              <a:rPr lang="fr-FR" b="1" dirty="0"/>
              <a:t>peut en </a:t>
            </a:r>
            <a:r>
              <a:rPr lang="fr-FR" b="1" u="sng" dirty="0">
                <a:solidFill>
                  <a:srgbClr val="0000FF"/>
                </a:solidFill>
              </a:rPr>
              <a:t>contester le caractère </a:t>
            </a:r>
            <a:r>
              <a:rPr lang="fr-FR" b="1" u="sng" dirty="0" err="1" smtClean="0">
                <a:solidFill>
                  <a:srgbClr val="0000FF"/>
                </a:solidFill>
              </a:rPr>
              <a:t>professionel</a:t>
            </a:r>
            <a:r>
              <a:rPr lang="fr-FR" b="1" dirty="0" smtClean="0"/>
              <a:t>, </a:t>
            </a:r>
            <a:r>
              <a:rPr lang="fr-FR" sz="2300" dirty="0" smtClean="0"/>
              <a:t>art. 17. </a:t>
            </a:r>
            <a:endParaRPr lang="fr-FR" dirty="0" smtClean="0"/>
          </a:p>
          <a:p>
            <a:pPr lvl="1"/>
            <a:r>
              <a:rPr lang="fr-FR" dirty="0" smtClean="0"/>
              <a:t>Le </a:t>
            </a:r>
            <a:r>
              <a:rPr lang="fr-FR" dirty="0"/>
              <a:t>délai </a:t>
            </a:r>
            <a:r>
              <a:rPr lang="fr-FR" dirty="0" smtClean="0"/>
              <a:t>de </a:t>
            </a:r>
            <a:r>
              <a:rPr lang="fr-FR" b="1" dirty="0" smtClean="0"/>
              <a:t>20 j</a:t>
            </a:r>
            <a:r>
              <a:rPr lang="fr-FR" dirty="0" smtClean="0"/>
              <a:t> </a:t>
            </a:r>
            <a:r>
              <a:rPr lang="fr-FR" dirty="0"/>
              <a:t>court</a:t>
            </a:r>
            <a:r>
              <a:rPr lang="fr-FR" u="sng" dirty="0"/>
              <a:t> </a:t>
            </a:r>
            <a:r>
              <a:rPr lang="fr-FR" sz="2300" u="sng" dirty="0"/>
              <a:t>à compter de la date </a:t>
            </a:r>
            <a:r>
              <a:rPr lang="fr-FR" sz="2300" dirty="0"/>
              <a:t>à laquelle il a été fait état, pour la </a:t>
            </a:r>
            <a:r>
              <a:rPr lang="fr-FR" sz="2300" dirty="0" smtClean="0"/>
              <a:t>1</a:t>
            </a:r>
            <a:r>
              <a:rPr lang="fr-FR" sz="2300" baseline="30000" dirty="0" smtClean="0"/>
              <a:t>ère</a:t>
            </a:r>
            <a:r>
              <a:rPr lang="fr-FR" sz="2300" dirty="0" smtClean="0"/>
              <a:t> fois</a:t>
            </a:r>
            <a:r>
              <a:rPr lang="fr-FR" sz="2300" dirty="0"/>
              <a:t>, de cette lésion ou </a:t>
            </a:r>
            <a:r>
              <a:rPr lang="fr-FR" sz="2300" dirty="0" smtClean="0"/>
              <a:t>maladie</a:t>
            </a:r>
            <a:r>
              <a:rPr lang="fr-FR" sz="2300" dirty="0"/>
              <a:t>. </a:t>
            </a:r>
            <a:endParaRPr lang="fr-FR" dirty="0" smtClean="0"/>
          </a:p>
          <a:p>
            <a:pPr lvl="1"/>
            <a:endParaRPr lang="fr-FR" sz="2300" dirty="0"/>
          </a:p>
          <a:p>
            <a:r>
              <a:rPr lang="fr-FR" dirty="0" smtClean="0"/>
              <a:t>En </a:t>
            </a:r>
            <a:r>
              <a:rPr lang="fr-FR" dirty="0"/>
              <a:t>vue de </a:t>
            </a:r>
            <a:r>
              <a:rPr lang="fr-FR" b="1" dirty="0"/>
              <a:t>l'instruction du </a:t>
            </a:r>
            <a:r>
              <a:rPr lang="fr-FR" b="1" dirty="0" smtClean="0"/>
              <a:t>dossier</a:t>
            </a:r>
            <a:r>
              <a:rPr lang="fr-FR" dirty="0" smtClean="0"/>
              <a:t> </a:t>
            </a:r>
            <a:r>
              <a:rPr lang="fr-FR" sz="2600" dirty="0" smtClean="0"/>
              <a:t>(A19), </a:t>
            </a:r>
          </a:p>
          <a:p>
            <a:pPr lvl="1"/>
            <a:r>
              <a:rPr lang="fr-FR" u="sng" dirty="0" smtClean="0"/>
              <a:t>S.S est </a:t>
            </a:r>
            <a:r>
              <a:rPr lang="fr-FR" u="sng" dirty="0"/>
              <a:t>habilité</a:t>
            </a:r>
            <a:r>
              <a:rPr lang="fr-FR" dirty="0"/>
              <a:t> à effectuer, au sein de l'organisme qui emploie la victime, </a:t>
            </a:r>
            <a:r>
              <a:rPr lang="fr-FR" dirty="0" smtClean="0"/>
              <a:t>une </a:t>
            </a:r>
            <a:r>
              <a:rPr lang="fr-FR" b="1" i="1" u="sng" dirty="0">
                <a:solidFill>
                  <a:srgbClr val="0000FF"/>
                </a:solidFill>
              </a:rPr>
              <a:t>enquête administrative</a:t>
            </a:r>
            <a:r>
              <a:rPr lang="fr-FR" b="1" dirty="0">
                <a:solidFill>
                  <a:srgbClr val="0000FF"/>
                </a:solidFill>
              </a:rPr>
              <a:t> </a:t>
            </a:r>
            <a:r>
              <a:rPr lang="fr-FR" sz="2400" dirty="0"/>
              <a:t>permettant de déterminer, notamment, le caractère professionnel de l'accident. </a:t>
            </a:r>
            <a:endParaRPr lang="fr-FR" dirty="0" smtClean="0"/>
          </a:p>
          <a:p>
            <a:pPr lvl="1"/>
            <a:r>
              <a:rPr lang="fr-FR" sz="2600" dirty="0" smtClean="0"/>
              <a:t>L'employeur </a:t>
            </a:r>
            <a:r>
              <a:rPr lang="fr-FR" sz="2600" dirty="0"/>
              <a:t>est tenu d'apporter toute aide nécessaire aux agents chargés de cette enquête.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3824"/>
          </a:xfrm>
          <a:ln>
            <a:solidFill>
              <a:srgbClr val="0000FF"/>
            </a:solidFill>
          </a:ln>
        </p:spPr>
        <p:txBody>
          <a:bodyPr>
            <a:normAutofit fontScale="92500"/>
          </a:bodyPr>
          <a:lstStyle/>
          <a:p>
            <a:r>
              <a:rPr lang="fr-FR" dirty="0" smtClean="0"/>
              <a:t>En </a:t>
            </a:r>
            <a:r>
              <a:rPr lang="fr-FR" dirty="0"/>
              <a:t>cas </a:t>
            </a:r>
            <a:r>
              <a:rPr lang="fr-FR" b="1" dirty="0">
                <a:solidFill>
                  <a:srgbClr val="0070C0"/>
                </a:solidFill>
              </a:rPr>
              <a:t>d'accident de </a:t>
            </a:r>
            <a:r>
              <a:rPr lang="fr-FR" b="1" dirty="0" smtClean="0">
                <a:solidFill>
                  <a:srgbClr val="0070C0"/>
                </a:solidFill>
              </a:rPr>
              <a:t>trajet </a:t>
            </a:r>
            <a:r>
              <a:rPr lang="fr-FR" sz="2600" dirty="0" smtClean="0"/>
              <a:t>(A20), </a:t>
            </a:r>
            <a:r>
              <a:rPr lang="fr-FR" b="1" u="sng" dirty="0">
                <a:solidFill>
                  <a:srgbClr val="0070C0"/>
                </a:solidFill>
              </a:rPr>
              <a:t>une copie du </a:t>
            </a:r>
            <a:r>
              <a:rPr lang="fr-FR" b="1" u="sng" dirty="0" smtClean="0">
                <a:solidFill>
                  <a:srgbClr val="0070C0"/>
                </a:solidFill>
              </a:rPr>
              <a:t>PV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fr-FR" dirty="0" smtClean="0">
                <a:solidFill>
                  <a:srgbClr val="0070C0"/>
                </a:solidFill>
              </a:rPr>
              <a:t>établi</a:t>
            </a:r>
            <a:r>
              <a:rPr lang="fr-FR" dirty="0" smtClean="0"/>
              <a:t> </a:t>
            </a:r>
            <a:r>
              <a:rPr lang="fr-FR" dirty="0"/>
              <a:t>par l'autorité administrative ou judiciaire, </a:t>
            </a:r>
            <a:endParaRPr lang="fr-FR" dirty="0" smtClean="0"/>
          </a:p>
          <a:p>
            <a:pPr lvl="1"/>
            <a:r>
              <a:rPr lang="fr-FR" dirty="0" smtClean="0"/>
              <a:t>doit </a:t>
            </a:r>
            <a:r>
              <a:rPr lang="fr-FR" dirty="0"/>
              <a:t>être </a:t>
            </a:r>
            <a:r>
              <a:rPr lang="fr-FR" b="1" dirty="0"/>
              <a:t>obligatoirement transmise dans un délai </a:t>
            </a:r>
            <a:r>
              <a:rPr lang="fr-FR" b="1" dirty="0" smtClean="0"/>
              <a:t>de </a:t>
            </a:r>
            <a:r>
              <a:rPr lang="fr-FR" b="1" dirty="0" smtClean="0">
                <a:solidFill>
                  <a:srgbClr val="0070C0"/>
                </a:solidFill>
              </a:rPr>
              <a:t>10 </a:t>
            </a:r>
            <a:r>
              <a:rPr lang="fr-FR" b="1" dirty="0">
                <a:solidFill>
                  <a:srgbClr val="0070C0"/>
                </a:solidFill>
              </a:rPr>
              <a:t>jours,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/>
              <a:t>à </a:t>
            </a:r>
            <a:r>
              <a:rPr lang="fr-FR" dirty="0" smtClean="0"/>
              <a:t>l'</a:t>
            </a:r>
            <a:r>
              <a:rPr lang="fr-FR" dirty="0" err="1" smtClean="0"/>
              <a:t>org</a:t>
            </a:r>
            <a:r>
              <a:rPr lang="fr-FR" dirty="0" smtClean="0"/>
              <a:t>. S.S du </a:t>
            </a:r>
            <a:r>
              <a:rPr lang="fr-FR" dirty="0"/>
              <a:t>lieu de l'accident. </a:t>
            </a:r>
            <a:endParaRPr lang="fr-FR" dirty="0" smtClean="0"/>
          </a:p>
          <a:p>
            <a:pPr lvl="1"/>
            <a:r>
              <a:rPr lang="fr-FR" sz="2600" dirty="0" smtClean="0"/>
              <a:t>Une </a:t>
            </a:r>
            <a:r>
              <a:rPr lang="fr-FR" sz="2600" dirty="0"/>
              <a:t>copie de ce </a:t>
            </a:r>
            <a:r>
              <a:rPr lang="fr-FR" sz="2600" dirty="0" smtClean="0"/>
              <a:t>PV </a:t>
            </a:r>
            <a:r>
              <a:rPr lang="fr-FR" sz="2600" dirty="0"/>
              <a:t>doit être délivrée, sur leur demande, à la victime, à ses ayants droit et à </a:t>
            </a:r>
            <a:r>
              <a:rPr lang="fr-FR" sz="2600" dirty="0" smtClean="0"/>
              <a:t>l'</a:t>
            </a:r>
            <a:r>
              <a:rPr lang="fr-FR" sz="2600" dirty="0" err="1" smtClean="0"/>
              <a:t>org</a:t>
            </a:r>
            <a:r>
              <a:rPr lang="fr-FR" sz="2600" dirty="0" smtClean="0"/>
              <a:t> </a:t>
            </a:r>
            <a:r>
              <a:rPr lang="fr-FR" sz="2600" dirty="0"/>
              <a:t>syndicale concernée. </a:t>
            </a:r>
          </a:p>
          <a:p>
            <a:pPr>
              <a:buNone/>
            </a:pPr>
            <a:endParaRPr lang="fr-FR" sz="1100" dirty="0" smtClean="0"/>
          </a:p>
          <a:p>
            <a:r>
              <a:rPr lang="fr-FR" dirty="0" smtClean="0"/>
              <a:t>Lorsqu'un </a:t>
            </a:r>
            <a:r>
              <a:rPr lang="fr-FR" dirty="0"/>
              <a:t>accident met en jeu la responsabilité pénale de son </a:t>
            </a:r>
            <a:r>
              <a:rPr lang="fr-FR" dirty="0" smtClean="0"/>
              <a:t>auteur </a:t>
            </a:r>
            <a:r>
              <a:rPr lang="fr-FR" sz="2200" dirty="0" smtClean="0"/>
              <a:t>(A21)</a:t>
            </a:r>
            <a:r>
              <a:rPr lang="fr-FR" dirty="0" smtClean="0"/>
              <a:t>, l</a:t>
            </a:r>
          </a:p>
          <a:p>
            <a:pPr lvl="1"/>
            <a:r>
              <a:rPr lang="fr-FR" dirty="0" smtClean="0"/>
              <a:t>'org.SS </a:t>
            </a:r>
            <a:r>
              <a:rPr lang="fr-FR" dirty="0"/>
              <a:t>obtient du ministère public ou du magistrat </a:t>
            </a:r>
            <a:r>
              <a:rPr lang="fr-FR" dirty="0">
                <a:solidFill>
                  <a:srgbClr val="0070C0"/>
                </a:solidFill>
              </a:rPr>
              <a:t>saisi du dossier</a:t>
            </a:r>
            <a:r>
              <a:rPr lang="fr-FR" dirty="0"/>
              <a:t>, communication des pièces de la procédure suivie.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  <a:ln>
            <a:solidFill>
              <a:schemeClr val="bg1"/>
            </a:solidFill>
          </a:ln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Constatation des lésions</a:t>
            </a:r>
            <a:r>
              <a:rPr lang="fr-FR" dirty="0" smtClean="0"/>
              <a:t> :</a:t>
            </a:r>
            <a:r>
              <a:rPr lang="fr-FR" sz="3600" dirty="0" smtClean="0"/>
              <a:t> qui &amp; comment</a:t>
            </a:r>
            <a:r>
              <a:rPr lang="fr-FR" dirty="0" smtClean="0"/>
              <a:t>? </a:t>
            </a:r>
            <a:r>
              <a:rPr lang="fr-FR" sz="1800" dirty="0" smtClean="0"/>
              <a:t>(</a:t>
            </a:r>
            <a:r>
              <a:rPr lang="fr-FR" sz="2000" dirty="0" smtClean="0"/>
              <a:t>Chapitre II)</a:t>
            </a:r>
            <a:endParaRPr lang="fr-FR" sz="2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endParaRPr lang="fr-FR" dirty="0" smtClean="0"/>
          </a:p>
          <a:p>
            <a:r>
              <a:rPr lang="fr-FR" dirty="0" smtClean="0"/>
              <a:t>Un </a:t>
            </a:r>
            <a:r>
              <a:rPr lang="fr-FR" dirty="0"/>
              <a:t>praticien, </a:t>
            </a:r>
            <a:endParaRPr lang="fr-FR" dirty="0" smtClean="0"/>
          </a:p>
          <a:p>
            <a:pPr lvl="1"/>
            <a:r>
              <a:rPr lang="fr-FR" b="1" u="sng" dirty="0" smtClean="0">
                <a:solidFill>
                  <a:srgbClr val="0070C0"/>
                </a:solidFill>
              </a:rPr>
              <a:t>choisi</a:t>
            </a:r>
            <a:r>
              <a:rPr lang="fr-FR" b="1" dirty="0" smtClean="0">
                <a:solidFill>
                  <a:srgbClr val="0070C0"/>
                </a:solidFill>
              </a:rPr>
              <a:t> </a:t>
            </a:r>
            <a:r>
              <a:rPr lang="fr-FR" b="1" dirty="0">
                <a:solidFill>
                  <a:srgbClr val="0070C0"/>
                </a:solidFill>
              </a:rPr>
              <a:t>par la victime</a:t>
            </a:r>
            <a:r>
              <a:rPr lang="fr-FR" sz="2200" dirty="0"/>
              <a:t>, </a:t>
            </a:r>
            <a:r>
              <a:rPr lang="fr-FR" sz="1300" dirty="0" smtClean="0"/>
              <a:t>(</a:t>
            </a:r>
            <a:r>
              <a:rPr lang="fr-FR" sz="1100" dirty="0" smtClean="0"/>
              <a:t>A22)</a:t>
            </a:r>
          </a:p>
          <a:p>
            <a:pPr lvl="1"/>
            <a:endParaRPr lang="fr-FR" sz="1050" dirty="0" smtClean="0"/>
          </a:p>
          <a:p>
            <a:r>
              <a:rPr lang="fr-FR" b="1" dirty="0" smtClean="0"/>
              <a:t>établit  </a:t>
            </a:r>
            <a:r>
              <a:rPr lang="fr-FR" b="1" dirty="0" smtClean="0">
                <a:solidFill>
                  <a:srgbClr val="0000FF"/>
                </a:solidFill>
              </a:rPr>
              <a:t>2  certificats</a:t>
            </a:r>
            <a:r>
              <a:rPr lang="fr-FR" dirty="0"/>
              <a:t>: </a:t>
            </a:r>
            <a:endParaRPr lang="fr-FR" dirty="0" smtClean="0"/>
          </a:p>
          <a:p>
            <a:pPr lvl="5"/>
            <a:endParaRPr lang="fr-FR" sz="1100" dirty="0"/>
          </a:p>
          <a:p>
            <a:pPr marL="1428750" lvl="2" indent="-514350">
              <a:buFont typeface="+mj-lt"/>
              <a:buAutoNum type="arabicPeriod"/>
            </a:pPr>
            <a:r>
              <a:rPr lang="fr-FR" sz="2800" b="1" dirty="0" smtClean="0">
                <a:solidFill>
                  <a:srgbClr val="0070C0"/>
                </a:solidFill>
              </a:rPr>
              <a:t>le </a:t>
            </a:r>
            <a:r>
              <a:rPr lang="fr-FR" sz="2800" b="1" dirty="0">
                <a:solidFill>
                  <a:srgbClr val="0070C0"/>
                </a:solidFill>
              </a:rPr>
              <a:t>certificat initial </a:t>
            </a:r>
            <a:endParaRPr lang="fr-FR" sz="2800" b="1" dirty="0" smtClean="0">
              <a:solidFill>
                <a:srgbClr val="0070C0"/>
              </a:solidFill>
            </a:endParaRPr>
          </a:p>
          <a:p>
            <a:pPr marL="2286000" lvl="4" indent="-457200">
              <a:buFont typeface="+mj-lt"/>
              <a:buAutoNum type="arabicPeriod"/>
            </a:pPr>
            <a:endParaRPr lang="fr-FR" sz="1200" b="1" dirty="0" smtClean="0">
              <a:solidFill>
                <a:srgbClr val="0070C0"/>
              </a:solidFill>
            </a:endParaRPr>
          </a:p>
          <a:p>
            <a:pPr marL="1428750" lvl="2" indent="-514350">
              <a:buFont typeface="+mj-lt"/>
              <a:buAutoNum type="arabicPeriod"/>
            </a:pPr>
            <a:r>
              <a:rPr lang="fr-FR" sz="2800" b="1" dirty="0" smtClean="0">
                <a:solidFill>
                  <a:srgbClr val="0070C0"/>
                </a:solidFill>
              </a:rPr>
              <a:t>le </a:t>
            </a:r>
            <a:r>
              <a:rPr lang="fr-FR" sz="2800" b="1" dirty="0">
                <a:solidFill>
                  <a:srgbClr val="0070C0"/>
                </a:solidFill>
              </a:rPr>
              <a:t>certificat de guérison</a:t>
            </a:r>
            <a:r>
              <a:rPr lang="fr-FR" sz="2800" dirty="0"/>
              <a:t>, </a:t>
            </a:r>
            <a:endParaRPr lang="fr-FR" sz="2800" dirty="0" smtClean="0"/>
          </a:p>
          <a:p>
            <a:pPr lvl="3"/>
            <a:r>
              <a:rPr lang="fr-FR" sz="2400" dirty="0" smtClean="0"/>
              <a:t>si pas </a:t>
            </a:r>
            <a:r>
              <a:rPr lang="fr-FR" sz="2400" dirty="0"/>
              <a:t>incapacité permanente</a:t>
            </a:r>
            <a:r>
              <a:rPr lang="fr-FR" sz="2400" dirty="0" smtClean="0"/>
              <a:t>, </a:t>
            </a:r>
          </a:p>
          <a:p>
            <a:pPr lvl="2">
              <a:buNone/>
            </a:pPr>
            <a:r>
              <a:rPr lang="fr-FR" sz="2800" dirty="0" smtClean="0"/>
              <a:t>ou </a:t>
            </a:r>
            <a:r>
              <a:rPr lang="fr-FR" sz="2800" b="1" dirty="0">
                <a:solidFill>
                  <a:srgbClr val="0000FF"/>
                </a:solidFill>
              </a:rPr>
              <a:t>le certificat de consolidation</a:t>
            </a:r>
            <a:r>
              <a:rPr lang="fr-FR" sz="2800" dirty="0"/>
              <a:t>, </a:t>
            </a:r>
            <a:endParaRPr lang="fr-FR" sz="2800" dirty="0" smtClean="0"/>
          </a:p>
          <a:p>
            <a:pPr lvl="3"/>
            <a:r>
              <a:rPr lang="fr-FR" dirty="0" smtClean="0"/>
              <a:t>si  IP. </a:t>
            </a:r>
          </a:p>
          <a:p>
            <a:pPr lvl="2"/>
            <a:endParaRPr lang="fr-FR" sz="1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Constatation des lésions</a:t>
            </a:r>
            <a:r>
              <a:rPr lang="fr-FR" dirty="0" smtClean="0"/>
              <a:t> ? </a:t>
            </a:r>
            <a:r>
              <a:rPr lang="fr-FR" sz="1800" dirty="0" smtClean="0"/>
              <a:t>(</a:t>
            </a:r>
            <a:r>
              <a:rPr lang="fr-FR" sz="2000" dirty="0" smtClean="0"/>
              <a:t>Chapitre II)</a:t>
            </a:r>
            <a:endParaRPr lang="fr-FR" sz="2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 lvl="2"/>
            <a:endParaRPr lang="fr-FR" sz="1900" dirty="0"/>
          </a:p>
          <a:p>
            <a:pPr algn="ctr">
              <a:buNone/>
            </a:pPr>
            <a:r>
              <a:rPr lang="fr-FR" sz="3500" b="1" dirty="0" smtClean="0">
                <a:solidFill>
                  <a:srgbClr val="0000FF"/>
                </a:solidFill>
              </a:rPr>
              <a:t>Le </a:t>
            </a:r>
            <a:r>
              <a:rPr lang="fr-FR" sz="3500" b="1" dirty="0">
                <a:solidFill>
                  <a:srgbClr val="0000FF"/>
                </a:solidFill>
              </a:rPr>
              <a:t>certificat </a:t>
            </a:r>
            <a:r>
              <a:rPr lang="fr-FR" sz="3500" b="1" dirty="0" smtClean="0">
                <a:solidFill>
                  <a:srgbClr val="0000FF"/>
                </a:solidFill>
              </a:rPr>
              <a:t>initial</a:t>
            </a:r>
            <a:r>
              <a:rPr lang="fr-FR" dirty="0" smtClean="0">
                <a:solidFill>
                  <a:srgbClr val="000099"/>
                </a:solidFill>
              </a:rPr>
              <a:t>: </a:t>
            </a:r>
            <a:r>
              <a:rPr lang="fr-FR" sz="1900" dirty="0" smtClean="0"/>
              <a:t>(A23) </a:t>
            </a:r>
          </a:p>
          <a:p>
            <a:pPr algn="ctr">
              <a:buNone/>
            </a:pPr>
            <a:endParaRPr lang="fr-FR" dirty="0" smtClean="0"/>
          </a:p>
          <a:p>
            <a:pPr lvl="1"/>
            <a:r>
              <a:rPr lang="fr-FR" dirty="0" smtClean="0"/>
              <a:t>lors du 1</a:t>
            </a:r>
            <a:r>
              <a:rPr lang="fr-FR" baseline="30000" dirty="0" smtClean="0"/>
              <a:t>er</a:t>
            </a:r>
            <a:r>
              <a:rPr lang="fr-FR" dirty="0" smtClean="0"/>
              <a:t> examen médical qui suit l'accident; </a:t>
            </a:r>
            <a:endParaRPr lang="fr-FR" dirty="0" smtClean="0">
              <a:solidFill>
                <a:srgbClr val="0070C0"/>
              </a:solidFill>
            </a:endParaRPr>
          </a:p>
          <a:p>
            <a:pPr lvl="1"/>
            <a:r>
              <a:rPr lang="fr-FR" sz="3200" dirty="0" smtClean="0"/>
              <a:t>Doit</a:t>
            </a:r>
            <a:r>
              <a:rPr lang="fr-FR" sz="3200" dirty="0" smtClean="0">
                <a:solidFill>
                  <a:srgbClr val="0070C0"/>
                </a:solidFill>
              </a:rPr>
              <a:t> décrire </a:t>
            </a:r>
            <a:r>
              <a:rPr lang="fr-FR" sz="3200" dirty="0">
                <a:solidFill>
                  <a:srgbClr val="0070C0"/>
                </a:solidFill>
              </a:rPr>
              <a:t>l'état de la victime </a:t>
            </a:r>
            <a:endParaRPr lang="fr-FR" sz="3200" dirty="0" smtClean="0">
              <a:solidFill>
                <a:srgbClr val="0070C0"/>
              </a:solidFill>
            </a:endParaRPr>
          </a:p>
          <a:p>
            <a:pPr lvl="1"/>
            <a:r>
              <a:rPr lang="fr-FR" sz="3200" dirty="0" smtClean="0"/>
              <a:t>et </a:t>
            </a:r>
            <a:r>
              <a:rPr lang="fr-FR" sz="3200" dirty="0"/>
              <a:t>indiquer, éventuellement, </a:t>
            </a:r>
            <a:endParaRPr lang="fr-FR" sz="3200" dirty="0" smtClean="0"/>
          </a:p>
          <a:p>
            <a:pPr lvl="2"/>
            <a:r>
              <a:rPr lang="fr-FR" sz="2800" dirty="0" smtClean="0">
                <a:solidFill>
                  <a:srgbClr val="0070C0"/>
                </a:solidFill>
              </a:rPr>
              <a:t>la </a:t>
            </a:r>
            <a:r>
              <a:rPr lang="fr-FR" sz="2800" dirty="0">
                <a:solidFill>
                  <a:srgbClr val="0070C0"/>
                </a:solidFill>
              </a:rPr>
              <a:t>durée probable de l'incapacité temporaire. </a:t>
            </a:r>
            <a:endParaRPr lang="fr-FR" sz="2800" dirty="0" smtClean="0">
              <a:solidFill>
                <a:srgbClr val="0070C0"/>
              </a:solidFill>
            </a:endParaRPr>
          </a:p>
          <a:p>
            <a:pPr lvl="2"/>
            <a:r>
              <a:rPr lang="fr-FR" sz="2800" dirty="0" smtClean="0"/>
              <a:t>les </a:t>
            </a:r>
            <a:r>
              <a:rPr lang="fr-FR" sz="2800" dirty="0">
                <a:solidFill>
                  <a:srgbClr val="0070C0"/>
                </a:solidFill>
              </a:rPr>
              <a:t>constatations</a:t>
            </a:r>
            <a:r>
              <a:rPr lang="fr-FR" sz="2800" dirty="0"/>
              <a:t> </a:t>
            </a:r>
            <a:endParaRPr lang="fr-FR" sz="2800" dirty="0" smtClean="0"/>
          </a:p>
          <a:p>
            <a:pPr lvl="3"/>
            <a:r>
              <a:rPr lang="fr-FR" dirty="0" smtClean="0"/>
              <a:t>qui </a:t>
            </a:r>
            <a:r>
              <a:rPr lang="fr-FR" dirty="0"/>
              <a:t>pourraient présenter une importance pour la détermination de l'origine traumatique ou morbide des lésions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Constatation des lésions</a:t>
            </a:r>
            <a:r>
              <a:rPr lang="fr-FR" dirty="0" smtClean="0"/>
              <a:t>  </a:t>
            </a:r>
            <a:r>
              <a:rPr lang="fr-FR" sz="2000" dirty="0" smtClean="0"/>
              <a:t>Chapitre II. </a:t>
            </a:r>
            <a:endParaRPr lang="fr-FR" sz="31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  <a:ln>
            <a:solidFill>
              <a:srgbClr val="0000FF"/>
            </a:solidFill>
          </a:ln>
        </p:spPr>
        <p:txBody>
          <a:bodyPr>
            <a:normAutofit lnSpcReduction="10000"/>
          </a:bodyPr>
          <a:lstStyle/>
          <a:p>
            <a:pPr algn="ctr">
              <a:buNone/>
            </a:pPr>
            <a:endParaRPr lang="fr-FR" b="1" dirty="0" smtClean="0">
              <a:solidFill>
                <a:srgbClr val="0000FF"/>
              </a:solidFill>
            </a:endParaRPr>
          </a:p>
          <a:p>
            <a:pPr algn="ctr">
              <a:buNone/>
            </a:pPr>
            <a:r>
              <a:rPr lang="fr-FR" b="1" dirty="0" smtClean="0">
                <a:solidFill>
                  <a:srgbClr val="0000FF"/>
                </a:solidFill>
              </a:rPr>
              <a:t>Le 2</a:t>
            </a:r>
            <a:r>
              <a:rPr lang="fr-FR" b="1" baseline="30000" dirty="0" smtClean="0">
                <a:solidFill>
                  <a:srgbClr val="0000FF"/>
                </a:solidFill>
              </a:rPr>
              <a:t>ème</a:t>
            </a:r>
            <a:r>
              <a:rPr lang="fr-FR" b="1" dirty="0" smtClean="0">
                <a:solidFill>
                  <a:srgbClr val="0000FF"/>
                </a:solidFill>
              </a:rPr>
              <a:t> certificat</a:t>
            </a:r>
            <a:r>
              <a:rPr lang="fr-FR" b="1" dirty="0" smtClean="0">
                <a:solidFill>
                  <a:srgbClr val="0070C0"/>
                </a:solidFill>
              </a:rPr>
              <a:t>: </a:t>
            </a:r>
            <a:r>
              <a:rPr lang="fr-FR" sz="2400" dirty="0" smtClean="0"/>
              <a:t>indique </a:t>
            </a:r>
            <a:r>
              <a:rPr lang="fr-FR" sz="1600" dirty="0" smtClean="0"/>
              <a:t>(A24) </a:t>
            </a:r>
          </a:p>
          <a:p>
            <a:pPr algn="ctr">
              <a:buNone/>
            </a:pPr>
            <a:endParaRPr lang="fr-FR" sz="1400" dirty="0" smtClean="0"/>
          </a:p>
          <a:p>
            <a:pPr lvl="1"/>
            <a:r>
              <a:rPr lang="fr-FR" dirty="0" smtClean="0"/>
              <a:t>soit </a:t>
            </a:r>
            <a:r>
              <a:rPr lang="fr-FR" dirty="0">
                <a:solidFill>
                  <a:srgbClr val="0070C0"/>
                </a:solidFill>
              </a:rPr>
              <a:t>la guérison</a:t>
            </a:r>
            <a:r>
              <a:rPr lang="fr-FR" dirty="0"/>
              <a:t>, </a:t>
            </a:r>
            <a:endParaRPr lang="fr-FR" dirty="0" smtClean="0"/>
          </a:p>
          <a:p>
            <a:pPr lvl="1"/>
            <a:r>
              <a:rPr lang="fr-FR" dirty="0" smtClean="0"/>
              <a:t>soit </a:t>
            </a:r>
            <a:r>
              <a:rPr lang="fr-FR" dirty="0"/>
              <a:t>les </a:t>
            </a:r>
            <a:r>
              <a:rPr lang="fr-FR" dirty="0">
                <a:solidFill>
                  <a:srgbClr val="0070C0"/>
                </a:solidFill>
              </a:rPr>
              <a:t>conséquences définitives de l'accident</a:t>
            </a:r>
            <a:r>
              <a:rPr lang="fr-FR" dirty="0"/>
              <a:t>, </a:t>
            </a:r>
            <a:endParaRPr lang="fr-FR" dirty="0" smtClean="0"/>
          </a:p>
          <a:p>
            <a:pPr lvl="2"/>
            <a:r>
              <a:rPr lang="fr-FR" dirty="0" smtClean="0"/>
              <a:t>si </a:t>
            </a:r>
            <a:r>
              <a:rPr lang="fr-FR" dirty="0"/>
              <a:t>elles n'avaient pu être antérieurement constatées. </a:t>
            </a:r>
            <a:endParaRPr lang="fr-FR" dirty="0" smtClean="0"/>
          </a:p>
          <a:p>
            <a:pPr lvl="2"/>
            <a:endParaRPr lang="fr-FR" sz="1600" dirty="0" smtClean="0"/>
          </a:p>
          <a:p>
            <a:r>
              <a:rPr lang="fr-FR" sz="2800" dirty="0" smtClean="0"/>
              <a:t>Il </a:t>
            </a:r>
            <a:r>
              <a:rPr lang="fr-FR" sz="2800" dirty="0"/>
              <a:t>fixe, éventuellement, </a:t>
            </a:r>
            <a:endParaRPr lang="fr-FR" sz="2800" dirty="0" smtClean="0"/>
          </a:p>
          <a:p>
            <a:pPr lvl="1"/>
            <a:r>
              <a:rPr lang="fr-FR" dirty="0" smtClean="0">
                <a:solidFill>
                  <a:srgbClr val="0070C0"/>
                </a:solidFill>
              </a:rPr>
              <a:t>la </a:t>
            </a:r>
            <a:r>
              <a:rPr lang="fr-FR" dirty="0">
                <a:solidFill>
                  <a:srgbClr val="0070C0"/>
                </a:solidFill>
              </a:rPr>
              <a:t>date de consolidation </a:t>
            </a:r>
            <a:endParaRPr lang="fr-FR" dirty="0" smtClean="0">
              <a:solidFill>
                <a:srgbClr val="0070C0"/>
              </a:solidFill>
            </a:endParaRPr>
          </a:p>
          <a:p>
            <a:pPr lvl="1"/>
            <a:r>
              <a:rPr lang="fr-FR" dirty="0" smtClean="0">
                <a:solidFill>
                  <a:srgbClr val="0070C0"/>
                </a:solidFill>
              </a:rPr>
              <a:t>décrit </a:t>
            </a:r>
            <a:r>
              <a:rPr lang="fr-FR" dirty="0">
                <a:solidFill>
                  <a:srgbClr val="0070C0"/>
                </a:solidFill>
              </a:rPr>
              <a:t>l'état de la victime </a:t>
            </a:r>
            <a:r>
              <a:rPr lang="fr-FR" sz="2400" dirty="0">
                <a:solidFill>
                  <a:srgbClr val="0070C0"/>
                </a:solidFill>
              </a:rPr>
              <a:t>après cette consolidation</a:t>
            </a:r>
            <a:r>
              <a:rPr lang="fr-FR" sz="2400" dirty="0"/>
              <a:t>. </a:t>
            </a:r>
            <a:endParaRPr lang="fr-FR" dirty="0" smtClean="0"/>
          </a:p>
          <a:p>
            <a:pPr lvl="1"/>
            <a:r>
              <a:rPr lang="fr-FR" dirty="0" smtClean="0">
                <a:solidFill>
                  <a:srgbClr val="0070C0"/>
                </a:solidFill>
              </a:rPr>
              <a:t>Taux d'incapacité </a:t>
            </a:r>
          </a:p>
          <a:p>
            <a:pPr lvl="2"/>
            <a:r>
              <a:rPr lang="fr-FR" dirty="0" smtClean="0"/>
              <a:t>Il </a:t>
            </a:r>
            <a:r>
              <a:rPr lang="fr-FR" dirty="0"/>
              <a:t>peut, à titre indicatif, </a:t>
            </a:r>
            <a:r>
              <a:rPr lang="fr-FR" dirty="0" smtClean="0"/>
              <a:t>le préciser. (barème)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39718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sz="4000" b="1" dirty="0" smtClean="0">
                <a:solidFill>
                  <a:srgbClr val="0000FF"/>
                </a:solidFill>
              </a:rPr>
              <a:t>Constatation des lésions</a:t>
            </a:r>
            <a:r>
              <a:rPr lang="fr-FR" dirty="0" smtClean="0"/>
              <a:t>  </a:t>
            </a:r>
            <a:r>
              <a:rPr lang="fr-FR" sz="3600" dirty="0" smtClean="0"/>
              <a:t>-</a:t>
            </a:r>
            <a:r>
              <a:rPr lang="fr-FR" sz="2700" dirty="0" smtClean="0"/>
              <a:t>Chapitre II-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572164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r>
              <a:rPr lang="fr-FR" dirty="0" smtClean="0"/>
              <a:t>Chacun </a:t>
            </a:r>
            <a:r>
              <a:rPr lang="fr-FR" dirty="0"/>
              <a:t>des </a:t>
            </a:r>
            <a:r>
              <a:rPr lang="fr-FR" dirty="0" smtClean="0"/>
              <a:t>2 </a:t>
            </a:r>
            <a:r>
              <a:rPr lang="fr-FR" dirty="0"/>
              <a:t>certificats </a:t>
            </a:r>
            <a:r>
              <a:rPr lang="fr-FR" dirty="0" smtClean="0"/>
              <a:t>:</a:t>
            </a:r>
          </a:p>
          <a:p>
            <a:pPr lvl="1"/>
            <a:r>
              <a:rPr lang="fr-FR" dirty="0" smtClean="0"/>
              <a:t>est </a:t>
            </a:r>
            <a:r>
              <a:rPr lang="fr-FR" dirty="0"/>
              <a:t>établi en </a:t>
            </a:r>
            <a:r>
              <a:rPr lang="fr-FR" dirty="0" smtClean="0"/>
              <a:t>2 exemplaires: </a:t>
            </a:r>
            <a:r>
              <a:rPr lang="fr-FR" sz="2200" dirty="0" smtClean="0"/>
              <a:t>(A25 ) </a:t>
            </a:r>
            <a:endParaRPr lang="fr-FR" dirty="0" smtClean="0"/>
          </a:p>
          <a:p>
            <a:pPr lvl="1"/>
            <a:r>
              <a:rPr lang="fr-FR" dirty="0" smtClean="0"/>
              <a:t>l'un adressé </a:t>
            </a:r>
            <a:r>
              <a:rPr lang="fr-FR" u="sng" dirty="0"/>
              <a:t>i</a:t>
            </a:r>
            <a:r>
              <a:rPr lang="fr-FR" u="sng" dirty="0">
                <a:solidFill>
                  <a:srgbClr val="0000FF"/>
                </a:solidFill>
              </a:rPr>
              <a:t>mmédiatement</a:t>
            </a:r>
            <a:r>
              <a:rPr lang="fr-FR" dirty="0"/>
              <a:t> à </a:t>
            </a:r>
            <a:r>
              <a:rPr lang="fr-FR" u="sng" dirty="0" smtClean="0"/>
              <a:t>l'org.SS</a:t>
            </a:r>
            <a:r>
              <a:rPr lang="fr-FR" dirty="0" smtClean="0"/>
              <a:t>, </a:t>
            </a:r>
            <a:r>
              <a:rPr lang="fr-FR" b="1" i="1" dirty="0">
                <a:solidFill>
                  <a:srgbClr val="0070C0"/>
                </a:solidFill>
              </a:rPr>
              <a:t>par le praticien</a:t>
            </a:r>
            <a:r>
              <a:rPr lang="fr-FR" b="1" dirty="0"/>
              <a:t>, </a:t>
            </a:r>
            <a:endParaRPr lang="fr-FR" b="1" dirty="0" smtClean="0"/>
          </a:p>
          <a:p>
            <a:pPr lvl="1"/>
            <a:r>
              <a:rPr lang="fr-FR" dirty="0" smtClean="0"/>
              <a:t>et </a:t>
            </a:r>
            <a:r>
              <a:rPr lang="fr-FR" dirty="0"/>
              <a:t>l'autre remis à la </a:t>
            </a:r>
            <a:r>
              <a:rPr lang="fr-FR" u="sng" dirty="0"/>
              <a:t>victime</a:t>
            </a:r>
            <a:r>
              <a:rPr lang="fr-FR" dirty="0"/>
              <a:t>. </a:t>
            </a:r>
          </a:p>
          <a:p>
            <a:pPr>
              <a:buNone/>
            </a:pPr>
            <a:endParaRPr lang="fr-FR" sz="2400" dirty="0" smtClean="0"/>
          </a:p>
          <a:p>
            <a:r>
              <a:rPr lang="fr-FR" dirty="0" smtClean="0"/>
              <a:t>L'org.SS</a:t>
            </a:r>
            <a:r>
              <a:rPr lang="fr-FR" u="sng" dirty="0" smtClean="0"/>
              <a:t> </a:t>
            </a:r>
            <a:r>
              <a:rPr lang="fr-FR" sz="2400" u="sng" dirty="0"/>
              <a:t>peut</a:t>
            </a:r>
            <a:r>
              <a:rPr lang="fr-FR" sz="2400" dirty="0"/>
              <a:t>, dans tous les cas, prendre </a:t>
            </a:r>
            <a:r>
              <a:rPr lang="fr-FR" dirty="0"/>
              <a:t>l'avis du </a:t>
            </a:r>
            <a:r>
              <a:rPr lang="fr-FR" dirty="0" smtClean="0">
                <a:solidFill>
                  <a:srgbClr val="0000FF"/>
                </a:solidFill>
              </a:rPr>
              <a:t>CM</a:t>
            </a:r>
            <a:r>
              <a:rPr lang="fr-FR" sz="2400" dirty="0" smtClean="0">
                <a:solidFill>
                  <a:srgbClr val="0000FF"/>
                </a:solidFill>
              </a:rPr>
              <a:t> </a:t>
            </a:r>
            <a:r>
              <a:rPr lang="fr-FR" sz="2800" dirty="0" smtClean="0">
                <a:solidFill>
                  <a:srgbClr val="0070C0"/>
                </a:solidFill>
              </a:rPr>
              <a:t>contrôle médical </a:t>
            </a:r>
            <a:r>
              <a:rPr lang="fr-FR" sz="1800" dirty="0" smtClean="0"/>
              <a:t>(A26 ) </a:t>
            </a:r>
            <a:endParaRPr lang="fr-FR" dirty="0" smtClean="0"/>
          </a:p>
          <a:p>
            <a:pPr lvl="1"/>
            <a:r>
              <a:rPr lang="fr-FR" dirty="0" smtClean="0"/>
              <a:t>Il </a:t>
            </a:r>
            <a:r>
              <a:rPr lang="fr-FR" u="sng" dirty="0"/>
              <a:t>doit</a:t>
            </a:r>
            <a:r>
              <a:rPr lang="fr-FR" dirty="0"/>
              <a:t> prendre l'avis du </a:t>
            </a:r>
            <a:r>
              <a:rPr lang="fr-FR" dirty="0" smtClean="0"/>
              <a:t>CM, lorsque </a:t>
            </a:r>
            <a:r>
              <a:rPr lang="fr-FR" dirty="0"/>
              <a:t>l'accident </a:t>
            </a:r>
            <a:endParaRPr lang="fr-FR" dirty="0" smtClean="0"/>
          </a:p>
          <a:p>
            <a:pPr lvl="2"/>
            <a:r>
              <a:rPr lang="fr-FR" dirty="0" smtClean="0"/>
              <a:t>a </a:t>
            </a:r>
            <a:r>
              <a:rPr lang="fr-FR" dirty="0"/>
              <a:t>entraîné, ou est susceptible d'entraîner,</a:t>
            </a:r>
            <a:r>
              <a:rPr lang="fr-FR" dirty="0">
                <a:solidFill>
                  <a:srgbClr val="0000FF"/>
                </a:solidFill>
              </a:rPr>
              <a:t> la mort </a:t>
            </a:r>
            <a:endParaRPr lang="fr-FR" dirty="0" smtClean="0">
              <a:solidFill>
                <a:srgbClr val="0000FF"/>
              </a:solidFill>
            </a:endParaRPr>
          </a:p>
          <a:p>
            <a:pPr lvl="2"/>
            <a:r>
              <a:rPr lang="fr-FR" dirty="0" smtClean="0"/>
              <a:t>ou </a:t>
            </a:r>
            <a:r>
              <a:rPr lang="fr-FR" dirty="0"/>
              <a:t>une </a:t>
            </a:r>
            <a:r>
              <a:rPr lang="fr-FR" dirty="0">
                <a:solidFill>
                  <a:srgbClr val="0000FF"/>
                </a:solidFill>
              </a:rPr>
              <a:t>incapacité permanente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53144"/>
            <a:ext cx="8229600" cy="1547664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000099"/>
                </a:solidFill>
              </a:rPr>
              <a:t>MALADIES PROFESSIONNELLES ?</a:t>
            </a:r>
            <a:r>
              <a:rPr lang="fr-FR" b="1" dirty="0" smtClean="0">
                <a:solidFill>
                  <a:srgbClr val="000099"/>
                </a:solidFill>
              </a:rPr>
              <a:t/>
            </a:r>
            <a:br>
              <a:rPr lang="fr-FR" b="1" dirty="0" smtClean="0">
                <a:solidFill>
                  <a:srgbClr val="000099"/>
                </a:solidFill>
              </a:rPr>
            </a:br>
            <a:r>
              <a:rPr lang="fr-FR" sz="2700" b="1" dirty="0" smtClean="0"/>
              <a:t>Loi n° 83-13 du 2 juillet 1983 </a:t>
            </a:r>
            <a:br>
              <a:rPr lang="fr-FR" sz="2700" b="1" dirty="0" smtClean="0"/>
            </a:br>
            <a:r>
              <a:rPr lang="fr-FR" sz="2200" b="1" dirty="0" smtClean="0"/>
              <a:t>relative aux AT/MP  JO n° 28, du 5 juillet 1983  TITRE IV</a:t>
            </a:r>
            <a:endParaRPr lang="fr-FR" dirty="0">
              <a:solidFill>
                <a:srgbClr val="000099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16833"/>
            <a:ext cx="8363272" cy="4392487"/>
          </a:xfrm>
          <a:ln>
            <a:solidFill>
              <a:srgbClr val="000099"/>
            </a:solidFill>
          </a:ln>
        </p:spPr>
        <p:txBody>
          <a:bodyPr>
            <a:normAutofit/>
          </a:bodyPr>
          <a:lstStyle/>
          <a:p>
            <a:pPr lvl="1"/>
            <a:endParaRPr lang="fr-FR" sz="2200" b="1" dirty="0" smtClean="0"/>
          </a:p>
          <a:p>
            <a:r>
              <a:rPr lang="fr-FR" b="1" dirty="0" smtClean="0"/>
              <a:t> </a:t>
            </a:r>
            <a:r>
              <a:rPr lang="fr-FR" dirty="0" smtClean="0"/>
              <a:t>Sont considérées comme MP,  </a:t>
            </a:r>
            <a:r>
              <a:rPr lang="fr-FR" sz="2600" dirty="0" smtClean="0"/>
              <a:t>(A63)</a:t>
            </a:r>
            <a:endParaRPr lang="fr-FR" dirty="0" smtClean="0"/>
          </a:p>
          <a:p>
            <a:pPr lvl="1" algn="ctr"/>
            <a:r>
              <a:rPr lang="fr-FR" b="1" dirty="0" smtClean="0">
                <a:solidFill>
                  <a:srgbClr val="0000FF"/>
                </a:solidFill>
              </a:rPr>
              <a:t>les Intoxications, </a:t>
            </a:r>
          </a:p>
          <a:p>
            <a:pPr lvl="1" algn="ctr"/>
            <a:r>
              <a:rPr lang="fr-FR" b="1" dirty="0" smtClean="0">
                <a:solidFill>
                  <a:srgbClr val="0000FF"/>
                </a:solidFill>
              </a:rPr>
              <a:t>Infections  </a:t>
            </a:r>
            <a:r>
              <a:rPr lang="fr-FR" dirty="0" smtClean="0">
                <a:solidFill>
                  <a:srgbClr val="0000FF"/>
                </a:solidFill>
              </a:rPr>
              <a:t>et</a:t>
            </a:r>
          </a:p>
          <a:p>
            <a:pPr lvl="1" algn="ctr"/>
            <a:r>
              <a:rPr lang="fr-FR" b="1" dirty="0" smtClean="0">
                <a:solidFill>
                  <a:srgbClr val="0000FF"/>
                </a:solidFill>
              </a:rPr>
              <a:t>Affections</a:t>
            </a:r>
            <a:r>
              <a:rPr lang="fr-FR" dirty="0" smtClean="0">
                <a:solidFill>
                  <a:srgbClr val="0000FF"/>
                </a:solidFill>
              </a:rPr>
              <a:t>, </a:t>
            </a:r>
          </a:p>
          <a:p>
            <a:pPr>
              <a:buNone/>
            </a:pPr>
            <a:r>
              <a:rPr lang="fr-FR" dirty="0" smtClean="0"/>
              <a:t>     </a:t>
            </a:r>
            <a:r>
              <a:rPr lang="fr-FR" b="1" i="1" u="sng" dirty="0" smtClean="0"/>
              <a:t>présumées </a:t>
            </a:r>
            <a:r>
              <a:rPr lang="fr-FR" i="1" dirty="0" smtClean="0"/>
              <a:t>d'origine professionnelle particulière</a:t>
            </a:r>
            <a:r>
              <a:rPr lang="fr-FR" dirty="0" smtClean="0"/>
              <a:t>.</a:t>
            </a:r>
          </a:p>
          <a:p>
            <a:endParaRPr lang="fr-FR" b="1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0099"/>
                </a:solidFill>
              </a:rPr>
              <a:t>MALADIES PROFESSIONNELLES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fr-FR" b="1" dirty="0" smtClean="0"/>
              <a:t>Définition du B.I.T:</a:t>
            </a:r>
          </a:p>
          <a:p>
            <a:pPr>
              <a:buNone/>
            </a:pPr>
            <a:r>
              <a:rPr lang="fr-FR" dirty="0" smtClean="0"/>
              <a:t>« Les affections pathologiques provoquées par </a:t>
            </a:r>
          </a:p>
          <a:p>
            <a:pPr lvl="1"/>
            <a:r>
              <a:rPr lang="fr-FR" dirty="0" smtClean="0"/>
              <a:t>le travail </a:t>
            </a:r>
          </a:p>
          <a:p>
            <a:pPr lvl="1"/>
            <a:r>
              <a:rPr lang="fr-FR" dirty="0" smtClean="0"/>
              <a:t>ou les conditions de travail </a:t>
            </a:r>
          </a:p>
          <a:p>
            <a:pPr>
              <a:buNone/>
            </a:pPr>
            <a:r>
              <a:rPr lang="fr-FR" dirty="0" smtClean="0"/>
              <a:t>    et contractées à l’occasion de celui-ci »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La MP est la conséquence </a:t>
            </a:r>
          </a:p>
          <a:p>
            <a:pPr lvl="1"/>
            <a:r>
              <a:rPr lang="fr-FR" dirty="0" smtClean="0"/>
              <a:t>d’une </a:t>
            </a:r>
            <a:r>
              <a:rPr lang="fr-FR" u="sng" dirty="0" smtClean="0"/>
              <a:t>exposition ± prolongée </a:t>
            </a:r>
            <a:r>
              <a:rPr lang="fr-FR" dirty="0" smtClean="0"/>
              <a:t>à un risque </a:t>
            </a:r>
          </a:p>
          <a:p>
            <a:pPr lvl="1"/>
            <a:r>
              <a:rPr lang="fr-FR" dirty="0" smtClean="0"/>
              <a:t>qui existe lors de </a:t>
            </a:r>
            <a:r>
              <a:rPr lang="fr-FR" u="sng" dirty="0" smtClean="0"/>
              <a:t>l’exercice habituel </a:t>
            </a:r>
            <a:r>
              <a:rPr lang="fr-FR" dirty="0" smtClean="0"/>
              <a:t>de la profession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/>
              <a:t>Différence MP avec AT ?</a:t>
            </a:r>
            <a:endParaRPr lang="fr-FR" sz="36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endParaRPr lang="fr-FR" dirty="0" smtClean="0"/>
          </a:p>
          <a:p>
            <a:r>
              <a:rPr lang="fr-FR" dirty="0" smtClean="0"/>
              <a:t>Pas de soudaineté</a:t>
            </a:r>
          </a:p>
          <a:p>
            <a:r>
              <a:rPr lang="fr-FR" dirty="0" smtClean="0"/>
              <a:t>Lésions apparaissent progressivement au cours du travail</a:t>
            </a:r>
          </a:p>
          <a:p>
            <a:r>
              <a:rPr lang="fr-FR" dirty="0" smtClean="0"/>
              <a:t>Tableaux MP avec critères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Au quotidien, les situations varient…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917032"/>
          </a:xfrm>
          <a:solidFill>
            <a:schemeClr val="accent3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>
            <a:normAutofit lnSpcReduction="10000"/>
          </a:bodyPr>
          <a:lstStyle/>
          <a:p>
            <a:r>
              <a:rPr lang="fr-FR" sz="2400" b="1" dirty="0" smtClean="0"/>
              <a:t>Homme, 35 ans, chaudronnier, B.S, </a:t>
            </a:r>
            <a:br>
              <a:rPr lang="fr-FR" sz="2400" b="1" dirty="0" smtClean="0"/>
            </a:br>
            <a:r>
              <a:rPr lang="fr-FR" sz="2400" b="1" dirty="0" smtClean="0"/>
              <a:t>60 Kg/ 1,70 m, </a:t>
            </a:r>
            <a:br>
              <a:rPr lang="fr-FR" sz="2400" b="1" dirty="0" smtClean="0"/>
            </a:br>
            <a:r>
              <a:rPr lang="fr-FR" sz="2400" b="1" dirty="0" smtClean="0"/>
              <a:t> vu dans cadre VP:</a:t>
            </a:r>
            <a:br>
              <a:rPr lang="fr-FR" sz="2400" b="1" dirty="0" smtClean="0"/>
            </a:br>
            <a:r>
              <a:rPr lang="fr-FR" sz="2400" b="1" dirty="0" smtClean="0"/>
              <a:t>ATCD tabagisme: 	</a:t>
            </a:r>
          </a:p>
          <a:p>
            <a:pPr>
              <a:buNone/>
            </a:pPr>
            <a:r>
              <a:rPr lang="fr-FR" sz="1800" b="1" dirty="0" smtClean="0">
                <a:solidFill>
                  <a:srgbClr val="0000FF"/>
                </a:solidFill>
              </a:rPr>
              <a:t>               1paquet/j  </a:t>
            </a:r>
            <a:r>
              <a:rPr lang="fr-FR" sz="1800" b="1" dirty="0" err="1" smtClean="0">
                <a:solidFill>
                  <a:srgbClr val="0000FF"/>
                </a:solidFill>
              </a:rPr>
              <a:t>pdt</a:t>
            </a:r>
            <a:r>
              <a:rPr lang="fr-FR" sz="1800" b="1" dirty="0" smtClean="0">
                <a:solidFill>
                  <a:srgbClr val="0000FF"/>
                </a:solidFill>
              </a:rPr>
              <a:t> 10 ans. </a:t>
            </a:r>
            <a:r>
              <a:rPr lang="fr-FR" sz="2400" b="1" dirty="0" smtClean="0"/>
              <a:t/>
            </a:r>
            <a:br>
              <a:rPr lang="fr-FR" sz="2400" b="1" dirty="0" smtClean="0"/>
            </a:br>
            <a:r>
              <a:rPr lang="fr-FR" sz="2400" b="1" dirty="0" smtClean="0"/>
              <a:t>Acoumétrie normale</a:t>
            </a:r>
            <a:br>
              <a:rPr lang="fr-FR" sz="2400" b="1" dirty="0" smtClean="0"/>
            </a:br>
            <a:r>
              <a:rPr lang="fr-FR" sz="2400" b="1" dirty="0" smtClean="0"/>
              <a:t>Audiométrie </a:t>
            </a:r>
            <a:r>
              <a:rPr lang="fr-FR" sz="2000" b="1" dirty="0" smtClean="0"/>
              <a:t>tonale liminaire: </a:t>
            </a:r>
            <a:r>
              <a:rPr lang="fr-FR" sz="2400" dirty="0" smtClean="0"/>
              <a:t/>
            </a:r>
            <a:br>
              <a:rPr lang="fr-FR" sz="2400" dirty="0" smtClean="0"/>
            </a:br>
            <a:r>
              <a:rPr lang="fr-FR" sz="2000" b="1" dirty="0" smtClean="0">
                <a:solidFill>
                  <a:srgbClr val="0000FF"/>
                </a:solidFill>
              </a:rPr>
              <a:t>Surdité perception bilatérale: </a:t>
            </a:r>
          </a:p>
          <a:p>
            <a:pPr lvl="1">
              <a:buNone/>
            </a:pPr>
            <a:r>
              <a:rPr lang="fr-FR" sz="1800" b="1" dirty="0" smtClean="0">
                <a:solidFill>
                  <a:srgbClr val="0000FF"/>
                </a:solidFill>
              </a:rPr>
              <a:t>DMA: OD 35 /  OG 40 </a:t>
            </a:r>
            <a:r>
              <a:rPr lang="fr-FR" sz="1800" b="1" dirty="0" err="1" smtClean="0">
                <a:solidFill>
                  <a:srgbClr val="0000FF"/>
                </a:solidFill>
              </a:rPr>
              <a:t>dBA</a:t>
            </a:r>
            <a:endParaRPr lang="fr-FR" sz="1600" b="1" dirty="0" smtClean="0">
              <a:solidFill>
                <a:srgbClr val="0000FF"/>
              </a:solidFill>
            </a:endParaRPr>
          </a:p>
          <a:p>
            <a:pPr>
              <a:buNone/>
            </a:pPr>
            <a:r>
              <a:rPr lang="fr-FR" sz="2000" b="1" dirty="0" smtClean="0">
                <a:solidFill>
                  <a:srgbClr val="0000FF"/>
                </a:solidFill>
              </a:rPr>
              <a:t>  ? …</a:t>
            </a:r>
            <a:endParaRPr lang="fr-FR" sz="2200" b="1" dirty="0">
              <a:solidFill>
                <a:srgbClr val="0000FF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917031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/>
          <a:p>
            <a:r>
              <a:rPr lang="fr-FR" sz="2400" b="1" dirty="0" smtClean="0"/>
              <a:t>Femme, 40 ans, </a:t>
            </a:r>
            <a:r>
              <a:rPr lang="fr-FR" sz="2000" b="1" dirty="0" smtClean="0"/>
              <a:t>65 Kg/1,60 m</a:t>
            </a:r>
            <a:r>
              <a:rPr lang="fr-FR" sz="2400" b="1" dirty="0" smtClean="0"/>
              <a:t>, sans ATCD,</a:t>
            </a:r>
          </a:p>
          <a:p>
            <a:r>
              <a:rPr lang="fr-FR" sz="2400" b="1" dirty="0" smtClean="0"/>
              <a:t>Tisseuse sur métier à navette battante. </a:t>
            </a:r>
            <a:r>
              <a:rPr lang="fr-FR" sz="1800" b="1" dirty="0" smtClean="0"/>
              <a:t> </a:t>
            </a:r>
          </a:p>
          <a:p>
            <a:pPr lvl="1"/>
            <a:r>
              <a:rPr lang="fr-FR" sz="1800" b="1" dirty="0" err="1" smtClean="0"/>
              <a:t>Neq</a:t>
            </a:r>
            <a:r>
              <a:rPr lang="fr-FR" sz="1800" b="1" dirty="0" smtClean="0"/>
              <a:t> </a:t>
            </a:r>
            <a:r>
              <a:rPr lang="fr-FR" sz="1600" b="1" dirty="0" smtClean="0"/>
              <a:t>: 106 </a:t>
            </a:r>
            <a:r>
              <a:rPr lang="fr-FR" sz="1600" b="1" dirty="0" err="1" smtClean="0"/>
              <a:t>dB</a:t>
            </a:r>
            <a:r>
              <a:rPr lang="fr-FR" sz="1400" b="1" dirty="0" err="1" smtClean="0"/>
              <a:t>A</a:t>
            </a:r>
            <a:endParaRPr lang="fr-FR" b="1" dirty="0" smtClean="0"/>
          </a:p>
          <a:p>
            <a:r>
              <a:rPr lang="fr-FR" sz="2400" b="1" dirty="0" smtClean="0"/>
              <a:t>Acoumétrie normale</a:t>
            </a:r>
          </a:p>
          <a:p>
            <a:r>
              <a:rPr lang="fr-FR" sz="2400" b="1" dirty="0" smtClean="0"/>
              <a:t>Audiométrie tonale </a:t>
            </a:r>
            <a:r>
              <a:rPr lang="fr-FR" sz="2400" b="1" dirty="0" err="1" smtClean="0"/>
              <a:t>limin</a:t>
            </a:r>
            <a:r>
              <a:rPr lang="fr-FR" sz="2400" b="1" dirty="0" smtClean="0"/>
              <a:t>.:</a:t>
            </a:r>
          </a:p>
          <a:p>
            <a:pPr lvl="1"/>
            <a:r>
              <a:rPr lang="fr-FR" sz="1800" b="1" dirty="0" smtClean="0">
                <a:solidFill>
                  <a:srgbClr val="0000FF"/>
                </a:solidFill>
              </a:rPr>
              <a:t>SPB: DMA OD: 35 </a:t>
            </a:r>
            <a:r>
              <a:rPr lang="fr-FR" sz="1800" b="1" dirty="0" err="1" smtClean="0">
                <a:solidFill>
                  <a:srgbClr val="0000FF"/>
                </a:solidFill>
              </a:rPr>
              <a:t>dBA</a:t>
            </a:r>
            <a:r>
              <a:rPr lang="fr-FR" sz="1800" b="1" dirty="0" smtClean="0">
                <a:solidFill>
                  <a:srgbClr val="0000FF"/>
                </a:solidFill>
              </a:rPr>
              <a:t>                        </a:t>
            </a:r>
          </a:p>
          <a:p>
            <a:pPr lvl="1">
              <a:buNone/>
            </a:pPr>
            <a:r>
              <a:rPr lang="fr-FR" sz="1800" b="1" dirty="0" smtClean="0">
                <a:solidFill>
                  <a:srgbClr val="0000FF"/>
                </a:solidFill>
              </a:rPr>
              <a:t>                         OG: 30 </a:t>
            </a:r>
            <a:r>
              <a:rPr lang="fr-FR" sz="1800" b="1" dirty="0" err="1" smtClean="0">
                <a:solidFill>
                  <a:srgbClr val="0000FF"/>
                </a:solidFill>
              </a:rPr>
              <a:t>dBA</a:t>
            </a:r>
            <a:r>
              <a:rPr lang="fr-FR" sz="2800" b="1" dirty="0" smtClean="0">
                <a:solidFill>
                  <a:srgbClr val="0000FF"/>
                </a:solidFill>
              </a:rPr>
              <a:t/>
            </a:r>
            <a:br>
              <a:rPr lang="fr-FR" sz="2800" b="1" dirty="0" smtClean="0">
                <a:solidFill>
                  <a:srgbClr val="0000FF"/>
                </a:solidFill>
              </a:rPr>
            </a:br>
            <a:endParaRPr lang="fr-FR" sz="14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755576" y="5573558"/>
            <a:ext cx="770485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L’instruction </a:t>
            </a:r>
            <a:r>
              <a:rPr lang="fr-FR" dirty="0" smtClean="0"/>
              <a:t>ministérielle n° 9 du 28 juin 1986 relative à la protection de la santé des travailleurs exposés au nuisance sonore</a:t>
            </a:r>
            <a:br>
              <a:rPr lang="fr-FR" dirty="0" smtClean="0"/>
            </a:br>
            <a:r>
              <a:rPr lang="fr-FR" dirty="0" smtClean="0"/>
              <a:t>	</a:t>
            </a:r>
            <a:r>
              <a:rPr lang="fr-FR" sz="1600" b="1" dirty="0" smtClean="0">
                <a:solidFill>
                  <a:srgbClr val="00B050"/>
                </a:solidFill>
              </a:rPr>
              <a:t>85 dB (A):     côte d’alerte </a:t>
            </a:r>
            <a:br>
              <a:rPr lang="fr-FR" sz="1600" b="1" dirty="0" smtClean="0">
                <a:solidFill>
                  <a:srgbClr val="00B050"/>
                </a:solidFill>
              </a:rPr>
            </a:br>
            <a:r>
              <a:rPr lang="fr-FR" sz="1600" b="1" dirty="0" smtClean="0">
                <a:solidFill>
                  <a:srgbClr val="00B050"/>
                </a:solidFill>
              </a:rPr>
              <a:t>	</a:t>
            </a:r>
            <a:r>
              <a:rPr lang="fr-FR" sz="1600" b="1" dirty="0" smtClean="0">
                <a:solidFill>
                  <a:srgbClr val="FF0000"/>
                </a:solidFill>
              </a:rPr>
              <a:t>90 dB (A):    côte de danger</a:t>
            </a:r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1400" b="1" dirty="0" smtClean="0">
                <a:solidFill>
                  <a:srgbClr val="FF0000"/>
                </a:solidFill>
              </a:rPr>
              <a:t> </a:t>
            </a:r>
            <a:r>
              <a:rPr lang="fr-FR" sz="1400" b="1" dirty="0" smtClean="0"/>
              <a:t>(+</a:t>
            </a:r>
            <a:r>
              <a:rPr lang="fr-FR" sz="1600" b="1" dirty="0" smtClean="0"/>
              <a:t> durée expo):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0000FF"/>
                </a:solidFill>
              </a:rPr>
              <a:t>La présomption d’imputabilité</a:t>
            </a:r>
            <a:endParaRPr lang="fr-FR" sz="3600" b="1" dirty="0">
              <a:solidFill>
                <a:srgbClr val="0000FF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FR" sz="3500" dirty="0" smtClean="0"/>
              <a:t>concerne aussi les </a:t>
            </a:r>
            <a:r>
              <a:rPr lang="fr-FR" sz="3500" b="1" dirty="0" smtClean="0"/>
              <a:t>MP</a:t>
            </a:r>
            <a:r>
              <a:rPr lang="fr-FR" sz="3500" dirty="0" smtClean="0"/>
              <a:t> </a:t>
            </a:r>
            <a:r>
              <a:rPr lang="fr-FR" sz="3500" i="1" dirty="0" smtClean="0"/>
              <a:t>quand </a:t>
            </a:r>
          </a:p>
          <a:p>
            <a:pPr lvl="1"/>
            <a:r>
              <a:rPr lang="fr-FR" sz="3100" i="1" dirty="0" smtClean="0"/>
              <a:t>elles sont </a:t>
            </a:r>
            <a:r>
              <a:rPr lang="fr-FR" sz="3100" i="1" u="sng" dirty="0" smtClean="0"/>
              <a:t>recensées dans un tableau </a:t>
            </a:r>
            <a:r>
              <a:rPr lang="fr-FR" sz="3100" i="1" dirty="0" smtClean="0"/>
              <a:t>de maladie professionnelle </a:t>
            </a:r>
          </a:p>
          <a:p>
            <a:pPr lvl="1"/>
            <a:r>
              <a:rPr lang="fr-FR" sz="3000" i="1" dirty="0" smtClean="0"/>
              <a:t>et qu’elles remplissent tous les </a:t>
            </a:r>
            <a:r>
              <a:rPr lang="fr-FR" sz="3000" i="1" u="sng" dirty="0" smtClean="0"/>
              <a:t>critères</a:t>
            </a:r>
            <a:r>
              <a:rPr lang="fr-FR" sz="3000" i="1" dirty="0" smtClean="0"/>
              <a:t> de ce tableau</a:t>
            </a:r>
            <a:r>
              <a:rPr lang="fr-FR" sz="3000" dirty="0" smtClean="0"/>
              <a:t>. </a:t>
            </a:r>
          </a:p>
          <a:p>
            <a:pPr lvl="1"/>
            <a:endParaRPr lang="fr-FR" sz="1900" dirty="0" smtClean="0"/>
          </a:p>
          <a:p>
            <a:r>
              <a:rPr lang="fr-FR" sz="2600" dirty="0" smtClean="0"/>
              <a:t>Dans le cas d’une </a:t>
            </a:r>
            <a:r>
              <a:rPr lang="fr-FR" b="1" dirty="0" smtClean="0"/>
              <a:t>maladie professionnelle </a:t>
            </a:r>
            <a:r>
              <a:rPr lang="fr-FR" b="1" u="sng" dirty="0" smtClean="0"/>
              <a:t>hors tableau</a:t>
            </a:r>
            <a:r>
              <a:rPr lang="fr-FR" dirty="0" smtClean="0"/>
              <a:t>, </a:t>
            </a:r>
          </a:p>
          <a:p>
            <a:pPr lvl="1"/>
            <a:r>
              <a:rPr lang="fr-FR" dirty="0" smtClean="0"/>
              <a:t>l’assuré devra démontrer qu’elle est « </a:t>
            </a:r>
            <a:r>
              <a:rPr lang="fr-FR" i="1" dirty="0" smtClean="0"/>
              <a:t>essentiellement et directement</a:t>
            </a:r>
            <a:r>
              <a:rPr lang="fr-FR" dirty="0" smtClean="0"/>
              <a:t> » causée par son travail habituel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r>
              <a:rPr lang="fr-FR" sz="2800" dirty="0" smtClean="0"/>
              <a:t>Tableaux </a:t>
            </a:r>
            <a:r>
              <a:rPr lang="fr-FR" sz="2400" dirty="0" smtClean="0"/>
              <a:t>(A64) </a:t>
            </a:r>
            <a:r>
              <a:rPr lang="fr-FR" sz="2800" dirty="0" smtClean="0"/>
              <a:t>établis </a:t>
            </a:r>
            <a:r>
              <a:rPr lang="fr-FR" sz="2800" dirty="0"/>
              <a:t>après avis d'une </a:t>
            </a:r>
            <a:r>
              <a:rPr lang="fr-FR" sz="2800" b="1" dirty="0" smtClean="0"/>
              <a:t>commission </a:t>
            </a:r>
            <a:r>
              <a:rPr lang="fr-FR" sz="2800" b="1" dirty="0"/>
              <a:t>des </a:t>
            </a:r>
            <a:r>
              <a:rPr lang="fr-FR" sz="2800" b="1" dirty="0" smtClean="0"/>
              <a:t>MP</a:t>
            </a:r>
            <a:r>
              <a:rPr lang="fr-FR" sz="2800" dirty="0" smtClean="0"/>
              <a:t> </a:t>
            </a:r>
            <a:r>
              <a:rPr lang="fr-FR" sz="2000" dirty="0" smtClean="0"/>
              <a:t>(A66) </a:t>
            </a:r>
            <a:endParaRPr lang="fr-FR" sz="2800" dirty="0" smtClean="0"/>
          </a:p>
          <a:p>
            <a:pPr>
              <a:buNone/>
            </a:pPr>
            <a:r>
              <a:rPr lang="fr-FR" sz="2400" dirty="0" smtClean="0"/>
              <a:t>		(composition </a:t>
            </a:r>
            <a:r>
              <a:rPr lang="fr-FR" sz="2400" dirty="0"/>
              <a:t>fixée par voie </a:t>
            </a:r>
            <a:r>
              <a:rPr lang="fr-FR" sz="2400" dirty="0" smtClean="0"/>
              <a:t>réglementaire. </a:t>
            </a:r>
            <a:endParaRPr lang="fr-FR" sz="2800" dirty="0"/>
          </a:p>
          <a:p>
            <a:r>
              <a:rPr lang="fr-FR" sz="2800" dirty="0" smtClean="0"/>
              <a:t>A </a:t>
            </a:r>
            <a:r>
              <a:rPr lang="fr-FR" sz="2800" dirty="0"/>
              <a:t>partir de la </a:t>
            </a:r>
            <a:r>
              <a:rPr lang="fr-FR" sz="2800" b="1" dirty="0"/>
              <a:t>date à laquelle un travailleur </a:t>
            </a:r>
            <a:endParaRPr lang="fr-FR" sz="2800" b="1" dirty="0" smtClean="0"/>
          </a:p>
          <a:p>
            <a:pPr lvl="1"/>
            <a:r>
              <a:rPr lang="fr-FR" sz="2400" b="1" dirty="0" smtClean="0"/>
              <a:t>a </a:t>
            </a:r>
            <a:r>
              <a:rPr lang="fr-FR" sz="2400" b="1" dirty="0"/>
              <a:t>cessé d'être exposé </a:t>
            </a:r>
            <a:r>
              <a:rPr lang="fr-FR" sz="2400" u="sng" dirty="0"/>
              <a:t>à l'action des agents nocifs inscrits aux </a:t>
            </a:r>
            <a:r>
              <a:rPr lang="fr-FR" sz="2400" u="sng" dirty="0" smtClean="0"/>
              <a:t>tableaux</a:t>
            </a:r>
            <a:r>
              <a:rPr lang="fr-FR" sz="2400" dirty="0" smtClean="0"/>
              <a:t>, </a:t>
            </a:r>
          </a:p>
          <a:p>
            <a:pPr lvl="1"/>
            <a:r>
              <a:rPr lang="fr-FR" sz="2400" dirty="0" smtClean="0"/>
              <a:t>l'</a:t>
            </a:r>
            <a:r>
              <a:rPr lang="fr-FR" sz="2400" dirty="0" err="1" smtClean="0"/>
              <a:t>org</a:t>
            </a:r>
            <a:r>
              <a:rPr lang="fr-FR" sz="2400" dirty="0" smtClean="0"/>
              <a:t>. SS </a:t>
            </a:r>
            <a:r>
              <a:rPr lang="fr-FR" sz="2400" dirty="0"/>
              <a:t>ne prend en </a:t>
            </a:r>
            <a:r>
              <a:rPr lang="fr-FR" sz="2400" dirty="0" smtClean="0"/>
              <a:t>charge </a:t>
            </a:r>
            <a:r>
              <a:rPr lang="fr-FR" sz="2400" dirty="0"/>
              <a:t>les </a:t>
            </a:r>
            <a:r>
              <a:rPr lang="fr-FR" sz="2400" dirty="0" smtClean="0"/>
              <a:t>MP </a:t>
            </a:r>
            <a:r>
              <a:rPr lang="fr-FR" sz="2400" dirty="0"/>
              <a:t>correspondant à ces travaux, </a:t>
            </a:r>
            <a:endParaRPr lang="fr-FR" sz="2400" dirty="0" smtClean="0"/>
          </a:p>
          <a:p>
            <a:pPr lvl="1"/>
            <a:r>
              <a:rPr lang="fr-FR" sz="2400" dirty="0" smtClean="0"/>
              <a:t>que </a:t>
            </a:r>
            <a:r>
              <a:rPr lang="fr-FR" sz="2400" dirty="0"/>
              <a:t>lorsqu'elles ont été </a:t>
            </a:r>
            <a:r>
              <a:rPr lang="fr-FR" sz="2400" u="sng" dirty="0"/>
              <a:t>déclarées</a:t>
            </a:r>
            <a:r>
              <a:rPr lang="fr-FR" sz="2400" dirty="0"/>
              <a:t> à l'organisme </a:t>
            </a:r>
            <a:r>
              <a:rPr lang="fr-FR" sz="2400" u="sng" dirty="0"/>
              <a:t>avant l'expiration d'un </a:t>
            </a:r>
            <a:r>
              <a:rPr lang="fr-FR" sz="2400" b="1" u="sng" dirty="0"/>
              <a:t>délai fixé</a:t>
            </a:r>
            <a:r>
              <a:rPr lang="fr-FR" sz="2400" b="1" dirty="0"/>
              <a:t> </a:t>
            </a:r>
            <a:r>
              <a:rPr lang="fr-FR" sz="2400" dirty="0"/>
              <a:t>à chaque tableau. </a:t>
            </a:r>
            <a:r>
              <a:rPr lang="fr-FR" sz="2000" dirty="0" smtClean="0"/>
              <a:t>(A67)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788" y="2071688"/>
            <a:ext cx="5337348" cy="23248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8" y="0"/>
            <a:ext cx="5148634" cy="22231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4541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87" y="4143374"/>
            <a:ext cx="5415493" cy="22379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571500" y="6356350"/>
            <a:ext cx="62865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100">
                <a:effectLst/>
              </a:rPr>
              <a:t>* TMP- SMT Rouiba:  </a:t>
            </a:r>
            <a:r>
              <a:rPr lang="fr-FR" sz="1100" b="1">
                <a:effectLst/>
              </a:rPr>
              <a:t>Dr  S.LEBOUABI     Dr  F. HADEF     Pr  M.HADDAR</a:t>
            </a:r>
            <a:endParaRPr lang="fr-FR" sz="110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72199" y="1343025"/>
            <a:ext cx="2700363" cy="304698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1600" b="1" dirty="0" smtClean="0"/>
              <a:t>HYPERBARIE  </a:t>
            </a:r>
            <a:r>
              <a:rPr lang="fr-FR" b="1" dirty="0" smtClean="0"/>
              <a:t>Tableau </a:t>
            </a:r>
            <a:r>
              <a:rPr lang="fr-FR" b="1" dirty="0"/>
              <a:t>n°29</a:t>
            </a:r>
          </a:p>
          <a:p>
            <a:pPr>
              <a:defRPr/>
            </a:pPr>
            <a:endParaRPr lang="fr-FR" b="1" dirty="0"/>
          </a:p>
          <a:p>
            <a:pPr>
              <a:defRPr/>
            </a:pPr>
            <a:r>
              <a:rPr lang="fr-FR" b="1" dirty="0" err="1">
                <a:solidFill>
                  <a:srgbClr val="0000FF"/>
                </a:solidFill>
              </a:rPr>
              <a:t>Ostéonécrose</a:t>
            </a:r>
            <a:r>
              <a:rPr lang="fr-FR" b="1" dirty="0">
                <a:solidFill>
                  <a:srgbClr val="0000FF"/>
                </a:solidFill>
              </a:rPr>
              <a:t> </a:t>
            </a:r>
            <a:r>
              <a:rPr lang="fr-FR" b="1" dirty="0" err="1">
                <a:solidFill>
                  <a:srgbClr val="0000FF"/>
                </a:solidFill>
              </a:rPr>
              <a:t>dysbarique</a:t>
            </a:r>
            <a:r>
              <a:rPr lang="fr-FR" b="1" dirty="0">
                <a:solidFill>
                  <a:srgbClr val="0000FF"/>
                </a:solidFill>
              </a:rPr>
              <a:t> </a:t>
            </a:r>
          </a:p>
          <a:p>
            <a:pPr>
              <a:defRPr/>
            </a:pPr>
            <a:endParaRPr lang="fr-FR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fr-FR" sz="2000" dirty="0"/>
              <a:t> Lésions provoquées </a:t>
            </a:r>
          </a:p>
          <a:p>
            <a:pPr>
              <a:lnSpc>
                <a:spcPct val="150000"/>
              </a:lnSpc>
              <a:defRPr/>
            </a:pPr>
            <a:r>
              <a:rPr lang="fr-FR" sz="2000" dirty="0"/>
              <a:t>par des travaux effectués dans des milieux où </a:t>
            </a:r>
            <a:r>
              <a:rPr lang="fr-FR" sz="2000" dirty="0" smtClean="0"/>
              <a:t> P </a:t>
            </a:r>
            <a:r>
              <a:rPr lang="fr-FR" sz="2000" b="1" dirty="0"/>
              <a:t>&gt;</a:t>
            </a:r>
            <a:r>
              <a:rPr lang="fr-FR" sz="2000" dirty="0"/>
              <a:t> P </a:t>
            </a:r>
            <a:r>
              <a:rPr lang="fr-FR" sz="2000" dirty="0" err="1" smtClean="0"/>
              <a:t>atmos</a:t>
            </a:r>
            <a:endParaRPr lang="fr-FR" sz="2000" dirty="0"/>
          </a:p>
        </p:txBody>
      </p:sp>
      <p:sp>
        <p:nvSpPr>
          <p:cNvPr id="7" name="Rectangle 6"/>
          <p:cNvSpPr/>
          <p:nvPr/>
        </p:nvSpPr>
        <p:spPr>
          <a:xfrm>
            <a:off x="4929190" y="142852"/>
            <a:ext cx="4214842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600" b="1" dirty="0" smtClean="0"/>
              <a:t>TABLEAUX DES  MALADIES PROF</a:t>
            </a:r>
          </a:p>
          <a:p>
            <a:pPr algn="ctr">
              <a:defRPr/>
            </a:pPr>
            <a:r>
              <a:rPr lang="fr-FR" b="1" dirty="0" smtClean="0">
                <a:solidFill>
                  <a:srgbClr val="FF0000"/>
                </a:solidFill>
              </a:rPr>
              <a:t>85 TMP </a:t>
            </a:r>
          </a:p>
          <a:p>
            <a:pPr algn="ctr">
              <a:defRPr/>
            </a:pPr>
            <a:r>
              <a:rPr lang="fr-FR" b="1" dirty="0" smtClean="0">
                <a:solidFill>
                  <a:srgbClr val="FF0000"/>
                </a:solidFill>
              </a:rPr>
              <a:t>ouvrent droit à la réparation en Algérie</a:t>
            </a:r>
            <a:endParaRPr lang="fr-FR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652463"/>
          </a:xfrm>
          <a:noFill/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0099"/>
                </a:solidFill>
                <a:cs typeface="Times New Roman" pitchFamily="18" charset="0"/>
              </a:rPr>
              <a:t>85  TMP répartis en trois groupes</a:t>
            </a:r>
            <a:endParaRPr lang="fr-FR" dirty="0" smtClean="0">
              <a:solidFill>
                <a:srgbClr val="000099"/>
              </a:solidFill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432048" y="1052736"/>
            <a:ext cx="8532440" cy="5733256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274320" indent="-274320" algn="ctr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dirty="0">
                <a:cs typeface="Times New Roman" pitchFamily="18" charset="0"/>
              </a:rPr>
              <a:t> </a:t>
            </a:r>
          </a:p>
          <a:p>
            <a:pPr marL="274320" indent="-274320" algn="ctr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b="1" u="sng" dirty="0" smtClean="0">
                <a:solidFill>
                  <a:srgbClr val="00279F"/>
                </a:solidFill>
                <a:cs typeface="Times New Roman" pitchFamily="18" charset="0"/>
              </a:rPr>
              <a:t>Groupe 1</a:t>
            </a:r>
            <a:r>
              <a:rPr lang="fr-FR" sz="2800" b="1" dirty="0">
                <a:solidFill>
                  <a:srgbClr val="00279F"/>
                </a:solidFill>
                <a:cs typeface="Times New Roman" pitchFamily="18" charset="0"/>
              </a:rPr>
              <a:t> </a:t>
            </a:r>
            <a:r>
              <a:rPr lang="fr-FR" sz="2800" dirty="0">
                <a:cs typeface="Times New Roman" pitchFamily="18" charset="0"/>
              </a:rPr>
              <a:t>: 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600" dirty="0">
                <a:cs typeface="Times New Roman" pitchFamily="18" charset="0"/>
              </a:rPr>
              <a:t>manifestations morbides d</a:t>
            </a:r>
            <a:r>
              <a:rPr lang="fr-FR" sz="2600" b="1" dirty="0">
                <a:cs typeface="Times New Roman" pitchFamily="18" charset="0"/>
              </a:rPr>
              <a:t>’intoxications</a:t>
            </a:r>
            <a:r>
              <a:rPr lang="fr-FR" sz="2600" dirty="0">
                <a:cs typeface="Times New Roman" pitchFamily="18" charset="0"/>
              </a:rPr>
              <a:t> aiguës ou </a:t>
            </a:r>
            <a:r>
              <a:rPr lang="fr-FR" sz="2600" dirty="0" smtClean="0">
                <a:cs typeface="Times New Roman" pitchFamily="18" charset="0"/>
              </a:rPr>
              <a:t>chroniques</a:t>
            </a:r>
            <a:r>
              <a:rPr lang="fr-FR" sz="2600" dirty="0">
                <a:cs typeface="Times New Roman" pitchFamily="18" charset="0"/>
              </a:rPr>
              <a:t>.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dirty="0">
                <a:cs typeface="Times New Roman" pitchFamily="18" charset="0"/>
              </a:rPr>
              <a:t>    </a:t>
            </a:r>
            <a:r>
              <a:rPr lang="fr-FR" sz="2800" b="1" dirty="0">
                <a:solidFill>
                  <a:srgbClr val="FF0000"/>
                </a:solidFill>
                <a:cs typeface="Times New Roman" pitchFamily="18" charset="0"/>
              </a:rPr>
              <a:t>56</a:t>
            </a:r>
            <a:r>
              <a:rPr lang="fr-FR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fr-FR" sz="2800" dirty="0">
                <a:cs typeface="Times New Roman" pitchFamily="18" charset="0"/>
              </a:rPr>
              <a:t>TMP: intoxications aux métaux lourds, aux solvants …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endParaRPr lang="fr-FR" sz="2800" u="sng" dirty="0" smtClean="0">
              <a:solidFill>
                <a:srgbClr val="00279F"/>
              </a:solidFill>
              <a:cs typeface="Times New Roman" pitchFamily="18" charset="0"/>
            </a:endParaRPr>
          </a:p>
          <a:p>
            <a:pPr marL="274320" indent="-274320" algn="ctr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b="1" u="sng" dirty="0" smtClean="0">
                <a:solidFill>
                  <a:srgbClr val="000099"/>
                </a:solidFill>
                <a:cs typeface="Times New Roman" pitchFamily="18" charset="0"/>
              </a:rPr>
              <a:t>Groupe </a:t>
            </a:r>
            <a:r>
              <a:rPr lang="fr-FR" sz="2800" b="1" u="sng" dirty="0">
                <a:solidFill>
                  <a:srgbClr val="000099"/>
                </a:solidFill>
                <a:cs typeface="Times New Roman" pitchFamily="18" charset="0"/>
              </a:rPr>
              <a:t>2</a:t>
            </a:r>
            <a:r>
              <a:rPr lang="fr-FR" sz="2800" b="1" dirty="0">
                <a:solidFill>
                  <a:srgbClr val="000099"/>
                </a:solidFill>
                <a:cs typeface="Times New Roman" pitchFamily="18" charset="0"/>
              </a:rPr>
              <a:t> :</a:t>
            </a:r>
            <a:r>
              <a:rPr lang="fr-FR" sz="2800" dirty="0">
                <a:cs typeface="Times New Roman" pitchFamily="18" charset="0"/>
              </a:rPr>
              <a:t> </a:t>
            </a:r>
            <a:r>
              <a:rPr lang="fr-FR" sz="2800" b="1" dirty="0">
                <a:cs typeface="Times New Roman" pitchFamily="18" charset="0"/>
              </a:rPr>
              <a:t>infections microbiennes.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dirty="0">
                <a:cs typeface="Times New Roman" pitchFamily="18" charset="0"/>
              </a:rPr>
              <a:t>    </a:t>
            </a:r>
            <a:r>
              <a:rPr lang="fr-FR" sz="2800" b="1" dirty="0">
                <a:solidFill>
                  <a:srgbClr val="FF0000"/>
                </a:solidFill>
                <a:cs typeface="Times New Roman" pitchFamily="18" charset="0"/>
              </a:rPr>
              <a:t>16</a:t>
            </a:r>
            <a:r>
              <a:rPr lang="fr-FR" sz="2800" dirty="0">
                <a:cs typeface="Times New Roman" pitchFamily="18" charset="0"/>
              </a:rPr>
              <a:t> tableaux: hépatites virales  et maladies infectieuses...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endParaRPr lang="fr-FR" sz="1700" u="sng" dirty="0" smtClean="0">
              <a:solidFill>
                <a:srgbClr val="00279F"/>
              </a:solidFill>
              <a:cs typeface="Times New Roman" pitchFamily="18" charset="0"/>
            </a:endParaRPr>
          </a:p>
          <a:p>
            <a:pPr marL="274320" indent="-274320" algn="ctr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b="1" u="sng" dirty="0" smtClean="0">
                <a:solidFill>
                  <a:srgbClr val="00279F"/>
                </a:solidFill>
                <a:cs typeface="Times New Roman" pitchFamily="18" charset="0"/>
              </a:rPr>
              <a:t>Groupe </a:t>
            </a:r>
            <a:r>
              <a:rPr lang="fr-FR" sz="2800" b="1" u="sng" dirty="0">
                <a:solidFill>
                  <a:srgbClr val="00279F"/>
                </a:solidFill>
                <a:cs typeface="Times New Roman" pitchFamily="18" charset="0"/>
              </a:rPr>
              <a:t>3</a:t>
            </a:r>
            <a:r>
              <a:rPr lang="fr-FR" sz="2800" b="1" dirty="0">
                <a:cs typeface="Times New Roman" pitchFamily="18" charset="0"/>
              </a:rPr>
              <a:t> :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dirty="0">
                <a:cs typeface="Times New Roman" pitchFamily="18" charset="0"/>
              </a:rPr>
              <a:t>    maladies résultant d’ambiance ou d’attitudes particulières. 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dirty="0">
                <a:cs typeface="Times New Roman" pitchFamily="18" charset="0"/>
              </a:rPr>
              <a:t>    </a:t>
            </a:r>
            <a:r>
              <a:rPr lang="fr-FR" sz="2800" b="1" dirty="0">
                <a:solidFill>
                  <a:srgbClr val="FF0000"/>
                </a:solidFill>
                <a:cs typeface="Times New Roman" pitchFamily="18" charset="0"/>
              </a:rPr>
              <a:t>12</a:t>
            </a:r>
            <a:r>
              <a:rPr lang="fr-FR" sz="2800" dirty="0">
                <a:cs typeface="Times New Roman" pitchFamily="18" charset="0"/>
              </a:rPr>
              <a:t> TMP: affections </a:t>
            </a:r>
            <a:r>
              <a:rPr lang="fr-FR" sz="2800" dirty="0" err="1" smtClean="0">
                <a:cs typeface="Times New Roman" pitchFamily="18" charset="0"/>
              </a:rPr>
              <a:t>dûes</a:t>
            </a:r>
            <a:r>
              <a:rPr lang="fr-FR" sz="2800" dirty="0" smtClean="0">
                <a:cs typeface="Times New Roman" pitchFamily="18" charset="0"/>
              </a:rPr>
              <a:t> </a:t>
            </a:r>
            <a:r>
              <a:rPr lang="fr-FR" sz="2800" dirty="0">
                <a:cs typeface="Times New Roman" pitchFamily="18" charset="0"/>
              </a:rPr>
              <a:t>au bruit,  vibrations et chocs…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endParaRPr lang="fr-FR" sz="2800" dirty="0" smtClean="0">
              <a:solidFill>
                <a:srgbClr val="00279F"/>
              </a:solidFill>
              <a:cs typeface="Times New Roman" pitchFamily="18" charset="0"/>
            </a:endParaRPr>
          </a:p>
          <a:p>
            <a:pPr marL="274320" indent="-274320" algn="ctr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r>
              <a:rPr lang="fr-FR" sz="2800" b="1" dirty="0" smtClean="0">
                <a:solidFill>
                  <a:srgbClr val="00279F"/>
                </a:solidFill>
                <a:cs typeface="Times New Roman" pitchFamily="18" charset="0"/>
              </a:rPr>
              <a:t>85 </a:t>
            </a:r>
            <a:r>
              <a:rPr lang="fr-FR" sz="2800" b="1" dirty="0" err="1">
                <a:solidFill>
                  <a:srgbClr val="00279F"/>
                </a:solidFill>
                <a:cs typeface="Times New Roman" pitchFamily="18" charset="0"/>
              </a:rPr>
              <a:t>ème</a:t>
            </a:r>
            <a:r>
              <a:rPr lang="fr-FR" sz="2800" b="1" dirty="0">
                <a:solidFill>
                  <a:srgbClr val="00279F"/>
                </a:solidFill>
                <a:cs typeface="Times New Roman" pitchFamily="18" charset="0"/>
              </a:rPr>
              <a:t>  </a:t>
            </a:r>
            <a:r>
              <a:rPr lang="fr-FR" sz="2800" dirty="0" smtClean="0">
                <a:solidFill>
                  <a:srgbClr val="00279F"/>
                </a:solidFill>
                <a:cs typeface="Times New Roman" pitchFamily="18" charset="0"/>
              </a:rPr>
              <a:t>TMP: </a:t>
            </a:r>
            <a:r>
              <a:rPr lang="fr-FR" sz="2800" i="1" dirty="0" smtClean="0">
                <a:solidFill>
                  <a:srgbClr val="00279F"/>
                </a:solidFill>
                <a:cs typeface="Times New Roman" pitchFamily="18" charset="0"/>
              </a:rPr>
              <a:t>Dysphonie </a:t>
            </a:r>
            <a:r>
              <a:rPr lang="fr-FR" sz="2800" i="1" dirty="0">
                <a:solidFill>
                  <a:srgbClr val="00279F"/>
                </a:solidFill>
                <a:cs typeface="Times New Roman" pitchFamily="18" charset="0"/>
              </a:rPr>
              <a:t>professionnelle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r>
              <a:rPr lang="fr-FR" sz="3200" b="1" dirty="0" smtClean="0"/>
              <a:t>Quels sont les 3 critères de reconnaissance des MP? </a:t>
            </a:r>
            <a:br>
              <a:rPr lang="fr-FR" sz="3200" b="1" dirty="0" smtClean="0"/>
            </a:br>
            <a:r>
              <a:rPr lang="fr-FR" sz="1800" b="1" dirty="0" smtClean="0"/>
              <a:t>Loi n° 83-13 du 2 juillet 1983 relative aux AT/MP  JO n° 28, du 5 juillet 1983  TITRE IV </a:t>
            </a:r>
            <a:endParaRPr lang="fr-FR" sz="1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63885"/>
            <a:ext cx="8229600" cy="5361459"/>
          </a:xfrm>
          <a:solidFill>
            <a:schemeClr val="accent5">
              <a:lumMod val="20000"/>
              <a:lumOff val="80000"/>
            </a:schemeClr>
          </a:solidFill>
          <a:ln>
            <a:solidFill>
              <a:srgbClr val="0000FF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endParaRPr lang="fr-FR" sz="2200" dirty="0"/>
          </a:p>
          <a:p>
            <a:r>
              <a:rPr lang="fr-FR" dirty="0" smtClean="0"/>
              <a:t>La </a:t>
            </a:r>
            <a:r>
              <a:rPr lang="fr-FR" b="1" i="1" dirty="0"/>
              <a:t>liste des maladies </a:t>
            </a:r>
            <a:endParaRPr lang="fr-FR" b="1" i="1" dirty="0" smtClean="0"/>
          </a:p>
          <a:p>
            <a:pPr lvl="1"/>
            <a:r>
              <a:rPr lang="fr-FR" i="1" dirty="0" smtClean="0"/>
              <a:t>présumées </a:t>
            </a:r>
            <a:r>
              <a:rPr lang="fr-FR" i="1" dirty="0"/>
              <a:t>d'origine professionnelle </a:t>
            </a:r>
            <a:r>
              <a:rPr lang="fr-FR" dirty="0"/>
              <a:t>probable, </a:t>
            </a:r>
            <a:endParaRPr lang="fr-FR" dirty="0" smtClean="0"/>
          </a:p>
          <a:p>
            <a:r>
              <a:rPr lang="fr-FR" dirty="0" smtClean="0"/>
              <a:t>la </a:t>
            </a:r>
            <a:r>
              <a:rPr lang="fr-FR" b="1" dirty="0"/>
              <a:t>liste des travaux </a:t>
            </a:r>
            <a:endParaRPr lang="fr-FR" b="1" dirty="0" smtClean="0"/>
          </a:p>
          <a:p>
            <a:pPr lvl="1"/>
            <a:r>
              <a:rPr lang="fr-FR" dirty="0" smtClean="0"/>
              <a:t>susceptibles </a:t>
            </a:r>
            <a:r>
              <a:rPr lang="fr-FR" dirty="0"/>
              <a:t>de les engendrer </a:t>
            </a:r>
            <a:endParaRPr lang="fr-FR" dirty="0" smtClean="0"/>
          </a:p>
          <a:p>
            <a:r>
              <a:rPr lang="fr-FR" dirty="0" smtClean="0"/>
              <a:t>et </a:t>
            </a:r>
            <a:r>
              <a:rPr lang="fr-FR" dirty="0"/>
              <a:t>la </a:t>
            </a:r>
            <a:r>
              <a:rPr lang="fr-FR" b="1" dirty="0"/>
              <a:t>durée d'exposition </a:t>
            </a:r>
            <a:r>
              <a:rPr lang="fr-FR" dirty="0"/>
              <a:t>aux risques </a:t>
            </a:r>
            <a:endParaRPr lang="fr-FR" dirty="0" smtClean="0"/>
          </a:p>
          <a:p>
            <a:pPr lvl="1"/>
            <a:r>
              <a:rPr lang="fr-FR" dirty="0" smtClean="0"/>
              <a:t>correspondants </a:t>
            </a:r>
            <a:r>
              <a:rPr lang="fr-FR" dirty="0"/>
              <a:t>à ces travaux</a:t>
            </a:r>
            <a:r>
              <a:rPr lang="fr-FR" dirty="0" smtClean="0"/>
              <a:t>,</a:t>
            </a:r>
          </a:p>
          <a:p>
            <a:pPr lvl="1">
              <a:buNone/>
            </a:pPr>
            <a:r>
              <a:rPr lang="fr-FR" sz="1800" dirty="0" smtClean="0"/>
              <a:t>( </a:t>
            </a:r>
            <a:r>
              <a:rPr lang="fr-FR" sz="1800" dirty="0"/>
              <a:t>fixées par voies réglementaire. </a:t>
            </a:r>
            <a:r>
              <a:rPr lang="fr-FR" sz="1800" dirty="0" smtClean="0"/>
              <a:t>Et pouvant</a:t>
            </a:r>
            <a:r>
              <a:rPr lang="fr-FR" dirty="0" smtClean="0"/>
              <a:t> </a:t>
            </a:r>
            <a:r>
              <a:rPr lang="fr-FR" sz="2400" dirty="0" smtClean="0"/>
              <a:t>être </a:t>
            </a:r>
            <a:r>
              <a:rPr lang="fr-FR" sz="2400" b="1" dirty="0" smtClean="0">
                <a:solidFill>
                  <a:srgbClr val="000099"/>
                </a:solidFill>
              </a:rPr>
              <a:t>révisées et complétées </a:t>
            </a:r>
            <a:r>
              <a:rPr lang="fr-FR" sz="2000" dirty="0" smtClean="0"/>
              <a:t>(</a:t>
            </a:r>
            <a:r>
              <a:rPr lang="fr-FR" sz="1800" dirty="0" smtClean="0"/>
              <a:t>A</a:t>
            </a:r>
            <a:r>
              <a:rPr lang="fr-FR" sz="2000" dirty="0" smtClean="0"/>
              <a:t>65) dans les mêmes conditions et formes que celles prévues à A64 . 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509587"/>
          </a:xfrm>
          <a:noFill/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FR" b="1" dirty="0" smtClean="0">
                <a:cs typeface="Times New Roman" pitchFamily="18" charset="0"/>
              </a:rPr>
              <a:t>Composition du tableau MP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16024" y="1052736"/>
            <a:ext cx="8748464" cy="5572125"/>
          </a:xfrm>
          <a:ln>
            <a:solidFill>
              <a:schemeClr val="accent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fr-FR" sz="2400" b="1" dirty="0" smtClean="0">
                <a:cs typeface="Times New Roman" pitchFamily="18" charset="0"/>
              </a:rPr>
              <a:t>			</a:t>
            </a:r>
            <a:endParaRPr lang="fr-FR" sz="2400" dirty="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	*</a:t>
            </a:r>
            <a:r>
              <a:rPr lang="fr-FR" sz="2400" dirty="0" smtClean="0">
                <a:solidFill>
                  <a:srgbClr val="00279F"/>
                </a:solidFill>
                <a:cs typeface="Times New Roman" pitchFamily="18" charset="0"/>
              </a:rPr>
              <a:t> </a:t>
            </a:r>
            <a:r>
              <a:rPr lang="fr-FR" sz="2800" b="1" u="sng" dirty="0" smtClean="0">
                <a:solidFill>
                  <a:srgbClr val="00279F"/>
                </a:solidFill>
                <a:cs typeface="Times New Roman" pitchFamily="18" charset="0"/>
              </a:rPr>
              <a:t>Symptômes</a:t>
            </a:r>
            <a:r>
              <a:rPr lang="fr-FR" sz="2800" dirty="0" smtClean="0">
                <a:solidFill>
                  <a:srgbClr val="00279F"/>
                </a:solidFill>
                <a:cs typeface="Times New Roman" pitchFamily="18" charset="0"/>
              </a:rPr>
              <a:t> </a:t>
            </a:r>
            <a:r>
              <a:rPr lang="fr-FR" sz="2800" dirty="0" smtClean="0">
                <a:cs typeface="Times New Roman" pitchFamily="18" charset="0"/>
              </a:rPr>
              <a:t>ou lésions pathologiques </a:t>
            </a:r>
            <a:endParaRPr lang="fr-FR" sz="2400" dirty="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    que doit présenter le travailleur malade  (liste limitative) </a:t>
            </a: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      </a:t>
            </a: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	* </a:t>
            </a:r>
            <a:r>
              <a:rPr lang="fr-FR" sz="2800" b="1" u="sng" dirty="0" smtClean="0">
                <a:solidFill>
                  <a:srgbClr val="00279F"/>
                </a:solidFill>
                <a:cs typeface="Times New Roman" pitchFamily="18" charset="0"/>
              </a:rPr>
              <a:t>Délai de prise en charge</a:t>
            </a:r>
            <a:r>
              <a:rPr lang="fr-FR" sz="2800" b="1" dirty="0" smtClean="0">
                <a:solidFill>
                  <a:srgbClr val="00279F"/>
                </a:solidFill>
                <a:cs typeface="Times New Roman" pitchFamily="18" charset="0"/>
              </a:rPr>
              <a:t> </a:t>
            </a:r>
            <a:r>
              <a:rPr lang="fr-FR" sz="2800" dirty="0" smtClean="0">
                <a:cs typeface="Times New Roman" pitchFamily="18" charset="0"/>
              </a:rPr>
              <a:t>: </a:t>
            </a:r>
            <a:endParaRPr lang="fr-FR" sz="2400" dirty="0" smtClean="0"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    délai maximum entre </a:t>
            </a:r>
            <a:r>
              <a:rPr lang="fr-FR" sz="2400" u="sng" dirty="0" smtClean="0">
                <a:cs typeface="Times New Roman" pitchFamily="18" charset="0"/>
              </a:rPr>
              <a:t>l’apparition de l’affection </a:t>
            </a:r>
            <a:r>
              <a:rPr lang="fr-FR" sz="2400" dirty="0" smtClean="0">
                <a:cs typeface="Times New Roman" pitchFamily="18" charset="0"/>
              </a:rPr>
              <a:t>et </a:t>
            </a: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    la date à laquelle la victime </a:t>
            </a:r>
            <a:r>
              <a:rPr lang="fr-FR" sz="2400" u="sng" dirty="0" smtClean="0">
                <a:cs typeface="Times New Roman" pitchFamily="18" charset="0"/>
              </a:rPr>
              <a:t>a cessé d’être exposé </a:t>
            </a:r>
            <a:r>
              <a:rPr lang="fr-FR" sz="2400" dirty="0" smtClean="0">
                <a:cs typeface="Times New Roman" pitchFamily="18" charset="0"/>
              </a:rPr>
              <a:t>au risque </a:t>
            </a: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      (changement de poste, cessation d’activité, mise à la retraite…)</a:t>
            </a:r>
          </a:p>
          <a:p>
            <a:pPr eaLnBrk="1" hangingPunct="1">
              <a:lnSpc>
                <a:spcPct val="90000"/>
              </a:lnSpc>
              <a:buFont typeface="Monotype Sorts" charset="2"/>
              <a:buNone/>
            </a:pPr>
            <a:endParaRPr lang="fr-FR" sz="2400" dirty="0" smtClean="0">
              <a:cs typeface="Times New Roman" pitchFamily="18" charset="0"/>
            </a:endParaRPr>
          </a:p>
          <a:p>
            <a:pPr eaLnBrk="1" hangingPunct="1">
              <a:lnSpc>
                <a:spcPct val="110000"/>
              </a:lnSpc>
              <a:buFont typeface="Monotype Sorts" charset="2"/>
              <a:buNone/>
            </a:pPr>
            <a:r>
              <a:rPr lang="fr-FR" sz="2400" dirty="0" smtClean="0">
                <a:cs typeface="Times New Roman" pitchFamily="18" charset="0"/>
              </a:rPr>
              <a:t>     * </a:t>
            </a:r>
            <a:r>
              <a:rPr lang="fr-FR" sz="2800" b="1" u="sng" dirty="0" smtClean="0">
                <a:solidFill>
                  <a:srgbClr val="00279F"/>
                </a:solidFill>
                <a:cs typeface="Times New Roman" pitchFamily="18" charset="0"/>
              </a:rPr>
              <a:t>Travaux </a:t>
            </a:r>
            <a:r>
              <a:rPr lang="fr-FR" sz="2400" dirty="0" smtClean="0">
                <a:solidFill>
                  <a:srgbClr val="00279F"/>
                </a:solidFill>
                <a:cs typeface="Times New Roman" pitchFamily="18" charset="0"/>
              </a:rPr>
              <a:t>susceptibles de provoquer l’affection  en cause : </a:t>
            </a:r>
          </a:p>
          <a:p>
            <a:pPr lvl="2" eaLnBrk="1" hangingPunct="1">
              <a:lnSpc>
                <a:spcPct val="110000"/>
              </a:lnSpc>
            </a:pPr>
            <a:r>
              <a:rPr lang="fr-FR" sz="2500" b="1" dirty="0" smtClean="0">
                <a:cs typeface="Times New Roman" pitchFamily="18" charset="0"/>
              </a:rPr>
              <a:t>limitative</a:t>
            </a:r>
          </a:p>
          <a:p>
            <a:pPr lvl="2" eaLnBrk="1" hangingPunct="1">
              <a:lnSpc>
                <a:spcPct val="90000"/>
              </a:lnSpc>
            </a:pPr>
            <a:r>
              <a:rPr lang="fr-FR" sz="2500" b="1" dirty="0" smtClean="0">
                <a:cs typeface="Times New Roman" pitchFamily="18" charset="0"/>
              </a:rPr>
              <a:t>indicative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78098"/>
          </a:xfrm>
        </p:spPr>
        <p:txBody>
          <a:bodyPr>
            <a:noAutofit/>
          </a:bodyPr>
          <a:lstStyle/>
          <a:p>
            <a:r>
              <a:rPr lang="fr-FR" sz="3200" b="1" dirty="0" smtClean="0"/>
              <a:t>Numéro du tableau et l’intitulé : </a:t>
            </a:r>
            <a:br>
              <a:rPr lang="fr-FR" sz="3200" b="1" dirty="0" smtClean="0"/>
            </a:br>
            <a:r>
              <a:rPr lang="fr-FR" sz="3200" dirty="0" smtClean="0"/>
              <a:t>maladie ou agent causal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42843" y="1124744"/>
          <a:ext cx="9001156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908"/>
                <a:gridCol w="3756248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Colonne de gauche</a:t>
                      </a:r>
                      <a:endParaRPr lang="fr-F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Colonne du </a:t>
                      </a:r>
                      <a:r>
                        <a:rPr lang="fr-FR" sz="2800" dirty="0" smtClean="0"/>
                        <a:t> milieu</a:t>
                      </a:r>
                      <a:endParaRPr lang="fr-F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b="1" dirty="0" smtClean="0"/>
                        <a:t>Colonne de  droite</a:t>
                      </a:r>
                      <a:endParaRPr lang="fr-FR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2800" dirty="0" smtClean="0">
                          <a:solidFill>
                            <a:srgbClr val="0000FF"/>
                          </a:solidFill>
                        </a:rPr>
                        <a:t>désignation de la maladie </a:t>
                      </a:r>
                    </a:p>
                    <a:p>
                      <a:endParaRPr lang="fr-FR" sz="2800" dirty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fr-FR" sz="2800" dirty="0" smtClean="0"/>
                        <a:t>décrit les </a:t>
                      </a:r>
                    </a:p>
                    <a:p>
                      <a:r>
                        <a:rPr lang="fr-FR" sz="2800" dirty="0" smtClean="0"/>
                        <a:t>-symptômes </a:t>
                      </a:r>
                    </a:p>
                    <a:p>
                      <a:r>
                        <a:rPr lang="fr-FR" sz="2800" dirty="0" smtClean="0"/>
                        <a:t>-ou lésions </a:t>
                      </a:r>
                    </a:p>
                    <a:p>
                      <a:r>
                        <a:rPr lang="fr-FR" sz="2400" dirty="0" smtClean="0"/>
                        <a:t>que doit présenter la victime</a:t>
                      </a:r>
                      <a:r>
                        <a:rPr lang="fr-FR" sz="2800" dirty="0" smtClean="0"/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00FF"/>
                          </a:solidFill>
                        </a:rPr>
                        <a:t>délai de prise en charge </a:t>
                      </a:r>
                      <a:r>
                        <a:rPr lang="fr-FR" sz="2400" dirty="0" smtClean="0">
                          <a:solidFill>
                            <a:srgbClr val="0000FF"/>
                          </a:solidFill>
                        </a:rPr>
                        <a:t>(DPC) </a:t>
                      </a:r>
                      <a:r>
                        <a:rPr lang="fr-FR" sz="1800" dirty="0" smtClean="0"/>
                        <a:t>correspond à </a:t>
                      </a:r>
                    </a:p>
                    <a:p>
                      <a:r>
                        <a:rPr lang="fr-FR" sz="1800" dirty="0" smtClean="0"/>
                        <a:t>-la période écoulée, entre la </a:t>
                      </a:r>
                      <a:r>
                        <a:rPr lang="fr-FR" sz="2400" dirty="0" smtClean="0">
                          <a:solidFill>
                            <a:srgbClr val="0000FF"/>
                          </a:solidFill>
                        </a:rPr>
                        <a:t>date de </a:t>
                      </a:r>
                      <a:r>
                        <a:rPr lang="fr-FR" sz="2400" u="sng" dirty="0" smtClean="0">
                          <a:solidFill>
                            <a:srgbClr val="0000FF"/>
                          </a:solidFill>
                        </a:rPr>
                        <a:t>la cessation du travail </a:t>
                      </a:r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exposant au risque </a:t>
                      </a:r>
                      <a:endParaRPr lang="fr-FR" sz="2400" dirty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fr-FR" sz="2400" dirty="0" smtClean="0">
                          <a:solidFill>
                            <a:srgbClr val="0000FF"/>
                          </a:solidFill>
                        </a:rPr>
                        <a:t>-</a:t>
                      </a:r>
                      <a:r>
                        <a:rPr lang="fr-FR" sz="2400" dirty="0" smtClean="0"/>
                        <a:t>et celle de la </a:t>
                      </a:r>
                      <a:r>
                        <a:rPr lang="fr-FR" sz="2400" u="sng" dirty="0" smtClean="0">
                          <a:solidFill>
                            <a:srgbClr val="0000FF"/>
                          </a:solidFill>
                        </a:rPr>
                        <a:t>première constatation médicale </a:t>
                      </a:r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de la MP. </a:t>
                      </a:r>
                      <a:r>
                        <a:rPr lang="fr-FR" sz="1200" dirty="0" smtClean="0"/>
                        <a:t>Art 67 loi 83-13 ; Art 11 AIM 05-05-1996 </a:t>
                      </a:r>
                      <a:endParaRPr lang="fr-FR" sz="2400" dirty="0" smtClean="0"/>
                    </a:p>
                    <a:p>
                      <a:r>
                        <a:rPr lang="fr-FR" sz="2400" dirty="0" smtClean="0"/>
                        <a:t>Ce </a:t>
                      </a:r>
                      <a:r>
                        <a:rPr lang="fr-FR" sz="2400" b="1" dirty="0" smtClean="0"/>
                        <a:t>délai est variable </a:t>
                      </a:r>
                      <a:r>
                        <a:rPr lang="fr-FR" sz="2000" dirty="0" smtClean="0"/>
                        <a:t>selon les nuisances et les affections, il sera:</a:t>
                      </a:r>
                      <a:endParaRPr lang="fr-FR" sz="2400" dirty="0" smtClean="0"/>
                    </a:p>
                    <a:p>
                      <a:r>
                        <a:rPr lang="fr-FR" sz="2400" dirty="0" smtClean="0"/>
                        <a:t>-</a:t>
                      </a:r>
                      <a:r>
                        <a:rPr lang="fr-FR" sz="2400" u="sng" dirty="0" smtClean="0"/>
                        <a:t>court</a:t>
                      </a:r>
                      <a:r>
                        <a:rPr lang="fr-FR" sz="2400" dirty="0" smtClean="0"/>
                        <a:t> dans les lésions aigues et </a:t>
                      </a:r>
                      <a:r>
                        <a:rPr lang="fr-FR" sz="2400" u="sng" dirty="0" smtClean="0"/>
                        <a:t>long</a:t>
                      </a:r>
                      <a:r>
                        <a:rPr lang="fr-FR" sz="2400" dirty="0" smtClean="0"/>
                        <a:t> dans lésions chroniques et/ou </a:t>
                      </a:r>
                      <a:r>
                        <a:rPr lang="fr-FR" sz="2400" dirty="0" err="1" smtClean="0"/>
                        <a:t>Kc</a:t>
                      </a:r>
                      <a:r>
                        <a:rPr lang="fr-FR" dirty="0" smtClean="0"/>
                        <a:t>. </a:t>
                      </a:r>
                    </a:p>
                  </a:txBody>
                  <a:tcPr>
                    <a:solidFill>
                      <a:srgbClr val="A2F3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dirty="0" smtClean="0">
                          <a:solidFill>
                            <a:srgbClr val="0000FF"/>
                          </a:solidFill>
                        </a:rPr>
                        <a:t>liste des principaux travaux susceptibles de provoquer la maladie </a:t>
                      </a:r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,</a:t>
                      </a:r>
                      <a:r>
                        <a:rPr lang="fr-FR" sz="2000" dirty="0" smtClean="0"/>
                        <a:t> est:</a:t>
                      </a:r>
                    </a:p>
                    <a:p>
                      <a:endParaRPr lang="fr-FR" sz="2000" dirty="0" smtClean="0"/>
                    </a:p>
                    <a:p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-</a:t>
                      </a:r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soit </a:t>
                      </a:r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indicative</a:t>
                      </a:r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2000" dirty="0" smtClean="0"/>
                        <a:t>(</a:t>
                      </a:r>
                      <a:r>
                        <a:rPr lang="fr-FR" dirty="0" smtClean="0"/>
                        <a:t>groupe 1), où le médecin peut intégrer d’autres travaux ne figurant pas sur la liste. </a:t>
                      </a:r>
                    </a:p>
                    <a:p>
                      <a:endParaRPr lang="fr-FR" sz="2000" dirty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-</a:t>
                      </a:r>
                      <a:r>
                        <a:rPr lang="fr-FR" sz="2000" dirty="0" smtClean="0">
                          <a:solidFill>
                            <a:srgbClr val="FF0000"/>
                          </a:solidFill>
                        </a:rPr>
                        <a:t>soit </a:t>
                      </a:r>
                      <a:r>
                        <a:rPr lang="fr-FR" sz="2000" b="1" dirty="0" smtClean="0">
                          <a:solidFill>
                            <a:srgbClr val="FF0000"/>
                          </a:solidFill>
                        </a:rPr>
                        <a:t>limitative</a:t>
                      </a:r>
                      <a:r>
                        <a:rPr lang="fr-FR" sz="2000" dirty="0" smtClean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fr-FR" dirty="0" smtClean="0"/>
                        <a:t>(groupes 2 et 3) où, seuls les travailleurs affectés aux travaux énumérés ont droit à la réparation.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225404"/>
          </a:xfrm>
        </p:spPr>
        <p:txBody>
          <a:bodyPr>
            <a:noAutofit/>
          </a:bodyPr>
          <a:lstStyle/>
          <a:p>
            <a:r>
              <a:rPr lang="fr-FR" sz="2000" b="1" dirty="0" smtClean="0"/>
              <a:t>Tableau N° 42 : Affections professionnelles provoquées par les bruits </a:t>
            </a:r>
            <a:endParaRPr lang="fr-FR" sz="2000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71436" y="500042"/>
          <a:ext cx="8929720" cy="6364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4872"/>
                <a:gridCol w="1022372"/>
                <a:gridCol w="5122476"/>
              </a:tblGrid>
              <a:tr h="428628">
                <a:tc>
                  <a:txBody>
                    <a:bodyPr/>
                    <a:lstStyle/>
                    <a:p>
                      <a:r>
                        <a:rPr lang="fr-FR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MALADIES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DPC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1" kern="1200" baseline="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n-cs"/>
                        </a:rPr>
                        <a:t>LISTE LIMITATIVE </a:t>
                      </a:r>
                      <a:r>
                        <a:rPr lang="fr-FR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 PRINCIPAUX TRAVAUX 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Déficit audiométrique bilatéral, </a:t>
                      </a:r>
                    </a:p>
                    <a:p>
                      <a:r>
                        <a:rPr lang="fr-FR" sz="18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par lésion cochléaire, </a:t>
                      </a:r>
                    </a:p>
                    <a:p>
                      <a:r>
                        <a:rPr lang="fr-FR" sz="18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irréversible et ne s’aggravant plus </a:t>
                      </a:r>
                      <a:r>
                        <a:rPr lang="fr-FR" sz="1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après cessation de l’exposition au risque. </a:t>
                      </a:r>
                      <a:endParaRPr lang="fr-FR" sz="1800" b="1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-Ce déficit sera confirmé par </a:t>
                      </a:r>
                      <a:r>
                        <a:rPr lang="fr-FR" sz="18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une nouvelle audiométrie </a:t>
                      </a:r>
                      <a:r>
                        <a:rPr lang="fr-FR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effectuée de 3 semaines à 1 an après cessation de l'exposition aux bruits lésionnels. </a:t>
                      </a:r>
                    </a:p>
                    <a:p>
                      <a:r>
                        <a:rPr lang="fr-F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fr-F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Cette audiométrie doit faire apparaître </a:t>
                      </a:r>
                      <a:r>
                        <a:rPr lang="fr-FR" sz="16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au minimum sur la meilleure oreille un déficit moyen de 35 </a:t>
                      </a:r>
                      <a:r>
                        <a:rPr lang="fr-FR" sz="1600" b="1" kern="1200" baseline="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fr-FR" sz="1400" b="1" kern="1200" baseline="0" dirty="0" err="1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BA</a:t>
                      </a:r>
                      <a:r>
                        <a:rPr lang="fr-FR" sz="1400" b="1" kern="1200" baseline="0" dirty="0" smtClean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,  </a:t>
                      </a:r>
                      <a:endParaRPr lang="fr-FR" sz="1600" b="1" kern="1200" baseline="0" dirty="0" smtClean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calculé en divisant par 10 la somme des déficits mesurés sur les fréquences 500, 1000, 2000 et 4000 hertz, </a:t>
                      </a:r>
                      <a:r>
                        <a:rPr lang="fr-FR" sz="1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pondérés respectivement par les coefficients </a:t>
                      </a:r>
                      <a:r>
                        <a:rPr lang="fr-FR" sz="14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2, 4, 3, et 1</a:t>
                      </a:r>
                      <a:r>
                        <a:rPr lang="fr-FR" sz="16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fr-FR" sz="18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solidFill>
                      <a:srgbClr val="A2F3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/>
                        <a:t>1an</a:t>
                      </a:r>
                    </a:p>
                    <a:p>
                      <a:r>
                        <a:rPr lang="fr-FR" sz="1800" b="1" dirty="0" smtClean="0"/>
                        <a:t> </a:t>
                      </a:r>
                      <a:r>
                        <a:rPr lang="fr-FR" sz="1200" b="1" dirty="0" smtClean="0"/>
                        <a:t>(sous réserve </a:t>
                      </a:r>
                      <a:r>
                        <a:rPr lang="fr-FR" sz="1400" b="1" dirty="0" smtClean="0"/>
                        <a:t>d'une durée d'exposition au risque de 1 an, réduite à 30j </a:t>
                      </a:r>
                    </a:p>
                    <a:p>
                      <a:r>
                        <a:rPr lang="fr-FR" sz="1400" dirty="0" smtClean="0"/>
                        <a:t>en ce qui concerne </a:t>
                      </a:r>
                      <a:r>
                        <a:rPr lang="fr-FR" sz="1600" dirty="0" smtClean="0"/>
                        <a:t>la mise au </a:t>
                      </a:r>
                      <a:r>
                        <a:rPr lang="fr-FR" sz="1400" dirty="0" smtClean="0"/>
                        <a:t>point des propulseurs, </a:t>
                      </a:r>
                    </a:p>
                    <a:p>
                      <a:r>
                        <a:rPr lang="fr-FR" sz="1400" dirty="0" smtClean="0"/>
                        <a:t>réacteurs moteurs à pistons)</a:t>
                      </a:r>
                      <a:r>
                        <a:rPr lang="fr-FR" sz="1200" dirty="0" smtClean="0"/>
                        <a:t>. </a:t>
                      </a:r>
                      <a:endParaRPr lang="fr-FR" sz="12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• </a:t>
                      </a:r>
                      <a:r>
                        <a:rPr lang="fr-FR" sz="1400" dirty="0" smtClean="0">
                          <a:solidFill>
                            <a:srgbClr val="0000FF"/>
                          </a:solidFill>
                        </a:rPr>
                        <a:t>Travaux exposant aux bruits provoqués par </a:t>
                      </a:r>
                      <a:r>
                        <a:rPr lang="fr-FR" sz="1400" dirty="0" smtClean="0"/>
                        <a:t>: </a:t>
                      </a:r>
                    </a:p>
                    <a:p>
                      <a:r>
                        <a:rPr lang="fr-FR" sz="1400" dirty="0" smtClean="0"/>
                        <a:t>- Les travaux sur métaux par percussion, abrasion ou projection</a:t>
                      </a:r>
                      <a:r>
                        <a:rPr lang="fr-FR" sz="1100" dirty="0" smtClean="0"/>
                        <a:t>, </a:t>
                      </a:r>
                      <a:r>
                        <a:rPr lang="fr-FR" sz="600" dirty="0" smtClean="0"/>
                        <a:t>tels que : </a:t>
                      </a:r>
                      <a:endParaRPr lang="fr-FR" sz="1400" dirty="0" smtClean="0"/>
                    </a:p>
                    <a:p>
                      <a:r>
                        <a:rPr lang="fr-FR" sz="1400" dirty="0" smtClean="0"/>
                        <a:t>* Le décolletage, l'emboutissage, l'estampage, le broyage, le fraisage, le martelage, le burinage, le rivetage, le laminage, l'étirage, le tréfilage, le découpage, le sciage, le cisaillage, le tronçonnage. </a:t>
                      </a:r>
                    </a:p>
                    <a:p>
                      <a:r>
                        <a:rPr lang="fr-FR" sz="1400" dirty="0" smtClean="0"/>
                        <a:t>* L'ébarbage, le meulage, le polissage, le </a:t>
                      </a:r>
                      <a:r>
                        <a:rPr lang="fr-FR" sz="1400" dirty="0" err="1" smtClean="0"/>
                        <a:t>gougeage</a:t>
                      </a:r>
                      <a:r>
                        <a:rPr lang="fr-FR" sz="1400" dirty="0" smtClean="0"/>
                        <a:t> par procédé arc-air, la métallisation, </a:t>
                      </a:r>
                    </a:p>
                    <a:p>
                      <a:r>
                        <a:rPr lang="fr-FR" sz="1200" dirty="0" smtClean="0"/>
                        <a:t>- Le câblage, le </a:t>
                      </a:r>
                      <a:r>
                        <a:rPr lang="fr-FR" sz="1200" dirty="0" err="1" smtClean="0"/>
                        <a:t>toronnage</a:t>
                      </a:r>
                      <a:r>
                        <a:rPr lang="fr-FR" sz="1200" dirty="0" smtClean="0"/>
                        <a:t> et le bobinage de fils d'acier, </a:t>
                      </a:r>
                    </a:p>
                    <a:p>
                      <a:r>
                        <a:rPr lang="fr-FR" sz="1200" dirty="0" smtClean="0"/>
                        <a:t>- L'utilisation de marteaux et perforateurs pneumatiques, </a:t>
                      </a:r>
                    </a:p>
                    <a:p>
                      <a:r>
                        <a:rPr lang="fr-FR" sz="1200" dirty="0" smtClean="0"/>
                        <a:t>- La manutention mécanisée de récipients métalliques, </a:t>
                      </a:r>
                    </a:p>
                    <a:p>
                      <a:r>
                        <a:rPr lang="fr-FR" sz="1200" dirty="0" smtClean="0"/>
                        <a:t>- Les travaux de verrerie à proximité des fours, machines de fabrication, broyeurs et concasseurs ; l'embouteillage, </a:t>
                      </a:r>
                    </a:p>
                    <a:p>
                      <a:r>
                        <a:rPr lang="fr-FR" sz="1400" dirty="0" smtClean="0"/>
                        <a:t>- </a:t>
                      </a:r>
                      <a:r>
                        <a:rPr lang="fr-FR" sz="1400" b="1" dirty="0" smtClean="0">
                          <a:solidFill>
                            <a:srgbClr val="0000FF"/>
                          </a:solidFill>
                        </a:rPr>
                        <a:t>Le tissage sur métiers à navette battante, </a:t>
                      </a:r>
                    </a:p>
                    <a:p>
                      <a:r>
                        <a:rPr lang="fr-FR" sz="1200" dirty="0" smtClean="0"/>
                        <a:t>- La mise au point, les essais et l'utilisation des propulseurs, réacteurs, moteurs thermiques, ou électriques, groupes électrogènes, groupes hydrauliques, installations de compression ou de détente fonctionnant à des pressions différentes de la pression atmosphérique, </a:t>
                      </a:r>
                    </a:p>
                    <a:p>
                      <a:r>
                        <a:rPr lang="fr-FR" sz="1200" dirty="0" smtClean="0"/>
                        <a:t>- L'emploi ou la destruction de munitions ou d'explosifs, </a:t>
                      </a:r>
                    </a:p>
                    <a:p>
                      <a:r>
                        <a:rPr lang="fr-FR" sz="1400" b="1" dirty="0" smtClean="0">
                          <a:solidFill>
                            <a:srgbClr val="0000FF"/>
                          </a:solidFill>
                        </a:rPr>
                        <a:t>- L’utilisation de pistolets de scellement ; </a:t>
                      </a:r>
                    </a:p>
                    <a:p>
                      <a:r>
                        <a:rPr lang="fr-FR" sz="1100" dirty="0" smtClean="0"/>
                        <a:t>- Le broyage, le concassage, le criblage, le sciage et l'usinage de pierres et de produits minéraux, </a:t>
                      </a:r>
                    </a:p>
                    <a:p>
                      <a:r>
                        <a:rPr lang="fr-FR" sz="1050" dirty="0" smtClean="0"/>
                        <a:t>- Les procédés industriels de séchage de matières organiques par ventilation, </a:t>
                      </a:r>
                    </a:p>
                    <a:p>
                      <a:r>
                        <a:rPr lang="fr-FR" sz="1050" dirty="0" smtClean="0"/>
                        <a:t>- L'abattage, le tronçonnage des arbres, </a:t>
                      </a:r>
                    </a:p>
                    <a:p>
                      <a:r>
                        <a:rPr lang="fr-FR" sz="1050" dirty="0" smtClean="0"/>
                        <a:t>- L'emploi des machines à bois en atelier, </a:t>
                      </a:r>
                    </a:p>
                    <a:p>
                      <a:r>
                        <a:rPr lang="fr-FR" sz="1050" dirty="0" smtClean="0"/>
                        <a:t>- L'utilisation d'engins de chantier : bouteurs, décapeurs, chargeuses, moutons, chariots de manutention tous terrains, pelles mécaniques, </a:t>
                      </a:r>
                    </a:p>
                    <a:p>
                      <a:r>
                        <a:rPr lang="fr-FR" sz="1050" dirty="0" smtClean="0"/>
                        <a:t>- Le broyage, l'injection et l'usinage des matières plastiques et du caoutchouc, </a:t>
                      </a:r>
                    </a:p>
                    <a:p>
                      <a:r>
                        <a:rPr lang="fr-FR" sz="1050" dirty="0" smtClean="0"/>
                        <a:t>- Le travail sur les rotatives dans l'industrie graphique, </a:t>
                      </a:r>
                    </a:p>
                    <a:p>
                      <a:r>
                        <a:rPr lang="fr-FR" sz="1050" dirty="0" smtClean="0"/>
                        <a:t>- La fabrication et le conditionnement mécanisé du papier et du carton, </a:t>
                      </a:r>
                    </a:p>
                    <a:p>
                      <a:r>
                        <a:rPr lang="fr-FR" sz="1050" dirty="0" smtClean="0"/>
                        <a:t>- L'emploi de matériel vibrant pour l'élaboration de produits en béton, </a:t>
                      </a:r>
                    </a:p>
                    <a:p>
                      <a:r>
                        <a:rPr lang="fr-FR" sz="1050" dirty="0" smtClean="0"/>
                        <a:t>- Les essais et la réparation en milieu industriel des appareils de sonorisation, </a:t>
                      </a:r>
                    </a:p>
                    <a:p>
                      <a:r>
                        <a:rPr lang="fr-FR" sz="1050" dirty="0" smtClean="0"/>
                        <a:t>- Les travaux effectués sur les pistes d’aéroports. </a:t>
                      </a:r>
                      <a:endParaRPr lang="fr-FR" sz="1050" dirty="0"/>
                    </a:p>
                  </a:txBody>
                  <a:tcPr>
                    <a:solidFill>
                      <a:srgbClr val="A2F3F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86000" y="-7974121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smtClean="0"/>
              <a:t>Tableau N° 42 : Affections professionnelles provoquées par les bruits DESIGNATION DES </a:t>
            </a:r>
          </a:p>
          <a:p>
            <a:r>
              <a:rPr lang="fr-FR" b="1" dirty="0" smtClean="0"/>
              <a:t>MALADIES 	DPC 	LISTE LIMITATIVE DES PRINCIPAUX TRAVAUX </a:t>
            </a:r>
          </a:p>
          <a:p>
            <a:r>
              <a:rPr lang="fr-FR" b="1" dirty="0" smtClean="0"/>
              <a:t>SUSCEPTIBLES DE PROVOQUER CES MALADIES 	</a:t>
            </a:r>
          </a:p>
          <a:p>
            <a:endParaRPr lang="fr-FR" dirty="0" smtClean="0"/>
          </a:p>
          <a:p>
            <a:r>
              <a:rPr lang="fr-FR" dirty="0" smtClean="0"/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439737"/>
          </a:xfrm>
        </p:spPr>
        <p:txBody>
          <a:bodyPr>
            <a:normAutofit fontScale="90000"/>
          </a:bodyPr>
          <a:lstStyle/>
          <a:p>
            <a:r>
              <a:rPr lang="fr-FR" sz="3600" b="1" dirty="0" smtClean="0"/>
              <a:t>TMP N° 1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142875" y="714356"/>
          <a:ext cx="8786874" cy="57485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64610"/>
                <a:gridCol w="839030"/>
                <a:gridCol w="3783234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rgbClr val="0000FF"/>
                          </a:solidFill>
                        </a:rPr>
                        <a:t>DESIGNATION DES MALADIES </a:t>
                      </a:r>
                      <a:endParaRPr lang="fr-FR" sz="2400" b="1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>
                          <a:solidFill>
                            <a:srgbClr val="0000FF"/>
                          </a:solidFill>
                        </a:rPr>
                        <a:t>DPC</a:t>
                      </a:r>
                      <a:endParaRPr lang="fr-FR" sz="2400" b="1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rgbClr val="0000FF"/>
                          </a:solidFill>
                        </a:rPr>
                        <a:t>LISTE INDICATIVE DES PRINCIPAUX TRAVAUX SUSCEPTIBLES DE PROVOQUER CES </a:t>
                      </a:r>
                      <a:r>
                        <a:rPr lang="fr-FR" sz="1400" b="1">
                          <a:solidFill>
                            <a:srgbClr val="0000FF"/>
                          </a:solidFill>
                        </a:rPr>
                        <a:t>MALADIES </a:t>
                      </a:r>
                      <a:endParaRPr lang="fr-FR" sz="1400" b="1" smtClean="0">
                        <a:solidFill>
                          <a:srgbClr val="0000FF"/>
                        </a:solidFill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000" b="1" dirty="0">
                        <a:solidFill>
                          <a:srgbClr val="0000FF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92D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dirty="0" smtClean="0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fr-FR" sz="1200" b="1" dirty="0">
                          <a:solidFill>
                            <a:srgbClr val="0000FF"/>
                          </a:solidFill>
                        </a:rPr>
                        <a:t>) Syndrome douloureux abdominal paroxystique </a:t>
                      </a:r>
                      <a:r>
                        <a:rPr lang="fr-FR" sz="1100" b="1" dirty="0">
                          <a:solidFill>
                            <a:srgbClr val="0000FF"/>
                          </a:solidFill>
                        </a:rPr>
                        <a:t>apyrétique</a:t>
                      </a:r>
                      <a:r>
                        <a:rPr lang="fr-FR" sz="1100" dirty="0"/>
                        <a:t> </a:t>
                      </a:r>
                      <a:endParaRPr lang="fr-FR" sz="18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avec état </a:t>
                      </a:r>
                      <a:r>
                        <a:rPr lang="fr-FR" sz="1100" dirty="0" err="1"/>
                        <a:t>subocclusif</a:t>
                      </a:r>
                      <a:r>
                        <a:rPr lang="fr-FR" sz="1100" dirty="0"/>
                        <a:t> (coliques de Pb), habituellement accompagné d'une crise paroxystique hypertensive et d'une poussée d'hématies à granulations basophiles (HGB)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2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dirty="0" smtClean="0">
                          <a:solidFill>
                            <a:srgbClr val="0000FF"/>
                          </a:solidFill>
                        </a:rPr>
                        <a:t>2</a:t>
                      </a:r>
                      <a:r>
                        <a:rPr lang="fr-FR" sz="1200" b="1" dirty="0">
                          <a:solidFill>
                            <a:srgbClr val="0000FF"/>
                          </a:solidFill>
                        </a:rPr>
                        <a:t>) Paralysie des extenseurs des doigts </a:t>
                      </a:r>
                      <a:r>
                        <a:rPr lang="fr-FR" sz="800" b="1" dirty="0">
                          <a:solidFill>
                            <a:srgbClr val="0000FF"/>
                          </a:solidFill>
                        </a:rPr>
                        <a:t>ou des petits muscles de la main </a:t>
                      </a:r>
                      <a:endParaRPr lang="fr-FR" sz="1800" b="1" dirty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7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dirty="0" smtClean="0">
                          <a:solidFill>
                            <a:srgbClr val="0000FF"/>
                          </a:solidFill>
                        </a:rPr>
                        <a:t>3</a:t>
                      </a:r>
                      <a:r>
                        <a:rPr lang="fr-FR" sz="1200" b="1" dirty="0">
                          <a:solidFill>
                            <a:srgbClr val="0000FF"/>
                          </a:solidFill>
                        </a:rPr>
                        <a:t>) Encéphalopathie aiguë : </a:t>
                      </a:r>
                      <a:endParaRPr lang="fr-FR" sz="1800" b="1" dirty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a- Survenant chez un sujet ayant présenté un ou plusieurs des symptômes inscrits au tableau.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/>
                        <a:t>b- Ne s'accompagnant pas de ces symptômes en cas d'intoxication due aux dérivés alcoylés du Plomb tels que le Plomb </a:t>
                      </a:r>
                      <a:r>
                        <a:rPr lang="fr-FR" sz="1100" dirty="0" err="1"/>
                        <a:t>tétraéthyle</a:t>
                      </a:r>
                      <a:r>
                        <a:rPr lang="fr-FR" sz="1100" dirty="0"/>
                        <a:t>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7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 smtClean="0">
                          <a:solidFill>
                            <a:srgbClr val="0000FF"/>
                          </a:solidFill>
                        </a:rPr>
                        <a:t>4</a:t>
                      </a:r>
                      <a:r>
                        <a:rPr lang="fr-FR" sz="1100" b="1" dirty="0">
                          <a:solidFill>
                            <a:srgbClr val="0000FF"/>
                          </a:solidFill>
                        </a:rPr>
                        <a:t>) Néphrite azotémique ou néphrite hypertensive et leurs complications. </a:t>
                      </a:r>
                      <a:endParaRPr lang="fr-FR" sz="1600" b="1" dirty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6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 b="1" dirty="0" smtClean="0">
                          <a:solidFill>
                            <a:srgbClr val="0000FF"/>
                          </a:solidFill>
                        </a:rPr>
                        <a:t>5</a:t>
                      </a:r>
                      <a:r>
                        <a:rPr lang="fr-FR" sz="1200" b="1" dirty="0">
                          <a:solidFill>
                            <a:srgbClr val="0000FF"/>
                          </a:solidFill>
                        </a:rPr>
                        <a:t>) Anémie confirmée </a:t>
                      </a:r>
                      <a:endParaRPr lang="fr-FR" sz="12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/>
                        <a:t>par </a:t>
                      </a:r>
                      <a:r>
                        <a:rPr lang="fr-FR" sz="1100" dirty="0"/>
                        <a:t>des examens hématologiques répétés accompagnée d'hématies à granulations basophiles.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9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b="1" dirty="0" smtClean="0">
                          <a:solidFill>
                            <a:srgbClr val="0000FF"/>
                          </a:solidFill>
                        </a:rPr>
                        <a:t>6</a:t>
                      </a:r>
                      <a:r>
                        <a:rPr lang="fr-FR" sz="1100" b="1" dirty="0">
                          <a:solidFill>
                            <a:srgbClr val="0000FF"/>
                          </a:solidFill>
                        </a:rPr>
                        <a:t>) Syndrome biologique </a:t>
                      </a:r>
                      <a:endParaRPr lang="fr-FR" sz="1100" b="1" dirty="0" smtClean="0">
                        <a:solidFill>
                          <a:srgbClr val="0000FF"/>
                        </a:solidFill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smtClean="0"/>
                        <a:t>caractérisé </a:t>
                      </a:r>
                      <a:r>
                        <a:rPr lang="fr-FR" sz="1100" dirty="0"/>
                        <a:t>par un abaissement de l’hémoglobine à moins de 13 gramme par 100ml de sang, par un Taux d'hématies ponctuées supérieur à 1 pour 1000 hématies et une élévation de l'acide delta </a:t>
                      </a:r>
                      <a:r>
                        <a:rPr lang="fr-FR" sz="1100" dirty="0" err="1"/>
                        <a:t>aminolévulinique</a:t>
                      </a:r>
                      <a:r>
                        <a:rPr lang="fr-FR" sz="1100" dirty="0"/>
                        <a:t> urinaire supérieur à 20mg pour 1000 ml. </a:t>
                      </a:r>
                      <a:endParaRPr lang="fr-FR" sz="16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D1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/>
                        <a:t>90 j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b="1" dirty="0" smtClean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400" b="1" dirty="0" smtClean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/>
                        <a:t>1 an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400" b="1" dirty="0" smtClean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/>
                        <a:t>30 j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600" b="1" dirty="0" smtClean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400" b="1" dirty="0" smtClean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/>
                        <a:t>5ans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400" b="1" dirty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/>
                        <a:t>1 </a:t>
                      </a:r>
                      <a:r>
                        <a:rPr lang="fr-FR" sz="1600" b="1" dirty="0" smtClean="0"/>
                        <a:t>an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400" b="1" dirty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600" b="1" dirty="0" smtClean="0"/>
                        <a:t>90 </a:t>
                      </a:r>
                      <a:r>
                        <a:rPr lang="fr-FR" sz="1100" dirty="0" smtClean="0"/>
                        <a:t>j</a:t>
                      </a:r>
                      <a:endParaRPr lang="fr-FR" sz="16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D1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• Extraction, traitement, préparation, emploi et manipulation du plomb, de ses minerais, de ses alliages, de ses combinaisons et de tout produit en renfermant, notamment :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Extraction et traitement des minerais de plomb et résidus plombifères ;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Métallurgie, affinage, fonte, laminage du plomb, de ses alliages et des métaux plombifères.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Récupération du vieux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Soudure et étamage à l'aide d'alliages de plomb, ou en alliage de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Fabrication, soudure, ébarbage, polissage de tous objets en plomb ou en alliages de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Fonte de caractère d'imprimerie en alliage de plomb, conduite de machine à composer, manipulation de caractères de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Fabrication, réparation des accumulateurs au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Trempe de Plomb et tréfilage des aciers trempés au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Métallisation du plomb par pulvérisation.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Fabrication et manipulation des oxydes et sels de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Préparation et application des peintures, vernis, laques, encres, mastics, enduits à base de composés du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Grattage, brûlage, découpage au chalumeau de matières recouvertes de peintures plombifères.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Fabrication et application des émaux plombifères.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Composition de verres au plomb.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Fabrication et manipulation du plomb </a:t>
                      </a:r>
                      <a:r>
                        <a:rPr lang="fr-FR" sz="1000" dirty="0" err="1"/>
                        <a:t>tétraéthyle</a:t>
                      </a:r>
                      <a:r>
                        <a:rPr lang="fr-FR" sz="1000" dirty="0"/>
                        <a:t>, préparation de carburants qui en renferment, nettoyage des réservoirs contenant ces carburants. </a:t>
                      </a:r>
                      <a:endParaRPr lang="fr-FR" sz="16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/>
                        <a:t>- Glaçure et décoration des produits céramiques aux moyens de composés du plomb. </a:t>
                      </a:r>
                      <a:endParaRPr lang="fr-FR" sz="16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68580" marR="68580" marT="0" marB="0">
                    <a:solidFill>
                      <a:srgbClr val="D1FA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/>
          <a:lstStyle/>
          <a:p>
            <a:r>
              <a:rPr lang="fr-FR" sz="2800" b="1" dirty="0" smtClean="0">
                <a:solidFill>
                  <a:srgbClr val="000099"/>
                </a:solidFill>
              </a:rPr>
              <a:t>TABLEAU N°6     DES MALADIES PROFESSIONNELLES</a:t>
            </a:r>
          </a:p>
        </p:txBody>
      </p:sp>
      <p:graphicFrame>
        <p:nvGraphicFramePr>
          <p:cNvPr id="23573" name="Group 21"/>
          <p:cNvGraphicFramePr>
            <a:graphicFrameLocks noGrp="1"/>
          </p:cNvGraphicFramePr>
          <p:nvPr>
            <p:ph idx="1"/>
          </p:nvPr>
        </p:nvGraphicFramePr>
        <p:xfrm>
          <a:off x="351730" y="836712"/>
          <a:ext cx="8540750" cy="5884291"/>
        </p:xfrm>
        <a:graphic>
          <a:graphicData uri="http://schemas.openxmlformats.org/drawingml/2006/table">
            <a:tbl>
              <a:tblPr/>
              <a:tblGrid>
                <a:gridCol w="3622675"/>
                <a:gridCol w="1004887"/>
                <a:gridCol w="3913188"/>
              </a:tblGrid>
              <a:tr h="1184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DESIGNATION DES MALADIES</a:t>
                      </a:r>
                      <a:endParaRPr kumimoji="0" lang="fr-F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  <a:cs typeface="Arial" charset="0"/>
                        </a:rPr>
                        <a:t>DPC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LISTE INDICATIF DES TRAVAUX SUSCEPTIBLES DE PROVOQUER CES MALADIES  </a:t>
                      </a:r>
                      <a:endParaRPr kumimoji="0" lang="fr-F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F3FE"/>
                    </a:solidFill>
                  </a:tcPr>
                </a:tc>
              </a:tr>
              <a:tr h="4660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Anémie,leucopénie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, thrombopénie, 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sd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hemoragique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irradiation aigue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Anémie,leucopénie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,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thrombopénie,sd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hemoragique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&gt;&gt; irradiation chronique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Blépharite,conjonctivite</a:t>
                      </a: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kératite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Cataracte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Radiodermite aigue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Radiodermite chronique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Leucémie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Radionécrose osseuse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Kc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broncho-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pul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par inhalation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Sarcome osseux</a:t>
                      </a: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Bookman Old Style" pitchFamily="18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90 j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          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 an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90 j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 an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10 ans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90 j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10 ans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30 ans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30 ans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30 ans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50 ans</a:t>
                      </a:r>
                      <a:endParaRPr kumimoji="0" lang="fr-F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fr-F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lvl="0" indent="-182563" algn="justLow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Travaux exposant des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travailleurs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au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rayonnement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dans les </a:t>
                      </a:r>
                      <a:r>
                        <a:rPr kumimoji="0" lang="fr-FR" sz="14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hôpitaux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,les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fr-FR" sz="1400" b="1" i="0" u="sng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cliniques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,les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dispensaires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,les cabinets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médicaux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,les cabinets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dentaires 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et radiologiques dans les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maisons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de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santé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et les centre </a:t>
                      </a:r>
                      <a:r>
                        <a:rPr kumimoji="0" lang="fr-FR" sz="14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anticancéreux</a:t>
                      </a:r>
                    </a:p>
                    <a:p>
                      <a:pPr marL="182563" marR="0" lvl="0" indent="-182563" algn="justLow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endParaRPr kumimoji="0" lang="fr-FR" sz="14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Bookman Old Style" pitchFamily="18" charset="0"/>
                        <a:cs typeface="Times New Roman" pitchFamily="18" charset="0"/>
                      </a:endParaRPr>
                    </a:p>
                    <a:p>
                      <a:pPr marL="182563" marR="0" lvl="0" indent="-182563" algn="justLow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Travaux dans toutes les industries ou commerces utilisant les rayons </a:t>
                      </a:r>
                      <a:r>
                        <a:rPr kumimoji="0" lang="fr-FR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X,les</a:t>
                      </a: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 substances radioactives ou les dispositifs remettants les rayonnement .</a:t>
                      </a:r>
                    </a:p>
                    <a:p>
                      <a:pPr marL="182563" marR="0" lvl="0" indent="-182563" algn="justLow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fr-FR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Bookman Old Style" pitchFamily="18" charset="0"/>
                        <a:cs typeface="Times New Roman" pitchFamily="18" charset="0"/>
                      </a:endParaRPr>
                    </a:p>
                    <a:p>
                      <a:pPr marL="182563" marR="0" lvl="0" indent="-182563" algn="justLow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</a:pPr>
                      <a:r>
                        <a:rPr kumimoji="0" lang="fr-FR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Bookman Old Style" pitchFamily="18" charset="0"/>
                          <a:cs typeface="Times New Roman" pitchFamily="18" charset="0"/>
                        </a:rPr>
                        <a:t>Recherches ou mesures sur les substances radioactives et les rayons X dans les laboratoires.</a:t>
                      </a: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Arial" charset="0"/>
                        <a:buNone/>
                        <a:tabLst/>
                      </a:pPr>
                      <a:endParaRPr kumimoji="0" lang="fr-FR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2F3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pPr marL="274320" indent="-274320">
              <a:defRPr/>
            </a:pPr>
            <a:r>
              <a:rPr lang="fr-FR" sz="3600" b="1" dirty="0" smtClean="0">
                <a:cs typeface="Times New Roman" pitchFamily="18" charset="0"/>
              </a:rPr>
              <a:t>Maladies à caractère prof.</a:t>
            </a:r>
            <a:br>
              <a:rPr lang="fr-FR" sz="3600" b="1" dirty="0" smtClean="0">
                <a:cs typeface="Times New Roman" pitchFamily="18" charset="0"/>
              </a:rPr>
            </a:br>
            <a:r>
              <a:rPr lang="fr-FR" sz="3200" b="1" dirty="0" smtClean="0">
                <a:cs typeface="Times New Roman" pitchFamily="18" charset="0"/>
              </a:rPr>
              <a:t>(MCP)</a:t>
            </a:r>
            <a:endParaRPr lang="fr-FR" sz="3600" b="1" dirty="0">
              <a:cs typeface="Times New Roman" pitchFamily="18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360040" y="1556792"/>
            <a:ext cx="8388424" cy="5040560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3000" dirty="0" smtClean="0">
                <a:cs typeface="Times New Roman" pitchFamily="18" charset="0"/>
              </a:rPr>
              <a:t>Définition:</a:t>
            </a:r>
          </a:p>
          <a:p>
            <a:pPr marL="674370" lvl="1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2600" dirty="0" smtClean="0">
                <a:cs typeface="Times New Roman" pitchFamily="18" charset="0"/>
              </a:rPr>
              <a:t>Ce </a:t>
            </a:r>
            <a:r>
              <a:rPr lang="fr-FR" sz="2600" dirty="0">
                <a:cs typeface="Times New Roman" pitchFamily="18" charset="0"/>
              </a:rPr>
              <a:t>sont toutes les </a:t>
            </a:r>
            <a:r>
              <a:rPr lang="fr-FR" sz="2600" b="1" i="1" dirty="0">
                <a:cs typeface="Times New Roman" pitchFamily="18" charset="0"/>
              </a:rPr>
              <a:t>autres maladies d'origine </a:t>
            </a:r>
            <a:r>
              <a:rPr lang="fr-FR" sz="2600" b="1" i="1" dirty="0" smtClean="0">
                <a:cs typeface="Times New Roman" pitchFamily="18" charset="0"/>
              </a:rPr>
              <a:t>professionnell</a:t>
            </a:r>
            <a:r>
              <a:rPr lang="fr-FR" sz="2600" b="1" dirty="0" smtClean="0">
                <a:cs typeface="Times New Roman" pitchFamily="18" charset="0"/>
              </a:rPr>
              <a:t>es </a:t>
            </a:r>
            <a:r>
              <a:rPr lang="fr-FR" sz="2600" dirty="0" smtClean="0">
                <a:cs typeface="Times New Roman" pitchFamily="18" charset="0"/>
              </a:rPr>
              <a:t>qui </a:t>
            </a:r>
            <a:r>
              <a:rPr lang="fr-FR" sz="2600" dirty="0">
                <a:cs typeface="Times New Roman" pitchFamily="18" charset="0"/>
              </a:rPr>
              <a:t>ne rentrent pas dans le cadre précédemment défini. </a:t>
            </a:r>
            <a:endParaRPr lang="fr-FR" sz="2600" dirty="0" smtClean="0">
              <a:cs typeface="Times New Roman" pitchFamily="18" charset="0"/>
            </a:endParaRPr>
          </a:p>
          <a:p>
            <a:pPr marL="274320" indent="-274320">
              <a:buClr>
                <a:schemeClr val="accent3"/>
              </a:buClr>
              <a:defRPr/>
            </a:pPr>
            <a:r>
              <a:rPr lang="fr-FR" sz="3000" b="1" dirty="0" smtClean="0">
                <a:solidFill>
                  <a:srgbClr val="0000FF"/>
                </a:solidFill>
              </a:rPr>
              <a:t>Obligation, à tout médecin, de déclarer    </a:t>
            </a:r>
            <a:r>
              <a:rPr lang="fr-FR" sz="2200" dirty="0" smtClean="0"/>
              <a:t>(A68) . </a:t>
            </a:r>
            <a:endParaRPr lang="fr-FR" sz="3000" b="1" dirty="0" smtClean="0"/>
          </a:p>
          <a:p>
            <a:pPr marL="674370" lvl="1" indent="-274320">
              <a:buClr>
                <a:schemeClr val="accent3"/>
              </a:buClr>
              <a:defRPr/>
            </a:pPr>
            <a:r>
              <a:rPr lang="fr-FR" sz="2600" u="sng" dirty="0" smtClean="0"/>
              <a:t>toute maladie</a:t>
            </a:r>
            <a:r>
              <a:rPr lang="fr-FR" sz="2600" dirty="0" smtClean="0"/>
              <a:t> ayant, à son avis, un </a:t>
            </a:r>
            <a:r>
              <a:rPr lang="fr-FR" sz="2600" b="1" u="sng" dirty="0" smtClean="0"/>
              <a:t>caractère professionnel</a:t>
            </a:r>
            <a:r>
              <a:rPr lang="fr-FR" sz="2600" dirty="0" smtClean="0"/>
              <a:t>, </a:t>
            </a:r>
          </a:p>
          <a:p>
            <a:pPr marL="674370" lvl="1" indent="-274320">
              <a:buClr>
                <a:schemeClr val="accent3"/>
              </a:buClr>
              <a:defRPr/>
            </a:pPr>
            <a:r>
              <a:rPr lang="fr-FR" sz="2600" dirty="0" smtClean="0"/>
              <a:t>en vue de </a:t>
            </a:r>
            <a:r>
              <a:rPr lang="fr-FR" sz="2600" u="sng" dirty="0" smtClean="0">
                <a:solidFill>
                  <a:srgbClr val="FF0000"/>
                </a:solidFill>
              </a:rPr>
              <a:t>l'extension et de la révision </a:t>
            </a:r>
            <a:r>
              <a:rPr lang="fr-FR" sz="2600" dirty="0" smtClean="0"/>
              <a:t>des tableaux, </a:t>
            </a:r>
          </a:p>
          <a:p>
            <a:pPr marL="674370" lvl="1" indent="-274320">
              <a:buClr>
                <a:schemeClr val="accent3"/>
              </a:buClr>
              <a:defRPr/>
            </a:pPr>
            <a:r>
              <a:rPr lang="fr-FR" sz="2600" dirty="0" smtClean="0"/>
              <a:t>ainsi que de la </a:t>
            </a:r>
            <a:r>
              <a:rPr lang="fr-FR" sz="2600" u="sng" dirty="0" smtClean="0">
                <a:solidFill>
                  <a:srgbClr val="FF0000"/>
                </a:solidFill>
              </a:rPr>
              <a:t>prévention </a:t>
            </a:r>
            <a:r>
              <a:rPr lang="fr-FR" sz="2600" dirty="0" smtClean="0"/>
              <a:t>des maladies professionnelles, </a:t>
            </a:r>
            <a:endParaRPr lang="fr-FR" sz="2200" dirty="0" smtClean="0"/>
          </a:p>
          <a:p>
            <a:pPr marL="274320" indent="-274320">
              <a:buClr>
                <a:schemeClr val="accent3"/>
              </a:buClr>
              <a:defRPr/>
            </a:pPr>
            <a:endParaRPr lang="fr-FR" sz="1100" dirty="0">
              <a:cs typeface="Times New Roman" pitchFamily="18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2800" dirty="0">
                <a:cs typeface="Times New Roman" pitchFamily="18" charset="0"/>
              </a:rPr>
              <a:t>Les victimes de MCP </a:t>
            </a:r>
            <a:r>
              <a:rPr lang="fr-FR" sz="2800" i="1" dirty="0">
                <a:cs typeface="Times New Roman" pitchFamily="18" charset="0"/>
              </a:rPr>
              <a:t>ne bénéficient </a:t>
            </a:r>
            <a:r>
              <a:rPr lang="fr-FR" sz="2800" b="1" i="1" dirty="0">
                <a:cs typeface="Times New Roman" pitchFamily="18" charset="0"/>
              </a:rPr>
              <a:t>pas de la réparation</a:t>
            </a:r>
            <a:r>
              <a:rPr lang="fr-FR" sz="2800" b="1" dirty="0">
                <a:cs typeface="Times New Roman" pitchFamily="18" charset="0"/>
              </a:rPr>
              <a:t> </a:t>
            </a:r>
            <a:r>
              <a:rPr lang="fr-FR" sz="2800" dirty="0">
                <a:cs typeface="Times New Roman" pitchFamily="18" charset="0"/>
              </a:rPr>
              <a:t>des MPI, </a:t>
            </a:r>
            <a:endParaRPr lang="fr-FR" sz="2800" dirty="0" smtClean="0">
              <a:cs typeface="Times New Roman" pitchFamily="18" charset="0"/>
            </a:endParaRPr>
          </a:p>
          <a:p>
            <a:pPr marL="674370" lvl="1" indent="-274320"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2400" dirty="0" smtClean="0">
                <a:cs typeface="Times New Roman" pitchFamily="18" charset="0"/>
              </a:rPr>
              <a:t>et </a:t>
            </a:r>
            <a:r>
              <a:rPr lang="fr-FR" sz="2400" dirty="0">
                <a:cs typeface="Times New Roman" pitchFamily="18" charset="0"/>
              </a:rPr>
              <a:t>sont prises en charge au titre de l'Assurance maladie, comme pour toute autre maladie.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Monotype Sorts" charset="2"/>
              <a:buNone/>
              <a:defRPr/>
            </a:pPr>
            <a:endParaRPr lang="fr-FR" sz="2000" b="1" dirty="0"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5715040"/>
          </a:xfrm>
          <a:ln>
            <a:solidFill>
              <a:srgbClr val="0000FF"/>
            </a:solidFill>
          </a:ln>
        </p:spPr>
        <p:txBody>
          <a:bodyPr>
            <a:normAutofit fontScale="90000"/>
          </a:bodyPr>
          <a:lstStyle/>
          <a:p>
            <a:pPr marL="274320" indent="-274320" algn="l">
              <a:defRPr/>
            </a:pPr>
            <a:r>
              <a:rPr lang="fr-FR" sz="3100" dirty="0" smtClean="0">
                <a:cs typeface="Times New Roman" pitchFamily="18" charset="0"/>
              </a:rPr>
              <a:t/>
            </a:r>
            <a:br>
              <a:rPr lang="fr-FR" sz="3100" dirty="0" smtClean="0">
                <a:cs typeface="Times New Roman" pitchFamily="18" charset="0"/>
              </a:rPr>
            </a:br>
            <a:r>
              <a:rPr lang="fr-FR" sz="3100" dirty="0" smtClean="0">
                <a:cs typeface="Times New Roman" pitchFamily="18" charset="0"/>
              </a:rPr>
              <a:t/>
            </a:r>
            <a:br>
              <a:rPr lang="fr-FR" sz="3100" dirty="0" smtClean="0">
                <a:cs typeface="Times New Roman" pitchFamily="18" charset="0"/>
              </a:rPr>
            </a:br>
            <a:r>
              <a:rPr lang="fr-FR" sz="3100" dirty="0" smtClean="0">
                <a:cs typeface="Times New Roman" pitchFamily="18" charset="0"/>
              </a:rPr>
              <a:t>A. Homme, 40 ans, sans ATCD, </a:t>
            </a:r>
            <a:br>
              <a:rPr lang="fr-FR" sz="3100" dirty="0" smtClean="0">
                <a:cs typeface="Times New Roman" pitchFamily="18" charset="0"/>
              </a:rPr>
            </a:br>
            <a:r>
              <a:rPr lang="fr-FR" sz="3100" dirty="0" smtClean="0">
                <a:cs typeface="Times New Roman" pitchFamily="18" charset="0"/>
              </a:rPr>
              <a:t>	</a:t>
            </a:r>
            <a:r>
              <a:rPr lang="fr-FR" sz="3100" dirty="0" smtClean="0">
                <a:solidFill>
                  <a:srgbClr val="FF0000"/>
                </a:solidFill>
                <a:cs typeface="Times New Roman" pitchFamily="18" charset="0"/>
              </a:rPr>
              <a:t>Surdité perception unilatérale</a:t>
            </a:r>
            <a:r>
              <a:rPr lang="fr-FR" sz="3100" dirty="0" smtClean="0">
                <a:cs typeface="Times New Roman" pitchFamily="18" charset="0"/>
              </a:rPr>
              <a:t/>
            </a:r>
            <a:br>
              <a:rPr lang="fr-FR" sz="3100" dirty="0" smtClean="0">
                <a:cs typeface="Times New Roman" pitchFamily="18" charset="0"/>
              </a:rPr>
            </a:br>
            <a:r>
              <a:rPr lang="fr-FR" sz="3100" dirty="0" smtClean="0">
                <a:cs typeface="Times New Roman" pitchFamily="18" charset="0"/>
              </a:rPr>
              <a:t>Poste: </a:t>
            </a:r>
            <a:br>
              <a:rPr lang="fr-FR" sz="3100" dirty="0" smtClean="0">
                <a:cs typeface="Times New Roman" pitchFamily="18" charset="0"/>
              </a:rPr>
            </a:br>
            <a:r>
              <a:rPr lang="fr-FR" sz="3100" dirty="0" smtClean="0">
                <a:cs typeface="Times New Roman" pitchFamily="18" charset="0"/>
              </a:rPr>
              <a:t>	BTP, pistolet de scellement</a:t>
            </a: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1300" dirty="0" smtClean="0">
                <a:cs typeface="Times New Roman" pitchFamily="18" charset="0"/>
              </a:rPr>
              <a:t/>
            </a:r>
            <a:br>
              <a:rPr lang="fr-FR" sz="1300" dirty="0" smtClean="0">
                <a:cs typeface="Times New Roman" pitchFamily="18" charset="0"/>
              </a:rPr>
            </a:br>
            <a:r>
              <a:rPr lang="fr-FR" sz="4000" dirty="0" err="1" smtClean="0">
                <a:cs typeface="Times New Roman" pitchFamily="18" charset="0"/>
              </a:rPr>
              <a:t>B.</a:t>
            </a:r>
            <a:r>
              <a:rPr lang="fr-FR" sz="3100" dirty="0" err="1" smtClean="0">
                <a:cs typeface="Times New Roman" pitchFamily="18" charset="0"/>
              </a:rPr>
              <a:t>Homm</a:t>
            </a:r>
            <a:r>
              <a:rPr lang="fr-FR" sz="3100" dirty="0" err="1" smtClean="0"/>
              <a:t>e</a:t>
            </a:r>
            <a:r>
              <a:rPr lang="fr-FR" sz="3100" dirty="0" smtClean="0"/>
              <a:t>, 35 ans, </a:t>
            </a:r>
            <a:br>
              <a:rPr lang="fr-FR" sz="3100" dirty="0" smtClean="0"/>
            </a:br>
            <a:r>
              <a:rPr lang="fr-FR" sz="3100" dirty="0" smtClean="0"/>
              <a:t>ATCD TBC guérie avec audio </a:t>
            </a:r>
            <a:r>
              <a:rPr lang="fr-FR" sz="3100" dirty="0" err="1" smtClean="0"/>
              <a:t>Nle</a:t>
            </a:r>
            <a:r>
              <a:rPr lang="fr-FR" sz="3100" dirty="0" smtClean="0"/>
              <a:t> après TRT,  </a:t>
            </a:r>
            <a:br>
              <a:rPr lang="fr-FR" sz="3100" dirty="0" smtClean="0"/>
            </a:br>
            <a:r>
              <a:rPr lang="fr-FR" sz="3100" dirty="0" smtClean="0"/>
              <a:t>5 cigarette/jour,  </a:t>
            </a:r>
            <a:br>
              <a:rPr lang="fr-FR" sz="3100" dirty="0" smtClean="0"/>
            </a:br>
            <a:r>
              <a:rPr lang="fr-FR" sz="3100" dirty="0" smtClean="0"/>
              <a:t> A occupé poste tisseur, </a:t>
            </a:r>
            <a:br>
              <a:rPr lang="fr-FR" sz="3100" dirty="0" smtClean="0"/>
            </a:br>
            <a:r>
              <a:rPr lang="fr-FR" sz="3100" dirty="0" smtClean="0"/>
              <a:t>	métier sans navette battante, </a:t>
            </a:r>
            <a:r>
              <a:rPr lang="fr-FR" sz="3100" dirty="0" err="1" smtClean="0"/>
              <a:t>pdt</a:t>
            </a:r>
            <a:r>
              <a:rPr lang="fr-FR" sz="3100" dirty="0" smtClean="0"/>
              <a:t> 10 ans. 	</a:t>
            </a:r>
            <a:br>
              <a:rPr lang="fr-FR" sz="3100" dirty="0" smtClean="0"/>
            </a:br>
            <a:r>
              <a:rPr lang="fr-FR" sz="3100" dirty="0" smtClean="0">
                <a:solidFill>
                  <a:srgbClr val="FF0000"/>
                </a:solidFill>
              </a:rPr>
              <a:t>Surdité perception bilatérale.   </a:t>
            </a:r>
            <a:r>
              <a:rPr lang="fr-FR" sz="3100" dirty="0" smtClean="0"/>
              <a:t>Dg?</a:t>
            </a:r>
            <a:br>
              <a:rPr lang="fr-FR" sz="3100" dirty="0" smtClean="0"/>
            </a:br>
            <a:r>
              <a:rPr lang="fr-FR" sz="3100" dirty="0" smtClean="0"/>
              <a:t>	</a:t>
            </a:r>
            <a:r>
              <a:rPr lang="fr-FR" sz="1800" dirty="0" smtClean="0"/>
              <a:t/>
            </a:r>
            <a:br>
              <a:rPr lang="fr-FR" sz="1800" dirty="0" smtClean="0"/>
            </a:br>
            <a:endParaRPr lang="fr-FR" sz="2400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3087216" y="0"/>
            <a:ext cx="34290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2800" b="1" dirty="0" smtClean="0">
                <a:solidFill>
                  <a:srgbClr val="0000FF"/>
                </a:solidFill>
              </a:rPr>
              <a:t>MCP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CAS CLINIQUE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500034" y="1428736"/>
            <a:ext cx="8072494" cy="347787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Mme T. K, médecin au service infectieux, unité </a:t>
            </a:r>
            <a:r>
              <a:rPr lang="fr-FR" sz="2800" dirty="0" err="1" smtClean="0"/>
              <a:t>Covid</a:t>
            </a:r>
            <a:endParaRPr lang="fr-FR" sz="2800" dirty="0" smtClean="0"/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 err="1" smtClean="0"/>
              <a:t>Sd</a:t>
            </a:r>
            <a:r>
              <a:rPr lang="fr-FR" sz="2800" dirty="0" smtClean="0"/>
              <a:t> grippal, anosmie, détresse respiratoire, </a:t>
            </a:r>
          </a:p>
          <a:p>
            <a:pPr>
              <a:buFontTx/>
              <a:buChar char="-"/>
            </a:pPr>
            <a:r>
              <a:rPr lang="fr-FR" sz="2800" dirty="0" smtClean="0"/>
              <a:t> PCR +</a:t>
            </a:r>
          </a:p>
          <a:p>
            <a:r>
              <a:rPr lang="fr-FR" sz="2800" dirty="0" smtClean="0"/>
              <a:t>- Admise en réa, Traitée 1 mois, guérie.</a:t>
            </a:r>
          </a:p>
          <a:p>
            <a:endParaRPr lang="fr-FR" sz="2800" dirty="0" smtClean="0"/>
          </a:p>
          <a:p>
            <a:r>
              <a:rPr lang="fr-FR" sz="2800" dirty="0" smtClean="0"/>
              <a:t>	CAT sur le plan médicolégal?</a:t>
            </a:r>
          </a:p>
          <a:p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/>
              <a:t>Tout employeur qui utilise des </a:t>
            </a:r>
            <a:r>
              <a:rPr lang="fr-FR" sz="3200" b="1" i="1" dirty="0" smtClean="0"/>
              <a:t>procédés de travail susceptibles de provoquer des MP</a:t>
            </a:r>
            <a:endParaRPr lang="fr-FR" sz="3200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84576"/>
          </a:xfrm>
          <a:ln>
            <a:solidFill>
              <a:srgbClr val="0000FF"/>
            </a:solidFill>
          </a:ln>
        </p:spPr>
        <p:txBody>
          <a:bodyPr>
            <a:normAutofit fontScale="92500"/>
          </a:bodyPr>
          <a:lstStyle/>
          <a:p>
            <a:r>
              <a:rPr lang="fr-FR" b="1" dirty="0" smtClean="0">
                <a:solidFill>
                  <a:srgbClr val="0000FF"/>
                </a:solidFill>
              </a:rPr>
              <a:t>est </a:t>
            </a:r>
            <a:r>
              <a:rPr lang="fr-FR" b="1" dirty="0">
                <a:solidFill>
                  <a:srgbClr val="0000FF"/>
                </a:solidFill>
              </a:rPr>
              <a:t>tenu d'en faire la déclaration </a:t>
            </a:r>
            <a:r>
              <a:rPr lang="fr-FR" sz="2200" dirty="0" smtClean="0"/>
              <a:t>(A69)</a:t>
            </a:r>
            <a:r>
              <a:rPr lang="fr-FR" dirty="0" smtClean="0"/>
              <a:t> </a:t>
            </a:r>
          </a:p>
          <a:p>
            <a:pPr lvl="1"/>
            <a:r>
              <a:rPr lang="fr-FR" dirty="0" smtClean="0"/>
              <a:t>à l'</a:t>
            </a:r>
            <a:r>
              <a:rPr lang="fr-FR" dirty="0" err="1" smtClean="0"/>
              <a:t>org</a:t>
            </a:r>
            <a:r>
              <a:rPr lang="fr-FR" dirty="0" smtClean="0"/>
              <a:t>. SS, </a:t>
            </a:r>
            <a:r>
              <a:rPr lang="fr-FR" dirty="0"/>
              <a:t>à l'inspecteur du travail </a:t>
            </a:r>
            <a:r>
              <a:rPr lang="fr-FR" sz="2000" dirty="0" smtClean="0"/>
              <a:t>ou fonctionnaire</a:t>
            </a:r>
            <a:r>
              <a:rPr lang="fr-FR" sz="1700" dirty="0" smtClean="0"/>
              <a:t> </a:t>
            </a:r>
            <a:r>
              <a:rPr lang="fr-FR" sz="1800" dirty="0"/>
              <a:t>en </a:t>
            </a:r>
            <a:r>
              <a:rPr lang="fr-FR" sz="1800" dirty="0" smtClean="0"/>
              <a:t>exerce, </a:t>
            </a:r>
          </a:p>
          <a:p>
            <a:pPr lvl="1"/>
            <a:r>
              <a:rPr lang="fr-FR" dirty="0" smtClean="0"/>
              <a:t>au </a:t>
            </a:r>
            <a:r>
              <a:rPr lang="fr-FR" dirty="0"/>
              <a:t>directeur de Wilaya de la santé </a:t>
            </a:r>
            <a:endParaRPr lang="fr-FR" dirty="0" smtClean="0"/>
          </a:p>
          <a:p>
            <a:pPr lvl="1"/>
            <a:r>
              <a:rPr lang="fr-FR" dirty="0" smtClean="0"/>
              <a:t>et </a:t>
            </a:r>
            <a:r>
              <a:rPr lang="fr-FR" dirty="0"/>
              <a:t>aux organismes chargés de l'hygiène et </a:t>
            </a:r>
            <a:r>
              <a:rPr lang="fr-FR" dirty="0" smtClean="0"/>
              <a:t>la </a:t>
            </a:r>
            <a:r>
              <a:rPr lang="fr-FR" dirty="0"/>
              <a:t>sécurité. </a:t>
            </a:r>
            <a:endParaRPr lang="fr-FR" dirty="0" smtClean="0"/>
          </a:p>
          <a:p>
            <a:pPr lvl="1"/>
            <a:endParaRPr lang="fr-FR" sz="1300" dirty="0" smtClean="0"/>
          </a:p>
          <a:p>
            <a:r>
              <a:rPr lang="fr-FR" dirty="0" smtClean="0"/>
              <a:t>Le </a:t>
            </a:r>
            <a:r>
              <a:rPr lang="fr-FR" b="1" dirty="0"/>
              <a:t>défaut de déclaration </a:t>
            </a:r>
            <a:r>
              <a:rPr lang="fr-FR" dirty="0"/>
              <a:t>peut être constaté </a:t>
            </a:r>
            <a:endParaRPr lang="fr-FR" dirty="0" smtClean="0"/>
          </a:p>
          <a:p>
            <a:pPr lvl="1"/>
            <a:r>
              <a:rPr lang="fr-FR" dirty="0" smtClean="0"/>
              <a:t>par </a:t>
            </a:r>
            <a:r>
              <a:rPr lang="fr-FR" dirty="0"/>
              <a:t>l'inspecteur du travail, ou le fonctionnaire </a:t>
            </a:r>
            <a:r>
              <a:rPr lang="fr-FR" sz="2000" dirty="0" smtClean="0"/>
              <a:t>en exerce</a:t>
            </a:r>
            <a:r>
              <a:rPr lang="fr-FR" dirty="0" smtClean="0"/>
              <a:t>, </a:t>
            </a:r>
          </a:p>
          <a:p>
            <a:pPr lvl="1"/>
            <a:r>
              <a:rPr lang="fr-FR" dirty="0" smtClean="0"/>
              <a:t>qui </a:t>
            </a:r>
            <a:r>
              <a:rPr lang="fr-FR" dirty="0"/>
              <a:t>doit informer les organismes visés </a:t>
            </a:r>
            <a:r>
              <a:rPr lang="fr-FR" dirty="0" smtClean="0"/>
              <a:t>ci-dessus </a:t>
            </a:r>
            <a:r>
              <a:rPr lang="fr-FR" dirty="0"/>
              <a:t>ou un agent de </a:t>
            </a:r>
            <a:r>
              <a:rPr lang="fr-FR" dirty="0" smtClean="0"/>
              <a:t>l'</a:t>
            </a:r>
            <a:r>
              <a:rPr lang="fr-FR" dirty="0" err="1" smtClean="0"/>
              <a:t>org</a:t>
            </a:r>
            <a:r>
              <a:rPr lang="fr-FR" dirty="0" smtClean="0"/>
              <a:t>. SS.  </a:t>
            </a:r>
            <a:endParaRPr lang="fr-FR" dirty="0"/>
          </a:p>
          <a:p>
            <a:r>
              <a:rPr lang="fr-FR" sz="2600" dirty="0" smtClean="0"/>
              <a:t>Les </a:t>
            </a:r>
            <a:r>
              <a:rPr lang="fr-FR" sz="2600" dirty="0"/>
              <a:t>règles relatives aux </a:t>
            </a:r>
            <a:r>
              <a:rPr lang="fr-FR" sz="2600" dirty="0" smtClean="0"/>
              <a:t>AT </a:t>
            </a:r>
            <a:r>
              <a:rPr lang="fr-FR" sz="2600" dirty="0"/>
              <a:t>sont applicables aux </a:t>
            </a:r>
            <a:r>
              <a:rPr lang="fr-FR" sz="2600" dirty="0" smtClean="0"/>
              <a:t>MP, </a:t>
            </a:r>
            <a:r>
              <a:rPr lang="fr-FR" sz="1700" dirty="0" smtClean="0"/>
              <a:t>(A69)</a:t>
            </a:r>
            <a:r>
              <a:rPr lang="fr-FR" sz="2600" dirty="0" smtClean="0"/>
              <a:t> </a:t>
            </a:r>
            <a:r>
              <a:rPr lang="fr-FR" sz="1900" u="sng" dirty="0"/>
              <a:t>sous réserve</a:t>
            </a:r>
            <a:r>
              <a:rPr lang="fr-FR" sz="1900" dirty="0"/>
              <a:t> des articles 71 </a:t>
            </a:r>
            <a:r>
              <a:rPr lang="fr-FR" sz="1900" dirty="0" smtClean="0"/>
              <a:t>(constatation MP) et 72. </a:t>
            </a:r>
            <a:endParaRPr lang="fr-FR" sz="2600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0099"/>
                </a:solidFill>
              </a:rPr>
              <a:t>Constatation de la MP</a:t>
            </a:r>
            <a:endParaRPr lang="fr-FR" dirty="0">
              <a:solidFill>
                <a:srgbClr val="000099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6"/>
          </a:xfrm>
          <a:ln>
            <a:solidFill>
              <a:srgbClr val="0000FF"/>
            </a:solidFill>
          </a:ln>
        </p:spPr>
        <p:txBody>
          <a:bodyPr>
            <a:normAutofit fontScale="92500"/>
          </a:bodyPr>
          <a:lstStyle/>
          <a:p>
            <a:r>
              <a:rPr lang="fr-FR" dirty="0" smtClean="0"/>
              <a:t>La </a:t>
            </a:r>
            <a:r>
              <a:rPr lang="fr-FR" dirty="0"/>
              <a:t>date de la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smtClean="0">
                <a:solidFill>
                  <a:srgbClr val="0000FF"/>
                </a:solidFill>
              </a:rPr>
              <a:t>1</a:t>
            </a:r>
            <a:r>
              <a:rPr lang="fr-FR" baseline="30000" dirty="0" smtClean="0">
                <a:solidFill>
                  <a:srgbClr val="0000FF"/>
                </a:solidFill>
              </a:rPr>
              <a:t>ère</a:t>
            </a:r>
            <a:r>
              <a:rPr lang="fr-FR" dirty="0" smtClean="0">
                <a:solidFill>
                  <a:srgbClr val="0000FF"/>
                </a:solidFill>
              </a:rPr>
              <a:t> </a:t>
            </a:r>
            <a:r>
              <a:rPr lang="fr-FR" b="1" dirty="0" smtClean="0">
                <a:solidFill>
                  <a:srgbClr val="0000FF"/>
                </a:solidFill>
              </a:rPr>
              <a:t>constatation </a:t>
            </a:r>
            <a:r>
              <a:rPr lang="fr-FR" b="1" dirty="0">
                <a:solidFill>
                  <a:srgbClr val="0000FF"/>
                </a:solidFill>
              </a:rPr>
              <a:t>de </a:t>
            </a:r>
            <a:r>
              <a:rPr lang="fr-FR" b="1" dirty="0" smtClean="0">
                <a:solidFill>
                  <a:srgbClr val="0000FF"/>
                </a:solidFill>
              </a:rPr>
              <a:t>MP </a:t>
            </a:r>
          </a:p>
          <a:p>
            <a:pPr lvl="1"/>
            <a:r>
              <a:rPr lang="fr-FR" dirty="0" smtClean="0"/>
              <a:t>est </a:t>
            </a:r>
            <a:r>
              <a:rPr lang="fr-FR" b="1" dirty="0">
                <a:solidFill>
                  <a:srgbClr val="000099"/>
                </a:solidFill>
              </a:rPr>
              <a:t>assimilée à la date de l'accident</a:t>
            </a:r>
            <a:r>
              <a:rPr lang="fr-FR" dirty="0">
                <a:solidFill>
                  <a:srgbClr val="000099"/>
                </a:solidFill>
              </a:rPr>
              <a:t>. </a:t>
            </a:r>
            <a:r>
              <a:rPr lang="fr-FR" sz="2000" dirty="0" smtClean="0"/>
              <a:t>(A71)</a:t>
            </a:r>
          </a:p>
          <a:p>
            <a:pPr lvl="1"/>
            <a:endParaRPr lang="fr-FR" sz="1900" dirty="0" smtClean="0"/>
          </a:p>
          <a:p>
            <a:r>
              <a:rPr lang="fr-FR" dirty="0" smtClean="0"/>
              <a:t>Toute MP, </a:t>
            </a:r>
            <a:r>
              <a:rPr lang="fr-FR" dirty="0"/>
              <a:t>dont la réparation est demandée </a:t>
            </a:r>
            <a:r>
              <a:rPr lang="fr-FR" dirty="0" smtClean="0"/>
              <a:t>, </a:t>
            </a:r>
          </a:p>
          <a:p>
            <a:pPr lvl="1"/>
            <a:r>
              <a:rPr lang="fr-FR" b="1" dirty="0" smtClean="0">
                <a:solidFill>
                  <a:srgbClr val="0070C0"/>
                </a:solidFill>
              </a:rPr>
              <a:t>doit </a:t>
            </a:r>
            <a:r>
              <a:rPr lang="fr-FR" b="1" dirty="0">
                <a:solidFill>
                  <a:srgbClr val="0070C0"/>
                </a:solidFill>
              </a:rPr>
              <a:t>être déclarée</a:t>
            </a:r>
            <a:r>
              <a:rPr lang="fr-FR" b="1" dirty="0"/>
              <a:t> </a:t>
            </a:r>
            <a:r>
              <a:rPr lang="fr-FR" dirty="0"/>
              <a:t>à </a:t>
            </a:r>
            <a:r>
              <a:rPr lang="fr-FR" dirty="0" smtClean="0"/>
              <a:t>l'org.SS, </a:t>
            </a:r>
            <a:r>
              <a:rPr lang="fr-FR" b="1" u="sng" dirty="0" smtClean="0">
                <a:solidFill>
                  <a:srgbClr val="0070C0"/>
                </a:solidFill>
              </a:rPr>
              <a:t>par </a:t>
            </a:r>
            <a:r>
              <a:rPr lang="fr-FR" b="1" u="sng" dirty="0">
                <a:solidFill>
                  <a:srgbClr val="0070C0"/>
                </a:solidFill>
              </a:rPr>
              <a:t>la victime</a:t>
            </a:r>
            <a:r>
              <a:rPr lang="fr-FR" b="1" u="sng" dirty="0"/>
              <a:t>, </a:t>
            </a:r>
            <a:endParaRPr lang="fr-FR" b="1" u="sng" dirty="0" smtClean="0"/>
          </a:p>
          <a:p>
            <a:pPr lvl="1"/>
            <a:r>
              <a:rPr lang="fr-FR" sz="3000" dirty="0" smtClean="0"/>
              <a:t>dans </a:t>
            </a:r>
            <a:r>
              <a:rPr lang="fr-FR" sz="3000" dirty="0"/>
              <a:t>un </a:t>
            </a:r>
            <a:r>
              <a:rPr lang="fr-FR" sz="3000" b="1" dirty="0">
                <a:solidFill>
                  <a:srgbClr val="0070C0"/>
                </a:solidFill>
              </a:rPr>
              <a:t>délai de </a:t>
            </a:r>
            <a:r>
              <a:rPr lang="fr-FR" sz="3000" b="1" dirty="0" smtClean="0">
                <a:solidFill>
                  <a:srgbClr val="000099"/>
                </a:solidFill>
              </a:rPr>
              <a:t>15 </a:t>
            </a:r>
            <a:r>
              <a:rPr lang="fr-FR" sz="3000" b="1" dirty="0">
                <a:solidFill>
                  <a:srgbClr val="000099"/>
                </a:solidFill>
              </a:rPr>
              <a:t>jours </a:t>
            </a:r>
            <a:r>
              <a:rPr lang="fr-FR" sz="3000" dirty="0" smtClean="0">
                <a:solidFill>
                  <a:srgbClr val="000099"/>
                </a:solidFill>
              </a:rPr>
              <a:t>minimum à</a:t>
            </a:r>
            <a:r>
              <a:rPr lang="fr-FR" sz="2600" b="1" dirty="0" smtClean="0">
                <a:solidFill>
                  <a:srgbClr val="000099"/>
                </a:solidFill>
              </a:rPr>
              <a:t> </a:t>
            </a:r>
            <a:r>
              <a:rPr lang="fr-FR" sz="3000" b="1" dirty="0" smtClean="0">
                <a:solidFill>
                  <a:srgbClr val="000099"/>
                </a:solidFill>
              </a:rPr>
              <a:t>3 </a:t>
            </a:r>
            <a:r>
              <a:rPr lang="fr-FR" sz="3000" b="1" dirty="0">
                <a:solidFill>
                  <a:srgbClr val="000099"/>
                </a:solidFill>
              </a:rPr>
              <a:t>mois </a:t>
            </a:r>
            <a:r>
              <a:rPr lang="fr-FR" sz="2600" dirty="0" smtClean="0">
                <a:solidFill>
                  <a:srgbClr val="000099"/>
                </a:solidFill>
              </a:rPr>
              <a:t>maxi</a:t>
            </a:r>
            <a:r>
              <a:rPr lang="fr-FR" sz="2600" b="1" dirty="0" smtClean="0">
                <a:solidFill>
                  <a:srgbClr val="000099"/>
                </a:solidFill>
              </a:rPr>
              <a:t> </a:t>
            </a:r>
            <a:r>
              <a:rPr lang="fr-FR" dirty="0"/>
              <a:t>qui suivent la </a:t>
            </a:r>
            <a:r>
              <a:rPr lang="fr-FR" dirty="0" smtClean="0"/>
              <a:t>1</a:t>
            </a:r>
            <a:r>
              <a:rPr lang="fr-FR" baseline="30000" dirty="0" smtClean="0"/>
              <a:t>ère </a:t>
            </a:r>
            <a:r>
              <a:rPr lang="fr-FR" dirty="0" smtClean="0"/>
              <a:t>constatation </a:t>
            </a:r>
            <a:r>
              <a:rPr lang="fr-FR" dirty="0"/>
              <a:t>médicale de la maladie. </a:t>
            </a:r>
            <a:endParaRPr lang="fr-FR" dirty="0" smtClean="0"/>
          </a:p>
          <a:p>
            <a:pPr lvl="2"/>
            <a:endParaRPr lang="fr-FR" sz="1700" dirty="0" smtClean="0"/>
          </a:p>
          <a:p>
            <a:pPr lvl="1"/>
            <a:r>
              <a:rPr lang="fr-FR" b="1" dirty="0" smtClean="0"/>
              <a:t>La </a:t>
            </a:r>
            <a:r>
              <a:rPr lang="fr-FR" b="1" dirty="0"/>
              <a:t>déclaration </a:t>
            </a:r>
            <a:r>
              <a:rPr lang="fr-FR" dirty="0"/>
              <a:t>est prise en considération, </a:t>
            </a:r>
            <a:endParaRPr lang="fr-FR" dirty="0" smtClean="0"/>
          </a:p>
          <a:p>
            <a:pPr lvl="2"/>
            <a:r>
              <a:rPr lang="fr-FR" dirty="0" smtClean="0"/>
              <a:t>même </a:t>
            </a:r>
            <a:r>
              <a:rPr lang="fr-FR" dirty="0"/>
              <a:t>au titre des assurances sociales. </a:t>
            </a:r>
            <a:endParaRPr lang="fr-FR" dirty="0" smtClean="0"/>
          </a:p>
          <a:p>
            <a:pPr lvl="1"/>
            <a:r>
              <a:rPr lang="fr-FR" dirty="0" smtClean="0"/>
              <a:t>Une </a:t>
            </a:r>
            <a:r>
              <a:rPr lang="fr-FR" dirty="0"/>
              <a:t>copie de la déclaration doit être transmise, </a:t>
            </a:r>
            <a:endParaRPr lang="fr-FR" dirty="0" smtClean="0"/>
          </a:p>
          <a:p>
            <a:pPr lvl="2"/>
            <a:r>
              <a:rPr lang="fr-FR" dirty="0" smtClean="0">
                <a:solidFill>
                  <a:srgbClr val="0070C0"/>
                </a:solidFill>
              </a:rPr>
              <a:t>immédiatement</a:t>
            </a:r>
            <a:r>
              <a:rPr lang="fr-FR" dirty="0"/>
              <a:t>, par </a:t>
            </a:r>
            <a:r>
              <a:rPr lang="fr-FR" dirty="0" smtClean="0"/>
              <a:t>l'</a:t>
            </a:r>
            <a:r>
              <a:rPr lang="fr-FR" dirty="0" err="1" smtClean="0"/>
              <a:t>org</a:t>
            </a:r>
            <a:r>
              <a:rPr lang="fr-FR" dirty="0" smtClean="0"/>
              <a:t>. SS, </a:t>
            </a:r>
            <a:r>
              <a:rPr lang="fr-FR" dirty="0"/>
              <a:t>à l'inspecteur du travail</a:t>
            </a:r>
            <a:r>
              <a:rPr lang="fr-FR" dirty="0" smtClean="0"/>
              <a:t>.</a:t>
            </a:r>
          </a:p>
          <a:p>
            <a:pPr lvl="2"/>
            <a:endParaRPr lang="fr-FR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fr-FR" sz="3600" b="1" dirty="0" smtClean="0"/>
              <a:t>TITRE V. PREVENTION 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ln>
            <a:solidFill>
              <a:srgbClr val="0000FF"/>
            </a:solidFill>
          </a:ln>
        </p:spPr>
        <p:txBody>
          <a:bodyPr/>
          <a:lstStyle/>
          <a:p>
            <a:r>
              <a:rPr lang="fr-FR" dirty="0" smtClean="0"/>
              <a:t>Un </a:t>
            </a:r>
            <a:r>
              <a:rPr lang="fr-FR" dirty="0"/>
              <a:t>organisme de </a:t>
            </a:r>
            <a:r>
              <a:rPr lang="fr-FR" dirty="0" smtClean="0"/>
              <a:t>S.S </a:t>
            </a:r>
            <a:r>
              <a:rPr lang="fr-FR" dirty="0"/>
              <a:t>est chargé, </a:t>
            </a:r>
            <a:endParaRPr lang="fr-FR" dirty="0" smtClean="0"/>
          </a:p>
          <a:p>
            <a:pPr lvl="2"/>
            <a:r>
              <a:rPr lang="fr-FR" dirty="0" smtClean="0"/>
              <a:t>en </a:t>
            </a:r>
            <a:r>
              <a:rPr lang="fr-FR" dirty="0"/>
              <a:t>liaison avec les autres organismes compétents en la matière, de </a:t>
            </a:r>
            <a:endParaRPr lang="fr-FR" dirty="0" smtClean="0"/>
          </a:p>
          <a:p>
            <a:pPr lvl="1"/>
            <a:r>
              <a:rPr lang="fr-FR" b="1" dirty="0" smtClean="0">
                <a:solidFill>
                  <a:srgbClr val="0070C0"/>
                </a:solidFill>
              </a:rPr>
              <a:t>contribuer </a:t>
            </a:r>
            <a:r>
              <a:rPr lang="fr-FR" b="1" dirty="0">
                <a:solidFill>
                  <a:srgbClr val="0070C0"/>
                </a:solidFill>
              </a:rPr>
              <a:t>à promouvoir la politique de prévention </a:t>
            </a:r>
            <a:r>
              <a:rPr lang="fr-FR" b="1" dirty="0" smtClean="0">
                <a:solidFill>
                  <a:srgbClr val="0070C0"/>
                </a:solidFill>
              </a:rPr>
              <a:t>  </a:t>
            </a:r>
            <a:r>
              <a:rPr lang="fr-FR" sz="2000" dirty="0" smtClean="0"/>
              <a:t>(A73)</a:t>
            </a:r>
            <a:r>
              <a:rPr lang="fr-FR" dirty="0" smtClean="0"/>
              <a:t> </a:t>
            </a:r>
            <a:endParaRPr lang="fr-FR" dirty="0" smtClean="0">
              <a:solidFill>
                <a:srgbClr val="0070C0"/>
              </a:solidFill>
            </a:endParaRPr>
          </a:p>
          <a:p>
            <a:pPr lvl="2"/>
            <a:r>
              <a:rPr lang="fr-FR" dirty="0" smtClean="0"/>
              <a:t>des </a:t>
            </a:r>
            <a:r>
              <a:rPr lang="fr-FR" dirty="0"/>
              <a:t>accidents du travail </a:t>
            </a:r>
            <a:endParaRPr lang="fr-FR" dirty="0" smtClean="0"/>
          </a:p>
          <a:p>
            <a:pPr lvl="2"/>
            <a:r>
              <a:rPr lang="fr-FR" dirty="0" smtClean="0"/>
              <a:t>et </a:t>
            </a:r>
            <a:r>
              <a:rPr lang="fr-FR" dirty="0"/>
              <a:t>des maladies professionnelles.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69791</TotalTime>
  <Words>4897</Words>
  <Application>Microsoft Office PowerPoint</Application>
  <PresentationFormat>Affichage à l'écran (4:3)</PresentationFormat>
  <Paragraphs>798</Paragraphs>
  <Slides>64</Slides>
  <Notes>2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66" baseType="lpstr">
      <vt:lpstr>Thème Office</vt:lpstr>
      <vt:lpstr>Graphique</vt:lpstr>
      <vt:lpstr>ACCIDENT DU TRAVAIL MALADIE PROFESSIONNELLE</vt:lpstr>
      <vt:lpstr>Objectifs</vt:lpstr>
      <vt:lpstr>Documents consultés</vt:lpstr>
      <vt:lpstr>L’accident</vt:lpstr>
      <vt:lpstr>L’accident  (OMS)</vt:lpstr>
      <vt:lpstr>Différence entre accident et incident</vt:lpstr>
      <vt:lpstr>Différence entre accident et incident</vt:lpstr>
      <vt:lpstr>Accident du travail</vt:lpstr>
      <vt:lpstr>Au quotidien, les situations varient…</vt:lpstr>
      <vt:lpstr>Problème de santé publique</vt:lpstr>
      <vt:lpstr>LE TRAVAIL (activité): source de danger</vt:lpstr>
      <vt:lpstr>Evolution du nombre des accidents du travail de 1993 à 2003. (statistiques nationales, CNAS 2004)</vt:lpstr>
      <vt:lpstr>Les coûts des accidents du travail</vt:lpstr>
      <vt:lpstr>Nombre d’AT déclarés par branche professionnelle en 2003. (statistiques nationales, CNAS 2004)</vt:lpstr>
      <vt:lpstr>Répartition des AES notifiés (registre) par année (1991-2005) Tebboune CB, Ghézini Y</vt:lpstr>
      <vt:lpstr>Accidents indemnisés (Chapitre III)      Loi n° 83-13 du 2 juillet 1983 relative aux AT/MP   JO n° 28, du 5 juillet 1983</vt:lpstr>
      <vt:lpstr>Définition légale de A.T</vt:lpstr>
      <vt:lpstr>Quels sont les 2 critères important de l’AT?  </vt:lpstr>
      <vt:lpstr>Au quotidien, les situations varient…</vt:lpstr>
      <vt:lpstr>Au quotidien, les situations varient…</vt:lpstr>
      <vt:lpstr>Diapositive 21</vt:lpstr>
      <vt:lpstr>Diapositive 22</vt:lpstr>
      <vt:lpstr>Est considéré comme AT</vt:lpstr>
      <vt:lpstr>Autres  cas AT ?   Loi n° 83-13 du 2 juillet 1983 relative aux AT/MP  </vt:lpstr>
      <vt:lpstr>Quels sont les bénéficiaires de la loi AT/MP 83-13?</vt:lpstr>
      <vt:lpstr>Définition légale de A.T  (suite)</vt:lpstr>
      <vt:lpstr>Présomption d'imputabilité ?</vt:lpstr>
      <vt:lpstr>La présomption d'imputabilité </vt:lpstr>
      <vt:lpstr>Qui doit apporter la Preuve ?</vt:lpstr>
      <vt:lpstr>Accident du Trajet ?</vt:lpstr>
      <vt:lpstr>AT</vt:lpstr>
      <vt:lpstr>CONCEPTS  A.T  &amp;  statistiques</vt:lpstr>
      <vt:lpstr>CONCEPTS (en statistiques)</vt:lpstr>
      <vt:lpstr>Conditions d’ouverture des droits</vt:lpstr>
      <vt:lpstr>Déclaration de l'accident</vt:lpstr>
      <vt:lpstr>Constatation de l'accident TITRE II. Chap I.   Déclaration de l'accident Section I. .</vt:lpstr>
      <vt:lpstr>Pourquoi déclarer un AT, …MP ?</vt:lpstr>
      <vt:lpstr>Instruction du dossier (SECTION II )</vt:lpstr>
      <vt:lpstr>Instruction du dossier (SECTION II )</vt:lpstr>
      <vt:lpstr>Diapositive 40</vt:lpstr>
      <vt:lpstr>Constatation des lésions : qui &amp; comment? (Chapitre II)</vt:lpstr>
      <vt:lpstr>Constatation des lésions ? (Chapitre II)</vt:lpstr>
      <vt:lpstr>Constatation des lésions  Chapitre II. </vt:lpstr>
      <vt:lpstr>Constatation des lésions  -Chapitre II-</vt:lpstr>
      <vt:lpstr>MALADIES PROFESSIONNELLES ? Loi n° 83-13 du 2 juillet 1983  relative aux AT/MP  JO n° 28, du 5 juillet 1983  TITRE IV</vt:lpstr>
      <vt:lpstr>MALADIES PROFESSIONNELLES</vt:lpstr>
      <vt:lpstr>Différence MP avec AT ?</vt:lpstr>
      <vt:lpstr>Au quotidien, les situations varient…</vt:lpstr>
      <vt:lpstr>La présomption d’imputabilité</vt:lpstr>
      <vt:lpstr>Diapositive 50</vt:lpstr>
      <vt:lpstr>Diapositive 51</vt:lpstr>
      <vt:lpstr>85  TMP répartis en trois groupes</vt:lpstr>
      <vt:lpstr>Quels sont les 3 critères de reconnaissance des MP?  Loi n° 83-13 du 2 juillet 1983 relative aux AT/MP  JO n° 28, du 5 juillet 1983  TITRE IV </vt:lpstr>
      <vt:lpstr>Composition du tableau MP</vt:lpstr>
      <vt:lpstr>Numéro du tableau et l’intitulé :  maladie ou agent causal</vt:lpstr>
      <vt:lpstr>Tableau N° 42 : Affections professionnelles provoquées par les bruits </vt:lpstr>
      <vt:lpstr>TMP N° 1</vt:lpstr>
      <vt:lpstr>TABLEAU N°6     DES MALADIES PROFESSIONNELLES</vt:lpstr>
      <vt:lpstr>Maladies à caractère prof. (MCP)</vt:lpstr>
      <vt:lpstr>  A. Homme, 40 ans, sans ATCD,   Surdité perception unilatérale Poste:   BTP, pistolet de scellement      B.Homme, 35 ans,  ATCD TBC guérie avec audio Nle après TRT,   5 cigarette/jour,    A occupé poste tisseur,   métier sans navette battante, pdt 10 ans.   Surdité perception bilatérale.   Dg?   </vt:lpstr>
      <vt:lpstr>CAS CLINIQUE</vt:lpstr>
      <vt:lpstr>Tout employeur qui utilise des procédés de travail susceptibles de provoquer des MP</vt:lpstr>
      <vt:lpstr>Constatation de la MP</vt:lpstr>
      <vt:lpstr>TITRE V. PREVENTION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Ennadjah</dc:creator>
  <cp:lastModifiedBy>Ennadjah</cp:lastModifiedBy>
  <cp:revision>47</cp:revision>
  <dcterms:created xsi:type="dcterms:W3CDTF">2019-05-30T11:49:02Z</dcterms:created>
  <dcterms:modified xsi:type="dcterms:W3CDTF">2021-09-10T09:26:09Z</dcterms:modified>
</cp:coreProperties>
</file>