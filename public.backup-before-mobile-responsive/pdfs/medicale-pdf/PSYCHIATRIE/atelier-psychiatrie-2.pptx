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9"/>
  </p:handout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73" r:id="rId9"/>
    <p:sldId id="276" r:id="rId10"/>
    <p:sldId id="274" r:id="rId11"/>
    <p:sldId id="275" r:id="rId12"/>
    <p:sldId id="263" r:id="rId13"/>
    <p:sldId id="265" r:id="rId14"/>
    <p:sldId id="268" r:id="rId15"/>
    <p:sldId id="266" r:id="rId16"/>
    <p:sldId id="272" r:id="rId17"/>
    <p:sldId id="271" r:id="rId18"/>
  </p:sldIdLst>
  <p:sldSz cx="9144000" cy="6858000" type="screen4x3"/>
  <p:notesSz cx="9925050" cy="67976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0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B440FE-3FEB-4411-8C48-7A4D0739E235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62997C4-E53D-4392-BE10-B5995F17F8ED}">
      <dgm:prSet/>
      <dgm:spPr/>
      <dgm:t>
        <a:bodyPr/>
        <a:lstStyle/>
        <a:p>
          <a:pPr rtl="0"/>
          <a:endParaRPr lang="fr-FR" dirty="0"/>
        </a:p>
      </dgm:t>
    </dgm:pt>
    <dgm:pt modelId="{D6213EB9-FE86-4732-B3DB-8B77F68E88A1}" type="parTrans" cxnId="{7B0301AC-E817-4468-9A9A-BE35DC88EBE6}">
      <dgm:prSet/>
      <dgm:spPr/>
      <dgm:t>
        <a:bodyPr/>
        <a:lstStyle/>
        <a:p>
          <a:endParaRPr lang="fr-FR"/>
        </a:p>
      </dgm:t>
    </dgm:pt>
    <dgm:pt modelId="{B2F1B320-A57E-4D4B-A93B-366872FBB694}" type="sibTrans" cxnId="{7B0301AC-E817-4468-9A9A-BE35DC88EBE6}">
      <dgm:prSet/>
      <dgm:spPr/>
      <dgm:t>
        <a:bodyPr/>
        <a:lstStyle/>
        <a:p>
          <a:endParaRPr lang="fr-FR"/>
        </a:p>
      </dgm:t>
    </dgm:pt>
    <dgm:pt modelId="{497933AE-7F40-48FB-B7BD-F8D77F3D16E3}">
      <dgm:prSet/>
      <dgm:spPr/>
      <dgm:t>
        <a:bodyPr/>
        <a:lstStyle/>
        <a:p>
          <a:pPr rtl="0"/>
          <a:r>
            <a:rPr lang="fr-FR" dirty="0" smtClean="0"/>
            <a:t>.</a:t>
          </a:r>
          <a:endParaRPr lang="fr-FR" dirty="0"/>
        </a:p>
      </dgm:t>
    </dgm:pt>
    <dgm:pt modelId="{A35EFE01-FB86-47CE-BD5A-7B57191FC796}" type="parTrans" cxnId="{B4EDDCA3-6EE2-4D50-BEAE-CE0BFB3A33DE}">
      <dgm:prSet/>
      <dgm:spPr/>
      <dgm:t>
        <a:bodyPr/>
        <a:lstStyle/>
        <a:p>
          <a:endParaRPr lang="fr-FR"/>
        </a:p>
      </dgm:t>
    </dgm:pt>
    <dgm:pt modelId="{D16058D9-2B4D-4915-95C9-02DC97B8B03B}" type="sibTrans" cxnId="{B4EDDCA3-6EE2-4D50-BEAE-CE0BFB3A33DE}">
      <dgm:prSet/>
      <dgm:spPr/>
      <dgm:t>
        <a:bodyPr/>
        <a:lstStyle/>
        <a:p>
          <a:endParaRPr lang="fr-FR"/>
        </a:p>
      </dgm:t>
    </dgm:pt>
    <dgm:pt modelId="{C32E0B2D-5617-4BEE-A1B6-D85890FC27E8}">
      <dgm:prSet/>
      <dgm:spPr/>
      <dgm:t>
        <a:bodyPr/>
        <a:lstStyle/>
        <a:p>
          <a:pPr rtl="0"/>
          <a:endParaRPr lang="fr-FR" dirty="0"/>
        </a:p>
      </dgm:t>
    </dgm:pt>
    <dgm:pt modelId="{4417EBC4-1488-41C2-8757-E53B95A44619}" type="parTrans" cxnId="{760A9DC8-014A-4B22-8C93-7FCB22C90FF8}">
      <dgm:prSet/>
      <dgm:spPr/>
      <dgm:t>
        <a:bodyPr/>
        <a:lstStyle/>
        <a:p>
          <a:endParaRPr lang="fr-FR"/>
        </a:p>
      </dgm:t>
    </dgm:pt>
    <dgm:pt modelId="{03161F5D-3A93-4C8A-99F1-073075F9209E}" type="sibTrans" cxnId="{760A9DC8-014A-4B22-8C93-7FCB22C90FF8}">
      <dgm:prSet/>
      <dgm:spPr/>
      <dgm:t>
        <a:bodyPr/>
        <a:lstStyle/>
        <a:p>
          <a:endParaRPr lang="fr-FR"/>
        </a:p>
      </dgm:t>
    </dgm:pt>
    <dgm:pt modelId="{B6CE1818-1BE1-409B-BD02-95D82FB19717}">
      <dgm:prSet/>
      <dgm:spPr/>
      <dgm:t>
        <a:bodyPr/>
        <a:lstStyle/>
        <a:p>
          <a:r>
            <a:rPr lang="fr-FR" dirty="0" smtClean="0"/>
            <a:t>Tristesse morbide</a:t>
          </a:r>
          <a:endParaRPr lang="fr-FR" dirty="0"/>
        </a:p>
      </dgm:t>
    </dgm:pt>
    <dgm:pt modelId="{79B40E94-93B2-404B-8E45-ECC0D0252789}" type="parTrans" cxnId="{03BEAF89-83B1-465D-8534-5B4999F81943}">
      <dgm:prSet/>
      <dgm:spPr/>
    </dgm:pt>
    <dgm:pt modelId="{51828DDE-3C82-4BA7-9121-D4078D5CC1F2}" type="sibTrans" cxnId="{03BEAF89-83B1-465D-8534-5B4999F81943}">
      <dgm:prSet/>
      <dgm:spPr/>
    </dgm:pt>
    <dgm:pt modelId="{E8687667-FF46-4681-BC13-3168164E651F}">
      <dgm:prSet/>
      <dgm:spPr/>
      <dgm:t>
        <a:bodyPr/>
        <a:lstStyle/>
        <a:p>
          <a:r>
            <a:rPr lang="fr-FR" dirty="0" err="1" smtClean="0"/>
            <a:t>Ralentissemenet</a:t>
          </a:r>
          <a:r>
            <a:rPr lang="fr-FR" dirty="0" smtClean="0"/>
            <a:t> PM</a:t>
          </a:r>
          <a:endParaRPr lang="fr-FR" dirty="0"/>
        </a:p>
      </dgm:t>
    </dgm:pt>
    <dgm:pt modelId="{82D33797-0CC4-4092-8B48-711CED342E60}" type="parTrans" cxnId="{0106941A-1262-4213-B355-FD1E3D43EB38}">
      <dgm:prSet/>
      <dgm:spPr/>
    </dgm:pt>
    <dgm:pt modelId="{8BC1FD85-32EF-4581-BEFE-AA604CC9E5A6}" type="sibTrans" cxnId="{0106941A-1262-4213-B355-FD1E3D43EB38}">
      <dgm:prSet/>
      <dgm:spPr/>
    </dgm:pt>
    <dgm:pt modelId="{ECF9DB50-0000-4958-A47E-8D19B8232723}">
      <dgm:prSet/>
      <dgm:spPr/>
      <dgm:t>
        <a:bodyPr/>
        <a:lstStyle/>
        <a:p>
          <a:r>
            <a:rPr lang="fr-FR" dirty="0" smtClean="0"/>
            <a:t>Troubles des fonctions instinctives</a:t>
          </a:r>
          <a:endParaRPr lang="fr-FR" dirty="0"/>
        </a:p>
      </dgm:t>
    </dgm:pt>
    <dgm:pt modelId="{D59213A0-B226-4650-9090-CFEE08D83163}" type="parTrans" cxnId="{2F65DC00-FF01-49FA-AFF2-BA38260F97DB}">
      <dgm:prSet/>
      <dgm:spPr/>
    </dgm:pt>
    <dgm:pt modelId="{E1DC6C4C-D188-45EC-A72E-39838423726B}" type="sibTrans" cxnId="{2F65DC00-FF01-49FA-AFF2-BA38260F97DB}">
      <dgm:prSet/>
      <dgm:spPr/>
    </dgm:pt>
    <dgm:pt modelId="{EAC06E1F-E838-4829-8C2C-F920766D0672}" type="pres">
      <dgm:prSet presAssocID="{28B440FE-3FEB-4411-8C48-7A4D0739E235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A80E78E-8AD8-4709-9807-2F80B83BF381}" type="pres">
      <dgm:prSet presAssocID="{762997C4-E53D-4392-BE10-B5995F17F8ED}" presName="composite" presStyleCnt="0"/>
      <dgm:spPr/>
    </dgm:pt>
    <dgm:pt modelId="{E0B3C557-3502-477D-B46E-261FC4584DD5}" type="pres">
      <dgm:prSet presAssocID="{762997C4-E53D-4392-BE10-B5995F17F8ED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229211F-BF2C-4B9B-84CB-F3D44B0A81B7}" type="pres">
      <dgm:prSet presAssocID="{762997C4-E53D-4392-BE10-B5995F17F8ED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6737D92-72A6-4DB6-91C3-C23FB0F28820}" type="pres">
      <dgm:prSet presAssocID="{B2F1B320-A57E-4D4B-A93B-366872FBB694}" presName="sp" presStyleCnt="0"/>
      <dgm:spPr/>
    </dgm:pt>
    <dgm:pt modelId="{CA5C30E9-F5D6-4422-B295-CBC58895856F}" type="pres">
      <dgm:prSet presAssocID="{497933AE-7F40-48FB-B7BD-F8D77F3D16E3}" presName="composite" presStyleCnt="0"/>
      <dgm:spPr/>
    </dgm:pt>
    <dgm:pt modelId="{A53331AB-BE2C-47B4-ABEB-7B72871AEDC3}" type="pres">
      <dgm:prSet presAssocID="{497933AE-7F40-48FB-B7BD-F8D77F3D16E3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CCB28EB-106E-4987-8A92-9411FEA8D563}" type="pres">
      <dgm:prSet presAssocID="{497933AE-7F40-48FB-B7BD-F8D77F3D16E3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74AE776-0591-49E3-A9D8-3DDD8860E23E}" type="pres">
      <dgm:prSet presAssocID="{D16058D9-2B4D-4915-95C9-02DC97B8B03B}" presName="sp" presStyleCnt="0"/>
      <dgm:spPr/>
    </dgm:pt>
    <dgm:pt modelId="{188D8D32-0397-4BA4-92B8-C374E28C0C33}" type="pres">
      <dgm:prSet presAssocID="{C32E0B2D-5617-4BEE-A1B6-D85890FC27E8}" presName="composite" presStyleCnt="0"/>
      <dgm:spPr/>
    </dgm:pt>
    <dgm:pt modelId="{389BDE70-3E8C-4EF2-9F08-C37AC77A4089}" type="pres">
      <dgm:prSet presAssocID="{C32E0B2D-5617-4BEE-A1B6-D85890FC27E8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4BA3321-9839-4E17-BC69-2BDCF6D24D67}" type="pres">
      <dgm:prSet presAssocID="{C32E0B2D-5617-4BEE-A1B6-D85890FC27E8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13267E07-05F8-4D96-AEAA-5F5824AE405F}" type="presOf" srcId="{B6CE1818-1BE1-409B-BD02-95D82FB19717}" destId="{8229211F-BF2C-4B9B-84CB-F3D44B0A81B7}" srcOrd="0" destOrd="0" presId="urn:microsoft.com/office/officeart/2005/8/layout/chevron2"/>
    <dgm:cxn modelId="{B1062B9D-97A2-42A4-9D8E-520D8D6B031C}" type="presOf" srcId="{497933AE-7F40-48FB-B7BD-F8D77F3D16E3}" destId="{A53331AB-BE2C-47B4-ABEB-7B72871AEDC3}" srcOrd="0" destOrd="0" presId="urn:microsoft.com/office/officeart/2005/8/layout/chevron2"/>
    <dgm:cxn modelId="{A0D5434B-4BEF-4375-B4D7-EFC9275E0501}" type="presOf" srcId="{762997C4-E53D-4392-BE10-B5995F17F8ED}" destId="{E0B3C557-3502-477D-B46E-261FC4584DD5}" srcOrd="0" destOrd="0" presId="urn:microsoft.com/office/officeart/2005/8/layout/chevron2"/>
    <dgm:cxn modelId="{0BE0C753-70AF-461B-8494-C793949BDEBB}" type="presOf" srcId="{C32E0B2D-5617-4BEE-A1B6-D85890FC27E8}" destId="{389BDE70-3E8C-4EF2-9F08-C37AC77A4089}" srcOrd="0" destOrd="0" presId="urn:microsoft.com/office/officeart/2005/8/layout/chevron2"/>
    <dgm:cxn modelId="{3EE92B86-D900-4A7F-9117-AEF7CAA678C5}" type="presOf" srcId="{ECF9DB50-0000-4958-A47E-8D19B8232723}" destId="{44BA3321-9839-4E17-BC69-2BDCF6D24D67}" srcOrd="0" destOrd="0" presId="urn:microsoft.com/office/officeart/2005/8/layout/chevron2"/>
    <dgm:cxn modelId="{2F65DC00-FF01-49FA-AFF2-BA38260F97DB}" srcId="{C32E0B2D-5617-4BEE-A1B6-D85890FC27E8}" destId="{ECF9DB50-0000-4958-A47E-8D19B8232723}" srcOrd="0" destOrd="0" parTransId="{D59213A0-B226-4650-9090-CFEE08D83163}" sibTransId="{E1DC6C4C-D188-45EC-A72E-39838423726B}"/>
    <dgm:cxn modelId="{760A9DC8-014A-4B22-8C93-7FCB22C90FF8}" srcId="{28B440FE-3FEB-4411-8C48-7A4D0739E235}" destId="{C32E0B2D-5617-4BEE-A1B6-D85890FC27E8}" srcOrd="2" destOrd="0" parTransId="{4417EBC4-1488-41C2-8757-E53B95A44619}" sibTransId="{03161F5D-3A93-4C8A-99F1-073075F9209E}"/>
    <dgm:cxn modelId="{03BEAF89-83B1-465D-8534-5B4999F81943}" srcId="{762997C4-E53D-4392-BE10-B5995F17F8ED}" destId="{B6CE1818-1BE1-409B-BD02-95D82FB19717}" srcOrd="0" destOrd="0" parTransId="{79B40E94-93B2-404B-8E45-ECC0D0252789}" sibTransId="{51828DDE-3C82-4BA7-9121-D4078D5CC1F2}"/>
    <dgm:cxn modelId="{478E5BB7-1106-4920-98E2-E4BB3769FAE1}" type="presOf" srcId="{E8687667-FF46-4681-BC13-3168164E651F}" destId="{9CCB28EB-106E-4987-8A92-9411FEA8D563}" srcOrd="0" destOrd="0" presId="urn:microsoft.com/office/officeart/2005/8/layout/chevron2"/>
    <dgm:cxn modelId="{7B0301AC-E817-4468-9A9A-BE35DC88EBE6}" srcId="{28B440FE-3FEB-4411-8C48-7A4D0739E235}" destId="{762997C4-E53D-4392-BE10-B5995F17F8ED}" srcOrd="0" destOrd="0" parTransId="{D6213EB9-FE86-4732-B3DB-8B77F68E88A1}" sibTransId="{B2F1B320-A57E-4D4B-A93B-366872FBB694}"/>
    <dgm:cxn modelId="{0106941A-1262-4213-B355-FD1E3D43EB38}" srcId="{497933AE-7F40-48FB-B7BD-F8D77F3D16E3}" destId="{E8687667-FF46-4681-BC13-3168164E651F}" srcOrd="0" destOrd="0" parTransId="{82D33797-0CC4-4092-8B48-711CED342E60}" sibTransId="{8BC1FD85-32EF-4581-BEFE-AA604CC9E5A6}"/>
    <dgm:cxn modelId="{B4EDDCA3-6EE2-4D50-BEAE-CE0BFB3A33DE}" srcId="{28B440FE-3FEB-4411-8C48-7A4D0739E235}" destId="{497933AE-7F40-48FB-B7BD-F8D77F3D16E3}" srcOrd="1" destOrd="0" parTransId="{A35EFE01-FB86-47CE-BD5A-7B57191FC796}" sibTransId="{D16058D9-2B4D-4915-95C9-02DC97B8B03B}"/>
    <dgm:cxn modelId="{A6936A20-71E2-45A7-8C20-440CC95A9E67}" type="presOf" srcId="{28B440FE-3FEB-4411-8C48-7A4D0739E235}" destId="{EAC06E1F-E838-4829-8C2C-F920766D0672}" srcOrd="0" destOrd="0" presId="urn:microsoft.com/office/officeart/2005/8/layout/chevron2"/>
    <dgm:cxn modelId="{A3F18EEF-3B52-475B-8CE0-EB5BA248CEBD}" type="presParOf" srcId="{EAC06E1F-E838-4829-8C2C-F920766D0672}" destId="{BA80E78E-8AD8-4709-9807-2F80B83BF381}" srcOrd="0" destOrd="0" presId="urn:microsoft.com/office/officeart/2005/8/layout/chevron2"/>
    <dgm:cxn modelId="{B997F25C-8A6F-400E-ABFB-0BEB6424B903}" type="presParOf" srcId="{BA80E78E-8AD8-4709-9807-2F80B83BF381}" destId="{E0B3C557-3502-477D-B46E-261FC4584DD5}" srcOrd="0" destOrd="0" presId="urn:microsoft.com/office/officeart/2005/8/layout/chevron2"/>
    <dgm:cxn modelId="{94AB3266-7849-4F40-8F18-B811684C6971}" type="presParOf" srcId="{BA80E78E-8AD8-4709-9807-2F80B83BF381}" destId="{8229211F-BF2C-4B9B-84CB-F3D44B0A81B7}" srcOrd="1" destOrd="0" presId="urn:microsoft.com/office/officeart/2005/8/layout/chevron2"/>
    <dgm:cxn modelId="{E7B187E8-B5ED-492B-8006-32B47023724A}" type="presParOf" srcId="{EAC06E1F-E838-4829-8C2C-F920766D0672}" destId="{E6737D92-72A6-4DB6-91C3-C23FB0F28820}" srcOrd="1" destOrd="0" presId="urn:microsoft.com/office/officeart/2005/8/layout/chevron2"/>
    <dgm:cxn modelId="{CFE13B0E-84C2-40E6-A572-5CEAE62820AF}" type="presParOf" srcId="{EAC06E1F-E838-4829-8C2C-F920766D0672}" destId="{CA5C30E9-F5D6-4422-B295-CBC58895856F}" srcOrd="2" destOrd="0" presId="urn:microsoft.com/office/officeart/2005/8/layout/chevron2"/>
    <dgm:cxn modelId="{025CAE96-43C0-4876-88F8-2890FB37B1A6}" type="presParOf" srcId="{CA5C30E9-F5D6-4422-B295-CBC58895856F}" destId="{A53331AB-BE2C-47B4-ABEB-7B72871AEDC3}" srcOrd="0" destOrd="0" presId="urn:microsoft.com/office/officeart/2005/8/layout/chevron2"/>
    <dgm:cxn modelId="{07BFE8AD-CB53-43DC-B434-699F77FB3837}" type="presParOf" srcId="{CA5C30E9-F5D6-4422-B295-CBC58895856F}" destId="{9CCB28EB-106E-4987-8A92-9411FEA8D563}" srcOrd="1" destOrd="0" presId="urn:microsoft.com/office/officeart/2005/8/layout/chevron2"/>
    <dgm:cxn modelId="{789D3AEF-6AF7-46A4-80C7-E18BBC948795}" type="presParOf" srcId="{EAC06E1F-E838-4829-8C2C-F920766D0672}" destId="{F74AE776-0591-49E3-A9D8-3DDD8860E23E}" srcOrd="3" destOrd="0" presId="urn:microsoft.com/office/officeart/2005/8/layout/chevron2"/>
    <dgm:cxn modelId="{3A86D2BF-CC2A-49AD-A917-62DEDE5668C1}" type="presParOf" srcId="{EAC06E1F-E838-4829-8C2C-F920766D0672}" destId="{188D8D32-0397-4BA4-92B8-C374E28C0C33}" srcOrd="4" destOrd="0" presId="urn:microsoft.com/office/officeart/2005/8/layout/chevron2"/>
    <dgm:cxn modelId="{02A61DD2-E586-4FB9-BD54-4C35E3508C8B}" type="presParOf" srcId="{188D8D32-0397-4BA4-92B8-C374E28C0C33}" destId="{389BDE70-3E8C-4EF2-9F08-C37AC77A4089}" srcOrd="0" destOrd="0" presId="urn:microsoft.com/office/officeart/2005/8/layout/chevron2"/>
    <dgm:cxn modelId="{4FCE3B59-FAAF-45CB-BDED-C94C816EF937}" type="presParOf" srcId="{188D8D32-0397-4BA4-92B8-C374E28C0C33}" destId="{44BA3321-9839-4E17-BC69-2BDCF6D24D67}" srcOrd="1" destOrd="0" presId="urn:microsoft.com/office/officeart/2005/8/layout/chevron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855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621898" y="0"/>
            <a:ext cx="4300855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D2D3D-E273-4B25-AEF2-F4F8D1D38DF3}" type="datetimeFigureOut">
              <a:rPr lang="fr-FR" smtClean="0"/>
              <a:t>22/07/2024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0855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621898" y="6456612"/>
            <a:ext cx="4300855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AC5703-F208-43DB-A3B3-4B330A7A2EFB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AD1D-A459-4EE1-8B3E-867A2ECFFDB1}" type="datetimeFigureOut">
              <a:rPr lang="fr-FR" smtClean="0"/>
              <a:pPr/>
              <a:t>22/07/2024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91314-1282-4EDF-8F43-4EC999C7B17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AD1D-A459-4EE1-8B3E-867A2ECFFDB1}" type="datetimeFigureOut">
              <a:rPr lang="fr-FR" smtClean="0"/>
              <a:pPr/>
              <a:t>22/07/2024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91314-1282-4EDF-8F43-4EC999C7B17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AD1D-A459-4EE1-8B3E-867A2ECFFDB1}" type="datetimeFigureOut">
              <a:rPr lang="fr-FR" smtClean="0"/>
              <a:pPr/>
              <a:t>22/07/2024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91314-1282-4EDF-8F43-4EC999C7B17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AD1D-A459-4EE1-8B3E-867A2ECFFDB1}" type="datetimeFigureOut">
              <a:rPr lang="fr-FR" smtClean="0"/>
              <a:pPr/>
              <a:t>22/07/2024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91314-1282-4EDF-8F43-4EC999C7B17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AD1D-A459-4EE1-8B3E-867A2ECFFDB1}" type="datetimeFigureOut">
              <a:rPr lang="fr-FR" smtClean="0"/>
              <a:pPr/>
              <a:t>22/07/2024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91314-1282-4EDF-8F43-4EC999C7B17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AD1D-A459-4EE1-8B3E-867A2ECFFDB1}" type="datetimeFigureOut">
              <a:rPr lang="fr-FR" smtClean="0"/>
              <a:pPr/>
              <a:t>22/07/2024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91314-1282-4EDF-8F43-4EC999C7B17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AD1D-A459-4EE1-8B3E-867A2ECFFDB1}" type="datetimeFigureOut">
              <a:rPr lang="fr-FR" smtClean="0"/>
              <a:pPr/>
              <a:t>22/07/2024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91314-1282-4EDF-8F43-4EC999C7B17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AD1D-A459-4EE1-8B3E-867A2ECFFDB1}" type="datetimeFigureOut">
              <a:rPr lang="fr-FR" smtClean="0"/>
              <a:pPr/>
              <a:t>22/07/2024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91314-1282-4EDF-8F43-4EC999C7B17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AD1D-A459-4EE1-8B3E-867A2ECFFDB1}" type="datetimeFigureOut">
              <a:rPr lang="fr-FR" smtClean="0"/>
              <a:pPr/>
              <a:t>22/07/2024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6991314-1282-4EDF-8F43-4EC999C7B17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AD1D-A459-4EE1-8B3E-867A2ECFFDB1}" type="datetimeFigureOut">
              <a:rPr lang="fr-FR" smtClean="0"/>
              <a:pPr/>
              <a:t>22/07/2024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91314-1282-4EDF-8F43-4EC999C7B17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AD1D-A459-4EE1-8B3E-867A2ECFFDB1}" type="datetimeFigureOut">
              <a:rPr lang="fr-FR" smtClean="0"/>
              <a:pPr/>
              <a:t>22/07/2024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91314-1282-4EDF-8F43-4EC999C7B17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E80AD1D-A459-4EE1-8B3E-867A2ECFFDB1}" type="datetimeFigureOut">
              <a:rPr lang="fr-FR" smtClean="0"/>
              <a:pPr/>
              <a:t>22/07/2024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6991314-1282-4EDF-8F43-4EC999C7B17E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ETATS DEPRESSIFS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Dr. </a:t>
            </a:r>
            <a:r>
              <a:rPr lang="fr-FR" dirty="0" err="1" smtClean="0"/>
              <a:t>Guennoun</a:t>
            </a:r>
            <a:r>
              <a:rPr lang="fr-FR" dirty="0" smtClean="0"/>
              <a:t> </a:t>
            </a:r>
            <a:r>
              <a:rPr lang="fr-FR" dirty="0" err="1" smtClean="0"/>
              <a:t>Radjâa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b="1" u="sng" dirty="0" smtClean="0"/>
              <a:t>:Définition 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Ce </a:t>
            </a:r>
            <a:r>
              <a:rPr lang="fr-FR" dirty="0"/>
              <a:t>sont des états caractérisées par le développement d’une </a:t>
            </a:r>
            <a:r>
              <a:rPr lang="fr-FR" b="1" dirty="0"/>
              <a:t>tristesse profonde </a:t>
            </a:r>
            <a:r>
              <a:rPr lang="fr-FR" dirty="0"/>
              <a:t>et durable, </a:t>
            </a:r>
            <a:endParaRPr lang="fr-FR" dirty="0" smtClean="0"/>
          </a:p>
          <a:p>
            <a:r>
              <a:rPr lang="fr-FR" dirty="0" smtClean="0"/>
              <a:t>d’un </a:t>
            </a:r>
            <a:r>
              <a:rPr lang="fr-FR" b="1" dirty="0"/>
              <a:t>ralentissement psychomoteur </a:t>
            </a:r>
            <a:r>
              <a:rPr lang="fr-FR" dirty="0" smtClean="0"/>
              <a:t>aux quels s’associent:</a:t>
            </a:r>
          </a:p>
          <a:p>
            <a:r>
              <a:rPr lang="fr-FR" dirty="0" smtClean="0"/>
              <a:t> </a:t>
            </a:r>
            <a:r>
              <a:rPr lang="fr-FR" dirty="0"/>
              <a:t>des </a:t>
            </a:r>
            <a:r>
              <a:rPr lang="fr-FR" b="1" dirty="0"/>
              <a:t>troubles instinctuels </a:t>
            </a:r>
            <a:r>
              <a:rPr lang="fr-FR" dirty="0"/>
              <a:t>(insomnie, anorexie, troubles sexuels) et des </a:t>
            </a:r>
            <a:r>
              <a:rPr lang="fr-FR" b="1" dirty="0"/>
              <a:t>troubles neurovégétatifs </a:t>
            </a:r>
            <a:r>
              <a:rPr lang="fr-FR" dirty="0"/>
              <a:t>(constipation, bouche sèche….).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              Clinique </a:t>
            </a: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1935480"/>
          <a:ext cx="822960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0B3C557-3502-477D-B46E-261FC4584D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E0B3C557-3502-477D-B46E-261FC4584D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229211F-BF2C-4B9B-84CB-F3D44B0A81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8229211F-BF2C-4B9B-84CB-F3D44B0A81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3331AB-BE2C-47B4-ABEB-7B72871AED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A53331AB-BE2C-47B4-ABEB-7B72871AED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CCB28EB-106E-4987-8A92-9411FEA8D5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9CCB28EB-106E-4987-8A92-9411FEA8D5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89BDE70-3E8C-4EF2-9F08-C37AC77A40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389BDE70-3E8C-4EF2-9F08-C37AC77A40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4BA3321-9839-4E17-BC69-2BDCF6D24D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44BA3321-9839-4E17-BC69-2BDCF6D24D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        Clinique (2)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u="sng" dirty="0" smtClean="0"/>
              <a:t>Tristesse morbide</a:t>
            </a:r>
            <a:endParaRPr lang="fr-FR" dirty="0" smtClean="0"/>
          </a:p>
          <a:p>
            <a:pPr lvl="0"/>
            <a:r>
              <a:rPr lang="fr-FR" dirty="0" smtClean="0"/>
              <a:t>Une tristesse et un vécu pessimiste envahissent toute la vie du patient. « la douleur morale » </a:t>
            </a:r>
          </a:p>
          <a:p>
            <a:endParaRPr lang="fr-FR" dirty="0" smtClean="0"/>
          </a:p>
          <a:p>
            <a:pPr lvl="0"/>
            <a:r>
              <a:rPr lang="fr-FR" dirty="0" smtClean="0"/>
              <a:t>Une perte d’intérêts  ; un sentiment d’insatisfaction, d’autodépréciation et de dévalorisation ;</a:t>
            </a:r>
          </a:p>
          <a:p>
            <a:pPr lvl="0">
              <a:buNone/>
            </a:pPr>
            <a:endParaRPr lang="fr-FR" dirty="0" smtClean="0"/>
          </a:p>
          <a:p>
            <a:pPr lvl="0"/>
            <a:r>
              <a:rPr lang="fr-FR" dirty="0" smtClean="0"/>
              <a:t>Idéations suicidaires </a:t>
            </a:r>
          </a:p>
          <a:p>
            <a:endParaRPr lang="fr-FR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       Clinique (3)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u="sng" dirty="0"/>
              <a:t>Ralentissement psychomoteur</a:t>
            </a:r>
            <a:endParaRPr lang="fr-FR" dirty="0"/>
          </a:p>
          <a:p>
            <a:pPr lvl="0"/>
            <a:r>
              <a:rPr lang="fr-FR" dirty="0" smtClean="0"/>
              <a:t> </a:t>
            </a:r>
            <a:r>
              <a:rPr lang="fr-FR" dirty="0"/>
              <a:t>une asthénie générale </a:t>
            </a:r>
            <a:r>
              <a:rPr lang="fr-FR" dirty="0" smtClean="0"/>
              <a:t>: </a:t>
            </a:r>
            <a:r>
              <a:rPr lang="fr-FR" dirty="0"/>
              <a:t>dés le matin et qui s’aggrave tout au long de la journée </a:t>
            </a:r>
            <a:r>
              <a:rPr lang="fr-FR" dirty="0" smtClean="0"/>
              <a:t>.</a:t>
            </a:r>
            <a:endParaRPr lang="fr-FR" dirty="0"/>
          </a:p>
          <a:p>
            <a:pPr lvl="0"/>
            <a:r>
              <a:rPr lang="fr-FR" dirty="0"/>
              <a:t>L’asthénie intellectuelle </a:t>
            </a:r>
            <a:r>
              <a:rPr lang="fr-FR" dirty="0" smtClean="0"/>
              <a:t>: un </a:t>
            </a:r>
            <a:r>
              <a:rPr lang="fr-FR" dirty="0"/>
              <a:t>ralentissement de la créativité, de l’idéation et de l'efficience intellectuelle ;</a:t>
            </a:r>
          </a:p>
          <a:p>
            <a:pPr lvl="0"/>
            <a:r>
              <a:rPr lang="fr-FR" dirty="0"/>
              <a:t>Dans les formes graves : le malade est immobile et silencieux, seules les plaintes et les gémissements sont exprimés </a:t>
            </a:r>
            <a:r>
              <a:rPr lang="fr-FR" dirty="0" smtClean="0"/>
              <a:t>.</a:t>
            </a:r>
            <a:endParaRPr lang="fr-FR" dirty="0"/>
          </a:p>
          <a:p>
            <a:pPr lvl="0"/>
            <a:r>
              <a:rPr lang="fr-FR" dirty="0"/>
              <a:t>L’anxiété peut provoquer une </a:t>
            </a:r>
            <a:r>
              <a:rPr lang="fr-FR" dirty="0" smtClean="0"/>
              <a:t>agitation .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        Clinique (4)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u="sng" dirty="0"/>
              <a:t>Troubles instinctuels</a:t>
            </a:r>
            <a:endParaRPr lang="fr-FR" dirty="0"/>
          </a:p>
          <a:p>
            <a:pPr lvl="0"/>
            <a:r>
              <a:rPr lang="fr-FR" b="1" dirty="0"/>
              <a:t>Le sommeil :</a:t>
            </a:r>
            <a:r>
              <a:rPr lang="fr-FR" dirty="0"/>
              <a:t> il est toujours perturbé :</a:t>
            </a:r>
          </a:p>
          <a:p>
            <a:pPr lvl="0"/>
            <a:r>
              <a:rPr lang="fr-FR" dirty="0" smtClean="0"/>
              <a:t>  </a:t>
            </a:r>
            <a:r>
              <a:rPr lang="fr-FR" dirty="0"/>
              <a:t>une insomnie d’endormissement ;</a:t>
            </a:r>
          </a:p>
          <a:p>
            <a:pPr lvl="0"/>
            <a:r>
              <a:rPr lang="fr-FR" dirty="0" smtClean="0"/>
              <a:t> une insomnie matinale</a:t>
            </a:r>
            <a:endParaRPr lang="fr-FR" dirty="0"/>
          </a:p>
          <a:p>
            <a:pPr lvl="0"/>
            <a:r>
              <a:rPr lang="fr-FR" dirty="0" smtClean="0"/>
              <a:t>ou </a:t>
            </a:r>
            <a:r>
              <a:rPr lang="fr-FR" dirty="0"/>
              <a:t>paradoxalement d’une hypersomnie refuge, </a:t>
            </a:r>
          </a:p>
          <a:p>
            <a:pPr lvl="0"/>
            <a:r>
              <a:rPr lang="fr-FR" b="1" dirty="0"/>
              <a:t>L’appétit :</a:t>
            </a:r>
            <a:r>
              <a:rPr lang="fr-FR" dirty="0"/>
              <a:t> l’anorexie est constante, aggravée par l’asthénie et la perte </a:t>
            </a:r>
            <a:r>
              <a:rPr lang="fr-FR" dirty="0" smtClean="0"/>
              <a:t>du </a:t>
            </a:r>
            <a:r>
              <a:rPr lang="fr-FR" dirty="0"/>
              <a:t>désir de </a:t>
            </a:r>
            <a:r>
              <a:rPr lang="fr-FR" dirty="0" smtClean="0"/>
              <a:t>vivre, rarement une polyphagie</a:t>
            </a:r>
            <a:endParaRPr lang="fr-FR" dirty="0"/>
          </a:p>
          <a:p>
            <a:pPr lvl="0"/>
            <a:r>
              <a:rPr lang="fr-FR" b="1" dirty="0"/>
              <a:t>Sexualité :</a:t>
            </a:r>
            <a:r>
              <a:rPr lang="fr-FR" dirty="0"/>
              <a:t> </a:t>
            </a:r>
            <a:r>
              <a:rPr lang="fr-FR" dirty="0" smtClean="0"/>
              <a:t>baisse ou absence du désir sexuel </a:t>
            </a:r>
            <a:endParaRPr lang="fr-FR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u="sng" dirty="0" smtClean="0"/>
              <a:t>Les troubles associés :</a:t>
            </a:r>
            <a:endParaRPr lang="fr-FR" dirty="0" smtClean="0"/>
          </a:p>
          <a:p>
            <a:pPr lvl="0"/>
            <a:r>
              <a:rPr lang="fr-FR" b="1" dirty="0" smtClean="0"/>
              <a:t>Les troubles neurovégétatifs :</a:t>
            </a:r>
            <a:r>
              <a:rPr lang="fr-FR" dirty="0" smtClean="0"/>
              <a:t> sécheresse de la bouche, ralentissement du péristaltisme, hypotension ;</a:t>
            </a:r>
          </a:p>
          <a:p>
            <a:pPr lvl="0"/>
            <a:r>
              <a:rPr lang="fr-FR" b="1" dirty="0" smtClean="0"/>
              <a:t>L’anxiété :</a:t>
            </a:r>
            <a:r>
              <a:rPr lang="fr-FR" dirty="0" smtClean="0"/>
              <a:t> son intensité est capitale pour apprécier les risques suicidaires avec lesquels elle est corrélée. </a:t>
            </a:r>
          </a:p>
          <a:p>
            <a:r>
              <a:rPr lang="fr-FR" b="1" dirty="0" smtClean="0"/>
              <a:t>Les troubles du caractère :</a:t>
            </a:r>
            <a:r>
              <a:rPr lang="fr-FR" dirty="0" smtClean="0"/>
              <a:t> hostilité, revendications,  intolérance et impulsivité </a:t>
            </a:r>
            <a:endParaRPr lang="fr-FR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/>
          <a:lstStyle/>
          <a:p>
            <a:pPr algn="ctr"/>
            <a:r>
              <a:rPr lang="fr-FR" dirty="0" smtClean="0"/>
              <a:t>Clinique 5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824426"/>
          </a:xfrm>
        </p:spPr>
        <p:txBody>
          <a:bodyPr>
            <a:normAutofit fontScale="92500"/>
          </a:bodyPr>
          <a:lstStyle/>
          <a:p>
            <a:r>
              <a:rPr lang="fr-FR" sz="3000" b="1" u="sng" dirty="0" smtClean="0"/>
              <a:t>Critères DSM 5 : </a:t>
            </a:r>
            <a:r>
              <a:rPr lang="fr-FR" sz="2800" dirty="0" smtClean="0"/>
              <a:t>Les troubles dépressifs comportent le trouble disruptif avec </a:t>
            </a:r>
            <a:r>
              <a:rPr lang="fr-FR" sz="2800" dirty="0" err="1" smtClean="0"/>
              <a:t>dysrégulation</a:t>
            </a:r>
            <a:r>
              <a:rPr lang="fr-FR" sz="2800" dirty="0" smtClean="0"/>
              <a:t> émotionnelle,</a:t>
            </a:r>
          </a:p>
          <a:p>
            <a:r>
              <a:rPr lang="fr-FR" sz="2800" dirty="0" smtClean="0"/>
              <a:t>le trouble dépressif caractérisé (incluant l’épisode dépressif caractérisé),</a:t>
            </a:r>
          </a:p>
          <a:p>
            <a:r>
              <a:rPr lang="fr-FR" sz="2800" dirty="0" smtClean="0"/>
              <a:t>le trouble dépressif persistant (dysthymie), le trouble dysphorique prémenstruel,</a:t>
            </a:r>
          </a:p>
          <a:p>
            <a:r>
              <a:rPr lang="fr-FR" sz="2800" dirty="0" smtClean="0"/>
              <a:t>Le trouble dépressif induit par une substance/un médicament, </a:t>
            </a:r>
          </a:p>
          <a:p>
            <a:r>
              <a:rPr lang="fr-FR" sz="2800" dirty="0" smtClean="0"/>
              <a:t>le trouble dépressif dû à une autre affection médicale,  </a:t>
            </a:r>
          </a:p>
          <a:p>
            <a:r>
              <a:rPr lang="fr-FR" sz="2800" dirty="0" smtClean="0"/>
              <a:t>et le trouble dépressif non spécifié.</a:t>
            </a:r>
            <a:endParaRPr lang="fr-FR" sz="3000" b="1" u="sng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28604"/>
            <a:ext cx="8229600" cy="78581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Clinique 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967302"/>
          </a:xfrm>
        </p:spPr>
        <p:txBody>
          <a:bodyPr>
            <a:normAutofit fontScale="92500" lnSpcReduction="10000"/>
          </a:bodyPr>
          <a:lstStyle/>
          <a:p>
            <a:r>
              <a:rPr lang="fr-FR" b="1" dirty="0" err="1" smtClean="0"/>
              <a:t>Criteres</a:t>
            </a:r>
            <a:r>
              <a:rPr lang="fr-FR" b="1" dirty="0" smtClean="0"/>
              <a:t> Trouble dépressif caractérisé </a:t>
            </a:r>
          </a:p>
          <a:p>
            <a:r>
              <a:rPr lang="fr-FR" dirty="0" smtClean="0"/>
              <a:t>A. Au moins cinq des symptômes suivants sont présents pendant une même période d’une durée de 2 semaines et représentent un changement par rapport au fonctionnement antérieur ; au moins un des symptômes est soit (1) une humeur dépressive, soit (2) une perte d’ intérêt ou de plaisir..</a:t>
            </a:r>
          </a:p>
          <a:p>
            <a:pPr>
              <a:buNone/>
            </a:pPr>
            <a:r>
              <a:rPr lang="fr-FR" dirty="0" smtClean="0"/>
              <a:t>1. Humeur dépressive présente quasiment toute la journée, presque tous les jours, signalée par la personne  ou observée par les autres  </a:t>
            </a:r>
          </a:p>
          <a:p>
            <a:pPr>
              <a:buNone/>
            </a:pPr>
            <a:r>
              <a:rPr lang="fr-FR" dirty="0" smtClean="0"/>
              <a:t>2. Diminution marquée de l’ intérêt ou du plaisir pour toutes les activités.</a:t>
            </a:r>
          </a:p>
          <a:p>
            <a:pPr>
              <a:buNone/>
            </a:pPr>
            <a:r>
              <a:rPr lang="fr-FR" dirty="0" smtClean="0"/>
              <a:t>3. Perte ou gain de poids significatif en l’absence de régime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367458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816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4. Insomnie ou hypersomnie .</a:t>
            </a:r>
          </a:p>
          <a:p>
            <a:pPr>
              <a:buNone/>
            </a:pPr>
            <a:r>
              <a:rPr lang="fr-FR" dirty="0" smtClean="0"/>
              <a:t>5. Agitation ou ralentissement psychomoteur .</a:t>
            </a:r>
          </a:p>
          <a:p>
            <a:pPr>
              <a:buNone/>
            </a:pPr>
            <a:r>
              <a:rPr lang="fr-FR" dirty="0" smtClean="0"/>
              <a:t>6. Fatigue ou perte d’ énergie presque tous les jours.</a:t>
            </a:r>
          </a:p>
          <a:p>
            <a:pPr>
              <a:buNone/>
            </a:pPr>
            <a:r>
              <a:rPr lang="fr-FR" dirty="0" smtClean="0"/>
              <a:t>7. Sentiment de dévalorisation ou de culpabilité excessive ou inappropriée  .</a:t>
            </a:r>
          </a:p>
          <a:p>
            <a:pPr>
              <a:buNone/>
            </a:pPr>
            <a:r>
              <a:rPr lang="fr-FR" dirty="0" smtClean="0"/>
              <a:t>8. Diminution de l’aptitude à penser ou à se concentrer  </a:t>
            </a:r>
          </a:p>
          <a:p>
            <a:pPr>
              <a:buNone/>
            </a:pPr>
            <a:r>
              <a:rPr lang="fr-FR" dirty="0" smtClean="0"/>
              <a:t>9. Pensées de mort récurrentes , idées suicidaires récurrentes , tentative de suicide ou plan précis pour se suicider.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B. Les symptômes induisent une détresse cliniquement significative ou une altération du fonctionnement social, professionnel ou dans d’autres domaines importants.</a:t>
            </a:r>
          </a:p>
          <a:p>
            <a:r>
              <a:rPr lang="fr-FR" dirty="0" smtClean="0"/>
              <a:t>C. L’ épisode n’est pas imputable aux effets physiologiques d’une substance ou a une autre affection médicale.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   FORMES CLINIQUES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dirty="0" smtClean="0">
                <a:solidFill>
                  <a:srgbClr val="7030A0"/>
                </a:solidFill>
              </a:rPr>
              <a:t>I/Dépressions primaires</a:t>
            </a:r>
            <a:r>
              <a:rPr lang="fr-FR" b="1" dirty="0" smtClean="0"/>
              <a:t>:</a:t>
            </a:r>
            <a:r>
              <a:rPr lang="fr-FR" dirty="0" smtClean="0"/>
              <a:t> ce sont des maladies dépressives majeures ou mélancoliques (accès mélancolique). Il s’agit de dépressions </a:t>
            </a:r>
            <a:r>
              <a:rPr lang="fr-FR" b="1" dirty="0" smtClean="0"/>
              <a:t>endogènes</a:t>
            </a:r>
            <a:r>
              <a:rPr lang="fr-FR" dirty="0" smtClean="0"/>
              <a:t> qui peuvent être de </a:t>
            </a:r>
            <a:r>
              <a:rPr lang="fr-FR" b="1" dirty="0" smtClean="0"/>
              <a:t>formes bipolaires </a:t>
            </a:r>
            <a:r>
              <a:rPr lang="fr-FR" dirty="0" smtClean="0"/>
              <a:t> ou des </a:t>
            </a:r>
            <a:r>
              <a:rPr lang="fr-FR" b="1" dirty="0" smtClean="0"/>
              <a:t>dépressions récurrentes . </a:t>
            </a:r>
          </a:p>
          <a:p>
            <a:pPr lvl="0"/>
            <a:r>
              <a:rPr lang="fr-FR" b="1" dirty="0" smtClean="0"/>
              <a:t>L’accès mélancolique :</a:t>
            </a:r>
            <a:r>
              <a:rPr lang="fr-FR" dirty="0" smtClean="0"/>
              <a:t> c’est la forme la plus complète et la plus grave des états dépressifs</a:t>
            </a:r>
          </a:p>
          <a:p>
            <a:endParaRPr lang="fr-FR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214446"/>
          </a:xfrm>
        </p:spPr>
        <p:txBody>
          <a:bodyPr/>
          <a:lstStyle/>
          <a:p>
            <a:r>
              <a:rPr lang="fr-FR" dirty="0" smtClean="0"/>
              <a:t>     FORMES CLINIQUES (2)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43050"/>
            <a:ext cx="8229600" cy="4857784"/>
          </a:xfrm>
        </p:spPr>
        <p:txBody>
          <a:bodyPr>
            <a:normAutofit fontScale="70000" lnSpcReduction="20000"/>
          </a:bodyPr>
          <a:lstStyle/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sz="3800" b="1" dirty="0" smtClean="0">
                <a:solidFill>
                  <a:srgbClr val="7030A0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II/Les formes secondaires :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fr-FR" sz="1400" dirty="0" smtClean="0"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sz="2800" b="1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Les dépressions névrotiques :</a:t>
            </a:r>
            <a:r>
              <a:rPr lang="fr-FR" sz="2800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  L’anxiété est généralement au premier plan ; les manifestations phobiques ou obsessionnelles sont souvent retrouvées 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fr-FR" sz="1400" dirty="0" smtClean="0"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sz="2800" b="1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Dépressions réactionnelles :</a:t>
            </a:r>
            <a:r>
              <a:rPr lang="fr-FR" sz="2800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 la dépression est, ici, une réaction à un évènement : tels un deuil, un décès, une perte, un conflit familial ou affectif, un échec scolaire ou professionnel.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fr-FR" sz="2800" dirty="0" smtClean="0">
              <a:latin typeface="Calibri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fr-FR" sz="1400" dirty="0" smtClean="0"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sz="2800" b="1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Etats dépressifs au cours des psychoses : </a:t>
            </a:r>
            <a:endParaRPr lang="fr-FR" sz="1400" dirty="0" smtClean="0"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2800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- Au cours des schizophrénies : la dépression peut survenir soit au début, soit après des remaniements </a:t>
            </a:r>
            <a:r>
              <a:rPr lang="fr-FR" sz="2800" dirty="0" err="1" smtClean="0">
                <a:latin typeface="Calibri" pitchFamily="34" charset="0"/>
                <a:ea typeface="Calibri" pitchFamily="34" charset="0"/>
                <a:cs typeface="Arial" pitchFamily="34" charset="0"/>
              </a:rPr>
              <a:t>psychodynamiques</a:t>
            </a:r>
            <a:r>
              <a:rPr lang="fr-FR" sz="2800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 dus à la perte de l’activité délirante, soit après les effets secondaires du traitement neuroleptique ;</a:t>
            </a:r>
            <a:endParaRPr lang="fr-FR" sz="1400" dirty="0" smtClean="0"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sz="2800" dirty="0" smtClean="0">
              <a:latin typeface="Calibri" pitchFamily="34" charset="0"/>
              <a:ea typeface="Calibri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2800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r>
              <a:rPr lang="fr-FR" sz="2800" b="1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Etats dépressifs ou symptomatiques au cours des maladies somatiques :</a:t>
            </a:r>
            <a:endParaRPr lang="fr-FR" sz="1400" dirty="0" smtClean="0"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2800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          - Maladies neurologiques : maladie de Parkinson, sclérose en plaques</a:t>
            </a:r>
            <a:endParaRPr lang="fr-FR" sz="1400" dirty="0" smtClean="0"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2800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          - Maladies endocriniennes : hypothyroïdie</a:t>
            </a:r>
            <a:endParaRPr lang="fr-FR" sz="1400" dirty="0" smtClean="0"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2800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          - Pharmacodépendance : Sevrage alcoolique, héroïne…</a:t>
            </a:r>
            <a:endParaRPr lang="fr-FR" sz="1400" dirty="0" smtClean="0"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2800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          - Autres : tuberculose, cancers</a:t>
            </a:r>
            <a:endParaRPr lang="fr-FR" sz="4000" dirty="0" smtClean="0">
              <a:latin typeface="Arial" pitchFamily="34" charset="0"/>
              <a:cs typeface="Arial" pitchFamily="34" charset="0"/>
            </a:endParaRP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fr-FR" b="1" dirty="0" smtClean="0">
                <a:solidFill>
                  <a:srgbClr val="002060"/>
                </a:solidFill>
              </a:rPr>
              <a:t>Neurobiologie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6000" dirty="0" smtClean="0"/>
              <a:t>Déficit ou une </a:t>
            </a:r>
            <a:r>
              <a:rPr lang="fr-FR" sz="6000" dirty="0" smtClean="0">
                <a:solidFill>
                  <a:srgbClr val="FF0000"/>
                </a:solidFill>
              </a:rPr>
              <a:t>baisse</a:t>
            </a:r>
            <a:r>
              <a:rPr lang="fr-FR" sz="6000" dirty="0" smtClean="0"/>
              <a:t> de la </a:t>
            </a:r>
            <a:r>
              <a:rPr lang="fr-FR" sz="6000" b="1" dirty="0" smtClean="0">
                <a:solidFill>
                  <a:srgbClr val="FF0000"/>
                </a:solidFill>
              </a:rPr>
              <a:t>sérotonine</a:t>
            </a:r>
            <a:r>
              <a:rPr lang="fr-FR" sz="6000" dirty="0" smtClean="0"/>
              <a:t> cérébrale.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xmlns="" val="376225483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   Prise en charge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dirty="0" smtClean="0"/>
              <a:t>L’hospitalisation :</a:t>
            </a:r>
            <a:r>
              <a:rPr lang="fr-FR" dirty="0" smtClean="0"/>
              <a:t> elle est impérative devant tout état dépressif majeur sévère et devant tous les états dépressifs comportant un risque suicidaire. </a:t>
            </a:r>
          </a:p>
          <a:p>
            <a:pPr lvl="0"/>
            <a:r>
              <a:rPr lang="fr-FR" b="1" dirty="0" smtClean="0"/>
              <a:t>Le traitement biologique :</a:t>
            </a:r>
            <a:r>
              <a:rPr lang="fr-FR" dirty="0" smtClean="0"/>
              <a:t> il doit prendre en compte trois paramètres : l’intensité de la symptomatologie, l’âge du patient et son état somatique.</a:t>
            </a:r>
          </a:p>
          <a:p>
            <a:r>
              <a:rPr lang="fr-FR" dirty="0" smtClean="0"/>
              <a:t> 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706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610244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fr-FR" b="1" dirty="0" smtClean="0"/>
              <a:t>La chimiothérapie antidépressive : </a:t>
            </a:r>
          </a:p>
          <a:p>
            <a:r>
              <a:rPr lang="fr-FR" b="1" dirty="0" err="1" smtClean="0"/>
              <a:t>Trycycliques</a:t>
            </a:r>
            <a:r>
              <a:rPr lang="fr-FR" b="1" dirty="0" smtClean="0"/>
              <a:t> :  </a:t>
            </a:r>
          </a:p>
          <a:p>
            <a:r>
              <a:rPr lang="fr-FR" dirty="0" err="1" smtClean="0"/>
              <a:t>Amitriptyline</a:t>
            </a:r>
            <a:r>
              <a:rPr lang="fr-FR" dirty="0" smtClean="0"/>
              <a:t> (</a:t>
            </a:r>
            <a:r>
              <a:rPr lang="fr-FR" dirty="0" err="1" smtClean="0"/>
              <a:t>Laroxyl</a:t>
            </a:r>
            <a:r>
              <a:rPr lang="fr-FR" dirty="0" smtClean="0"/>
              <a:t> ) </a:t>
            </a:r>
            <a:r>
              <a:rPr lang="fr-FR" dirty="0" err="1" smtClean="0"/>
              <a:t>cp</a:t>
            </a:r>
            <a:r>
              <a:rPr lang="fr-FR" dirty="0" smtClean="0"/>
              <a:t>.25mg, 50mg, solution à 4 %, la dose moyenne se situe entre 100 et 200 mg/j.</a:t>
            </a:r>
          </a:p>
          <a:p>
            <a:pPr lvl="0"/>
            <a:r>
              <a:rPr lang="fr-FR" dirty="0" err="1" smtClean="0"/>
              <a:t>Clomipramine</a:t>
            </a:r>
            <a:r>
              <a:rPr lang="fr-FR" dirty="0" smtClean="0"/>
              <a:t> (</a:t>
            </a:r>
            <a:r>
              <a:rPr lang="fr-FR" dirty="0" err="1" smtClean="0"/>
              <a:t>Anafranil</a:t>
            </a:r>
            <a:r>
              <a:rPr lang="fr-FR" dirty="0" smtClean="0"/>
              <a:t>) </a:t>
            </a:r>
            <a:r>
              <a:rPr lang="fr-FR" dirty="0" err="1" smtClean="0"/>
              <a:t>cp</a:t>
            </a:r>
            <a:r>
              <a:rPr lang="fr-FR" dirty="0" smtClean="0"/>
              <a:t>. 10, 25 et 75mg, </a:t>
            </a:r>
            <a:r>
              <a:rPr lang="fr-FR" dirty="0" err="1" smtClean="0"/>
              <a:t>amp</a:t>
            </a:r>
            <a:r>
              <a:rPr lang="fr-FR" dirty="0" smtClean="0"/>
              <a:t>. 25 mg, dose moyenne de 150 à 225 mg/j</a:t>
            </a:r>
          </a:p>
          <a:p>
            <a:pPr lvl="0"/>
            <a:r>
              <a:rPr lang="fr-FR" b="1" dirty="0" err="1" smtClean="0"/>
              <a:t>Tetracycliques</a:t>
            </a:r>
            <a:r>
              <a:rPr lang="fr-FR" b="1" dirty="0" smtClean="0"/>
              <a:t> </a:t>
            </a:r>
            <a:r>
              <a:rPr lang="fr-FR" dirty="0" smtClean="0"/>
              <a:t>  </a:t>
            </a:r>
            <a:r>
              <a:rPr lang="fr-FR" dirty="0" err="1" smtClean="0"/>
              <a:t>Miansérine</a:t>
            </a:r>
            <a:r>
              <a:rPr lang="fr-FR" dirty="0" smtClean="0"/>
              <a:t> (</a:t>
            </a:r>
            <a:r>
              <a:rPr lang="fr-FR" dirty="0" err="1" smtClean="0"/>
              <a:t>Athymil</a:t>
            </a:r>
            <a:r>
              <a:rPr lang="fr-FR" dirty="0" smtClean="0"/>
              <a:t>) </a:t>
            </a:r>
            <a:r>
              <a:rPr lang="fr-FR" dirty="0" err="1" smtClean="0"/>
              <a:t>cp</a:t>
            </a:r>
            <a:r>
              <a:rPr lang="fr-FR" dirty="0" smtClean="0"/>
              <a:t>.10 et 30mg dose moyenne 30 à 60mg/j.(</a:t>
            </a:r>
            <a:r>
              <a:rPr lang="fr-FR" dirty="0" err="1" smtClean="0"/>
              <a:t>depression</a:t>
            </a:r>
            <a:r>
              <a:rPr lang="fr-FR" dirty="0" smtClean="0"/>
              <a:t> anxieuse chez le sujet </a:t>
            </a:r>
            <a:r>
              <a:rPr lang="fr-FR" dirty="0" err="1" smtClean="0"/>
              <a:t>agé</a:t>
            </a:r>
            <a:r>
              <a:rPr lang="fr-FR" dirty="0" smtClean="0"/>
              <a:t> )</a:t>
            </a:r>
          </a:p>
          <a:p>
            <a:pPr lvl="0"/>
            <a:r>
              <a:rPr lang="fr-FR" b="1" dirty="0" smtClean="0"/>
              <a:t>ISRS</a:t>
            </a:r>
            <a:r>
              <a:rPr lang="fr-FR" dirty="0" smtClean="0"/>
              <a:t> :</a:t>
            </a:r>
          </a:p>
          <a:p>
            <a:pPr lvl="0"/>
            <a:r>
              <a:rPr lang="fr-FR" dirty="0" smtClean="0"/>
              <a:t> </a:t>
            </a:r>
            <a:r>
              <a:rPr lang="fr-FR" dirty="0" err="1" smtClean="0"/>
              <a:t>Fluoxétine</a:t>
            </a:r>
            <a:r>
              <a:rPr lang="fr-FR" dirty="0" smtClean="0"/>
              <a:t> (Prozac) </a:t>
            </a:r>
            <a:r>
              <a:rPr lang="fr-FR" dirty="0" err="1" smtClean="0"/>
              <a:t>cp</a:t>
            </a:r>
            <a:r>
              <a:rPr lang="fr-FR" dirty="0" smtClean="0"/>
              <a:t>.20mg, dose moyenne 20à 40mg/j.</a:t>
            </a:r>
          </a:p>
          <a:p>
            <a:pPr lvl="0"/>
            <a:r>
              <a:rPr lang="fr-FR" dirty="0" err="1" smtClean="0"/>
              <a:t>Sertraline</a:t>
            </a:r>
            <a:r>
              <a:rPr lang="fr-FR" dirty="0" smtClean="0"/>
              <a:t> (</a:t>
            </a:r>
            <a:r>
              <a:rPr lang="fr-FR" dirty="0" err="1" smtClean="0"/>
              <a:t>Zoloft</a:t>
            </a:r>
            <a:r>
              <a:rPr lang="fr-FR" dirty="0" smtClean="0"/>
              <a:t>) </a:t>
            </a:r>
            <a:r>
              <a:rPr lang="fr-FR" dirty="0" err="1" smtClean="0"/>
              <a:t>cp</a:t>
            </a:r>
            <a:r>
              <a:rPr lang="fr-FR" dirty="0" smtClean="0"/>
              <a:t>.50mg, dose moyenne 100mg/j .</a:t>
            </a:r>
          </a:p>
          <a:p>
            <a:r>
              <a:rPr lang="fr-FR" dirty="0" err="1" smtClean="0"/>
              <a:t>Paroxétine</a:t>
            </a:r>
            <a:r>
              <a:rPr lang="fr-FR" dirty="0" smtClean="0"/>
              <a:t> (</a:t>
            </a:r>
            <a:r>
              <a:rPr lang="fr-FR" dirty="0" err="1" smtClean="0"/>
              <a:t>Déroxat</a:t>
            </a:r>
            <a:r>
              <a:rPr lang="fr-FR" dirty="0" smtClean="0"/>
              <a:t>) </a:t>
            </a:r>
            <a:r>
              <a:rPr lang="fr-FR" dirty="0" err="1" smtClean="0"/>
              <a:t>cp</a:t>
            </a:r>
            <a:r>
              <a:rPr lang="fr-FR" dirty="0" smtClean="0"/>
              <a:t>.20mg, dose moyenne de 20 à 40mg/j.</a:t>
            </a:r>
            <a:r>
              <a:rPr lang="fr-FR" u="sng" dirty="0" smtClean="0">
                <a:solidFill>
                  <a:srgbClr val="7030A0"/>
                </a:solidFill>
              </a:rPr>
              <a:t> </a:t>
            </a:r>
          </a:p>
          <a:p>
            <a:r>
              <a:rPr lang="fr-FR" u="sng" dirty="0" smtClean="0">
                <a:solidFill>
                  <a:srgbClr val="7030A0"/>
                </a:solidFill>
              </a:rPr>
              <a:t> </a:t>
            </a:r>
            <a:r>
              <a:rPr lang="fr-FR" b="1" u="sng" dirty="0" smtClean="0"/>
              <a:t>Anxiolytiques :</a:t>
            </a:r>
            <a:endParaRPr lang="fr-FR" b="1" dirty="0" smtClean="0"/>
          </a:p>
          <a:p>
            <a:pPr lvl="0"/>
            <a:r>
              <a:rPr lang="fr-FR" dirty="0" smtClean="0"/>
              <a:t>Pour réduire l’anxiété et corriger l’insomnie.</a:t>
            </a:r>
          </a:p>
          <a:p>
            <a:pPr lvl="0"/>
            <a:r>
              <a:rPr lang="fr-FR" dirty="0" smtClean="0"/>
              <a:t>Durée de traitement 4 semaines au maximum.</a:t>
            </a:r>
          </a:p>
          <a:p>
            <a:r>
              <a:rPr lang="fr-FR" b="1" dirty="0" smtClean="0"/>
              <a:t>Psychothérapies :</a:t>
            </a:r>
            <a:r>
              <a:rPr lang="fr-FR" b="1" dirty="0" err="1" smtClean="0"/>
              <a:t>psychotherapie</a:t>
            </a:r>
            <a:r>
              <a:rPr lang="fr-FR" b="1" dirty="0" smtClean="0"/>
              <a:t> </a:t>
            </a:r>
            <a:r>
              <a:rPr lang="fr-FR" b="1" smtClean="0"/>
              <a:t>de soutien ,  </a:t>
            </a:r>
            <a:r>
              <a:rPr lang="fr-FR" b="1" dirty="0" smtClean="0"/>
              <a:t>TCC,  </a:t>
            </a:r>
            <a:r>
              <a:rPr lang="fr-FR" b="1" dirty="0" err="1" smtClean="0"/>
              <a:t>mindfulness</a:t>
            </a:r>
            <a:r>
              <a:rPr lang="fr-FR" b="1" dirty="0" smtClean="0"/>
              <a:t> ,</a:t>
            </a:r>
            <a:r>
              <a:rPr lang="fr-FR" b="1" dirty="0" err="1" smtClean="0"/>
              <a:t>psychotherapie</a:t>
            </a:r>
            <a:r>
              <a:rPr lang="fr-FR" b="1" dirty="0" smtClean="0"/>
              <a:t> de groupe …..</a:t>
            </a:r>
          </a:p>
          <a:p>
            <a:r>
              <a:rPr lang="fr-FR" b="1" dirty="0" err="1" smtClean="0"/>
              <a:t>Sismotherapie</a:t>
            </a:r>
            <a:r>
              <a:rPr lang="fr-FR" b="1" dirty="0" smtClean="0"/>
              <a:t> : pour les dépressions résistantes et en cas de contre indications à la chimiothérapie  .</a:t>
            </a:r>
          </a:p>
          <a:p>
            <a:r>
              <a:rPr lang="fr-FR" b="1" dirty="0" smtClean="0"/>
              <a:t>RTMS :pour les </a:t>
            </a:r>
            <a:r>
              <a:rPr lang="fr-FR" b="1" dirty="0" err="1" smtClean="0"/>
              <a:t>depressions</a:t>
            </a:r>
            <a:r>
              <a:rPr lang="fr-FR" b="1" dirty="0" smtClean="0"/>
              <a:t> chroniques .</a:t>
            </a:r>
          </a:p>
          <a:p>
            <a:pPr lvl="0"/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11" descr="medium_joie_de_viv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25" y="52388"/>
            <a:ext cx="9109075" cy="683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177</TotalTime>
  <Words>474</Words>
  <Application>Microsoft Office PowerPoint</Application>
  <PresentationFormat>Affichage à l'écran (4:3)</PresentationFormat>
  <Paragraphs>97</Paragraphs>
  <Slides>17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Débit</vt:lpstr>
      <vt:lpstr>ETATS DEPRESSIFS</vt:lpstr>
      <vt:lpstr>:Définition  </vt:lpstr>
      <vt:lpstr>                        Clinique </vt:lpstr>
      <vt:lpstr>                  Clinique (2)</vt:lpstr>
      <vt:lpstr>                 Clinique (3)</vt:lpstr>
      <vt:lpstr>                  Clinique (4)</vt:lpstr>
      <vt:lpstr>Diapositive 7</vt:lpstr>
      <vt:lpstr>Clinique 5 </vt:lpstr>
      <vt:lpstr>Clinique 6</vt:lpstr>
      <vt:lpstr>Diapositive 10</vt:lpstr>
      <vt:lpstr>Diapositive 11</vt:lpstr>
      <vt:lpstr>             FORMES CLINIQUES</vt:lpstr>
      <vt:lpstr>     FORMES CLINIQUES (2)</vt:lpstr>
      <vt:lpstr>Neurobiologie </vt:lpstr>
      <vt:lpstr>             Prise en charge</vt:lpstr>
      <vt:lpstr>Diapositive 16</vt:lpstr>
      <vt:lpstr>Diapositive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RCS</dc:creator>
  <cp:lastModifiedBy>acer</cp:lastModifiedBy>
  <cp:revision>19</cp:revision>
  <dcterms:created xsi:type="dcterms:W3CDTF">2017-09-08T19:29:48Z</dcterms:created>
  <dcterms:modified xsi:type="dcterms:W3CDTF">2024-07-22T15:16:01Z</dcterms:modified>
</cp:coreProperties>
</file>