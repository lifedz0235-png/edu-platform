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465" r:id="rId3"/>
    <p:sldId id="464" r:id="rId4"/>
    <p:sldId id="466" r:id="rId5"/>
    <p:sldId id="467" r:id="rId6"/>
    <p:sldId id="468" r:id="rId7"/>
    <p:sldId id="469" r:id="rId8"/>
    <p:sldId id="470" r:id="rId9"/>
    <p:sldId id="471" r:id="rId10"/>
    <p:sldId id="472" r:id="rId11"/>
    <p:sldId id="473" r:id="rId12"/>
    <p:sldId id="474" r:id="rId13"/>
    <p:sldId id="475" r:id="rId14"/>
    <p:sldId id="476" r:id="rId15"/>
    <p:sldId id="423" r:id="rId16"/>
    <p:sldId id="424" r:id="rId17"/>
    <p:sldId id="425" r:id="rId18"/>
    <p:sldId id="427" r:id="rId19"/>
    <p:sldId id="430" r:id="rId20"/>
    <p:sldId id="432" r:id="rId21"/>
    <p:sldId id="433" r:id="rId22"/>
    <p:sldId id="434" r:id="rId23"/>
    <p:sldId id="435" r:id="rId24"/>
    <p:sldId id="436" r:id="rId25"/>
    <p:sldId id="438" r:id="rId26"/>
    <p:sldId id="439" r:id="rId27"/>
    <p:sldId id="440" r:id="rId28"/>
    <p:sldId id="442" r:id="rId29"/>
    <p:sldId id="449" r:id="rId30"/>
    <p:sldId id="443" r:id="rId31"/>
    <p:sldId id="451" r:id="rId32"/>
    <p:sldId id="453" r:id="rId33"/>
    <p:sldId id="455" r:id="rId34"/>
    <p:sldId id="457" r:id="rId35"/>
    <p:sldId id="459" r:id="rId36"/>
    <p:sldId id="460" r:id="rId37"/>
    <p:sldId id="461" r:id="rId38"/>
    <p:sldId id="462" r:id="rId3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FB42F17-AE95-44AC-95B6-38D007280B4C}" type="datetimeFigureOut">
              <a:rPr lang="fr-FR" smtClean="0"/>
              <a:pPr/>
              <a:t>23/02/2021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81B71E5-0A62-4621-B7AD-4B69F5410F94}"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B42F17-AE95-44AC-95B6-38D007280B4C}" type="datetimeFigureOut">
              <a:rPr lang="fr-FR" smtClean="0"/>
              <a:pPr/>
              <a:t>23/02/2021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B71E5-0A62-4621-B7AD-4B69F5410F94}"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fontScale="90000"/>
          </a:bodyPr>
          <a:lstStyle/>
          <a:p>
            <a:r>
              <a:rPr lang="fr-FR" dirty="0" smtClean="0"/>
              <a:t/>
            </a:r>
            <a:br>
              <a:rPr lang="fr-FR" dirty="0" smtClean="0"/>
            </a:br>
            <a:r>
              <a:rPr lang="fr-FR" dirty="0" smtClean="0"/>
              <a:t>Cours et illustration QCM et QCS </a:t>
            </a:r>
            <a:br>
              <a:rPr lang="fr-FR" dirty="0" smtClean="0"/>
            </a:br>
            <a:r>
              <a:rPr lang="fr-FR" dirty="0" smtClean="0"/>
              <a:t/>
            </a:r>
            <a:br>
              <a:rPr lang="fr-FR" dirty="0" smtClean="0"/>
            </a:br>
            <a:r>
              <a:rPr lang="fr-FR" dirty="0" smtClean="0"/>
              <a:t>responsabilité médicale</a:t>
            </a:r>
            <a:br>
              <a:rPr lang="fr-FR" dirty="0" smtClean="0"/>
            </a:br>
            <a:endParaRPr lang="fr-FR" dirty="0"/>
          </a:p>
        </p:txBody>
      </p:sp>
      <p:sp>
        <p:nvSpPr>
          <p:cNvPr id="3" name="Sous-titre 2"/>
          <p:cNvSpPr>
            <a:spLocks noGrp="1"/>
          </p:cNvSpPr>
          <p:nvPr>
            <p:ph type="subTitle" idx="1"/>
          </p:nvPr>
        </p:nvSpPr>
        <p:spPr>
          <a:xfrm>
            <a:off x="1403648" y="4365104"/>
            <a:ext cx="6400800" cy="1752600"/>
          </a:xfrm>
        </p:spPr>
        <p:txBody>
          <a:bodyPr/>
          <a:lstStyle/>
          <a:p>
            <a:r>
              <a:rPr lang="fr-FR" dirty="0" smtClean="0"/>
              <a:t>Dr M.SOUAG</a:t>
            </a:r>
          </a:p>
          <a:p>
            <a:r>
              <a:rPr lang="fr-FR" dirty="0" smtClean="0"/>
              <a:t>Service de médecine légale</a:t>
            </a:r>
          </a:p>
          <a:p>
            <a:r>
              <a:rPr lang="fr-FR" dirty="0" smtClean="0"/>
              <a:t>CHU Oran</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RÃ©sultat de recherche d'images pour &quot;responsabilitÃ© mÃ©dicale en image&quot;"/>
          <p:cNvPicPr/>
          <p:nvPr/>
        </p:nvPicPr>
        <p:blipFill>
          <a:blip r:embed="rId2" cstate="print"/>
          <a:srcRect/>
          <a:stretch>
            <a:fillRect/>
          </a:stretch>
        </p:blipFill>
        <p:spPr bwMode="auto">
          <a:xfrm>
            <a:off x="611560" y="332656"/>
            <a:ext cx="7920880" cy="62646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764704"/>
            <a:ext cx="8229600" cy="1143000"/>
          </a:xfrm>
        </p:spPr>
        <p:txBody>
          <a:bodyPr/>
          <a:lstStyle/>
          <a:p>
            <a:r>
              <a:rPr lang="fr-FR" dirty="0" smtClean="0"/>
              <a:t>Responsabilité pénale</a:t>
            </a:r>
            <a:endParaRPr lang="fr-FR" dirty="0"/>
          </a:p>
        </p:txBody>
      </p:sp>
      <p:sp>
        <p:nvSpPr>
          <p:cNvPr id="3" name="Espace réservé du contenu 2"/>
          <p:cNvSpPr>
            <a:spLocks noGrp="1"/>
          </p:cNvSpPr>
          <p:nvPr>
            <p:ph idx="1"/>
          </p:nvPr>
        </p:nvSpPr>
        <p:spPr>
          <a:xfrm>
            <a:off x="467544" y="1916832"/>
            <a:ext cx="8229600" cy="4525963"/>
          </a:xfrm>
        </p:spPr>
        <p:txBody>
          <a:bodyPr>
            <a:normAutofit lnSpcReduction="10000"/>
          </a:bodyPr>
          <a:lstStyle/>
          <a:p>
            <a:pPr lvl="0"/>
            <a:r>
              <a:rPr lang="fr-FR" b="1" dirty="0" smtClean="0"/>
              <a:t>Différents types d’infractions : délits ou crimes.</a:t>
            </a:r>
          </a:p>
          <a:p>
            <a:pPr lvl="0">
              <a:buNone/>
            </a:pPr>
            <a:r>
              <a:rPr lang="fr-FR" b="1" dirty="0" smtClean="0"/>
              <a:t>- délit d’abstention fautive : éléments constitutifs : </a:t>
            </a:r>
          </a:p>
          <a:p>
            <a:pPr lvl="0"/>
            <a:r>
              <a:rPr lang="fr-FR" dirty="0" smtClean="0">
                <a:latin typeface="Times New Roman" pitchFamily="18" charset="0"/>
                <a:cs typeface="Times New Roman" pitchFamily="18" charset="0"/>
              </a:rPr>
              <a:t>Personne  en péril (personne vivante).</a:t>
            </a:r>
            <a:endParaRPr lang="fr-FR" dirty="0" smtClean="0"/>
          </a:p>
          <a:p>
            <a:pPr lvl="0"/>
            <a:r>
              <a:rPr lang="fr-FR" dirty="0" smtClean="0">
                <a:latin typeface="Times New Roman" pitchFamily="18" charset="0"/>
                <a:cs typeface="Times New Roman" pitchFamily="18" charset="0"/>
              </a:rPr>
              <a:t>Abstention volontaire par le médecin  de prêter assistance.</a:t>
            </a:r>
            <a:endParaRPr lang="fr-FR" dirty="0" smtClean="0"/>
          </a:p>
          <a:p>
            <a:pPr lvl="0"/>
            <a:r>
              <a:rPr lang="fr-FR" dirty="0" smtClean="0">
                <a:latin typeface="Times New Roman" pitchFamily="18" charset="0"/>
                <a:cs typeface="Times New Roman" pitchFamily="18" charset="0"/>
              </a:rPr>
              <a:t>Absence de risque pour le médecin et pour la personne en péril.</a:t>
            </a:r>
            <a:endParaRPr lang="fr-FR" b="1" dirty="0" smtClean="0"/>
          </a:p>
          <a:p>
            <a:pPr lvl="0">
              <a:buNone/>
            </a:pPr>
            <a:endParaRPr lang="fr-FR" dirty="0" smtClean="0"/>
          </a:p>
          <a:p>
            <a:endParaRPr lang="fr-F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980728"/>
            <a:ext cx="8229600" cy="1143000"/>
          </a:xfrm>
        </p:spPr>
        <p:txBody>
          <a:bodyPr>
            <a:normAutofit fontScale="90000"/>
          </a:bodyPr>
          <a:lstStyle/>
          <a:p>
            <a:r>
              <a:rPr lang="fr-FR" dirty="0" smtClean="0"/>
              <a:t/>
            </a:r>
            <a:br>
              <a:rPr lang="fr-FR" dirty="0" smtClean="0"/>
            </a:br>
            <a:r>
              <a:rPr lang="fr-FR" dirty="0" smtClean="0"/>
              <a:t>Étendue </a:t>
            </a:r>
            <a:r>
              <a:rPr lang="fr-FR" dirty="0" smtClean="0"/>
              <a:t>de l’obligation</a:t>
            </a:r>
            <a:endParaRPr lang="fr-FR" dirty="0"/>
          </a:p>
        </p:txBody>
      </p:sp>
      <p:sp>
        <p:nvSpPr>
          <p:cNvPr id="3" name="Espace réservé du contenu 2"/>
          <p:cNvSpPr>
            <a:spLocks noGrp="1"/>
          </p:cNvSpPr>
          <p:nvPr>
            <p:ph idx="1"/>
          </p:nvPr>
        </p:nvSpPr>
        <p:spPr>
          <a:xfrm>
            <a:off x="467544" y="2332037"/>
            <a:ext cx="8229600" cy="4525963"/>
          </a:xfrm>
        </p:spPr>
        <p:txBody>
          <a:bodyPr>
            <a:normAutofit fontScale="92500" lnSpcReduction="20000"/>
          </a:bodyPr>
          <a:lstStyle/>
          <a:p>
            <a:pPr lvl="0"/>
            <a:r>
              <a:rPr lang="fr-FR" dirty="0" smtClean="0">
                <a:latin typeface="Times New Roman" pitchFamily="18" charset="0"/>
                <a:cs typeface="Times New Roman" pitchFamily="18" charset="0"/>
              </a:rPr>
              <a:t>b1- La connaissance directe du péril : </a:t>
            </a:r>
            <a:endParaRPr lang="fr-FR" dirty="0" smtClean="0"/>
          </a:p>
          <a:p>
            <a:pPr lvl="1"/>
            <a:r>
              <a:rPr lang="fr-FR" dirty="0" smtClean="0">
                <a:latin typeface="Times New Roman" pitchFamily="18" charset="0"/>
                <a:cs typeface="Times New Roman" pitchFamily="18" charset="0"/>
              </a:rPr>
              <a:t>Action personnelle ou en provoquant un secours </a:t>
            </a:r>
            <a:endParaRPr lang="fr-FR" dirty="0" smtClean="0"/>
          </a:p>
          <a:p>
            <a:pPr lvl="1"/>
            <a:r>
              <a:rPr lang="fr-FR" dirty="0" smtClean="0">
                <a:latin typeface="Times New Roman" pitchFamily="18" charset="0"/>
                <a:cs typeface="Times New Roman" pitchFamily="18" charset="0"/>
              </a:rPr>
              <a:t>si le péril échappe à ses compétences ou requiert des moyens ou des aptitudes qu’il ne possède pas (appel au SAMU, à la police ou aux pompiers). </a:t>
            </a:r>
            <a:endParaRPr lang="fr-FR" dirty="0" smtClean="0"/>
          </a:p>
          <a:p>
            <a:pPr lvl="0"/>
            <a:r>
              <a:rPr lang="fr-FR" dirty="0" smtClean="0"/>
              <a:t>b2)- Connaissance indirecte du péril :</a:t>
            </a:r>
          </a:p>
          <a:p>
            <a:pPr lvl="1"/>
            <a:r>
              <a:rPr lang="fr-FR" dirty="0" smtClean="0">
                <a:latin typeface="Times New Roman" pitchFamily="18" charset="0"/>
                <a:cs typeface="Times New Roman" pitchFamily="18" charset="0"/>
              </a:rPr>
              <a:t>Basée sur l’obligation d’assistance </a:t>
            </a:r>
            <a:endParaRPr lang="fr-FR" dirty="0" smtClean="0"/>
          </a:p>
          <a:p>
            <a:pPr lvl="1"/>
            <a:r>
              <a:rPr lang="fr-FR" dirty="0" smtClean="0">
                <a:latin typeface="Times New Roman" pitchFamily="18" charset="0"/>
                <a:cs typeface="Times New Roman" pitchFamily="18" charset="0"/>
              </a:rPr>
              <a:t>qui s’applique au médecin qui se trouve à distance du péril</a:t>
            </a:r>
            <a:endParaRPr lang="fr-FR" dirty="0" smtClean="0"/>
          </a:p>
          <a:p>
            <a:pPr lvl="1"/>
            <a:r>
              <a:rPr lang="fr-FR" dirty="0" smtClean="0">
                <a:latin typeface="Times New Roman" pitchFamily="18" charset="0"/>
                <a:cs typeface="Times New Roman" pitchFamily="18" charset="0"/>
              </a:rPr>
              <a:t>dont il a eu connaissance par un tiers qu’il informe de la nécessité de provoquer un secours.</a:t>
            </a:r>
            <a:endParaRPr lang="fr-FR" dirty="0" smtClean="0"/>
          </a:p>
          <a:p>
            <a:endParaRPr lang="fr-F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412776"/>
            <a:ext cx="8229600" cy="1143000"/>
          </a:xfrm>
        </p:spPr>
        <p:txBody>
          <a:bodyPr/>
          <a:lstStyle/>
          <a:p>
            <a:r>
              <a:rPr lang="fr-FR" dirty="0" smtClean="0"/>
              <a:t>Autres délits</a:t>
            </a:r>
            <a:endParaRPr lang="fr-FR" dirty="0"/>
          </a:p>
        </p:txBody>
      </p:sp>
      <p:sp>
        <p:nvSpPr>
          <p:cNvPr id="3" name="Espace réservé du contenu 2"/>
          <p:cNvSpPr>
            <a:spLocks noGrp="1"/>
          </p:cNvSpPr>
          <p:nvPr>
            <p:ph idx="1"/>
          </p:nvPr>
        </p:nvSpPr>
        <p:spPr>
          <a:xfrm>
            <a:off x="395536" y="2708920"/>
            <a:ext cx="8229600" cy="4525963"/>
          </a:xfrm>
        </p:spPr>
        <p:txBody>
          <a:bodyPr/>
          <a:lstStyle/>
          <a:p>
            <a:r>
              <a:rPr lang="fr-FR" dirty="0" smtClean="0">
                <a:latin typeface="Times New Roman" pitchFamily="18" charset="0"/>
                <a:cs typeface="Times New Roman" pitchFamily="18" charset="0"/>
              </a:rPr>
              <a:t>L’avortement</a:t>
            </a:r>
            <a:r>
              <a:rPr lang="fr-FR" dirty="0" smtClean="0"/>
              <a:t> provoqué.</a:t>
            </a:r>
          </a:p>
          <a:p>
            <a:r>
              <a:rPr lang="fr-FR" dirty="0" smtClean="0">
                <a:latin typeface="Times New Roman" pitchFamily="18" charset="0"/>
                <a:cs typeface="Times New Roman" pitchFamily="18" charset="0"/>
              </a:rPr>
              <a:t>L’homicide involontaire et les coups et blessures involontaires</a:t>
            </a:r>
          </a:p>
          <a:p>
            <a:endParaRPr lang="fr-FR" dirty="0" smtClean="0"/>
          </a:p>
          <a:p>
            <a:endParaRPr lang="fr-FR" dirty="0" smtClean="0"/>
          </a:p>
          <a:p>
            <a:endParaRPr lang="fr-F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980728"/>
            <a:ext cx="8229600" cy="1143000"/>
          </a:xfrm>
        </p:spPr>
        <p:txBody>
          <a:bodyPr>
            <a:normAutofit fontScale="90000"/>
          </a:bodyPr>
          <a:lstStyle/>
          <a:p>
            <a:pPr lvl="0"/>
            <a:r>
              <a:rPr lang="fr-FR" sz="3100" dirty="0" smtClean="0"/>
              <a:t/>
            </a:r>
            <a:br>
              <a:rPr lang="fr-FR" sz="3100" dirty="0" smtClean="0"/>
            </a:br>
            <a:r>
              <a:rPr lang="fr-FR" sz="3100" dirty="0" smtClean="0"/>
              <a:t/>
            </a:r>
            <a:br>
              <a:rPr lang="fr-FR" sz="3100" dirty="0" smtClean="0"/>
            </a:br>
            <a:r>
              <a:rPr lang="fr-FR" sz="3100" dirty="0" smtClean="0"/>
              <a:t>B- infractions concernant l’acte médical</a:t>
            </a:r>
            <a:r>
              <a:rPr lang="fr-FR" dirty="0" smtClean="0"/>
              <a:t/>
            </a:r>
            <a:br>
              <a:rPr lang="fr-FR" dirty="0" smtClean="0"/>
            </a:br>
            <a:endParaRPr lang="fr-FR" dirty="0"/>
          </a:p>
        </p:txBody>
      </p:sp>
      <p:sp>
        <p:nvSpPr>
          <p:cNvPr id="3" name="Espace réservé du contenu 2"/>
          <p:cNvSpPr>
            <a:spLocks noGrp="1"/>
          </p:cNvSpPr>
          <p:nvPr>
            <p:ph idx="1"/>
          </p:nvPr>
        </p:nvSpPr>
        <p:spPr>
          <a:xfrm>
            <a:off x="467544" y="2332037"/>
            <a:ext cx="8229600" cy="4525963"/>
          </a:xfrm>
        </p:spPr>
        <p:txBody>
          <a:bodyPr>
            <a:normAutofit fontScale="70000" lnSpcReduction="20000"/>
          </a:bodyPr>
          <a:lstStyle/>
          <a:p>
            <a:r>
              <a:rPr lang="fr-FR" dirty="0" smtClean="0">
                <a:solidFill>
                  <a:schemeClr val="accent2">
                    <a:lumMod val="50000"/>
                  </a:schemeClr>
                </a:solidFill>
                <a:latin typeface="Times New Roman" pitchFamily="18" charset="0"/>
                <a:cs typeface="Times New Roman" pitchFamily="18" charset="0"/>
              </a:rPr>
              <a:t> Atteinte au secret médical</a:t>
            </a:r>
          </a:p>
          <a:p>
            <a:r>
              <a:rPr lang="fr-FR" dirty="0" smtClean="0">
                <a:solidFill>
                  <a:schemeClr val="accent2">
                    <a:lumMod val="50000"/>
                  </a:schemeClr>
                </a:solidFill>
                <a:latin typeface="Times New Roman" pitchFamily="18" charset="0"/>
                <a:cs typeface="Times New Roman" pitchFamily="18" charset="0"/>
              </a:rPr>
              <a:t>Les faux certificats médicaux</a:t>
            </a:r>
          </a:p>
          <a:p>
            <a:r>
              <a:rPr lang="fr-FR" dirty="0" smtClean="0">
                <a:solidFill>
                  <a:schemeClr val="accent2">
                    <a:lumMod val="50000"/>
                  </a:schemeClr>
                </a:solidFill>
                <a:latin typeface="Times New Roman" pitchFamily="18" charset="0"/>
                <a:cs typeface="Times New Roman" pitchFamily="18" charset="0"/>
              </a:rPr>
              <a:t>Autres infractions :</a:t>
            </a:r>
          </a:p>
          <a:p>
            <a:pPr lvl="0">
              <a:buFontTx/>
              <a:buChar char="-"/>
            </a:pPr>
            <a:r>
              <a:rPr lang="fr-FR" dirty="0" smtClean="0">
                <a:latin typeface="Times New Roman" pitchFamily="18" charset="0"/>
                <a:cs typeface="Times New Roman" pitchFamily="18" charset="0"/>
              </a:rPr>
              <a:t>L’euthanasie. (art 273 du code pénal)</a:t>
            </a:r>
          </a:p>
          <a:p>
            <a:pPr lvl="0">
              <a:buFontTx/>
              <a:buChar char="-"/>
            </a:pPr>
            <a:r>
              <a:rPr lang="fr-FR" dirty="0" smtClean="0">
                <a:latin typeface="Times New Roman" pitchFamily="18" charset="0"/>
                <a:cs typeface="Times New Roman" pitchFamily="18" charset="0"/>
              </a:rPr>
              <a:t>Infraction à la législation des stupéfiants.</a:t>
            </a:r>
          </a:p>
          <a:p>
            <a:pPr lvl="0">
              <a:buFontTx/>
              <a:buChar char="-"/>
            </a:pPr>
            <a:r>
              <a:rPr lang="fr-FR" dirty="0" smtClean="0">
                <a:latin typeface="Times New Roman" pitchFamily="18" charset="0"/>
                <a:cs typeface="Times New Roman" pitchFamily="18" charset="0"/>
              </a:rPr>
              <a:t>Exercice illégal de la médecine.</a:t>
            </a:r>
          </a:p>
          <a:p>
            <a:pPr lvl="0">
              <a:buFontTx/>
              <a:buChar char="-"/>
            </a:pPr>
            <a:r>
              <a:rPr lang="fr-FR" dirty="0" smtClean="0">
                <a:latin typeface="Times New Roman" pitchFamily="18" charset="0"/>
                <a:cs typeface="Times New Roman" pitchFamily="18" charset="0"/>
              </a:rPr>
              <a:t>L’empoisonnement (sida, hépatite C et B). Art 260 du code pénal (peine de mort)</a:t>
            </a:r>
          </a:p>
          <a:p>
            <a:pPr lvl="0">
              <a:buFontTx/>
              <a:buChar char="-"/>
            </a:pPr>
            <a:r>
              <a:rPr lang="fr-FR" dirty="0" smtClean="0">
                <a:latin typeface="Times New Roman" pitchFamily="18" charset="0"/>
                <a:cs typeface="Times New Roman" pitchFamily="18" charset="0"/>
              </a:rPr>
              <a:t>Le refus de déférer à une réquisition aux autorités judiciaires sous peine de l’art 182 du code pénal.</a:t>
            </a:r>
          </a:p>
          <a:p>
            <a:pPr lvl="0">
              <a:buFontTx/>
              <a:buChar char="-"/>
            </a:pPr>
            <a:r>
              <a:rPr lang="fr-FR" dirty="0" smtClean="0">
                <a:latin typeface="Times New Roman" pitchFamily="18" charset="0"/>
                <a:cs typeface="Times New Roman" pitchFamily="18" charset="0"/>
              </a:rPr>
              <a:t>Non dénonciation de sévices ou de tortures.</a:t>
            </a:r>
          </a:p>
          <a:p>
            <a:pPr lvl="0">
              <a:buFontTx/>
              <a:buChar char="-"/>
            </a:pPr>
            <a:r>
              <a:rPr lang="fr-FR" dirty="0" smtClean="0">
                <a:latin typeface="Times New Roman" pitchFamily="18" charset="0"/>
                <a:cs typeface="Times New Roman" pitchFamily="18" charset="0"/>
              </a:rPr>
              <a:t>Stérilisation volontaire sans aucune nécessité médicale (ligature de trompes, hystérectomie) assimilée au crime de castration punie d’une réclusion à perpétuité (art 274 du code pénal).</a:t>
            </a:r>
            <a:endParaRPr lang="fr-FR" dirty="0" smtClean="0"/>
          </a:p>
          <a:p>
            <a:pPr>
              <a:buNone/>
            </a:pPr>
            <a:endParaRPr lang="fr-F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836712"/>
            <a:ext cx="8229600" cy="1143000"/>
          </a:xfrm>
        </p:spPr>
        <p:txBody>
          <a:bodyPr>
            <a:normAutofit fontScale="90000"/>
          </a:bodyPr>
          <a:lstStyle/>
          <a:p>
            <a:pPr lvl="0"/>
            <a:r>
              <a:rPr lang="fr-FR" sz="3100" b="1" dirty="0" smtClean="0">
                <a:latin typeface="Arial" pitchFamily="34" charset="0"/>
                <a:cs typeface="Arial" pitchFamily="34" charset="0"/>
              </a:rPr>
              <a:t/>
            </a:r>
            <a:br>
              <a:rPr lang="fr-FR" sz="3100" b="1" dirty="0" smtClean="0">
                <a:latin typeface="Arial" pitchFamily="34" charset="0"/>
                <a:cs typeface="Arial" pitchFamily="34" charset="0"/>
              </a:rPr>
            </a:br>
            <a:r>
              <a:rPr lang="fr-FR" sz="3100" b="1" dirty="0" smtClean="0">
                <a:latin typeface="Arial" pitchFamily="34" charset="0"/>
                <a:cs typeface="Arial" pitchFamily="34" charset="0"/>
              </a:rPr>
              <a:t/>
            </a:r>
            <a:br>
              <a:rPr lang="fr-FR" sz="3100" b="1" dirty="0" smtClean="0">
                <a:latin typeface="Arial" pitchFamily="34" charset="0"/>
                <a:cs typeface="Arial" pitchFamily="34" charset="0"/>
              </a:rPr>
            </a:br>
            <a:r>
              <a:rPr lang="fr-FR" sz="3100" b="1" dirty="0" smtClean="0">
                <a:latin typeface="Arial" pitchFamily="34" charset="0"/>
                <a:cs typeface="Arial" pitchFamily="34" charset="0"/>
              </a:rPr>
              <a:t/>
            </a:r>
            <a:br>
              <a:rPr lang="fr-FR" sz="3100" b="1" dirty="0" smtClean="0">
                <a:latin typeface="Arial" pitchFamily="34" charset="0"/>
                <a:cs typeface="Arial" pitchFamily="34" charset="0"/>
              </a:rPr>
            </a:br>
            <a:r>
              <a:rPr lang="fr-FR" sz="3100" b="1" dirty="0" smtClean="0">
                <a:latin typeface="Arial" pitchFamily="34" charset="0"/>
                <a:cs typeface="Arial" pitchFamily="34" charset="0"/>
              </a:rPr>
              <a:t>LA RESPONSABILITE DISCIPLINAIRE</a:t>
            </a:r>
            <a:r>
              <a:rPr lang="fr-FR" dirty="0" smtClean="0"/>
              <a:t/>
            </a:r>
            <a:br>
              <a:rPr lang="fr-FR" dirty="0" smtClean="0"/>
            </a:br>
            <a:endParaRPr lang="fr-FR" dirty="0"/>
          </a:p>
        </p:txBody>
      </p:sp>
      <p:sp>
        <p:nvSpPr>
          <p:cNvPr id="3" name="Espace réservé du contenu 2"/>
          <p:cNvSpPr>
            <a:spLocks noGrp="1"/>
          </p:cNvSpPr>
          <p:nvPr>
            <p:ph idx="1"/>
          </p:nvPr>
        </p:nvSpPr>
        <p:spPr>
          <a:xfrm>
            <a:off x="467544" y="1988840"/>
            <a:ext cx="8229600" cy="4525963"/>
          </a:xfrm>
        </p:spPr>
        <p:txBody>
          <a:bodyPr/>
          <a:lstStyle/>
          <a:p>
            <a:r>
              <a:rPr lang="fr-FR" dirty="0" smtClean="0"/>
              <a:t>Sanctions prononcées par le conseil régional.</a:t>
            </a:r>
          </a:p>
          <a:p>
            <a:pPr lvl="0"/>
            <a:r>
              <a:rPr lang="fr-FR" dirty="0" smtClean="0"/>
              <a:t>peuvent être </a:t>
            </a:r>
            <a:r>
              <a:rPr lang="fr-FR" b="1" dirty="0" smtClean="0"/>
              <a:t>légères</a:t>
            </a:r>
            <a:r>
              <a:rPr lang="fr-FR" dirty="0" smtClean="0"/>
              <a:t> ou </a:t>
            </a:r>
            <a:r>
              <a:rPr lang="fr-FR" b="1" dirty="0" smtClean="0"/>
              <a:t>lourdes</a:t>
            </a:r>
            <a:r>
              <a:rPr lang="fr-FR" dirty="0" smtClean="0"/>
              <a:t>. Elles sont en corrélation avec la gravité de la faute du praticien.</a:t>
            </a:r>
          </a:p>
          <a:p>
            <a:pPr lvl="0"/>
            <a:r>
              <a:rPr lang="fr-FR" dirty="0" smtClean="0"/>
              <a:t>L’avertissement, le blâme, l’interdiction temporaire ou permanente d’exercer des fonctions médicales dans le secteur public ou privé et la radiation du tableau. </a:t>
            </a:r>
          </a:p>
          <a:p>
            <a:endParaRPr lang="fr-F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24744"/>
            <a:ext cx="8229600" cy="1143000"/>
          </a:xfrm>
        </p:spPr>
        <p:txBody>
          <a:bodyPr/>
          <a:lstStyle/>
          <a:p>
            <a:r>
              <a:rPr lang="fr-FR" dirty="0" smtClean="0"/>
              <a:t>La responsabilité médicale civile</a:t>
            </a:r>
            <a:endParaRPr lang="fr-FR" dirty="0"/>
          </a:p>
        </p:txBody>
      </p:sp>
      <p:sp>
        <p:nvSpPr>
          <p:cNvPr id="3" name="Espace réservé du contenu 2"/>
          <p:cNvSpPr>
            <a:spLocks noGrp="1"/>
          </p:cNvSpPr>
          <p:nvPr>
            <p:ph idx="1"/>
          </p:nvPr>
        </p:nvSpPr>
        <p:spPr>
          <a:xfrm>
            <a:off x="467544" y="2332037"/>
            <a:ext cx="8229600" cy="4525963"/>
          </a:xfrm>
        </p:spPr>
        <p:txBody>
          <a:bodyPr>
            <a:normAutofit lnSpcReduction="10000"/>
          </a:bodyPr>
          <a:lstStyle/>
          <a:p>
            <a:pPr lvl="0"/>
            <a:r>
              <a:rPr lang="fr-FR" dirty="0" smtClean="0"/>
              <a:t>Responsabilité indemnitaire : source de réparation</a:t>
            </a:r>
          </a:p>
          <a:p>
            <a:pPr lvl="0"/>
            <a:r>
              <a:rPr lang="fr-FR" dirty="0" smtClean="0"/>
              <a:t>Cette responsabilité ne sera établie que si le malade apporte une preuve en justifiant trois éléments :</a:t>
            </a:r>
          </a:p>
          <a:p>
            <a:pPr lvl="0"/>
            <a:r>
              <a:rPr lang="fr-FR" b="1" dirty="0" smtClean="0"/>
              <a:t>Un dommage </a:t>
            </a:r>
            <a:r>
              <a:rPr lang="fr-FR" dirty="0" smtClean="0"/>
              <a:t>subi par le malade.</a:t>
            </a:r>
          </a:p>
          <a:p>
            <a:pPr lvl="0"/>
            <a:r>
              <a:rPr lang="fr-FR" b="1" dirty="0" smtClean="0"/>
              <a:t>Une faute</a:t>
            </a:r>
            <a:r>
              <a:rPr lang="fr-FR" dirty="0" smtClean="0"/>
              <a:t> commise par le praticien.</a:t>
            </a:r>
          </a:p>
          <a:p>
            <a:pPr lvl="0"/>
            <a:r>
              <a:rPr lang="fr-FR" b="1" dirty="0" smtClean="0"/>
              <a:t>Un lien de causalité </a:t>
            </a:r>
            <a:r>
              <a:rPr lang="fr-FR" dirty="0" smtClean="0"/>
              <a:t>entre la faute et le dommage.</a:t>
            </a:r>
          </a:p>
          <a:p>
            <a:endParaRPr lang="fr-FR"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 </a:t>
            </a:r>
            <a:endParaRPr lang="fr-FR" dirty="0"/>
          </a:p>
        </p:txBody>
      </p:sp>
      <p:sp>
        <p:nvSpPr>
          <p:cNvPr id="3" name="Espace réservé du contenu 2"/>
          <p:cNvSpPr>
            <a:spLocks noGrp="1"/>
          </p:cNvSpPr>
          <p:nvPr>
            <p:ph idx="1"/>
          </p:nvPr>
        </p:nvSpPr>
        <p:spPr/>
        <p:txBody>
          <a:bodyPr>
            <a:normAutofit fontScale="92500"/>
          </a:bodyPr>
          <a:lstStyle/>
          <a:p>
            <a:pPr lvl="0"/>
            <a:r>
              <a:rPr lang="fr-FR" dirty="0" smtClean="0"/>
              <a:t>Le dommage peut être physique (ITT/IPP) ou moral (préjudice).</a:t>
            </a:r>
          </a:p>
          <a:p>
            <a:pPr lvl="0"/>
            <a:r>
              <a:rPr lang="fr-FR" dirty="0" smtClean="0"/>
              <a:t>Le préjudice est </a:t>
            </a:r>
            <a:r>
              <a:rPr lang="fr-FR" b="1" dirty="0" smtClean="0"/>
              <a:t>patrimonial</a:t>
            </a:r>
            <a:r>
              <a:rPr lang="fr-FR" dirty="0" smtClean="0"/>
              <a:t> : dommage  matériel = ensemble de dépenses auxquelles la victime a été exposé (frais médicaux et pharmaceutiques).</a:t>
            </a:r>
          </a:p>
          <a:p>
            <a:r>
              <a:rPr lang="fr-FR" dirty="0" smtClean="0"/>
              <a:t>Le préjudice est </a:t>
            </a:r>
            <a:r>
              <a:rPr lang="fr-FR" b="1" dirty="0" smtClean="0"/>
              <a:t>extrapatrimonial</a:t>
            </a:r>
            <a:r>
              <a:rPr lang="fr-FR" dirty="0" smtClean="0"/>
              <a:t> : dommage est moral engendré par des souffrances physiques (douleurs, préjudice esthétique ou de perte de chance).</a:t>
            </a:r>
          </a:p>
          <a:p>
            <a:pPr lvl="0"/>
            <a:endParaRPr lang="fr-FR" dirty="0" smtClean="0"/>
          </a:p>
          <a:p>
            <a:endParaRPr lang="fr-FR"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467544" y="2332037"/>
            <a:ext cx="8229600" cy="4525963"/>
          </a:xfrm>
        </p:spPr>
        <p:txBody>
          <a:bodyPr/>
          <a:lstStyle/>
          <a:p>
            <a:pPr lvl="0"/>
            <a:r>
              <a:rPr lang="fr-FR" dirty="0" smtClean="0"/>
              <a:t>Constitue une faute : tout manquement à : compétence scientifique, consentement éclairé du malade = obligation d’information, obligation de donner des soins conformes aux données actuelles de la science, obligation de suivi et de surveillance.</a:t>
            </a:r>
          </a:p>
          <a:p>
            <a:pPr lvl="0"/>
            <a:endParaRPr lang="fr-FR" dirty="0" smtClean="0"/>
          </a:p>
          <a:p>
            <a:endParaRPr lang="fr-FR"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lnSpcReduction="10000"/>
          </a:bodyPr>
          <a:lstStyle/>
          <a:p>
            <a:pPr lvl="0"/>
            <a:endParaRPr lang="fr-FR" dirty="0" smtClean="0"/>
          </a:p>
          <a:p>
            <a:pPr lvl="0"/>
            <a:r>
              <a:rPr lang="fr-FR" dirty="0" smtClean="0"/>
              <a:t>Lien </a:t>
            </a:r>
            <a:r>
              <a:rPr lang="fr-FR" dirty="0" smtClean="0"/>
              <a:t>de causalité : Il faut que le dommage subi par le malade, soit directement imputable à la faute du praticien = relation de cause à effet.</a:t>
            </a:r>
          </a:p>
          <a:p>
            <a:pPr lvl="0"/>
            <a:r>
              <a:rPr lang="fr-FR" dirty="0" smtClean="0"/>
              <a:t>Responsabilité </a:t>
            </a:r>
            <a:r>
              <a:rPr lang="fr-FR" dirty="0" smtClean="0"/>
              <a:t>contractuelle = inexécution d’ obligations du contrat médical qui se forme entre le praticien et son malade.</a:t>
            </a:r>
          </a:p>
          <a:p>
            <a:pPr lvl="0"/>
            <a:r>
              <a:rPr lang="fr-FR" dirty="0" smtClean="0"/>
              <a:t>est engagée même si la violation est involontaire</a:t>
            </a:r>
          </a:p>
          <a:p>
            <a:pPr lvl="0"/>
            <a:endParaRPr lang="fr-FR" dirty="0" smtClean="0"/>
          </a:p>
          <a:p>
            <a:endParaRPr lang="fr-F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467544" y="1988840"/>
            <a:ext cx="8229600" cy="4525963"/>
          </a:xfrm>
        </p:spPr>
        <p:txBody>
          <a:bodyPr>
            <a:normAutofit lnSpcReduction="10000"/>
          </a:bodyPr>
          <a:lstStyle/>
          <a:p>
            <a:pPr lvl="0"/>
            <a:r>
              <a:rPr lang="fr-FR" dirty="0" smtClean="0"/>
              <a:t>Obligations relatives au diagnostic : Insuffisances dans l’examen clinique, absence de recours aux examens complémentaires et absence de recours aux spécialistes.</a:t>
            </a:r>
          </a:p>
          <a:p>
            <a:pPr lvl="0"/>
            <a:r>
              <a:rPr lang="fr-FR" dirty="0" smtClean="0"/>
              <a:t>Obligations en matière de traitement : Le praticien est maître de ses prescriptions mais doit limiter ses prescriptions et ne les employer que conformément aux données acquises de la science.</a:t>
            </a:r>
          </a:p>
          <a:p>
            <a:endParaRPr lang="fr-FR" dirty="0" smtClean="0"/>
          </a:p>
          <a:p>
            <a:pPr lvl="0"/>
            <a:endParaRPr lang="fr-FR" dirty="0" smtClean="0"/>
          </a:p>
          <a:p>
            <a:pPr lvl="0"/>
            <a:endParaRPr lang="fr-FR" dirty="0" smtClean="0"/>
          </a:p>
          <a:p>
            <a:endParaRPr lang="fr-F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467544" y="2332037"/>
            <a:ext cx="8229600" cy="4525963"/>
          </a:xfrm>
        </p:spPr>
        <p:txBody>
          <a:bodyPr>
            <a:normAutofit/>
          </a:bodyPr>
          <a:lstStyle/>
          <a:p>
            <a:r>
              <a:rPr lang="fr-FR" dirty="0" smtClean="0"/>
              <a:t>responsabilité civile délictuelle: résulte d’un délit ou d’un quasi délit.</a:t>
            </a:r>
          </a:p>
          <a:p>
            <a:r>
              <a:rPr lang="fr-FR" dirty="0" smtClean="0"/>
              <a:t>Délit : quand la faute est intentionnelle (découle de la responsabilité pénale : homicide et blessures involontaires).</a:t>
            </a:r>
          </a:p>
          <a:p>
            <a:pPr lvl="0"/>
            <a:r>
              <a:rPr lang="fr-FR" dirty="0" smtClean="0"/>
              <a:t>Quasi délit : quand la faute est involontaire (négligence, imprudence).</a:t>
            </a:r>
          </a:p>
          <a:p>
            <a:endParaRPr lang="fr-FR" dirty="0" smtClean="0"/>
          </a:p>
          <a:p>
            <a:pPr lvl="0"/>
            <a:endParaRPr lang="fr-FR" dirty="0" smtClean="0"/>
          </a:p>
          <a:p>
            <a:endParaRPr lang="fr-F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980728"/>
            <a:ext cx="8229600" cy="1143000"/>
          </a:xfrm>
        </p:spPr>
        <p:txBody>
          <a:bodyPr>
            <a:normAutofit fontScale="90000"/>
          </a:bodyPr>
          <a:lstStyle/>
          <a:p>
            <a:pPr lvl="0"/>
            <a:r>
              <a:rPr lang="fr-FR" b="1" dirty="0" smtClean="0"/>
              <a:t/>
            </a:r>
            <a:br>
              <a:rPr lang="fr-FR" b="1" dirty="0" smtClean="0"/>
            </a:br>
            <a:r>
              <a:rPr lang="fr-FR" b="1" dirty="0" smtClean="0"/>
              <a:t/>
            </a:r>
            <a:br>
              <a:rPr lang="fr-FR" b="1" dirty="0" smtClean="0"/>
            </a:br>
            <a:r>
              <a:rPr lang="fr-FR" b="1" dirty="0" smtClean="0"/>
              <a:t>Responsabilité administrative</a:t>
            </a:r>
            <a:r>
              <a:rPr lang="fr-FR" dirty="0" smtClean="0"/>
              <a:t/>
            </a:r>
            <a:br>
              <a:rPr lang="fr-FR" dirty="0" smtClean="0"/>
            </a:br>
            <a:endParaRPr lang="fr-FR" dirty="0"/>
          </a:p>
        </p:txBody>
      </p:sp>
      <p:sp>
        <p:nvSpPr>
          <p:cNvPr id="3" name="Espace réservé du contenu 2"/>
          <p:cNvSpPr>
            <a:spLocks noGrp="1"/>
          </p:cNvSpPr>
          <p:nvPr>
            <p:ph idx="1"/>
          </p:nvPr>
        </p:nvSpPr>
        <p:spPr>
          <a:xfrm>
            <a:off x="467544" y="2132856"/>
            <a:ext cx="8229600" cy="4525963"/>
          </a:xfrm>
        </p:spPr>
        <p:txBody>
          <a:bodyPr>
            <a:normAutofit fontScale="85000" lnSpcReduction="10000"/>
          </a:bodyPr>
          <a:lstStyle/>
          <a:p>
            <a:pPr lvl="0"/>
            <a:r>
              <a:rPr lang="fr-FR" dirty="0" smtClean="0"/>
              <a:t>En cas de litige et de demande d’indemnisation d’un dommage, l’interlocuteur du patient sera l’hôpital et non le médecin. Le principe est que l’hôpital est responsable de ses agents en cas de faute de service et les« protège ».</a:t>
            </a:r>
          </a:p>
          <a:p>
            <a:pPr lvl="0"/>
            <a:r>
              <a:rPr lang="fr-FR" dirty="0" smtClean="0"/>
              <a:t>Deux types de fautes :</a:t>
            </a:r>
          </a:p>
          <a:p>
            <a:pPr lvl="0"/>
            <a:r>
              <a:rPr lang="fr-FR" b="1" dirty="0" smtClean="0"/>
              <a:t>La faute de service </a:t>
            </a:r>
            <a:r>
              <a:rPr lang="fr-FR" dirty="0" smtClean="0"/>
              <a:t>qui n’a pas le caractère d’une faute personnelle, elle est recouverte par l’administration.</a:t>
            </a:r>
          </a:p>
          <a:p>
            <a:pPr lvl="0"/>
            <a:r>
              <a:rPr lang="fr-FR" b="1" dirty="0" smtClean="0"/>
              <a:t>La faute personnelle</a:t>
            </a:r>
            <a:r>
              <a:rPr lang="fr-FR" dirty="0" smtClean="0"/>
              <a:t>, c’est une faute lourde et grave, elle engage la responsabilité personnelle de l’agent.</a:t>
            </a:r>
          </a:p>
          <a:p>
            <a:pPr lvl="0"/>
            <a:endParaRPr lang="fr-FR" dirty="0" smtClean="0"/>
          </a:p>
          <a:p>
            <a:endParaRPr lang="fr-F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556792"/>
            <a:ext cx="8229600" cy="1143000"/>
          </a:xfrm>
        </p:spPr>
        <p:txBody>
          <a:bodyPr>
            <a:normAutofit/>
          </a:bodyPr>
          <a:lstStyle/>
          <a:p>
            <a:r>
              <a:rPr lang="fr-FR" sz="3200" b="1" dirty="0" smtClean="0"/>
              <a:t>Quel(s) élément(s) font retenir la responsabilité civile du médecin ?</a:t>
            </a:r>
            <a:endParaRPr lang="fr-FR" sz="3200" dirty="0"/>
          </a:p>
        </p:txBody>
      </p:sp>
      <p:sp>
        <p:nvSpPr>
          <p:cNvPr id="3" name="Espace réservé du contenu 2"/>
          <p:cNvSpPr>
            <a:spLocks noGrp="1"/>
          </p:cNvSpPr>
          <p:nvPr>
            <p:ph idx="1"/>
          </p:nvPr>
        </p:nvSpPr>
        <p:spPr>
          <a:xfrm>
            <a:off x="539552" y="2332037"/>
            <a:ext cx="8229600" cy="4525963"/>
          </a:xfrm>
        </p:spPr>
        <p:txBody>
          <a:bodyPr>
            <a:normAutofit fontScale="92500" lnSpcReduction="20000"/>
          </a:bodyPr>
          <a:lstStyle/>
          <a:p>
            <a:pPr>
              <a:buNone/>
            </a:pPr>
            <a:r>
              <a:rPr lang="fr-FR" b="1" dirty="0"/>
              <a:t>	</a:t>
            </a:r>
            <a:endParaRPr lang="fr-FR" dirty="0" smtClean="0"/>
          </a:p>
          <a:p>
            <a:r>
              <a:rPr lang="fr-FR" dirty="0"/>
              <a:t>A - Une faute </a:t>
            </a:r>
            <a:r>
              <a:rPr lang="fr-FR" dirty="0" smtClean="0"/>
              <a:t>non personnelle commise dans un service public</a:t>
            </a:r>
            <a:r>
              <a:rPr lang="fr-FR" dirty="0"/>
              <a:t>	</a:t>
            </a:r>
            <a:endParaRPr lang="fr-FR" dirty="0" smtClean="0"/>
          </a:p>
          <a:p>
            <a:r>
              <a:rPr lang="fr-FR" dirty="0"/>
              <a:t>B - Un dommage corporel consécutif à un acte médical inadapté	</a:t>
            </a:r>
            <a:endParaRPr lang="fr-FR" dirty="0" smtClean="0"/>
          </a:p>
          <a:p>
            <a:r>
              <a:rPr lang="fr-FR" dirty="0"/>
              <a:t>C - Un dommage moral, par la faute du </a:t>
            </a:r>
            <a:r>
              <a:rPr lang="fr-FR" dirty="0" smtClean="0"/>
              <a:t>médecin</a:t>
            </a:r>
          </a:p>
          <a:p>
            <a:r>
              <a:rPr lang="fr-FR" dirty="0" smtClean="0"/>
              <a:t>D </a:t>
            </a:r>
            <a:r>
              <a:rPr lang="fr-FR" dirty="0"/>
              <a:t>- Une relation de cause à effet entre le geste médical et les séquelles corporelles	</a:t>
            </a:r>
            <a:endParaRPr lang="fr-FR" dirty="0" smtClean="0"/>
          </a:p>
          <a:p>
            <a:r>
              <a:rPr lang="fr-FR" dirty="0"/>
              <a:t>E - Une infraction au Code Pénal sans conséquence dommageable pour le patient</a:t>
            </a:r>
            <a:endParaRPr lang="fr-FR" dirty="0" smtClean="0"/>
          </a:p>
          <a:p>
            <a:endParaRPr lang="fr-F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412776"/>
            <a:ext cx="8229600" cy="1143000"/>
          </a:xfrm>
        </p:spPr>
        <p:txBody>
          <a:bodyPr>
            <a:normAutofit fontScale="90000"/>
          </a:bodyPr>
          <a:lstStyle/>
          <a:p>
            <a:pPr lvl="0"/>
            <a:r>
              <a:rPr lang="fr-FR" sz="3600" b="1" dirty="0" smtClean="0"/>
              <a:t/>
            </a:r>
            <a:br>
              <a:rPr lang="fr-FR" sz="3600" b="1" dirty="0" smtClean="0"/>
            </a:br>
            <a:r>
              <a:rPr lang="fr-FR" sz="3600" b="1" dirty="0" smtClean="0"/>
              <a:t>un dommage dans le civil suppose : (la RJ)</a:t>
            </a:r>
            <a:r>
              <a:rPr lang="fr-FR" sz="3600" dirty="0" smtClean="0"/>
              <a:t/>
            </a:r>
            <a:br>
              <a:rPr lang="fr-FR" sz="3600" dirty="0" smtClean="0"/>
            </a:br>
            <a:endParaRPr lang="fr-FR" sz="3600" dirty="0"/>
          </a:p>
        </p:txBody>
      </p:sp>
      <p:sp>
        <p:nvSpPr>
          <p:cNvPr id="3" name="Espace réservé du contenu 2"/>
          <p:cNvSpPr>
            <a:spLocks noGrp="1"/>
          </p:cNvSpPr>
          <p:nvPr>
            <p:ph idx="1"/>
          </p:nvPr>
        </p:nvSpPr>
        <p:spPr>
          <a:xfrm>
            <a:off x="467544" y="2332037"/>
            <a:ext cx="8229600" cy="4525963"/>
          </a:xfrm>
        </p:spPr>
        <p:txBody>
          <a:bodyPr/>
          <a:lstStyle/>
          <a:p>
            <a:pPr marL="514350" lvl="0" indent="-514350">
              <a:buFont typeface="+mj-lt"/>
              <a:buAutoNum type="alphaUcPeriod"/>
            </a:pPr>
            <a:r>
              <a:rPr lang="fr-FR" dirty="0" smtClean="0"/>
              <a:t>une </a:t>
            </a:r>
            <a:r>
              <a:rPr lang="fr-FR" dirty="0"/>
              <a:t>indemnisation sans faute</a:t>
            </a:r>
          </a:p>
          <a:p>
            <a:pPr marL="514350" lvl="0" indent="-514350">
              <a:buFont typeface="+mj-lt"/>
              <a:buAutoNum type="alphaUcPeriod"/>
            </a:pPr>
            <a:r>
              <a:rPr lang="fr-FR" dirty="0"/>
              <a:t>une sanction pénale</a:t>
            </a:r>
          </a:p>
          <a:p>
            <a:pPr marL="514350" lvl="0" indent="-514350">
              <a:buFont typeface="+mj-lt"/>
              <a:buAutoNum type="alphaUcPeriod"/>
            </a:pPr>
            <a:r>
              <a:rPr lang="fr-FR" dirty="0"/>
              <a:t>la réparation d’une faute médicale </a:t>
            </a:r>
          </a:p>
          <a:p>
            <a:pPr marL="514350" lvl="0" indent="-514350">
              <a:buFont typeface="+mj-lt"/>
              <a:buAutoNum type="alphaUcPeriod"/>
            </a:pPr>
            <a:r>
              <a:rPr lang="fr-FR" dirty="0"/>
              <a:t>la réparation d’une faute médicale du fait de l’hôpital</a:t>
            </a:r>
          </a:p>
          <a:p>
            <a:pPr marL="514350" lvl="0" indent="-514350">
              <a:buFont typeface="+mj-lt"/>
              <a:buAutoNum type="alphaUcPeriod"/>
            </a:pPr>
            <a:r>
              <a:rPr lang="fr-FR" dirty="0"/>
              <a:t>la réparation d’une infraction au code pénal</a:t>
            </a:r>
          </a:p>
          <a:p>
            <a:endParaRPr lang="fr-F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1484784"/>
            <a:ext cx="8229600" cy="1143000"/>
          </a:xfrm>
        </p:spPr>
        <p:txBody>
          <a:bodyPr>
            <a:normAutofit fontScale="90000"/>
          </a:bodyPr>
          <a:lstStyle/>
          <a:p>
            <a:pPr lvl="0"/>
            <a:r>
              <a:rPr lang="fr-FR" sz="3600" b="1" dirty="0" smtClean="0"/>
              <a:t/>
            </a:r>
            <a:br>
              <a:rPr lang="fr-FR" sz="3600" b="1" dirty="0" smtClean="0"/>
            </a:br>
            <a:r>
              <a:rPr lang="fr-FR" sz="3600" b="1" dirty="0" smtClean="0"/>
              <a:t>la réparation d’une faute délictuelle à l’hôpital est prise en charge par : (la réponse juste)</a:t>
            </a:r>
            <a:r>
              <a:rPr lang="fr-FR" sz="3600" dirty="0" smtClean="0"/>
              <a:t/>
            </a:r>
            <a:br>
              <a:rPr lang="fr-FR" sz="3600" dirty="0" smtClean="0"/>
            </a:br>
            <a:endParaRPr lang="fr-FR" sz="3600" dirty="0"/>
          </a:p>
        </p:txBody>
      </p:sp>
      <p:sp>
        <p:nvSpPr>
          <p:cNvPr id="3" name="Espace réservé du contenu 2"/>
          <p:cNvSpPr>
            <a:spLocks noGrp="1"/>
          </p:cNvSpPr>
          <p:nvPr>
            <p:ph idx="1"/>
          </p:nvPr>
        </p:nvSpPr>
        <p:spPr>
          <a:xfrm>
            <a:off x="467544" y="2636912"/>
            <a:ext cx="8229600" cy="4525963"/>
          </a:xfrm>
        </p:spPr>
        <p:txBody>
          <a:bodyPr/>
          <a:lstStyle/>
          <a:p>
            <a:pPr marL="514350" lvl="0" indent="-514350">
              <a:buFont typeface="+mj-lt"/>
              <a:buAutoNum type="alphaUcPeriod"/>
            </a:pPr>
            <a:r>
              <a:rPr lang="fr-FR" dirty="0" smtClean="0"/>
              <a:t>le </a:t>
            </a:r>
            <a:r>
              <a:rPr lang="fr-FR" dirty="0"/>
              <a:t>praticien </a:t>
            </a:r>
          </a:p>
          <a:p>
            <a:pPr marL="514350" lvl="0" indent="-514350">
              <a:buFont typeface="+mj-lt"/>
              <a:buAutoNum type="alphaUcPeriod"/>
            </a:pPr>
            <a:r>
              <a:rPr lang="fr-FR" dirty="0"/>
              <a:t>les assurances</a:t>
            </a:r>
          </a:p>
          <a:p>
            <a:pPr marL="514350" lvl="0" indent="-514350">
              <a:buFont typeface="+mj-lt"/>
              <a:buAutoNum type="alphaUcPeriod"/>
            </a:pPr>
            <a:r>
              <a:rPr lang="fr-FR" dirty="0"/>
              <a:t>l’hôpital</a:t>
            </a:r>
          </a:p>
          <a:p>
            <a:pPr marL="514350" lvl="0" indent="-514350">
              <a:buFont typeface="+mj-lt"/>
              <a:buAutoNum type="alphaUcPeriod"/>
            </a:pPr>
            <a:r>
              <a:rPr lang="fr-FR" dirty="0"/>
              <a:t>la sécurité sociale</a:t>
            </a:r>
          </a:p>
          <a:p>
            <a:pPr marL="514350" lvl="0" indent="-514350">
              <a:buFont typeface="+mj-lt"/>
              <a:buAutoNum type="alphaUcPeriod"/>
            </a:pPr>
            <a:r>
              <a:rPr lang="fr-FR" dirty="0"/>
              <a:t> le directeur de l’hôpital</a:t>
            </a:r>
          </a:p>
          <a:p>
            <a:endParaRPr lang="fr-FR"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96752"/>
            <a:ext cx="8229600" cy="1143000"/>
          </a:xfrm>
        </p:spPr>
        <p:txBody>
          <a:bodyPr>
            <a:normAutofit fontScale="90000"/>
          </a:bodyPr>
          <a:lstStyle/>
          <a:p>
            <a:r>
              <a:rPr lang="fr-FR" sz="2700" b="1" dirty="0" smtClean="0"/>
              <a:t/>
            </a:r>
            <a:br>
              <a:rPr lang="fr-FR" sz="2700" b="1" dirty="0" smtClean="0"/>
            </a:br>
            <a:r>
              <a:rPr lang="fr-FR" sz="2700" b="1" dirty="0" smtClean="0"/>
              <a:t/>
            </a:r>
            <a:br>
              <a:rPr lang="fr-FR" sz="2700" b="1" dirty="0" smtClean="0"/>
            </a:br>
            <a:r>
              <a:rPr lang="fr-FR" sz="2700" b="1" dirty="0" smtClean="0"/>
              <a:t>la responsabilité civile contractuelle du </a:t>
            </a:r>
            <a:r>
              <a:rPr lang="fr-FR" sz="2700" dirty="0" smtClean="0"/>
              <a:t/>
            </a:r>
            <a:br>
              <a:rPr lang="fr-FR" sz="2700" dirty="0" smtClean="0"/>
            </a:br>
            <a:r>
              <a:rPr lang="fr-FR" sz="2700" b="1" dirty="0" smtClean="0"/>
              <a:t>praticien se trouve engagée dans une des</a:t>
            </a:r>
            <a:r>
              <a:rPr lang="fr-FR" sz="2700" dirty="0" smtClean="0"/>
              <a:t/>
            </a:r>
            <a:br>
              <a:rPr lang="fr-FR" sz="2700" dirty="0" smtClean="0"/>
            </a:br>
            <a:r>
              <a:rPr lang="fr-FR" sz="2700" b="1" dirty="0" smtClean="0"/>
              <a:t> situations suivantes:</a:t>
            </a:r>
            <a:r>
              <a:rPr lang="fr-FR" sz="3200" dirty="0" smtClean="0"/>
              <a:t/>
            </a:r>
            <a:br>
              <a:rPr lang="fr-FR" sz="3200" dirty="0" smtClean="0"/>
            </a:br>
            <a:endParaRPr lang="fr-FR" sz="3200" dirty="0"/>
          </a:p>
        </p:txBody>
      </p:sp>
      <p:sp>
        <p:nvSpPr>
          <p:cNvPr id="3" name="Espace réservé du contenu 2"/>
          <p:cNvSpPr>
            <a:spLocks noGrp="1"/>
          </p:cNvSpPr>
          <p:nvPr>
            <p:ph idx="1"/>
          </p:nvPr>
        </p:nvSpPr>
        <p:spPr>
          <a:xfrm>
            <a:off x="539552" y="2492896"/>
            <a:ext cx="8229600" cy="4525963"/>
          </a:xfrm>
        </p:spPr>
        <p:txBody>
          <a:bodyPr>
            <a:normAutofit lnSpcReduction="10000"/>
          </a:bodyPr>
          <a:lstStyle/>
          <a:p>
            <a:pPr marL="514350" lvl="0" indent="-514350">
              <a:buFont typeface="+mj-lt"/>
              <a:buAutoNum type="alphaUcPeriod"/>
            </a:pPr>
            <a:r>
              <a:rPr lang="fr-FR" sz="3000" dirty="0" smtClean="0"/>
              <a:t>Si </a:t>
            </a:r>
            <a:r>
              <a:rPr lang="fr-FR" sz="3000" dirty="0"/>
              <a:t>la violation des obligations </a:t>
            </a:r>
            <a:r>
              <a:rPr lang="fr-FR" sz="3000" dirty="0" smtClean="0"/>
              <a:t>est </a:t>
            </a:r>
            <a:r>
              <a:rPr lang="fr-FR" sz="3000" dirty="0"/>
              <a:t>volontaire ou même involontaire </a:t>
            </a:r>
          </a:p>
          <a:p>
            <a:pPr marL="514350" lvl="0" indent="-514350">
              <a:buFont typeface="+mj-lt"/>
              <a:buAutoNum type="alphaUcPeriod"/>
            </a:pPr>
            <a:r>
              <a:rPr lang="fr-FR" sz="3000" dirty="0"/>
              <a:t>Si la violation des obligations  est uniquement volontaire</a:t>
            </a:r>
          </a:p>
          <a:p>
            <a:pPr marL="514350" lvl="0" indent="-514350">
              <a:buFont typeface="+mj-lt"/>
              <a:buAutoNum type="alphaUcPeriod"/>
            </a:pPr>
            <a:r>
              <a:rPr lang="fr-FR" sz="3000" dirty="0"/>
              <a:t>Si la violation des obligations est strictement involontaire</a:t>
            </a:r>
          </a:p>
          <a:p>
            <a:pPr marL="514350" lvl="0" indent="-514350">
              <a:buFont typeface="+mj-lt"/>
              <a:buAutoNum type="alphaUcPeriod"/>
            </a:pPr>
            <a:r>
              <a:rPr lang="fr-FR" sz="3000" dirty="0" smtClean="0"/>
              <a:t>Si la faute est une négligence.</a:t>
            </a:r>
            <a:endParaRPr lang="fr-FR" sz="3000" dirty="0"/>
          </a:p>
          <a:p>
            <a:pPr marL="514350" lvl="0" indent="-514350">
              <a:buFont typeface="+mj-lt"/>
              <a:buAutoNum type="alphaUcPeriod"/>
            </a:pPr>
            <a:r>
              <a:rPr lang="fr-FR" sz="3000" dirty="0"/>
              <a:t>S’il en résulte une incapacité permanente partielle</a:t>
            </a:r>
          </a:p>
          <a:p>
            <a:endParaRPr lang="fr-F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395536" y="1988840"/>
            <a:ext cx="8229600" cy="4525963"/>
          </a:xfrm>
        </p:spPr>
        <p:txBody>
          <a:bodyPr>
            <a:normAutofit fontScale="85000" lnSpcReduction="20000"/>
          </a:bodyPr>
          <a:lstStyle/>
          <a:p>
            <a:pPr lvl="0">
              <a:buNone/>
            </a:pPr>
            <a:r>
              <a:rPr lang="fr-FR" b="1" dirty="0" smtClean="0"/>
              <a:t>	Parmi les propositions suivantes concernant la responsabilité médicale civile, laquelle ou lesquelles sont juste(s) :</a:t>
            </a:r>
            <a:endParaRPr lang="fr-FR" dirty="0" smtClean="0"/>
          </a:p>
          <a:p>
            <a:pPr marL="514350" lvl="0" indent="-514350">
              <a:buFont typeface="+mj-lt"/>
              <a:buAutoNum type="alphaUcPeriod"/>
            </a:pPr>
            <a:r>
              <a:rPr lang="fr-FR" dirty="0" smtClean="0"/>
              <a:t>Elle peut être contractuelle ou délictuelle</a:t>
            </a:r>
          </a:p>
          <a:p>
            <a:pPr marL="514350" lvl="0" indent="-514350">
              <a:buFont typeface="+mj-lt"/>
              <a:buAutoNum type="alphaUcPeriod"/>
            </a:pPr>
            <a:r>
              <a:rPr lang="fr-FR" dirty="0" smtClean="0"/>
              <a:t>Elle résulte d’un délit quand la faute est même non intentionnelle</a:t>
            </a:r>
          </a:p>
          <a:p>
            <a:pPr marL="514350" lvl="0" indent="-514350">
              <a:buFont typeface="+mj-lt"/>
              <a:buAutoNum type="alphaUcPeriod"/>
            </a:pPr>
            <a:r>
              <a:rPr lang="fr-FR" dirty="0" smtClean="0"/>
              <a:t>Elle résulte d’un quasi délit quand la faute est une négligence</a:t>
            </a:r>
          </a:p>
          <a:p>
            <a:pPr marL="514350" lvl="0" indent="-514350">
              <a:buFont typeface="+mj-lt"/>
              <a:buAutoNum type="alphaUcPeriod"/>
            </a:pPr>
            <a:r>
              <a:rPr lang="fr-FR" dirty="0" smtClean="0"/>
              <a:t>Elle est contractuelle si la violation d’obligations est strictement volontaire</a:t>
            </a:r>
          </a:p>
          <a:p>
            <a:pPr marL="514350" lvl="0" indent="-514350">
              <a:buFont typeface="+mj-lt"/>
              <a:buAutoNum type="alphaUcPeriod"/>
            </a:pPr>
            <a:r>
              <a:rPr lang="fr-FR" dirty="0" smtClean="0"/>
              <a:t>Elle découle d’une responsabilité pénale quand elle est délictuelle</a:t>
            </a:r>
          </a:p>
          <a:p>
            <a:endParaRPr lang="fr-F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467544" y="1988840"/>
            <a:ext cx="8229600" cy="4525963"/>
          </a:xfrm>
        </p:spPr>
        <p:txBody>
          <a:bodyPr>
            <a:normAutofit fontScale="92500"/>
          </a:bodyPr>
          <a:lstStyle/>
          <a:p>
            <a:pPr lvl="0">
              <a:buNone/>
            </a:pPr>
            <a:r>
              <a:rPr lang="fr-FR" b="1" dirty="0" smtClean="0"/>
              <a:t>	Un médecin incapable de prêter assistance à personne en péril par son action personnelle a été responsable de son décès : (les R J)</a:t>
            </a:r>
            <a:endParaRPr lang="fr-FR" dirty="0" smtClean="0"/>
          </a:p>
          <a:p>
            <a:pPr marL="514350" lvl="0" indent="-514350">
              <a:buFont typeface="+mj-lt"/>
              <a:buAutoNum type="alphaUcPeriod"/>
            </a:pPr>
            <a:r>
              <a:rPr lang="fr-FR" dirty="0" smtClean="0"/>
              <a:t>Est poursuivi pour homicide volontaire</a:t>
            </a:r>
          </a:p>
          <a:p>
            <a:pPr marL="514350" lvl="0" indent="-514350">
              <a:buFont typeface="+mj-lt"/>
              <a:buAutoNum type="alphaUcPeriod"/>
            </a:pPr>
            <a:r>
              <a:rPr lang="fr-FR" dirty="0" smtClean="0"/>
              <a:t>Est poursuivi pour le délit d’abstention fautive </a:t>
            </a:r>
          </a:p>
          <a:p>
            <a:pPr marL="514350" lvl="0" indent="-514350">
              <a:buFont typeface="+mj-lt"/>
              <a:buAutoNum type="alphaUcPeriod"/>
            </a:pPr>
            <a:r>
              <a:rPr lang="fr-FR" dirty="0" smtClean="0"/>
              <a:t>Est poursuivi pour homicide involontaire </a:t>
            </a:r>
          </a:p>
          <a:p>
            <a:pPr marL="514350" lvl="0" indent="-514350">
              <a:buFont typeface="+mj-lt"/>
              <a:buAutoNum type="alphaUcPeriod"/>
            </a:pPr>
            <a:r>
              <a:rPr lang="fr-FR" dirty="0" smtClean="0"/>
              <a:t>Est poursuivi pour le crime d’abstention fautive</a:t>
            </a:r>
          </a:p>
          <a:p>
            <a:pPr marL="514350" lvl="0" indent="-514350">
              <a:buFont typeface="+mj-lt"/>
              <a:buAutoNum type="alphaUcPeriod"/>
            </a:pPr>
            <a:r>
              <a:rPr lang="fr-FR" dirty="0" smtClean="0"/>
              <a:t>Est poursuivi pour négligence</a:t>
            </a:r>
          </a:p>
          <a:p>
            <a:endParaRPr lang="fr-F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a:xfrm>
            <a:off x="467544" y="1988840"/>
            <a:ext cx="8229600" cy="4525963"/>
          </a:xfrm>
        </p:spPr>
        <p:txBody>
          <a:bodyPr>
            <a:normAutofit fontScale="85000" lnSpcReduction="10000"/>
          </a:bodyPr>
          <a:lstStyle/>
          <a:p>
            <a:pPr lvl="0">
              <a:buNone/>
            </a:pPr>
            <a:r>
              <a:rPr lang="fr-FR" b="1" dirty="0" smtClean="0"/>
              <a:t>La responsabilité disciplinaire du médecin : (la R F)</a:t>
            </a:r>
            <a:endParaRPr lang="fr-FR" sz="4000" dirty="0" smtClean="0"/>
          </a:p>
          <a:p>
            <a:pPr marL="514350" lvl="0" indent="-514350">
              <a:buFont typeface="+mj-lt"/>
              <a:buAutoNum type="alphaUcPeriod"/>
            </a:pPr>
            <a:r>
              <a:rPr lang="fr-FR" dirty="0" smtClean="0"/>
              <a:t>est prononcée par le conseil régional de l’ordre des médecins</a:t>
            </a:r>
            <a:endParaRPr lang="fr-FR" sz="4000" dirty="0" smtClean="0"/>
          </a:p>
          <a:p>
            <a:pPr marL="514350" lvl="0" indent="-514350">
              <a:buFont typeface="+mj-lt"/>
              <a:buAutoNum type="alphaUcPeriod"/>
            </a:pPr>
            <a:r>
              <a:rPr lang="fr-FR" dirty="0" smtClean="0"/>
              <a:t>est prononcée par le conseil national de l’ordre des médecins  </a:t>
            </a:r>
            <a:endParaRPr lang="fr-FR" sz="4000" dirty="0" smtClean="0"/>
          </a:p>
          <a:p>
            <a:pPr marL="514350" lvl="0" indent="-514350">
              <a:buFont typeface="+mj-lt"/>
              <a:buAutoNum type="alphaUcPeriod"/>
            </a:pPr>
            <a:r>
              <a:rPr lang="fr-FR" dirty="0" smtClean="0"/>
              <a:t>les sanctions prononcées peuvent être lourdes ou légères</a:t>
            </a:r>
            <a:endParaRPr lang="fr-FR" sz="4000" dirty="0" smtClean="0"/>
          </a:p>
          <a:p>
            <a:pPr marL="514350" lvl="0" indent="-514350">
              <a:buFont typeface="+mj-lt"/>
              <a:buAutoNum type="alphaUcPeriod"/>
            </a:pPr>
            <a:r>
              <a:rPr lang="fr-FR" dirty="0" smtClean="0"/>
              <a:t>elle concerne les médecins installés à titre privé et les médecins du service public</a:t>
            </a:r>
            <a:endParaRPr lang="fr-FR" sz="4000" dirty="0" smtClean="0"/>
          </a:p>
          <a:p>
            <a:pPr marL="514350" lvl="0" indent="-514350">
              <a:buFont typeface="+mj-lt"/>
              <a:buAutoNum type="alphaUcPeriod"/>
            </a:pPr>
            <a:r>
              <a:rPr lang="fr-FR" dirty="0" smtClean="0"/>
              <a:t>elle peut suivre une responsabilité pénale ou civile</a:t>
            </a:r>
            <a:endParaRPr lang="fr-FR" sz="4000"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467544" y="2060848"/>
            <a:ext cx="8229600" cy="4525963"/>
          </a:xfrm>
        </p:spPr>
        <p:txBody>
          <a:bodyPr>
            <a:normAutofit lnSpcReduction="10000"/>
          </a:bodyPr>
          <a:lstStyle/>
          <a:p>
            <a:pPr lvl="0">
              <a:buNone/>
            </a:pPr>
            <a:r>
              <a:rPr lang="fr-FR" b="1" dirty="0" smtClean="0"/>
              <a:t>La  responsabilité civile : (la R J)</a:t>
            </a:r>
            <a:endParaRPr lang="fr-FR" sz="4000" dirty="0" smtClean="0"/>
          </a:p>
          <a:p>
            <a:pPr marL="971550" lvl="1" indent="-514350">
              <a:buFont typeface="+mj-lt"/>
              <a:buAutoNum type="alphaUcPeriod"/>
            </a:pPr>
            <a:r>
              <a:rPr lang="fr-FR" dirty="0" smtClean="0"/>
              <a:t>peut être engagé si le dommage subi par le malade est en relation avec une faute commise par le médecin </a:t>
            </a:r>
            <a:endParaRPr lang="fr-FR" sz="3600" dirty="0" smtClean="0"/>
          </a:p>
          <a:p>
            <a:pPr marL="971550" lvl="1" indent="-514350">
              <a:buFont typeface="+mj-lt"/>
              <a:buAutoNum type="alphaUcPeriod"/>
            </a:pPr>
            <a:r>
              <a:rPr lang="fr-FR" dirty="0" smtClean="0"/>
              <a:t>n’est pas engagée dans le cadre d’une faute personnelle commise dans un service public</a:t>
            </a:r>
            <a:endParaRPr lang="fr-FR" sz="3600" dirty="0" smtClean="0"/>
          </a:p>
          <a:p>
            <a:pPr marL="971550" lvl="1" indent="-514350">
              <a:buFont typeface="+mj-lt"/>
              <a:buAutoNum type="alphaUcPeriod"/>
            </a:pPr>
            <a:r>
              <a:rPr lang="fr-FR" dirty="0" smtClean="0"/>
              <a:t>est  engagée s’il s’agit d’une faute  de service  pour le médecin exerçant à l’hôpital</a:t>
            </a:r>
            <a:endParaRPr lang="fr-FR" sz="3600" dirty="0" smtClean="0"/>
          </a:p>
          <a:p>
            <a:pPr marL="971550" lvl="1" indent="-514350">
              <a:buFont typeface="+mj-lt"/>
              <a:buAutoNum type="alphaUcPeriod"/>
            </a:pPr>
            <a:r>
              <a:rPr lang="fr-FR" dirty="0" smtClean="0"/>
              <a:t>peut engendrer des poursuites pénales</a:t>
            </a:r>
          </a:p>
          <a:p>
            <a:pPr marL="971550" lvl="1" indent="-514350">
              <a:buFont typeface="+mj-lt"/>
              <a:buAutoNum type="alphaUcPeriod"/>
            </a:pPr>
            <a:r>
              <a:rPr lang="fr-FR" dirty="0" smtClean="0"/>
              <a:t>ne fait jamais suite à une sanction pénale</a:t>
            </a:r>
          </a:p>
          <a:p>
            <a:endParaRPr lang="fr-F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395536" y="2332037"/>
            <a:ext cx="8229600" cy="4525963"/>
          </a:xfrm>
        </p:spPr>
        <p:txBody>
          <a:bodyPr>
            <a:normAutofit/>
          </a:bodyPr>
          <a:lstStyle/>
          <a:p>
            <a:pPr lvl="0">
              <a:buNone/>
            </a:pPr>
            <a:r>
              <a:rPr lang="fr-FR" b="1" dirty="0" smtClean="0"/>
              <a:t>Quelle responsabilité médicale est source de sanction : (cocher la réponse juste)</a:t>
            </a:r>
            <a:endParaRPr lang="fr-FR" dirty="0" smtClean="0"/>
          </a:p>
          <a:p>
            <a:pPr marL="514350" lvl="0" indent="-514350">
              <a:buFont typeface="+mj-lt"/>
              <a:buAutoNum type="alphaUcPeriod"/>
            </a:pPr>
            <a:r>
              <a:rPr lang="fr-FR" dirty="0" smtClean="0"/>
              <a:t>la responsabilité civile</a:t>
            </a:r>
          </a:p>
          <a:p>
            <a:pPr marL="514350" lvl="0" indent="-514350">
              <a:buFont typeface="+mj-lt"/>
              <a:buAutoNum type="alphaUcPeriod"/>
            </a:pPr>
            <a:r>
              <a:rPr lang="fr-FR" dirty="0" smtClean="0"/>
              <a:t>la responsabilité pénale</a:t>
            </a:r>
          </a:p>
          <a:p>
            <a:pPr marL="514350" lvl="0" indent="-514350">
              <a:buFont typeface="+mj-lt"/>
              <a:buAutoNum type="alphaUcPeriod"/>
            </a:pPr>
            <a:r>
              <a:rPr lang="fr-FR" dirty="0" smtClean="0"/>
              <a:t>la responsabilité administrative</a:t>
            </a:r>
          </a:p>
          <a:p>
            <a:pPr marL="514350" lvl="0" indent="-514350">
              <a:buFont typeface="+mj-lt"/>
              <a:buAutoNum type="alphaUcPeriod"/>
            </a:pPr>
            <a:r>
              <a:rPr lang="fr-FR" dirty="0" smtClean="0"/>
              <a:t>la responsabilité contractuelle</a:t>
            </a:r>
          </a:p>
          <a:p>
            <a:pPr marL="514350" lvl="0" indent="-514350">
              <a:buFont typeface="+mj-lt"/>
              <a:buAutoNum type="alphaUcPeriod"/>
            </a:pPr>
            <a:r>
              <a:rPr lang="fr-FR" dirty="0" smtClean="0"/>
              <a:t>la responsabilité quasi délictuelle</a:t>
            </a:r>
          </a:p>
          <a:p>
            <a:pPr lvl="0"/>
            <a:endParaRPr lang="fr-FR" dirty="0" smtClean="0"/>
          </a:p>
          <a:p>
            <a:endParaRPr lang="fr-F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395536" y="2060848"/>
            <a:ext cx="8229600" cy="4525963"/>
          </a:xfrm>
        </p:spPr>
        <p:txBody>
          <a:bodyPr>
            <a:normAutofit fontScale="92500" lnSpcReduction="20000"/>
          </a:bodyPr>
          <a:lstStyle/>
          <a:p>
            <a:pPr lvl="0">
              <a:buNone/>
            </a:pPr>
            <a:r>
              <a:rPr lang="fr-FR" b="1" dirty="0" smtClean="0"/>
              <a:t>Quel est parmi ces éléments celui qui ne constitue pas le délit de non assistance à personne en danger : (cocher la réponse juste)</a:t>
            </a:r>
            <a:endParaRPr lang="fr-FR" dirty="0" smtClean="0"/>
          </a:p>
          <a:p>
            <a:pPr marL="514350" lvl="0" indent="-514350">
              <a:buFont typeface="+mj-lt"/>
              <a:buAutoNum type="alphaUcPeriod"/>
            </a:pPr>
            <a:r>
              <a:rPr lang="fr-FR" dirty="0" smtClean="0"/>
              <a:t>la personne en péril est une personne vivante</a:t>
            </a:r>
          </a:p>
          <a:p>
            <a:pPr marL="514350" lvl="0" indent="-514350">
              <a:buFont typeface="+mj-lt"/>
              <a:buAutoNum type="alphaUcPeriod"/>
            </a:pPr>
            <a:r>
              <a:rPr lang="fr-FR" dirty="0" smtClean="0"/>
              <a:t>abstention volontaire par le médecin de prêter assistance</a:t>
            </a:r>
          </a:p>
          <a:p>
            <a:pPr marL="514350" lvl="0" indent="-514350">
              <a:buFont typeface="+mj-lt"/>
              <a:buAutoNum type="alphaUcPeriod"/>
            </a:pPr>
            <a:r>
              <a:rPr lang="fr-FR" dirty="0" smtClean="0"/>
              <a:t>abstention volontaire ou involontaire par le médecin de prêter assistance</a:t>
            </a:r>
          </a:p>
          <a:p>
            <a:pPr marL="514350" lvl="0" indent="-514350">
              <a:buFont typeface="+mj-lt"/>
              <a:buAutoNum type="alphaUcPeriod"/>
            </a:pPr>
            <a:r>
              <a:rPr lang="fr-FR" dirty="0" smtClean="0"/>
              <a:t>absence de risque pour le médecin</a:t>
            </a:r>
          </a:p>
          <a:p>
            <a:pPr marL="514350" lvl="0" indent="-514350">
              <a:buFont typeface="+mj-lt"/>
              <a:buAutoNum type="alphaUcPeriod"/>
            </a:pPr>
            <a:r>
              <a:rPr lang="fr-FR" dirty="0" smtClean="0"/>
              <a:t>absence de risque pour la personne en péril</a:t>
            </a:r>
            <a:endParaRPr lang="fr-F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467544" y="2060848"/>
            <a:ext cx="8229600" cy="4525963"/>
          </a:xfrm>
        </p:spPr>
        <p:txBody>
          <a:bodyPr>
            <a:normAutofit fontScale="85000" lnSpcReduction="20000"/>
          </a:bodyPr>
          <a:lstStyle/>
          <a:p>
            <a:pPr lvl="0">
              <a:buNone/>
            </a:pPr>
            <a:r>
              <a:rPr lang="fr-FR" b="1" dirty="0" smtClean="0"/>
              <a:t>Parmi les propositions suivantes laquelle ou lesquelles  sont fausses :</a:t>
            </a:r>
            <a:endParaRPr lang="fr-FR" dirty="0" smtClean="0"/>
          </a:p>
          <a:p>
            <a:pPr marL="514350" lvl="0" indent="-514350">
              <a:buFont typeface="+mj-lt"/>
              <a:buAutoNum type="alphaUcPeriod"/>
            </a:pPr>
            <a:r>
              <a:rPr lang="fr-FR" dirty="0" smtClean="0"/>
              <a:t>Responsabilité pénale est répressive</a:t>
            </a:r>
          </a:p>
          <a:p>
            <a:pPr marL="514350" lvl="0" indent="-514350">
              <a:buFont typeface="+mj-lt"/>
              <a:buAutoNum type="alphaUcPeriod"/>
            </a:pPr>
            <a:r>
              <a:rPr lang="fr-FR" dirty="0" smtClean="0"/>
              <a:t>Responsabilité civile et administrative  = dommages et intérêts</a:t>
            </a:r>
          </a:p>
          <a:p>
            <a:pPr marL="514350" lvl="0" indent="-514350">
              <a:buFont typeface="+mj-lt"/>
              <a:buAutoNum type="alphaUcPeriod"/>
            </a:pPr>
            <a:r>
              <a:rPr lang="fr-FR" dirty="0" smtClean="0"/>
              <a:t>Responsabilité administrative concerne le secteur de santé public et privé</a:t>
            </a:r>
          </a:p>
          <a:p>
            <a:pPr marL="514350" lvl="0" indent="-514350">
              <a:buFont typeface="+mj-lt"/>
              <a:buAutoNum type="alphaUcPeriod"/>
            </a:pPr>
            <a:r>
              <a:rPr lang="fr-FR" dirty="0" smtClean="0"/>
              <a:t>Responsabilité disciplinaire est source de sanction</a:t>
            </a:r>
          </a:p>
          <a:p>
            <a:pPr marL="514350" lvl="0" indent="-514350">
              <a:buFont typeface="+mj-lt"/>
              <a:buAutoNum type="alphaUcPeriod"/>
            </a:pPr>
            <a:r>
              <a:rPr lang="fr-FR" dirty="0" smtClean="0"/>
              <a:t>Responsabilité administrative source d’indemnisation des fautes de ses agents de service ou détachables de ce dernier.</a:t>
            </a:r>
          </a:p>
          <a:p>
            <a:endParaRPr lang="fr-F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395536" y="2060848"/>
            <a:ext cx="8229600" cy="4525963"/>
          </a:xfrm>
        </p:spPr>
        <p:txBody>
          <a:bodyPr>
            <a:normAutofit fontScale="92500" lnSpcReduction="20000"/>
          </a:bodyPr>
          <a:lstStyle/>
          <a:p>
            <a:pPr lvl="0">
              <a:buNone/>
            </a:pPr>
            <a:r>
              <a:rPr lang="fr-FR" b="1" dirty="0" smtClean="0"/>
              <a:t>Quel type de responsabilité est engagée si un médecin gynécologue pratique un avortement dans un but non thérapeutique, dans un service public, perfore l’utérus et pratique en urgence une hystérectomie d’hémostase : </a:t>
            </a:r>
            <a:endParaRPr lang="fr-FR" dirty="0" smtClean="0"/>
          </a:p>
          <a:p>
            <a:pPr marL="514350" lvl="0" indent="-514350">
              <a:buFont typeface="+mj-lt"/>
              <a:buAutoNum type="alphaUcPeriod"/>
            </a:pPr>
            <a:r>
              <a:rPr lang="fr-FR" dirty="0" smtClean="0"/>
              <a:t>Pénale et administrative</a:t>
            </a:r>
          </a:p>
          <a:p>
            <a:pPr marL="514350" lvl="0" indent="-514350">
              <a:buFont typeface="+mj-lt"/>
              <a:buAutoNum type="alphaUcPeriod"/>
            </a:pPr>
            <a:r>
              <a:rPr lang="fr-FR" dirty="0" smtClean="0"/>
              <a:t>Pénale uniquement</a:t>
            </a:r>
          </a:p>
          <a:p>
            <a:pPr marL="514350" lvl="0" indent="-514350">
              <a:buFont typeface="+mj-lt"/>
              <a:buAutoNum type="alphaUcPeriod"/>
            </a:pPr>
            <a:r>
              <a:rPr lang="fr-FR" dirty="0" smtClean="0"/>
              <a:t>Pénale et civile</a:t>
            </a:r>
          </a:p>
          <a:p>
            <a:pPr marL="514350" lvl="0" indent="-514350">
              <a:buFont typeface="+mj-lt"/>
              <a:buAutoNum type="alphaUcPeriod"/>
            </a:pPr>
            <a:r>
              <a:rPr lang="fr-FR" dirty="0" smtClean="0"/>
              <a:t>Pénale, civile et disciplinaire</a:t>
            </a:r>
          </a:p>
          <a:p>
            <a:pPr marL="514350" lvl="0" indent="-514350">
              <a:buFont typeface="+mj-lt"/>
              <a:buAutoNum type="alphaUcPeriod"/>
            </a:pPr>
            <a:r>
              <a:rPr lang="fr-FR" dirty="0" smtClean="0"/>
              <a:t>Pénale, civile, administrative et disciplinaire</a:t>
            </a:r>
          </a:p>
          <a:p>
            <a:endParaRPr lang="fr-F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467544" y="2332037"/>
            <a:ext cx="8229600" cy="4525963"/>
          </a:xfrm>
        </p:spPr>
        <p:txBody>
          <a:bodyPr/>
          <a:lstStyle/>
          <a:p>
            <a:pPr lvl="0">
              <a:buNone/>
            </a:pPr>
            <a:r>
              <a:rPr lang="fr-FR" b="1" dirty="0" smtClean="0"/>
              <a:t>Pour quel type d’infraction, le gynécologue est poursuivi :</a:t>
            </a:r>
            <a:endParaRPr lang="fr-FR" dirty="0" smtClean="0"/>
          </a:p>
          <a:p>
            <a:pPr marL="514350" lvl="0" indent="-514350">
              <a:buFont typeface="+mj-lt"/>
              <a:buAutoNum type="alphaUcPeriod"/>
            </a:pPr>
            <a:r>
              <a:rPr lang="fr-FR" dirty="0" smtClean="0"/>
              <a:t>Le délit d’avortement</a:t>
            </a:r>
          </a:p>
          <a:p>
            <a:pPr marL="514350" lvl="0" indent="-514350">
              <a:buFont typeface="+mj-lt"/>
              <a:buAutoNum type="alphaUcPeriod"/>
            </a:pPr>
            <a:r>
              <a:rPr lang="fr-FR" dirty="0" smtClean="0"/>
              <a:t>Le délit de castration</a:t>
            </a:r>
          </a:p>
          <a:p>
            <a:pPr marL="514350" lvl="0" indent="-514350">
              <a:buFont typeface="+mj-lt"/>
              <a:buAutoNum type="alphaUcPeriod"/>
            </a:pPr>
            <a:r>
              <a:rPr lang="fr-FR" dirty="0" smtClean="0"/>
              <a:t>Le délit de </a:t>
            </a:r>
            <a:r>
              <a:rPr lang="fr-FR" dirty="0" err="1" smtClean="0"/>
              <a:t>foeticide</a:t>
            </a:r>
            <a:r>
              <a:rPr lang="fr-FR" dirty="0" smtClean="0"/>
              <a:t>  </a:t>
            </a:r>
          </a:p>
          <a:p>
            <a:pPr marL="514350" lvl="0" indent="-514350">
              <a:buFont typeface="+mj-lt"/>
              <a:buAutoNum type="alphaUcPeriod"/>
            </a:pPr>
            <a:r>
              <a:rPr lang="fr-FR" dirty="0" smtClean="0"/>
              <a:t>Le délit de coups et blessures volontaires</a:t>
            </a:r>
          </a:p>
          <a:p>
            <a:pPr marL="514350" lvl="0" indent="-514350">
              <a:buFont typeface="+mj-lt"/>
              <a:buAutoNum type="alphaUcPeriod"/>
            </a:pPr>
            <a:r>
              <a:rPr lang="fr-FR" dirty="0" smtClean="0"/>
              <a:t>Le crime d’avortement</a:t>
            </a:r>
          </a:p>
          <a:p>
            <a:endParaRPr lang="fr-F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395536" y="2332037"/>
            <a:ext cx="8229600" cy="4525963"/>
          </a:xfrm>
        </p:spPr>
        <p:txBody>
          <a:bodyPr>
            <a:normAutofit fontScale="92500"/>
          </a:bodyPr>
          <a:lstStyle/>
          <a:p>
            <a:pPr>
              <a:buNone/>
            </a:pPr>
            <a:r>
              <a:rPr lang="fr-FR" b="1" dirty="0" smtClean="0"/>
              <a:t>	La responsabilité pénale du médecin est engagée dans la situation suivante:  cocher la réponse fausse </a:t>
            </a:r>
          </a:p>
          <a:p>
            <a:pPr marL="514350" lvl="0" indent="-514350">
              <a:buFont typeface="+mj-lt"/>
              <a:buAutoNum type="alphaUcPeriod"/>
            </a:pPr>
            <a:r>
              <a:rPr lang="fr-FR" dirty="0" smtClean="0"/>
              <a:t>refus de délivrance d’un certificat de naissance </a:t>
            </a:r>
          </a:p>
          <a:p>
            <a:pPr marL="514350" lvl="0" indent="-514350">
              <a:buFont typeface="+mj-lt"/>
              <a:buAutoNum type="alphaUcPeriod"/>
            </a:pPr>
            <a:r>
              <a:rPr lang="fr-FR" dirty="0" smtClean="0"/>
              <a:t>violation du secret professionnel </a:t>
            </a:r>
          </a:p>
          <a:p>
            <a:pPr marL="514350" lvl="0" indent="-514350">
              <a:buFont typeface="+mj-lt"/>
              <a:buAutoNum type="alphaUcPeriod"/>
            </a:pPr>
            <a:r>
              <a:rPr lang="fr-FR" dirty="0" smtClean="0"/>
              <a:t>refus de révéler le diagnostic au patient</a:t>
            </a:r>
          </a:p>
          <a:p>
            <a:pPr marL="514350" lvl="0" indent="-514350">
              <a:buFont typeface="+mj-lt"/>
              <a:buAutoNum type="alphaUcPeriod"/>
            </a:pPr>
            <a:r>
              <a:rPr lang="fr-FR" dirty="0" smtClean="0"/>
              <a:t>délivrance d’un faux certificat médical </a:t>
            </a:r>
          </a:p>
          <a:p>
            <a:pPr marL="514350" lvl="0" indent="-514350">
              <a:buFont typeface="+mj-lt"/>
              <a:buAutoNum type="alphaUcPeriod"/>
            </a:pPr>
            <a:r>
              <a:rPr lang="fr-FR" dirty="0" smtClean="0"/>
              <a:t>refus de déférer à une réquisition</a:t>
            </a:r>
          </a:p>
          <a:p>
            <a:endParaRPr lang="fr-FR" dirty="0" smtClean="0"/>
          </a:p>
          <a:p>
            <a:endParaRPr lang="fr-FR" dirty="0" smtClean="0"/>
          </a:p>
          <a:p>
            <a:endParaRPr lang="fr-F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467544" y="2132856"/>
            <a:ext cx="8229600" cy="4525963"/>
          </a:xfrm>
        </p:spPr>
        <p:txBody>
          <a:bodyPr>
            <a:normAutofit fontScale="92500" lnSpcReduction="10000"/>
          </a:bodyPr>
          <a:lstStyle/>
          <a:p>
            <a:r>
              <a:rPr lang="fr-FR" b="1" dirty="0" smtClean="0"/>
              <a:t>la responsabilité pénale du médecin est engagée dans la situation suivante:  cocher la réponse fausse </a:t>
            </a:r>
          </a:p>
          <a:p>
            <a:pPr marL="514350" indent="-514350">
              <a:buFont typeface="+mj-lt"/>
              <a:buAutoNum type="alphaUcPeriod"/>
            </a:pPr>
            <a:r>
              <a:rPr lang="fr-FR" dirty="0" smtClean="0"/>
              <a:t> refus de délivrance d’un certificat de naissance </a:t>
            </a:r>
          </a:p>
          <a:p>
            <a:pPr marL="514350" lvl="0" indent="-514350">
              <a:buFont typeface="+mj-lt"/>
              <a:buAutoNum type="alphaUcPeriod"/>
            </a:pPr>
            <a:r>
              <a:rPr lang="fr-FR" dirty="0" smtClean="0"/>
              <a:t>violation du secret professionnel </a:t>
            </a:r>
          </a:p>
          <a:p>
            <a:pPr marL="514350" lvl="0" indent="-514350">
              <a:buFont typeface="+mj-lt"/>
              <a:buAutoNum type="alphaUcPeriod"/>
            </a:pPr>
            <a:r>
              <a:rPr lang="fr-FR" dirty="0" smtClean="0"/>
              <a:t>refus de révéler le résultat des examens complémentaires du patient à sa famille</a:t>
            </a:r>
          </a:p>
          <a:p>
            <a:pPr marL="514350" lvl="0" indent="-514350">
              <a:buFont typeface="+mj-lt"/>
              <a:buAutoNum type="alphaUcPeriod"/>
            </a:pPr>
            <a:r>
              <a:rPr lang="fr-FR" dirty="0" smtClean="0"/>
              <a:t>non-assistance à personne en péril </a:t>
            </a:r>
          </a:p>
          <a:p>
            <a:pPr marL="514350" lvl="0" indent="-514350">
              <a:buFont typeface="+mj-lt"/>
              <a:buAutoNum type="alphaUcPeriod"/>
            </a:pPr>
            <a:r>
              <a:rPr lang="fr-FR" dirty="0" smtClean="0"/>
              <a:t>délivrance d’un certificat anti daté</a:t>
            </a:r>
            <a:endParaRPr lang="fr-F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395536" y="2332037"/>
            <a:ext cx="8229600" cy="4525963"/>
          </a:xfrm>
        </p:spPr>
        <p:txBody>
          <a:bodyPr>
            <a:normAutofit fontScale="92500" lnSpcReduction="10000"/>
          </a:bodyPr>
          <a:lstStyle/>
          <a:p>
            <a:pPr>
              <a:buNone/>
            </a:pPr>
            <a:r>
              <a:rPr lang="fr-FR" dirty="0" smtClean="0"/>
              <a:t>	</a:t>
            </a:r>
            <a:r>
              <a:rPr lang="fr-FR" b="1" dirty="0" smtClean="0"/>
              <a:t>la responsabilité pénale du médecin est engagée : cocher la réponse fausse</a:t>
            </a:r>
          </a:p>
          <a:p>
            <a:pPr marL="514350" indent="-514350">
              <a:buFont typeface="+mj-lt"/>
              <a:buAutoNum type="alphaUcPeriod"/>
            </a:pPr>
            <a:r>
              <a:rPr lang="fr-FR" dirty="0" smtClean="0"/>
              <a:t> en cas de violation du secret professionnel </a:t>
            </a:r>
          </a:p>
          <a:p>
            <a:pPr marL="514350" lvl="0" indent="-514350">
              <a:buFont typeface="+mj-lt"/>
              <a:buAutoNum type="alphaUcPeriod"/>
            </a:pPr>
            <a:r>
              <a:rPr lang="fr-FR" dirty="0" smtClean="0"/>
              <a:t>pour non assistance à personne en péril </a:t>
            </a:r>
          </a:p>
          <a:p>
            <a:pPr marL="514350" lvl="0" indent="-514350">
              <a:buFont typeface="+mj-lt"/>
              <a:buAutoNum type="alphaUcPeriod"/>
            </a:pPr>
            <a:r>
              <a:rPr lang="fr-FR" dirty="0" smtClean="0"/>
              <a:t>Pour avoir été autorisé par le patient de révéler le diagnostic de sa maladie à sa famille </a:t>
            </a:r>
          </a:p>
          <a:p>
            <a:pPr marL="514350" lvl="0" indent="-514350">
              <a:buFont typeface="+mj-lt"/>
              <a:buAutoNum type="alphaUcPeriod"/>
            </a:pPr>
            <a:r>
              <a:rPr lang="fr-FR" dirty="0" smtClean="0"/>
              <a:t>pour délivrance d’un faux certificat </a:t>
            </a:r>
          </a:p>
          <a:p>
            <a:pPr marL="514350" lvl="0" indent="-514350">
              <a:buFont typeface="+mj-lt"/>
              <a:buAutoNum type="alphaUcPeriod"/>
            </a:pPr>
            <a:r>
              <a:rPr lang="fr-FR" dirty="0" smtClean="0"/>
              <a:t>avortement illégal</a:t>
            </a:r>
          </a:p>
          <a:p>
            <a:pPr>
              <a:buNone/>
            </a:pPr>
            <a:r>
              <a:rPr lang="fr-FR" dirty="0" smtClean="0"/>
              <a:t> </a:t>
            </a:r>
          </a:p>
          <a:p>
            <a:endParaRPr lang="fr-FR" dirty="0" smtClean="0"/>
          </a:p>
          <a:p>
            <a:endParaRPr lang="fr-F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395536" y="2332037"/>
            <a:ext cx="8229600" cy="4525963"/>
          </a:xfrm>
        </p:spPr>
        <p:txBody>
          <a:bodyPr>
            <a:normAutofit fontScale="62500" lnSpcReduction="20000"/>
          </a:bodyPr>
          <a:lstStyle/>
          <a:p>
            <a:pPr>
              <a:buNone/>
            </a:pPr>
            <a:r>
              <a:rPr lang="fr-FR" b="1" dirty="0" smtClean="0"/>
              <a:t>A propos de la responsabilité pénale des médecins, quelle sont les propositions exacte? :  cocher la réponse fausse </a:t>
            </a:r>
          </a:p>
          <a:p>
            <a:pPr>
              <a:buNone/>
            </a:pPr>
            <a:r>
              <a:rPr lang="fr-FR" dirty="0" smtClean="0"/>
              <a:t> </a:t>
            </a:r>
          </a:p>
          <a:p>
            <a:pPr marL="742950" lvl="0" indent="-742950">
              <a:buFont typeface="+mj-lt"/>
              <a:buAutoNum type="alphaUcPeriod"/>
            </a:pPr>
            <a:r>
              <a:rPr lang="fr-FR" sz="4000" dirty="0" smtClean="0"/>
              <a:t>la responsabilité pénale du médecin est couverte par son assurance professionnelle </a:t>
            </a:r>
          </a:p>
          <a:p>
            <a:pPr marL="742950" lvl="0" indent="-742950">
              <a:buFont typeface="+mj-lt"/>
              <a:buAutoNum type="alphaUcPeriod"/>
            </a:pPr>
            <a:r>
              <a:rPr lang="fr-FR" sz="4000" dirty="0" smtClean="0"/>
              <a:t>la responsabilité pénale est engagée en cas d’infraction définie dans le code pénal </a:t>
            </a:r>
          </a:p>
          <a:p>
            <a:pPr marL="742950" lvl="0" indent="-742950">
              <a:buFont typeface="+mj-lt"/>
              <a:buAutoNum type="alphaUcPeriod"/>
            </a:pPr>
            <a:r>
              <a:rPr lang="fr-FR" sz="4000" dirty="0" smtClean="0"/>
              <a:t>la responsabilité pénale est personnelle</a:t>
            </a:r>
          </a:p>
          <a:p>
            <a:pPr marL="742950" lvl="0" indent="-742950">
              <a:buFont typeface="+mj-lt"/>
              <a:buAutoNum type="alphaUcPeriod"/>
            </a:pPr>
            <a:r>
              <a:rPr lang="fr-FR" sz="4000" dirty="0" smtClean="0"/>
              <a:t>la faute pénale du médecin peut entraîner une amende ou un emprisonnement</a:t>
            </a:r>
          </a:p>
          <a:p>
            <a:pPr marL="742950" lvl="0" indent="-742950">
              <a:buFont typeface="+mj-lt"/>
              <a:buAutoNum type="alphaUcPeriod"/>
            </a:pPr>
            <a:r>
              <a:rPr lang="fr-FR" sz="4000" dirty="0" smtClean="0"/>
              <a:t>la faute pénale du médecin peut entraîner des sanctions disciplinaires</a:t>
            </a:r>
          </a:p>
          <a:p>
            <a:pPr>
              <a:buNone/>
            </a:pPr>
            <a:r>
              <a:rPr lang="fr-FR" dirty="0" smtClean="0"/>
              <a:t> </a:t>
            </a:r>
          </a:p>
          <a:p>
            <a:endParaRPr lang="fr-F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467544" y="2132856"/>
            <a:ext cx="8229600" cy="4525963"/>
          </a:xfrm>
        </p:spPr>
        <p:txBody>
          <a:bodyPr>
            <a:normAutofit fontScale="92500" lnSpcReduction="20000"/>
          </a:bodyPr>
          <a:lstStyle/>
          <a:p>
            <a:pPr>
              <a:buNone/>
            </a:pPr>
            <a:r>
              <a:rPr lang="fr-FR" b="1" dirty="0" smtClean="0"/>
              <a:t>Un médecin exerçant selon le mode libéral, qui commet une faute professionnelle pourra être sanctionné par le conseil de l’ordre : cocher la réponse juste</a:t>
            </a:r>
          </a:p>
          <a:p>
            <a:pPr marL="514350" lvl="0" indent="-514350">
              <a:buFont typeface="+mj-lt"/>
              <a:buAutoNum type="alphaUcPeriod"/>
            </a:pPr>
            <a:r>
              <a:rPr lang="fr-FR" dirty="0" smtClean="0"/>
              <a:t>une amende </a:t>
            </a:r>
          </a:p>
          <a:p>
            <a:pPr marL="514350" lvl="0" indent="-514350">
              <a:buFont typeface="+mj-lt"/>
              <a:buAutoNum type="alphaUcPeriod"/>
            </a:pPr>
            <a:r>
              <a:rPr lang="fr-FR" dirty="0" smtClean="0"/>
              <a:t>une contravention</a:t>
            </a:r>
          </a:p>
          <a:p>
            <a:pPr marL="514350" lvl="0" indent="-514350">
              <a:buFont typeface="+mj-lt"/>
              <a:buAutoNum type="alphaUcPeriod"/>
            </a:pPr>
            <a:r>
              <a:rPr lang="fr-FR" dirty="0" smtClean="0"/>
              <a:t>une obligation de réparer le dommage occasionné par la faute  </a:t>
            </a:r>
          </a:p>
          <a:p>
            <a:pPr marL="514350" lvl="0" indent="-514350">
              <a:buFont typeface="+mj-lt"/>
              <a:buAutoNum type="alphaUcPeriod"/>
            </a:pPr>
            <a:r>
              <a:rPr lang="fr-FR" dirty="0" smtClean="0"/>
              <a:t>une suspension d’exercer</a:t>
            </a:r>
          </a:p>
          <a:p>
            <a:pPr marL="514350" lvl="0" indent="-514350">
              <a:buFont typeface="+mj-lt"/>
              <a:buAutoNum type="alphaUcPeriod"/>
            </a:pPr>
            <a:r>
              <a:rPr lang="fr-FR" dirty="0" smtClean="0"/>
              <a:t>une peine de prison </a:t>
            </a:r>
          </a:p>
          <a:p>
            <a:endParaRPr lang="fr-F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467544" y="2332037"/>
            <a:ext cx="8229600" cy="4525963"/>
          </a:xfrm>
        </p:spPr>
        <p:txBody>
          <a:bodyPr/>
          <a:lstStyle/>
          <a:p>
            <a:pPr>
              <a:buNone/>
            </a:pPr>
            <a:r>
              <a:rPr lang="fr-FR" b="1" dirty="0" smtClean="0"/>
              <a:t>Pour quelle faute la responsabilité pénale est engagée ?: cocher la réponse fausse </a:t>
            </a:r>
          </a:p>
          <a:p>
            <a:pPr marL="514350" lvl="0" indent="-514350">
              <a:buFont typeface="+mj-lt"/>
              <a:buAutoNum type="alphaUcPeriod"/>
            </a:pPr>
            <a:r>
              <a:rPr lang="fr-FR" dirty="0" smtClean="0"/>
              <a:t>la violation du secret professionnel</a:t>
            </a:r>
          </a:p>
          <a:p>
            <a:pPr marL="514350" lvl="0" indent="-514350">
              <a:buFont typeface="+mj-lt"/>
              <a:buAutoNum type="alphaUcPeriod"/>
            </a:pPr>
            <a:r>
              <a:rPr lang="fr-FR" dirty="0" smtClean="0"/>
              <a:t>la non-assistance à personne en danger</a:t>
            </a:r>
          </a:p>
          <a:p>
            <a:pPr marL="514350" lvl="0" indent="-514350">
              <a:buFont typeface="+mj-lt"/>
              <a:buAutoNum type="alphaUcPeriod"/>
            </a:pPr>
            <a:r>
              <a:rPr lang="fr-FR" dirty="0" smtClean="0"/>
              <a:t>la déclaration d’un avortement illégal</a:t>
            </a:r>
          </a:p>
          <a:p>
            <a:pPr marL="514350" lvl="0" indent="-514350">
              <a:buFont typeface="+mj-lt"/>
              <a:buAutoNum type="alphaUcPeriod"/>
            </a:pPr>
            <a:r>
              <a:rPr lang="fr-FR" dirty="0" smtClean="0"/>
              <a:t>l’infraction à la législation des stupéfiants</a:t>
            </a:r>
          </a:p>
          <a:p>
            <a:pPr marL="514350" lvl="0" indent="-514350">
              <a:buFont typeface="+mj-lt"/>
              <a:buAutoNum type="alphaUcPeriod"/>
            </a:pPr>
            <a:r>
              <a:rPr lang="fr-FR" dirty="0" smtClean="0"/>
              <a:t>la déclaration des sévices à enfant </a:t>
            </a:r>
          </a:p>
          <a:p>
            <a:endParaRPr lang="fr-F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467544" y="2060848"/>
            <a:ext cx="8229600" cy="4525963"/>
          </a:xfrm>
        </p:spPr>
        <p:txBody>
          <a:bodyPr>
            <a:normAutofit fontScale="77500" lnSpcReduction="20000"/>
          </a:bodyPr>
          <a:lstStyle/>
          <a:p>
            <a:pPr>
              <a:buNone/>
            </a:pPr>
            <a:r>
              <a:rPr lang="fr-FR" b="1" dirty="0" smtClean="0"/>
              <a:t>La non assistance à personne en danger est engagée  dans toutes les situations sauf une:  </a:t>
            </a:r>
          </a:p>
          <a:p>
            <a:pPr marL="514350" lvl="0" indent="-514350">
              <a:buFont typeface="+mj-lt"/>
              <a:buAutoNum type="alphaUcPeriod"/>
            </a:pPr>
            <a:r>
              <a:rPr lang="fr-FR" dirty="0" smtClean="0"/>
              <a:t>lorsque le médecin de garde refuse de se rendre la nuit auprès d’un patient accidenté </a:t>
            </a:r>
          </a:p>
          <a:p>
            <a:pPr marL="514350" lvl="0" indent="-514350">
              <a:buFont typeface="+mj-lt"/>
              <a:buAutoNum type="alphaUcPeriod"/>
            </a:pPr>
            <a:r>
              <a:rPr lang="fr-FR" dirty="0" smtClean="0"/>
              <a:t>si le médecin pour une contrainte (maladie) ne peut pas se déplacer mais appelle le SAMU  </a:t>
            </a:r>
          </a:p>
          <a:p>
            <a:pPr marL="514350" lvl="0" indent="-514350">
              <a:buFont typeface="+mj-lt"/>
              <a:buAutoNum type="alphaUcPeriod"/>
            </a:pPr>
            <a:r>
              <a:rPr lang="fr-FR" dirty="0" smtClean="0"/>
              <a:t>si le médecin de garde éteint son téléphone dans son domicile.</a:t>
            </a:r>
          </a:p>
          <a:p>
            <a:pPr marL="514350" lvl="0" indent="-514350">
              <a:buFont typeface="+mj-lt"/>
              <a:buAutoNum type="alphaUcPeriod"/>
            </a:pPr>
            <a:r>
              <a:rPr lang="fr-FR" dirty="0" smtClean="0"/>
              <a:t>Si le médecin refuse de se rendre sans risque pour lui ni pour un tiers</a:t>
            </a:r>
          </a:p>
          <a:p>
            <a:pPr marL="514350" lvl="0" indent="-514350">
              <a:buFont typeface="+mj-lt"/>
              <a:buAutoNum type="alphaUcPeriod"/>
            </a:pPr>
            <a:r>
              <a:rPr lang="fr-FR" dirty="0" smtClean="0"/>
              <a:t>S’il ne provoque pas le secours par son action personnelle ou ne fait pas appel au secours compétents</a:t>
            </a:r>
          </a:p>
          <a:p>
            <a:pPr>
              <a:buNone/>
            </a:pPr>
            <a:endParaRPr lang="fr-F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395536" y="2132856"/>
            <a:ext cx="8229600" cy="4525963"/>
          </a:xfrm>
        </p:spPr>
        <p:txBody>
          <a:bodyPr>
            <a:normAutofit fontScale="92500" lnSpcReduction="10000"/>
          </a:bodyPr>
          <a:lstStyle/>
          <a:p>
            <a:pPr>
              <a:buNone/>
            </a:pPr>
            <a:r>
              <a:rPr lang="fr-FR" b="1" dirty="0" smtClean="0"/>
              <a:t>Le médecin exerçant à l’hôpital est un auxiliaire du service public. La faute mettant en jeu la responsabilité de puissance publique est appréciées par : cocher la réponse juste </a:t>
            </a:r>
          </a:p>
          <a:p>
            <a:pPr marL="514350" lvl="0" indent="-514350">
              <a:buFont typeface="+mj-lt"/>
              <a:buAutoNum type="alphaUcPeriod"/>
            </a:pPr>
            <a:r>
              <a:rPr lang="fr-FR" dirty="0" smtClean="0"/>
              <a:t>le juge d’instruction </a:t>
            </a:r>
          </a:p>
          <a:p>
            <a:pPr marL="514350" lvl="0" indent="-514350">
              <a:buFont typeface="+mj-lt"/>
              <a:buAutoNum type="alphaUcPeriod"/>
            </a:pPr>
            <a:r>
              <a:rPr lang="fr-FR" dirty="0" smtClean="0"/>
              <a:t>le directeur de l’hôpital</a:t>
            </a:r>
          </a:p>
          <a:p>
            <a:pPr marL="514350" lvl="0" indent="-514350">
              <a:buFont typeface="+mj-lt"/>
              <a:buAutoNum type="alphaUcPeriod"/>
            </a:pPr>
            <a:r>
              <a:rPr lang="fr-FR" dirty="0" smtClean="0"/>
              <a:t>l’ordre des médecins</a:t>
            </a:r>
          </a:p>
          <a:p>
            <a:pPr marL="514350" lvl="0" indent="-514350">
              <a:buFont typeface="+mj-lt"/>
              <a:buAutoNum type="alphaUcPeriod"/>
            </a:pPr>
            <a:r>
              <a:rPr lang="fr-FR" dirty="0" smtClean="0"/>
              <a:t>les instances judiciaires pénales</a:t>
            </a:r>
          </a:p>
          <a:p>
            <a:pPr marL="514350" indent="-514350">
              <a:buFont typeface="+mj-lt"/>
              <a:buAutoNum type="alphaUcPeriod"/>
            </a:pPr>
            <a:r>
              <a:rPr lang="fr-FR" dirty="0" smtClean="0"/>
              <a:t>le tribunal administratif </a:t>
            </a:r>
            <a:endParaRPr lang="fr-F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467544" y="2060848"/>
            <a:ext cx="8229600" cy="4525963"/>
          </a:xfrm>
        </p:spPr>
        <p:txBody>
          <a:bodyPr/>
          <a:lstStyle/>
          <a:p>
            <a:pPr>
              <a:buNone/>
            </a:pPr>
            <a:r>
              <a:rPr lang="fr-FR" b="1" dirty="0" smtClean="0"/>
              <a:t>La structure qui peut condamner un médecin au plan disciplinaire est : cocher la réponse juste </a:t>
            </a:r>
          </a:p>
          <a:p>
            <a:pPr marL="514350" lvl="0" indent="-514350">
              <a:buFont typeface="+mj-lt"/>
              <a:buAutoNum type="alphaUcPeriod"/>
            </a:pPr>
            <a:r>
              <a:rPr lang="fr-FR" dirty="0" smtClean="0"/>
              <a:t>Le conseil d’éthique</a:t>
            </a:r>
          </a:p>
          <a:p>
            <a:pPr marL="514350" lvl="0" indent="-514350">
              <a:buFont typeface="+mj-lt"/>
              <a:buAutoNum type="alphaUcPeriod"/>
            </a:pPr>
            <a:r>
              <a:rPr lang="fr-FR" dirty="0" smtClean="0"/>
              <a:t>syndicats médicaux </a:t>
            </a:r>
          </a:p>
          <a:p>
            <a:pPr marL="514350" lvl="0" indent="-514350">
              <a:buFont typeface="+mj-lt"/>
              <a:buAutoNum type="alphaUcPeriod"/>
            </a:pPr>
            <a:r>
              <a:rPr lang="fr-FR" dirty="0" smtClean="0"/>
              <a:t>le tribunal administratif</a:t>
            </a:r>
          </a:p>
          <a:p>
            <a:pPr marL="514350" lvl="0" indent="-514350">
              <a:buFont typeface="+mj-lt"/>
              <a:buAutoNum type="alphaUcPeriod"/>
            </a:pPr>
            <a:r>
              <a:rPr lang="fr-FR" dirty="0" smtClean="0"/>
              <a:t>le tribunal pénal </a:t>
            </a:r>
          </a:p>
          <a:p>
            <a:pPr marL="514350" lvl="0" indent="-514350">
              <a:buFont typeface="+mj-lt"/>
              <a:buAutoNum type="alphaUcPeriod"/>
            </a:pPr>
            <a:r>
              <a:rPr lang="fr-FR" dirty="0" smtClean="0"/>
              <a:t>le conseil régional de l’ordre des médecins </a:t>
            </a:r>
          </a:p>
          <a:p>
            <a:endParaRPr lang="fr-F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467544" y="2060848"/>
            <a:ext cx="8229600" cy="4525963"/>
          </a:xfrm>
        </p:spPr>
        <p:txBody>
          <a:bodyPr/>
          <a:lstStyle/>
          <a:p>
            <a:pPr>
              <a:buNone/>
            </a:pPr>
            <a:r>
              <a:rPr lang="fr-FR" b="1" dirty="0" smtClean="0"/>
              <a:t>Au titre de responsabilité médicale, une sanction pénale peut s’appliquer à : cocher la réponse fausse </a:t>
            </a:r>
          </a:p>
          <a:p>
            <a:pPr marL="514350" lvl="0" indent="-514350">
              <a:buFont typeface="+mj-lt"/>
              <a:buAutoNum type="alphaUcPeriod"/>
            </a:pPr>
            <a:r>
              <a:rPr lang="fr-FR" dirty="0" smtClean="0"/>
              <a:t>homicide par imprudence</a:t>
            </a:r>
          </a:p>
          <a:p>
            <a:pPr marL="514350" lvl="0" indent="-514350">
              <a:buFont typeface="+mj-lt"/>
              <a:buAutoNum type="alphaUcPeriod"/>
            </a:pPr>
            <a:r>
              <a:rPr lang="fr-FR" dirty="0" smtClean="0"/>
              <a:t>homicide involontaire</a:t>
            </a:r>
          </a:p>
          <a:p>
            <a:pPr marL="514350" lvl="0" indent="-514350">
              <a:buFont typeface="+mj-lt"/>
              <a:buAutoNum type="alphaUcPeriod"/>
            </a:pPr>
            <a:r>
              <a:rPr lang="fr-FR" dirty="0" smtClean="0"/>
              <a:t>infection nosocomiale </a:t>
            </a:r>
          </a:p>
          <a:p>
            <a:pPr marL="514350" lvl="0" indent="-514350">
              <a:buFont typeface="+mj-lt"/>
              <a:buAutoNum type="alphaUcPeriod"/>
            </a:pPr>
            <a:r>
              <a:rPr lang="fr-FR" dirty="0" smtClean="0"/>
              <a:t>interruption volontaire de la grossesse</a:t>
            </a:r>
          </a:p>
          <a:p>
            <a:pPr marL="514350" lvl="0" indent="-514350">
              <a:buFont typeface="+mj-lt"/>
              <a:buAutoNum type="alphaUcPeriod"/>
            </a:pPr>
            <a:r>
              <a:rPr lang="fr-FR" dirty="0" smtClean="0"/>
              <a:t>violation du secret médical </a:t>
            </a:r>
          </a:p>
          <a:p>
            <a:endParaRPr lang="fr-F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395536" y="2332037"/>
            <a:ext cx="8229600" cy="4525963"/>
          </a:xfrm>
        </p:spPr>
        <p:txBody>
          <a:bodyPr>
            <a:normAutofit fontScale="85000" lnSpcReduction="20000"/>
          </a:bodyPr>
          <a:lstStyle/>
          <a:p>
            <a:pPr>
              <a:buNone/>
            </a:pPr>
            <a:r>
              <a:rPr lang="fr-FR" b="1" dirty="0" smtClean="0"/>
              <a:t>La responsabilité du praticien hospitalier dans le secteur public, du fait de son activité médicale: cocher la réponse fausse </a:t>
            </a:r>
          </a:p>
          <a:p>
            <a:pPr marL="514350" lvl="0" indent="-514350">
              <a:buFont typeface="+mj-lt"/>
              <a:buAutoNum type="alphaUcPeriod"/>
            </a:pPr>
            <a:r>
              <a:rPr lang="fr-FR" dirty="0" smtClean="0"/>
              <a:t>peut être engagée sur le plan pénal devant les  juridictions répressives</a:t>
            </a:r>
          </a:p>
          <a:p>
            <a:pPr marL="514350" lvl="0" indent="-514350">
              <a:buFont typeface="+mj-lt"/>
              <a:buAutoNum type="alphaUcPeriod"/>
            </a:pPr>
            <a:r>
              <a:rPr lang="fr-FR" b="1" dirty="0" smtClean="0"/>
              <a:t>sur le plan civil en cas de faute de service</a:t>
            </a:r>
            <a:endParaRPr lang="fr-FR" dirty="0" smtClean="0"/>
          </a:p>
          <a:p>
            <a:pPr marL="514350" lvl="0" indent="-514350">
              <a:buFont typeface="+mj-lt"/>
              <a:buAutoNum type="alphaUcPeriod"/>
            </a:pPr>
            <a:r>
              <a:rPr lang="fr-FR" dirty="0" smtClean="0"/>
              <a:t>sur le plan disciplinaire devant le conseil régional de l’ordre des médecins </a:t>
            </a:r>
          </a:p>
          <a:p>
            <a:pPr marL="514350" lvl="0" indent="-514350">
              <a:buFont typeface="+mj-lt"/>
              <a:buAutoNum type="alphaUcPeriod"/>
            </a:pPr>
            <a:r>
              <a:rPr lang="fr-FR" dirty="0" smtClean="0"/>
              <a:t>sur le plan disciplinaire devant l’autorité administrative </a:t>
            </a:r>
          </a:p>
          <a:p>
            <a:pPr marL="514350" lvl="0" indent="-514350">
              <a:buFont typeface="+mj-lt"/>
              <a:buAutoNum type="alphaUcPeriod"/>
            </a:pPr>
            <a:r>
              <a:rPr lang="fr-FR" dirty="0" smtClean="0"/>
              <a:t>sur le plan pénal  et civil en cas de faute personnelle</a:t>
            </a:r>
          </a:p>
          <a:p>
            <a:endParaRPr lang="fr-FR" dirty="0"/>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929</TotalTime>
  <Words>1133</Words>
  <Application>Microsoft Office PowerPoint</Application>
  <PresentationFormat>Affichage à l'écran (4:3)</PresentationFormat>
  <Paragraphs>214</Paragraphs>
  <Slides>38</Slides>
  <Notes>0</Notes>
  <HiddenSlides>0</HiddenSlides>
  <MMClips>0</MMClips>
  <ScaleCrop>false</ScaleCrop>
  <HeadingPairs>
    <vt:vector size="4" baseType="variant">
      <vt:variant>
        <vt:lpstr>Thème</vt:lpstr>
      </vt:variant>
      <vt:variant>
        <vt:i4>1</vt:i4>
      </vt:variant>
      <vt:variant>
        <vt:lpstr>Titres des diapositives</vt:lpstr>
      </vt:variant>
      <vt:variant>
        <vt:i4>38</vt:i4>
      </vt:variant>
    </vt:vector>
  </HeadingPairs>
  <TitlesOfParts>
    <vt:vector size="39" baseType="lpstr">
      <vt:lpstr>Thème Office</vt:lpstr>
      <vt:lpstr> Cours et illustration QCM et QCS   responsabilité médicale </vt:lpstr>
      <vt:lpstr>Diapositive 2</vt:lpstr>
      <vt:lpstr>Responsabilité pénale</vt:lpstr>
      <vt:lpstr> Étendue de l’obligation</vt:lpstr>
      <vt:lpstr>Autres délits</vt:lpstr>
      <vt:lpstr>  B- infractions concernant l’acte médical </vt:lpstr>
      <vt:lpstr>   LA RESPONSABILITE DISCIPLINAIRE </vt:lpstr>
      <vt:lpstr>La responsabilité médicale civile</vt:lpstr>
      <vt:lpstr> </vt:lpstr>
      <vt:lpstr>Diapositive 10</vt:lpstr>
      <vt:lpstr>Diapositive 11</vt:lpstr>
      <vt:lpstr>Diapositive 12</vt:lpstr>
      <vt:lpstr>Diapositive 13</vt:lpstr>
      <vt:lpstr>  Responsabilité administrative </vt:lpstr>
      <vt:lpstr>Quel(s) élément(s) font retenir la responsabilité civile du médecin ?</vt:lpstr>
      <vt:lpstr> un dommage dans le civil suppose : (la RJ) </vt:lpstr>
      <vt:lpstr> la réparation d’une faute délictuelle à l’hôpital est prise en charge par : (la réponse juste) </vt:lpstr>
      <vt:lpstr>  la responsabilité civile contractuelle du  praticien se trouve engagée dans une des  situations suivantes: </vt:lpstr>
      <vt:lpstr>Diapositive 19</vt:lpstr>
      <vt:lpstr>Diapositive 20</vt:lpstr>
      <vt:lpstr>Diapositive 21</vt:lpstr>
      <vt:lpstr>Diapositive 22</vt:lpstr>
      <vt:lpstr>Diapositive 23</vt:lpstr>
      <vt:lpstr>Diapositive 24</vt:lpstr>
      <vt:lpstr>Diapositive 25</vt:lpstr>
      <vt:lpstr>Diapositive 26</vt:lpstr>
      <vt:lpstr>Diapositive 27</vt:lpstr>
      <vt:lpstr>Diapositive 28</vt:lpstr>
      <vt:lpstr>Diapositive 29</vt:lpstr>
      <vt:lpstr>Diapositive 30</vt:lpstr>
      <vt:lpstr>Diapositive 31</vt:lpstr>
      <vt:lpstr>Diapositive 32</vt:lpstr>
      <vt:lpstr>Diapositive 33</vt:lpstr>
      <vt:lpstr>Diapositive 34</vt:lpstr>
      <vt:lpstr>Diapositive 35</vt:lpstr>
      <vt:lpstr>Diapositive 36</vt:lpstr>
      <vt:lpstr>Diapositive 37</vt:lpstr>
      <vt:lpstr>Diapositive 38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HP</dc:creator>
  <cp:lastModifiedBy>HP</cp:lastModifiedBy>
  <cp:revision>70</cp:revision>
  <dcterms:created xsi:type="dcterms:W3CDTF">2020-12-10T20:39:46Z</dcterms:created>
  <dcterms:modified xsi:type="dcterms:W3CDTF">2021-02-23T16:45:33Z</dcterms:modified>
</cp:coreProperties>
</file>