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2" r:id="rId2"/>
    <p:sldId id="381" r:id="rId3"/>
    <p:sldId id="405" r:id="rId4"/>
    <p:sldId id="406" r:id="rId5"/>
    <p:sldId id="407" r:id="rId6"/>
    <p:sldId id="404" r:id="rId7"/>
    <p:sldId id="382" r:id="rId8"/>
    <p:sldId id="380" r:id="rId9"/>
    <p:sldId id="291" r:id="rId10"/>
    <p:sldId id="383" r:id="rId11"/>
    <p:sldId id="292" r:id="rId12"/>
    <p:sldId id="293" r:id="rId13"/>
    <p:sldId id="294" r:id="rId14"/>
    <p:sldId id="295" r:id="rId15"/>
    <p:sldId id="297" r:id="rId16"/>
    <p:sldId id="298" r:id="rId17"/>
    <p:sldId id="299" r:id="rId18"/>
    <p:sldId id="300" r:id="rId19"/>
    <p:sldId id="301" r:id="rId20"/>
    <p:sldId id="306" r:id="rId21"/>
    <p:sldId id="384" r:id="rId22"/>
    <p:sldId id="385" r:id="rId23"/>
    <p:sldId id="379" r:id="rId24"/>
    <p:sldId id="357" r:id="rId25"/>
    <p:sldId id="358" r:id="rId26"/>
    <p:sldId id="359" r:id="rId27"/>
    <p:sldId id="360" r:id="rId28"/>
    <p:sldId id="361" r:id="rId29"/>
    <p:sldId id="362" r:id="rId30"/>
    <p:sldId id="364" r:id="rId31"/>
    <p:sldId id="369" r:id="rId32"/>
    <p:sldId id="386" r:id="rId33"/>
    <p:sldId id="387" r:id="rId34"/>
    <p:sldId id="388" r:id="rId35"/>
    <p:sldId id="389" r:id="rId36"/>
    <p:sldId id="390" r:id="rId37"/>
    <p:sldId id="391" r:id="rId38"/>
    <p:sldId id="392" r:id="rId39"/>
    <p:sldId id="393" r:id="rId40"/>
    <p:sldId id="394" r:id="rId41"/>
    <p:sldId id="395" r:id="rId42"/>
    <p:sldId id="396" r:id="rId43"/>
    <p:sldId id="397" r:id="rId44"/>
    <p:sldId id="398" r:id="rId45"/>
    <p:sldId id="399" r:id="rId46"/>
    <p:sldId id="400" r:id="rId47"/>
    <p:sldId id="401" r:id="rId48"/>
    <p:sldId id="402" r:id="rId49"/>
    <p:sldId id="403" r:id="rId5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F968-DFDC-4683-BB76-FBA5CA16D50A}" type="datetimeFigureOut">
              <a:rPr lang="fr-FR" smtClean="0"/>
              <a:pPr/>
              <a:t>23/06/2024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F7111-BE5E-45E3-9B20-3306F9E7987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591728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F968-DFDC-4683-BB76-FBA5CA16D50A}" type="datetimeFigureOut">
              <a:rPr lang="fr-FR" smtClean="0"/>
              <a:pPr/>
              <a:t>23/06/2024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F7111-BE5E-45E3-9B20-3306F9E7987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36877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F968-DFDC-4683-BB76-FBA5CA16D50A}" type="datetimeFigureOut">
              <a:rPr lang="fr-FR" smtClean="0"/>
              <a:pPr/>
              <a:t>23/06/2024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F7111-BE5E-45E3-9B20-3306F9E7987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008651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F968-DFDC-4683-BB76-FBA5CA16D50A}" type="datetimeFigureOut">
              <a:rPr lang="fr-FR" smtClean="0"/>
              <a:pPr/>
              <a:t>23/06/2024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F7111-BE5E-45E3-9B20-3306F9E7987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971107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F968-DFDC-4683-BB76-FBA5CA16D50A}" type="datetimeFigureOut">
              <a:rPr lang="fr-FR" smtClean="0"/>
              <a:pPr/>
              <a:t>23/06/2024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F7111-BE5E-45E3-9B20-3306F9E7987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776761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F968-DFDC-4683-BB76-FBA5CA16D50A}" type="datetimeFigureOut">
              <a:rPr lang="fr-FR" smtClean="0"/>
              <a:pPr/>
              <a:t>23/06/2024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F7111-BE5E-45E3-9B20-3306F9E7987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555585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F968-DFDC-4683-BB76-FBA5CA16D50A}" type="datetimeFigureOut">
              <a:rPr lang="fr-FR" smtClean="0"/>
              <a:pPr/>
              <a:t>23/06/2024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F7111-BE5E-45E3-9B20-3306F9E7987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91247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F968-DFDC-4683-BB76-FBA5CA16D50A}" type="datetimeFigureOut">
              <a:rPr lang="fr-FR" smtClean="0"/>
              <a:pPr/>
              <a:t>23/06/2024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F7111-BE5E-45E3-9B20-3306F9E7987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4128172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F968-DFDC-4683-BB76-FBA5CA16D50A}" type="datetimeFigureOut">
              <a:rPr lang="fr-FR" smtClean="0"/>
              <a:pPr/>
              <a:t>23/06/2024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F7111-BE5E-45E3-9B20-3306F9E7987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259460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F968-DFDC-4683-BB76-FBA5CA16D50A}" type="datetimeFigureOut">
              <a:rPr lang="fr-FR" smtClean="0"/>
              <a:pPr/>
              <a:t>23/06/2024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F7111-BE5E-45E3-9B20-3306F9E7987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489578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F968-DFDC-4683-BB76-FBA5CA16D50A}" type="datetimeFigureOut">
              <a:rPr lang="fr-FR" smtClean="0"/>
              <a:pPr/>
              <a:t>23/06/2024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2F7111-BE5E-45E3-9B20-3306F9E7987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21811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AFF968-DFDC-4683-BB76-FBA5CA16D50A}" type="datetimeFigureOut">
              <a:rPr lang="fr-FR" smtClean="0"/>
              <a:pPr/>
              <a:t>23/06/2024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2F7111-BE5E-45E3-9B20-3306F9E7987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4204765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Questions ….???</a:t>
            </a:r>
            <a:endParaRPr lang="fr-FR" dirty="0"/>
          </a:p>
        </p:txBody>
      </p:sp>
      <p:grpSp>
        <p:nvGrpSpPr>
          <p:cNvPr id="5" name="Groupe 4"/>
          <p:cNvGrpSpPr/>
          <p:nvPr/>
        </p:nvGrpSpPr>
        <p:grpSpPr>
          <a:xfrm>
            <a:off x="1285852" y="3905912"/>
            <a:ext cx="3901656" cy="523220"/>
            <a:chOff x="1285852" y="3905912"/>
            <a:chExt cx="3901656" cy="523220"/>
          </a:xfrm>
        </p:grpSpPr>
        <p:sp>
          <p:nvSpPr>
            <p:cNvPr id="3" name="Rectangle 2"/>
            <p:cNvSpPr/>
            <p:nvPr/>
          </p:nvSpPr>
          <p:spPr>
            <a:xfrm>
              <a:off x="1285852" y="4000504"/>
              <a:ext cx="914400" cy="35719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ZoneTexte 3"/>
            <p:cNvSpPr txBox="1"/>
            <p:nvPr/>
          </p:nvSpPr>
          <p:spPr>
            <a:xfrm>
              <a:off x="2500298" y="3905912"/>
              <a:ext cx="26872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800" dirty="0" smtClean="0">
                  <a:solidFill>
                    <a:srgbClr val="0070C0"/>
                  </a:solidFill>
                </a:rPr>
                <a:t>: Réponses justes</a:t>
              </a:r>
              <a:endParaRPr lang="fr-FR" sz="2800" dirty="0">
                <a:solidFill>
                  <a:srgbClr val="0070C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4183598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51520" y="116632"/>
            <a:ext cx="8229600" cy="6336704"/>
          </a:xfrm>
        </p:spPr>
        <p:txBody>
          <a:bodyPr>
            <a:noAutofit/>
          </a:bodyPr>
          <a:lstStyle/>
          <a:p>
            <a:pPr>
              <a:buNone/>
            </a:pPr>
            <a:endParaRPr lang="fr-FR" sz="2400" dirty="0"/>
          </a:p>
          <a:p>
            <a:pPr lvl="0"/>
            <a:r>
              <a:rPr lang="fr-FR" sz="2400" b="1" i="1" u="heavy" dirty="0"/>
              <a:t>L’immunité innée</a:t>
            </a:r>
            <a:r>
              <a:rPr lang="fr-FR" sz="2400" b="1" i="1" u="heavy" dirty="0" smtClean="0"/>
              <a:t>:</a:t>
            </a:r>
          </a:p>
          <a:p>
            <a:pPr marL="0" lvl="0" indent="0">
              <a:buNone/>
            </a:pPr>
            <a:endParaRPr lang="fr-FR" sz="2400" dirty="0"/>
          </a:p>
          <a:p>
            <a:pPr marL="514350" lvl="0" indent="-514350">
              <a:buAutoNum type="arabicParenR"/>
            </a:pPr>
            <a:r>
              <a:rPr lang="fr-FR" sz="2400" b="1" dirty="0" smtClean="0"/>
              <a:t>Implique </a:t>
            </a:r>
            <a:r>
              <a:rPr lang="fr-FR" sz="2400" b="1" dirty="0"/>
              <a:t>une activation de la voie classique  du complément par les IgG</a:t>
            </a:r>
            <a:r>
              <a:rPr lang="fr-FR" sz="2400" b="1" dirty="0" smtClean="0"/>
              <a:t>.</a:t>
            </a:r>
          </a:p>
          <a:p>
            <a:pPr marL="514350" lvl="0" indent="-514350">
              <a:buAutoNum type="arabicParenR"/>
            </a:pPr>
            <a:endParaRPr lang="fr-FR" sz="2400" dirty="0"/>
          </a:p>
          <a:p>
            <a:pPr marL="0" lvl="0" indent="0">
              <a:buNone/>
            </a:pPr>
            <a:r>
              <a:rPr lang="fr-FR" sz="2400" b="1" dirty="0" smtClean="0"/>
              <a:t>2) Est </a:t>
            </a:r>
            <a:r>
              <a:rPr lang="fr-FR" sz="2400" b="1" dirty="0"/>
              <a:t>caractérisée par le développement d’une mémoire immunologique</a:t>
            </a:r>
            <a:r>
              <a:rPr lang="fr-FR" sz="2400" b="1" dirty="0" smtClean="0"/>
              <a:t>.</a:t>
            </a:r>
          </a:p>
          <a:p>
            <a:pPr marL="0" lvl="0" indent="0">
              <a:buNone/>
            </a:pPr>
            <a:endParaRPr lang="fr-FR" sz="2400" dirty="0"/>
          </a:p>
          <a:p>
            <a:pPr marL="0" lvl="0" indent="0">
              <a:buNone/>
            </a:pPr>
            <a:r>
              <a:rPr lang="fr-FR" sz="2400" b="1" dirty="0" smtClean="0"/>
              <a:t>3) Sa </a:t>
            </a:r>
            <a:r>
              <a:rPr lang="fr-FR" sz="2400" b="1" dirty="0"/>
              <a:t>mise en place se fait en plusieurs jours</a:t>
            </a:r>
            <a:r>
              <a:rPr lang="fr-FR" sz="2400" b="1" dirty="0" smtClean="0"/>
              <a:t>.</a:t>
            </a:r>
          </a:p>
          <a:p>
            <a:pPr marL="0" lvl="0" indent="0">
              <a:buNone/>
            </a:pPr>
            <a:endParaRPr lang="fr-FR" sz="2400" dirty="0"/>
          </a:p>
          <a:p>
            <a:pPr marL="0" lvl="0" indent="0">
              <a:buNone/>
            </a:pPr>
            <a:r>
              <a:rPr lang="fr-FR" sz="2400" b="1" dirty="0" smtClean="0">
                <a:solidFill>
                  <a:schemeClr val="accent1"/>
                </a:solidFill>
              </a:rPr>
              <a:t>4) Implique </a:t>
            </a:r>
            <a:r>
              <a:rPr lang="fr-FR" sz="2400" b="1" dirty="0">
                <a:solidFill>
                  <a:schemeClr val="accent1"/>
                </a:solidFill>
              </a:rPr>
              <a:t>la mise en jeu de barrières cutanéomuqueuses</a:t>
            </a:r>
            <a:r>
              <a:rPr lang="fr-FR" sz="2400" b="1" dirty="0" smtClean="0">
                <a:solidFill>
                  <a:schemeClr val="accent1"/>
                </a:solidFill>
              </a:rPr>
              <a:t>.</a:t>
            </a:r>
          </a:p>
          <a:p>
            <a:pPr marL="0" lvl="0" indent="0">
              <a:buNone/>
            </a:pPr>
            <a:endParaRPr lang="fr-FR" sz="2400" dirty="0">
              <a:solidFill>
                <a:schemeClr val="accent1"/>
              </a:solidFill>
            </a:endParaRPr>
          </a:p>
          <a:p>
            <a:pPr marL="0" lvl="0" indent="0">
              <a:buNone/>
            </a:pPr>
            <a:r>
              <a:rPr lang="fr-FR" sz="2400" b="1" dirty="0" smtClean="0">
                <a:solidFill>
                  <a:schemeClr val="accent1"/>
                </a:solidFill>
              </a:rPr>
              <a:t>5) Peut </a:t>
            </a:r>
            <a:r>
              <a:rPr lang="fr-FR" sz="2400" b="1" dirty="0">
                <a:solidFill>
                  <a:schemeClr val="accent1"/>
                </a:solidFill>
              </a:rPr>
              <a:t>orienter le type de la réponse immunitaire</a:t>
            </a:r>
            <a:r>
              <a:rPr lang="fr-FR" sz="2400" dirty="0">
                <a:solidFill>
                  <a:schemeClr val="accent1"/>
                </a:solidFill>
              </a:rPr>
              <a:t> </a:t>
            </a:r>
            <a:r>
              <a:rPr lang="fr-FR" sz="2400" b="1" dirty="0" smtClean="0">
                <a:solidFill>
                  <a:schemeClr val="accent1"/>
                </a:solidFill>
              </a:rPr>
              <a:t>adaptative selon la panoplie de cytokines produites </a:t>
            </a:r>
            <a:endParaRPr lang="fr-FR" sz="2400" dirty="0">
              <a:solidFill>
                <a:schemeClr val="accent1"/>
              </a:solidFill>
            </a:endParaRPr>
          </a:p>
          <a:p>
            <a:pPr lvl="1"/>
            <a:endParaRPr lang="fr-FR" sz="2400" dirty="0"/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xmlns="" val="1967973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51520" y="116632"/>
            <a:ext cx="8229600" cy="6336704"/>
          </a:xfrm>
        </p:spPr>
        <p:txBody>
          <a:bodyPr>
            <a:noAutofit/>
          </a:bodyPr>
          <a:lstStyle/>
          <a:p>
            <a:pPr lvl="0"/>
            <a:r>
              <a:rPr lang="fr-FR" b="1" u="sng" dirty="0"/>
              <a:t>Ces récepteurs cellulaires jouent un rôle déterminant au cours de l’immunité innée :</a:t>
            </a:r>
            <a:endParaRPr lang="fr-FR" dirty="0"/>
          </a:p>
          <a:p>
            <a:pPr marL="457200" lvl="1" indent="0">
              <a:buNone/>
            </a:pPr>
            <a:endParaRPr lang="fr-FR" b="1" dirty="0" smtClean="0"/>
          </a:p>
          <a:p>
            <a:pPr marL="457200" lvl="1" indent="0">
              <a:buNone/>
            </a:pPr>
            <a:r>
              <a:rPr lang="fr-FR" b="1" dirty="0" smtClean="0"/>
              <a:t>1) Le </a:t>
            </a:r>
            <a:r>
              <a:rPr lang="fr-FR" b="1" dirty="0"/>
              <a:t>TCR</a:t>
            </a:r>
            <a:endParaRPr lang="fr-FR" dirty="0"/>
          </a:p>
          <a:p>
            <a:pPr marL="457200" lvl="1" indent="0">
              <a:buNone/>
            </a:pPr>
            <a:endParaRPr lang="fr-FR" b="1" dirty="0" smtClean="0"/>
          </a:p>
          <a:p>
            <a:pPr marL="457200" lvl="1" indent="0">
              <a:buNone/>
            </a:pPr>
            <a:r>
              <a:rPr lang="fr-FR" b="1" dirty="0" smtClean="0"/>
              <a:t>2) L’immunoglobuline </a:t>
            </a:r>
            <a:r>
              <a:rPr lang="fr-FR" b="1" dirty="0"/>
              <a:t>E membranaire</a:t>
            </a:r>
            <a:endParaRPr lang="fr-FR" dirty="0"/>
          </a:p>
          <a:p>
            <a:pPr marL="457200" lvl="1" indent="0">
              <a:buNone/>
            </a:pPr>
            <a:endParaRPr lang="fr-FR" b="1" dirty="0" smtClean="0"/>
          </a:p>
          <a:p>
            <a:pPr marL="457200" lvl="1" indent="0">
              <a:buNone/>
            </a:pPr>
            <a:r>
              <a:rPr lang="fr-FR" b="1" dirty="0" smtClean="0">
                <a:solidFill>
                  <a:schemeClr val="accent1"/>
                </a:solidFill>
              </a:rPr>
              <a:t>3) Le </a:t>
            </a:r>
            <a:r>
              <a:rPr lang="fr-FR" b="1" dirty="0">
                <a:solidFill>
                  <a:schemeClr val="accent1"/>
                </a:solidFill>
              </a:rPr>
              <a:t>TLR4</a:t>
            </a:r>
            <a:endParaRPr lang="fr-FR" dirty="0">
              <a:solidFill>
                <a:schemeClr val="accent1"/>
              </a:solidFill>
            </a:endParaRPr>
          </a:p>
          <a:p>
            <a:pPr marL="457200" lvl="1" indent="0">
              <a:buNone/>
            </a:pPr>
            <a:endParaRPr lang="fr-FR" b="1" dirty="0" smtClean="0"/>
          </a:p>
          <a:p>
            <a:pPr marL="457200" lvl="1" indent="0">
              <a:buNone/>
            </a:pPr>
            <a:r>
              <a:rPr lang="fr-FR" b="1" dirty="0" smtClean="0"/>
              <a:t>4) Le </a:t>
            </a:r>
            <a:r>
              <a:rPr lang="fr-FR" b="1" dirty="0"/>
              <a:t>BCR</a:t>
            </a:r>
            <a:endParaRPr lang="fr-FR" dirty="0"/>
          </a:p>
          <a:p>
            <a:pPr marL="457200" lvl="1" indent="0">
              <a:buNone/>
            </a:pPr>
            <a:endParaRPr lang="fr-FR" b="1" dirty="0" smtClean="0"/>
          </a:p>
          <a:p>
            <a:pPr marL="457200" lvl="1" indent="0">
              <a:buNone/>
            </a:pPr>
            <a:r>
              <a:rPr lang="fr-FR" b="1" dirty="0" smtClean="0">
                <a:solidFill>
                  <a:schemeClr val="accent1"/>
                </a:solidFill>
              </a:rPr>
              <a:t>5) Le CD35</a:t>
            </a:r>
            <a:endParaRPr lang="fr-FR" sz="2400" dirty="0">
              <a:solidFill>
                <a:schemeClr val="accent1"/>
              </a:solidFill>
            </a:endParaRP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xmlns="" val="1388757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51520" y="116632"/>
            <a:ext cx="8229600" cy="6336704"/>
          </a:xfrm>
        </p:spPr>
        <p:txBody>
          <a:bodyPr>
            <a:noAutofit/>
          </a:bodyPr>
          <a:lstStyle/>
          <a:p>
            <a:pPr lvl="0"/>
            <a:r>
              <a:rPr lang="fr-FR" sz="2400" b="1" u="sng" dirty="0"/>
              <a:t>Les  molécules  HLA de classe I classiques: </a:t>
            </a:r>
            <a:endParaRPr lang="fr-FR" sz="2400" dirty="0"/>
          </a:p>
          <a:p>
            <a:pPr marL="0" lvl="0" indent="0">
              <a:buNone/>
            </a:pPr>
            <a:endParaRPr lang="fr-FR" sz="2400" b="1" dirty="0" smtClean="0"/>
          </a:p>
          <a:p>
            <a:pPr marL="0" lvl="0" indent="0">
              <a:buNone/>
            </a:pPr>
            <a:r>
              <a:rPr lang="fr-FR" sz="2400" b="1" dirty="0" smtClean="0"/>
              <a:t>1) Comptent </a:t>
            </a:r>
            <a:r>
              <a:rPr lang="fr-FR" sz="2400" b="1" dirty="0"/>
              <a:t>deux chaines polymorphes</a:t>
            </a:r>
            <a:endParaRPr lang="fr-FR" sz="2400" dirty="0"/>
          </a:p>
          <a:p>
            <a:pPr marL="0" lvl="0" indent="0">
              <a:buNone/>
            </a:pPr>
            <a:endParaRPr lang="fr-FR" sz="2400" b="1" dirty="0" smtClean="0"/>
          </a:p>
          <a:p>
            <a:pPr marL="0" lvl="0" indent="0">
              <a:buNone/>
            </a:pPr>
            <a:r>
              <a:rPr lang="fr-FR" sz="2400" b="1" dirty="0" smtClean="0"/>
              <a:t>2) Codées </a:t>
            </a:r>
            <a:r>
              <a:rPr lang="fr-FR" sz="2400" b="1" dirty="0"/>
              <a:t>entièrement par  les chromosomes 6.</a:t>
            </a:r>
            <a:endParaRPr lang="fr-FR" sz="2400" dirty="0"/>
          </a:p>
          <a:p>
            <a:pPr marL="0" lvl="0" indent="0">
              <a:buNone/>
            </a:pPr>
            <a:endParaRPr lang="fr-FR" sz="2400" b="1" dirty="0" smtClean="0"/>
          </a:p>
          <a:p>
            <a:pPr marL="0" lvl="0" indent="0">
              <a:buNone/>
            </a:pPr>
            <a:r>
              <a:rPr lang="fr-FR" sz="2400" b="1" dirty="0" smtClean="0">
                <a:solidFill>
                  <a:schemeClr val="accent1"/>
                </a:solidFill>
              </a:rPr>
              <a:t>3) Régulent  </a:t>
            </a:r>
            <a:r>
              <a:rPr lang="fr-FR" sz="2400" b="1" dirty="0">
                <a:solidFill>
                  <a:schemeClr val="accent1"/>
                </a:solidFill>
              </a:rPr>
              <a:t>l’activité des cellules NK</a:t>
            </a:r>
            <a:endParaRPr lang="fr-FR" sz="2400" dirty="0">
              <a:solidFill>
                <a:schemeClr val="accent1"/>
              </a:solidFill>
            </a:endParaRPr>
          </a:p>
          <a:p>
            <a:pPr marL="0" lvl="0" indent="0">
              <a:buNone/>
            </a:pPr>
            <a:endParaRPr lang="fr-FR" sz="2400" b="1" dirty="0" smtClean="0"/>
          </a:p>
          <a:p>
            <a:pPr marL="0" lvl="0" indent="0">
              <a:buNone/>
            </a:pPr>
            <a:r>
              <a:rPr lang="fr-FR" sz="2400" b="1" dirty="0" smtClean="0">
                <a:solidFill>
                  <a:schemeClr val="accent1"/>
                </a:solidFill>
              </a:rPr>
              <a:t>4) Interagissent  </a:t>
            </a:r>
            <a:r>
              <a:rPr lang="fr-FR" sz="2400" b="1" dirty="0">
                <a:solidFill>
                  <a:schemeClr val="accent1"/>
                </a:solidFill>
              </a:rPr>
              <a:t>avec la molécule </a:t>
            </a:r>
            <a:r>
              <a:rPr lang="fr-FR" sz="2400" b="1" dirty="0" smtClean="0">
                <a:solidFill>
                  <a:schemeClr val="accent1"/>
                </a:solidFill>
              </a:rPr>
              <a:t>CD8</a:t>
            </a:r>
            <a:endParaRPr lang="fr-FR" sz="2400" dirty="0">
              <a:solidFill>
                <a:schemeClr val="accent1"/>
              </a:solidFill>
            </a:endParaRPr>
          </a:p>
          <a:p>
            <a:pPr marL="0" lvl="0" indent="0">
              <a:buNone/>
            </a:pPr>
            <a:endParaRPr lang="fr-FR" sz="2400" b="1" dirty="0" smtClean="0"/>
          </a:p>
          <a:p>
            <a:pPr marL="0" lvl="0" indent="0">
              <a:buNone/>
            </a:pPr>
            <a:r>
              <a:rPr lang="fr-FR" sz="2400" b="1" dirty="0" smtClean="0">
                <a:solidFill>
                  <a:schemeClr val="accent1"/>
                </a:solidFill>
              </a:rPr>
              <a:t>5) Exprimées </a:t>
            </a:r>
            <a:r>
              <a:rPr lang="fr-FR" sz="2400" b="1" dirty="0">
                <a:solidFill>
                  <a:schemeClr val="accent1"/>
                </a:solidFill>
              </a:rPr>
              <a:t>sur toutes les cellules nucléés à quelques exceptions.</a:t>
            </a:r>
            <a:endParaRPr lang="fr-FR" sz="2400" dirty="0">
              <a:solidFill>
                <a:schemeClr val="accent1"/>
              </a:solidFill>
            </a:endParaRP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xmlns="" val="1491642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51520" y="116632"/>
            <a:ext cx="8229600" cy="6336704"/>
          </a:xfrm>
        </p:spPr>
        <p:txBody>
          <a:bodyPr>
            <a:noAutofit/>
          </a:bodyPr>
          <a:lstStyle/>
          <a:p>
            <a:pPr lvl="0"/>
            <a:r>
              <a:rPr lang="fr-FR" sz="2400" b="1" i="1" u="heavy" dirty="0"/>
              <a:t>Les molécules HLA I et II classiques: </a:t>
            </a:r>
            <a:endParaRPr lang="fr-FR" sz="2400" dirty="0"/>
          </a:p>
          <a:p>
            <a:pPr marL="0" lvl="0" indent="0">
              <a:buNone/>
            </a:pPr>
            <a:endParaRPr lang="fr-FR" sz="2400" b="1" dirty="0" smtClean="0"/>
          </a:p>
          <a:p>
            <a:pPr marL="0" lvl="0" indent="0">
              <a:buNone/>
            </a:pPr>
            <a:r>
              <a:rPr lang="fr-FR" sz="2400" b="1" dirty="0" smtClean="0">
                <a:solidFill>
                  <a:schemeClr val="accent1"/>
                </a:solidFill>
              </a:rPr>
              <a:t>1) Sont </a:t>
            </a:r>
            <a:r>
              <a:rPr lang="fr-FR" sz="2400" b="1" dirty="0">
                <a:solidFill>
                  <a:schemeClr val="accent1"/>
                </a:solidFill>
              </a:rPr>
              <a:t>impliquées dans l’éducation intra-thymique des lymphocytes </a:t>
            </a:r>
            <a:r>
              <a:rPr lang="fr-FR" sz="2400" b="1" dirty="0" smtClean="0">
                <a:solidFill>
                  <a:schemeClr val="accent1"/>
                </a:solidFill>
              </a:rPr>
              <a:t>T afin de définir le répertoire  </a:t>
            </a:r>
            <a:r>
              <a:rPr lang="fr-FR" sz="2400" b="1" dirty="0">
                <a:solidFill>
                  <a:schemeClr val="accent1"/>
                </a:solidFill>
              </a:rPr>
              <a:t>non </a:t>
            </a:r>
            <a:r>
              <a:rPr lang="fr-FR" sz="2400" b="1" dirty="0" smtClean="0">
                <a:solidFill>
                  <a:schemeClr val="accent1"/>
                </a:solidFill>
              </a:rPr>
              <a:t>auto-réactifs </a:t>
            </a:r>
            <a:r>
              <a:rPr lang="fr-FR" sz="2400" b="1" dirty="0" smtClean="0"/>
              <a:t>.</a:t>
            </a:r>
            <a:endParaRPr lang="fr-FR" sz="2400" dirty="0"/>
          </a:p>
          <a:p>
            <a:pPr marL="0" lvl="0" indent="0">
              <a:buNone/>
            </a:pPr>
            <a:endParaRPr lang="fr-FR" sz="2400" b="1" dirty="0" smtClean="0"/>
          </a:p>
          <a:p>
            <a:pPr marL="0" lvl="0" indent="0">
              <a:buNone/>
            </a:pPr>
            <a:r>
              <a:rPr lang="fr-FR" sz="2400" b="1" dirty="0" smtClean="0"/>
              <a:t>2) Leurs </a:t>
            </a:r>
            <a:r>
              <a:rPr lang="fr-FR" sz="2400" b="1" dirty="0"/>
              <a:t>gènes sont situés sur les chromosome 2, 14 et 22.</a:t>
            </a:r>
            <a:endParaRPr lang="fr-FR" sz="2400" dirty="0"/>
          </a:p>
          <a:p>
            <a:pPr marL="0" lvl="0" indent="0">
              <a:buNone/>
            </a:pPr>
            <a:endParaRPr lang="fr-FR" sz="2400" b="1" dirty="0" smtClean="0"/>
          </a:p>
          <a:p>
            <a:pPr marL="0" lvl="0" indent="0">
              <a:buNone/>
            </a:pPr>
            <a:r>
              <a:rPr lang="fr-FR" sz="2400" b="1" dirty="0" smtClean="0"/>
              <a:t>3) Comprennent </a:t>
            </a:r>
            <a:r>
              <a:rPr lang="fr-FR" sz="2400" b="1" dirty="0"/>
              <a:t>une chaîne légère : la ß2-microglobuline.</a:t>
            </a:r>
            <a:endParaRPr lang="fr-FR" sz="2400" dirty="0"/>
          </a:p>
          <a:p>
            <a:pPr marL="0" lvl="0" indent="0">
              <a:buNone/>
            </a:pPr>
            <a:endParaRPr lang="fr-FR" sz="2400" b="1" dirty="0" smtClean="0"/>
          </a:p>
          <a:p>
            <a:pPr marL="0" lvl="0" indent="0">
              <a:buNone/>
            </a:pPr>
            <a:r>
              <a:rPr lang="fr-FR" sz="2400" b="1" dirty="0" smtClean="0">
                <a:solidFill>
                  <a:schemeClr val="accent1"/>
                </a:solidFill>
              </a:rPr>
              <a:t>4) Leurs </a:t>
            </a:r>
            <a:r>
              <a:rPr lang="fr-FR" sz="2400" b="1" dirty="0">
                <a:solidFill>
                  <a:schemeClr val="accent1"/>
                </a:solidFill>
              </a:rPr>
              <a:t>gènes ont un mode d’expression </a:t>
            </a:r>
            <a:r>
              <a:rPr lang="fr-FR" sz="2400" b="1" dirty="0" err="1">
                <a:solidFill>
                  <a:schemeClr val="accent1"/>
                </a:solidFill>
              </a:rPr>
              <a:t>codominante</a:t>
            </a:r>
            <a:r>
              <a:rPr lang="fr-FR" sz="2400" b="1" dirty="0">
                <a:solidFill>
                  <a:schemeClr val="accent1"/>
                </a:solidFill>
              </a:rPr>
              <a:t>.</a:t>
            </a:r>
            <a:endParaRPr lang="fr-FR" sz="2400" dirty="0">
              <a:solidFill>
                <a:schemeClr val="accent1"/>
              </a:solidFill>
            </a:endParaRPr>
          </a:p>
          <a:p>
            <a:pPr marL="0" lvl="0" indent="0">
              <a:buNone/>
            </a:pPr>
            <a:endParaRPr lang="fr-FR" sz="2400" b="1" dirty="0" smtClean="0"/>
          </a:p>
          <a:p>
            <a:pPr marL="0" lvl="0" indent="0">
              <a:buNone/>
            </a:pPr>
            <a:r>
              <a:rPr lang="fr-FR" sz="2400" b="1" dirty="0" smtClean="0">
                <a:solidFill>
                  <a:schemeClr val="accent1"/>
                </a:solidFill>
              </a:rPr>
              <a:t>5) Comportent </a:t>
            </a:r>
            <a:r>
              <a:rPr lang="fr-FR" sz="2400" b="1" dirty="0">
                <a:solidFill>
                  <a:schemeClr val="accent1"/>
                </a:solidFill>
              </a:rPr>
              <a:t>un site de liaison de peptide issu de la dégradation d’antigène.</a:t>
            </a:r>
            <a:endParaRPr lang="fr-FR" sz="24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xmlns="" val="3603674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fr-FR" dirty="0" smtClean="0"/>
              <a:t>Les </a:t>
            </a:r>
            <a:r>
              <a:rPr lang="fr-FR" dirty="0"/>
              <a:t>anticorps </a:t>
            </a:r>
            <a:r>
              <a:rPr lang="fr-FR" dirty="0" smtClean="0"/>
              <a:t>:</a:t>
            </a:r>
          </a:p>
          <a:p>
            <a:pPr>
              <a:buNone/>
            </a:pPr>
            <a:endParaRPr lang="fr-FR" dirty="0"/>
          </a:p>
          <a:p>
            <a:pPr lvl="1">
              <a:buNone/>
            </a:pPr>
            <a:r>
              <a:rPr lang="fr-FR" sz="2600" dirty="0">
                <a:solidFill>
                  <a:srgbClr val="0070C0"/>
                </a:solidFill>
              </a:rPr>
              <a:t>A.-sont </a:t>
            </a:r>
            <a:r>
              <a:rPr lang="fr-FR" sz="2600" dirty="0" smtClean="0">
                <a:solidFill>
                  <a:srgbClr val="0070C0"/>
                </a:solidFill>
              </a:rPr>
              <a:t>de nature </a:t>
            </a:r>
            <a:r>
              <a:rPr lang="fr-FR" sz="2600" dirty="0" err="1" smtClean="0">
                <a:solidFill>
                  <a:srgbClr val="0070C0"/>
                </a:solidFill>
              </a:rPr>
              <a:t>glycoprotéique</a:t>
            </a:r>
            <a:endParaRPr lang="fr-FR" sz="2600" dirty="0">
              <a:solidFill>
                <a:srgbClr val="0070C0"/>
              </a:solidFill>
            </a:endParaRPr>
          </a:p>
          <a:p>
            <a:pPr lvl="1">
              <a:buNone/>
            </a:pPr>
            <a:r>
              <a:rPr lang="fr-FR" sz="2600" dirty="0"/>
              <a:t>B.-sont produits par les lymphocytes T</a:t>
            </a:r>
          </a:p>
          <a:p>
            <a:pPr lvl="1">
              <a:buNone/>
            </a:pPr>
            <a:r>
              <a:rPr lang="fr-FR" sz="2600" dirty="0" smtClean="0"/>
              <a:t>C.-</a:t>
            </a:r>
            <a:r>
              <a:rPr lang="fr-FR" sz="2600" dirty="0"/>
              <a:t>sont produits par des macrophages</a:t>
            </a:r>
          </a:p>
          <a:p>
            <a:pPr lvl="1">
              <a:buNone/>
            </a:pPr>
            <a:r>
              <a:rPr lang="fr-FR" sz="2600" dirty="0">
                <a:solidFill>
                  <a:srgbClr val="0070C0"/>
                </a:solidFill>
              </a:rPr>
              <a:t>D</a:t>
            </a:r>
            <a:r>
              <a:rPr lang="fr-FR" sz="2600" dirty="0" smtClean="0">
                <a:solidFill>
                  <a:srgbClr val="0070C0"/>
                </a:solidFill>
              </a:rPr>
              <a:t>.-</a:t>
            </a:r>
            <a:r>
              <a:rPr lang="fr-FR" sz="2600" dirty="0">
                <a:solidFill>
                  <a:srgbClr val="0070C0"/>
                </a:solidFill>
              </a:rPr>
              <a:t>sont produits par des </a:t>
            </a:r>
            <a:r>
              <a:rPr lang="fr-FR" sz="2600" dirty="0" smtClean="0">
                <a:solidFill>
                  <a:srgbClr val="0070C0"/>
                </a:solidFill>
              </a:rPr>
              <a:t>plasmocytes</a:t>
            </a:r>
          </a:p>
          <a:p>
            <a:pPr lvl="1">
              <a:buNone/>
            </a:pPr>
            <a:r>
              <a:rPr lang="fr-FR" sz="2600" dirty="0" smtClean="0">
                <a:solidFill>
                  <a:srgbClr val="0070C0"/>
                </a:solidFill>
              </a:rPr>
              <a:t>E.-permettent de réaliser des sérothérapies préventives</a:t>
            </a:r>
          </a:p>
          <a:p>
            <a:pPr lvl="1"/>
            <a:endParaRPr lang="fr-FR" sz="2600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4124555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 </a:t>
            </a:r>
            <a:r>
              <a:rPr lang="fr-FR" dirty="0"/>
              <a:t>A propos </a:t>
            </a:r>
            <a:r>
              <a:rPr lang="fr-FR" dirty="0" smtClean="0"/>
              <a:t>de l’</a:t>
            </a:r>
            <a:r>
              <a:rPr lang="fr-FR" dirty="0" err="1" smtClean="0"/>
              <a:t>mmunoglobuline</a:t>
            </a:r>
            <a:r>
              <a:rPr lang="fr-FR" dirty="0" smtClean="0"/>
              <a:t> E (</a:t>
            </a:r>
            <a:r>
              <a:rPr lang="fr-FR" dirty="0" err="1" smtClean="0"/>
              <a:t>IgE</a:t>
            </a:r>
            <a:r>
              <a:rPr lang="fr-FR" dirty="0" smtClean="0"/>
              <a:t>) </a:t>
            </a:r>
            <a:r>
              <a:rPr lang="fr-FR" dirty="0"/>
              <a:t>:</a:t>
            </a:r>
          </a:p>
          <a:p>
            <a:pPr lvl="1"/>
            <a:r>
              <a:rPr lang="fr-FR" sz="2600" dirty="0">
                <a:solidFill>
                  <a:srgbClr val="0070C0"/>
                </a:solidFill>
              </a:rPr>
              <a:t>A. </a:t>
            </a:r>
            <a:r>
              <a:rPr lang="fr-FR" sz="2600" dirty="0" smtClean="0">
                <a:solidFill>
                  <a:srgbClr val="0070C0"/>
                </a:solidFill>
              </a:rPr>
              <a:t>Sa </a:t>
            </a:r>
            <a:r>
              <a:rPr lang="fr-FR" sz="2600" dirty="0">
                <a:solidFill>
                  <a:srgbClr val="0070C0"/>
                </a:solidFill>
              </a:rPr>
              <a:t>synthèse s'effectue </a:t>
            </a:r>
            <a:r>
              <a:rPr lang="fr-FR" sz="2600" dirty="0" smtClean="0">
                <a:solidFill>
                  <a:srgbClr val="0070C0"/>
                </a:solidFill>
              </a:rPr>
              <a:t> </a:t>
            </a:r>
            <a:r>
              <a:rPr lang="fr-FR" sz="2600" dirty="0">
                <a:solidFill>
                  <a:srgbClr val="0070C0"/>
                </a:solidFill>
              </a:rPr>
              <a:t>sous le contrôle des lymphocytes </a:t>
            </a:r>
            <a:r>
              <a:rPr lang="fr-FR" sz="2600" dirty="0" smtClean="0">
                <a:solidFill>
                  <a:srgbClr val="0070C0"/>
                </a:solidFill>
              </a:rPr>
              <a:t>Th2</a:t>
            </a:r>
            <a:endParaRPr lang="fr-FR" sz="2600" dirty="0">
              <a:solidFill>
                <a:srgbClr val="0070C0"/>
              </a:solidFill>
            </a:endParaRPr>
          </a:p>
          <a:p>
            <a:pPr lvl="1"/>
            <a:r>
              <a:rPr lang="fr-FR" sz="2600" dirty="0"/>
              <a:t>B. </a:t>
            </a:r>
            <a:r>
              <a:rPr lang="fr-FR" sz="2600" dirty="0" smtClean="0"/>
              <a:t>Peut </a:t>
            </a:r>
            <a:r>
              <a:rPr lang="fr-FR" sz="2600" dirty="0"/>
              <a:t>se fixer sur les mastocytes par leurs fragments </a:t>
            </a:r>
            <a:r>
              <a:rPr lang="fr-FR" sz="2600" dirty="0" err="1"/>
              <a:t>Fab</a:t>
            </a:r>
            <a:r>
              <a:rPr lang="fr-FR" sz="2600" dirty="0"/>
              <a:t> </a:t>
            </a:r>
          </a:p>
          <a:p>
            <a:pPr lvl="1"/>
            <a:r>
              <a:rPr lang="fr-FR" sz="2600" dirty="0"/>
              <a:t>C. </a:t>
            </a:r>
            <a:r>
              <a:rPr lang="fr-FR" sz="2600" dirty="0" smtClean="0"/>
              <a:t>Est composée </a:t>
            </a:r>
            <a:r>
              <a:rPr lang="fr-FR" sz="2600" dirty="0"/>
              <a:t>de 4 chaînes identiques </a:t>
            </a:r>
          </a:p>
          <a:p>
            <a:pPr lvl="1"/>
            <a:r>
              <a:rPr lang="fr-FR" sz="2600" dirty="0"/>
              <a:t>D. </a:t>
            </a:r>
            <a:r>
              <a:rPr lang="fr-FR" sz="2600" dirty="0" smtClean="0"/>
              <a:t>Est capable d’activer le complément par voie classique</a:t>
            </a:r>
            <a:endParaRPr lang="fr-FR" sz="2600" dirty="0"/>
          </a:p>
          <a:p>
            <a:pPr lvl="1"/>
            <a:r>
              <a:rPr lang="fr-FR" sz="2600" dirty="0"/>
              <a:t>E. </a:t>
            </a:r>
            <a:r>
              <a:rPr lang="fr-FR" sz="2600" dirty="0" smtClean="0"/>
              <a:t>Est très abondante dans le sang</a:t>
            </a:r>
            <a:endParaRPr lang="fr-FR" sz="2600" dirty="0"/>
          </a:p>
        </p:txBody>
      </p:sp>
    </p:spTree>
    <p:extLst>
      <p:ext uri="{BB962C8B-B14F-4D97-AF65-F5344CB8AC3E}">
        <p14:creationId xmlns:p14="http://schemas.microsoft.com/office/powerpoint/2010/main" xmlns="" val="2776096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9512" y="260648"/>
            <a:ext cx="8640960" cy="61801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0"/>
              </a:spcAft>
            </a:pPr>
            <a:r>
              <a:rPr lang="fr-FR" sz="2800" b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commutation </a:t>
            </a:r>
            <a:r>
              <a:rPr lang="fr-FR" sz="2800" b="1" dirty="0" err="1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isotypique</a:t>
            </a:r>
            <a:r>
              <a:rPr lang="fr-FR" sz="2800" b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ou « Switch » est un phénomène qui consiste : </a:t>
            </a:r>
            <a:endParaRPr lang="fr-FR" sz="2800" b="1" dirty="0" smtClean="0"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15000"/>
              </a:lnSpc>
              <a:spcAft>
                <a:spcPts val="0"/>
              </a:spcAft>
            </a:pPr>
            <a:endParaRPr lang="fr-FR" sz="2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+mj-lt"/>
              <a:buAutoNum type="alphaLcParenR"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 un arrêt de synthèse des Immunoglobulines</a:t>
            </a:r>
            <a:r>
              <a:rPr lang="fr-FR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+mj-lt"/>
              <a:buAutoNum type="alphaLcParenR"/>
            </a:pPr>
            <a:endParaRPr lang="fr-FR" sz="2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+mj-lt"/>
              <a:buAutoNum type="alphaLcParenR"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 une augmentation de synthèse des Immunoglobulines</a:t>
            </a:r>
            <a:r>
              <a:rPr lang="fr-FR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+mj-lt"/>
              <a:buAutoNum type="alphaLcParenR"/>
            </a:pPr>
            <a:endParaRPr lang="fr-FR" sz="2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+mj-lt"/>
              <a:buAutoNum type="alphaLcParenR"/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 un changement de la partie variable des Immunoglobulines</a:t>
            </a:r>
            <a:r>
              <a:rPr lang="fr-FR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+mj-lt"/>
              <a:buAutoNum type="alphaLcParenR"/>
            </a:pPr>
            <a:endParaRPr lang="fr-FR" sz="2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+mj-lt"/>
              <a:buAutoNum type="alphaLcParenR"/>
            </a:pPr>
            <a:r>
              <a:rPr lang="fr-FR" sz="2400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 un changement de l’</a:t>
            </a:r>
            <a:r>
              <a:rPr lang="fr-FR" sz="2400" dirty="0" err="1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isotype</a:t>
            </a:r>
            <a:r>
              <a:rPr lang="fr-FR" sz="2400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avec conservation de l’l’idiotype des Immunoglobulines</a:t>
            </a:r>
            <a:r>
              <a:rPr lang="fr-FR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+mj-lt"/>
              <a:buAutoNum type="alphaLcParenR"/>
            </a:pPr>
            <a:endParaRPr lang="fr-FR" sz="24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lphaLcParenR"/>
            </a:pPr>
            <a:r>
              <a:rPr lang="fr-FR" sz="2400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 </a:t>
            </a:r>
            <a:r>
              <a:rPr lang="fr-FR" sz="2400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l’augmentation de </a:t>
            </a:r>
            <a:r>
              <a:rPr lang="fr-FR" sz="2400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diversité périphérique du répertoire des immunoglobulines.</a:t>
            </a:r>
            <a:endParaRPr lang="fr-FR" sz="24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83748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7158" y="571480"/>
            <a:ext cx="8143932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/>
              <a:t>Le taux sérique normal d'</a:t>
            </a:r>
            <a:r>
              <a:rPr lang="fr-FR" sz="2800" dirty="0" err="1" smtClean="0"/>
              <a:t>IgG</a:t>
            </a:r>
            <a:r>
              <a:rPr lang="fr-FR" sz="2800" dirty="0" smtClean="0"/>
              <a:t> de l'adulte est d'environ:</a:t>
            </a:r>
          </a:p>
          <a:p>
            <a:r>
              <a:rPr lang="fr-FR" sz="2800" dirty="0" smtClean="0"/>
              <a:t>------------------------------------------------------------------------</a:t>
            </a:r>
          </a:p>
          <a:p>
            <a:r>
              <a:rPr lang="fr-FR" sz="2800" dirty="0" smtClean="0"/>
              <a:t>   A. 0,1 g/l </a:t>
            </a:r>
          </a:p>
          <a:p>
            <a:endParaRPr lang="fr-FR" sz="2800" dirty="0" smtClean="0"/>
          </a:p>
          <a:p>
            <a:r>
              <a:rPr lang="fr-FR" sz="2800" dirty="0" smtClean="0"/>
              <a:t>   B. 1 g/l </a:t>
            </a:r>
          </a:p>
          <a:p>
            <a:endParaRPr lang="fr-FR" sz="2800" dirty="0" smtClean="0"/>
          </a:p>
          <a:p>
            <a:r>
              <a:rPr lang="fr-FR" sz="2800" dirty="0" smtClean="0">
                <a:solidFill>
                  <a:srgbClr val="0070C0"/>
                </a:solidFill>
              </a:rPr>
              <a:t>  C. 10 à 15 g/l </a:t>
            </a:r>
          </a:p>
          <a:p>
            <a:endParaRPr lang="fr-FR" sz="2800" dirty="0" smtClean="0"/>
          </a:p>
          <a:p>
            <a:r>
              <a:rPr lang="fr-FR" sz="2800" dirty="0" smtClean="0"/>
              <a:t>   D. 50 g/l </a:t>
            </a:r>
          </a:p>
          <a:p>
            <a:endParaRPr lang="fr-FR" sz="2800" dirty="0" smtClean="0"/>
          </a:p>
          <a:p>
            <a:r>
              <a:rPr lang="fr-FR" sz="2800" dirty="0" smtClean="0"/>
              <a:t>   E. 100 g/l 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xmlns="" val="1592401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57158" y="857232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fr-FR" dirty="0" smtClean="0"/>
              <a:t> </a:t>
            </a:r>
            <a:r>
              <a:rPr lang="fr-FR" dirty="0"/>
              <a:t>Chez l'homme, les immunoglobulines G </a:t>
            </a:r>
            <a:r>
              <a:rPr lang="fr-FR" dirty="0" smtClean="0"/>
              <a:t>:</a:t>
            </a:r>
          </a:p>
          <a:p>
            <a:endParaRPr lang="fr-FR" dirty="0"/>
          </a:p>
          <a:p>
            <a:pPr lvl="1">
              <a:buNone/>
            </a:pPr>
            <a:r>
              <a:rPr lang="fr-FR" sz="2600" dirty="0">
                <a:solidFill>
                  <a:srgbClr val="0070C0"/>
                </a:solidFill>
              </a:rPr>
              <a:t>A</a:t>
            </a:r>
            <a:r>
              <a:rPr lang="fr-FR" sz="2600" dirty="0" smtClean="0">
                <a:solidFill>
                  <a:srgbClr val="0070C0"/>
                </a:solidFill>
              </a:rPr>
              <a:t>.   Sont </a:t>
            </a:r>
            <a:r>
              <a:rPr lang="fr-FR" sz="2600" dirty="0">
                <a:solidFill>
                  <a:srgbClr val="0070C0"/>
                </a:solidFill>
              </a:rPr>
              <a:t>les immunoglobulines les plus importantes dans le sérum d'un individu normal </a:t>
            </a:r>
          </a:p>
          <a:p>
            <a:pPr lvl="1">
              <a:buNone/>
            </a:pPr>
            <a:r>
              <a:rPr lang="fr-FR" sz="2600" dirty="0"/>
              <a:t>B. </a:t>
            </a:r>
            <a:r>
              <a:rPr lang="fr-FR" sz="2600" dirty="0" smtClean="0"/>
              <a:t>  Sont </a:t>
            </a:r>
            <a:r>
              <a:rPr lang="fr-FR" sz="2600" dirty="0"/>
              <a:t>les immunoglobulines les plus importantes dans les sécrétions digestives </a:t>
            </a:r>
          </a:p>
          <a:p>
            <a:pPr lvl="1">
              <a:buNone/>
            </a:pPr>
            <a:r>
              <a:rPr lang="fr-FR" sz="2600" dirty="0" smtClean="0">
                <a:solidFill>
                  <a:srgbClr val="0070C0"/>
                </a:solidFill>
              </a:rPr>
              <a:t>C.   Sont capables de traverser la barrière placentaire pour certaines d'entre elles.</a:t>
            </a:r>
          </a:p>
          <a:p>
            <a:pPr lvl="1">
              <a:buNone/>
            </a:pPr>
            <a:r>
              <a:rPr lang="fr-FR" sz="2600" dirty="0" smtClean="0"/>
              <a:t>D.   Présentent une affinité faible pour l'antigène lors d'une réponse immunitaire  secondaire</a:t>
            </a:r>
          </a:p>
          <a:p>
            <a:pPr lvl="1">
              <a:buNone/>
            </a:pPr>
            <a:r>
              <a:rPr lang="fr-FR" sz="2600" dirty="0" smtClean="0">
                <a:solidFill>
                  <a:srgbClr val="0070C0"/>
                </a:solidFill>
              </a:rPr>
              <a:t>E</a:t>
            </a:r>
            <a:r>
              <a:rPr lang="fr-FR" sz="2600" dirty="0">
                <a:solidFill>
                  <a:srgbClr val="0070C0"/>
                </a:solidFill>
              </a:rPr>
              <a:t>. </a:t>
            </a:r>
            <a:r>
              <a:rPr lang="fr-FR" sz="2600" dirty="0" smtClean="0">
                <a:solidFill>
                  <a:srgbClr val="0070C0"/>
                </a:solidFill>
              </a:rPr>
              <a:t>  Présentent </a:t>
            </a:r>
            <a:r>
              <a:rPr lang="fr-FR" sz="2600" dirty="0">
                <a:solidFill>
                  <a:srgbClr val="0070C0"/>
                </a:solidFill>
              </a:rPr>
              <a:t>deux </a:t>
            </a:r>
            <a:r>
              <a:rPr lang="fr-FR" sz="2600" dirty="0" err="1">
                <a:solidFill>
                  <a:srgbClr val="0070C0"/>
                </a:solidFill>
              </a:rPr>
              <a:t>Fab</a:t>
            </a:r>
            <a:endParaRPr lang="fr-FR" sz="2600" dirty="0">
              <a:solidFill>
                <a:srgbClr val="0070C0"/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2379922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2852"/>
            <a:ext cx="914400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/>
              <a:t>La pièce sécrétoire des </a:t>
            </a:r>
            <a:r>
              <a:rPr lang="fr-FR" sz="2800" dirty="0" err="1" smtClean="0"/>
              <a:t>IgA</a:t>
            </a:r>
            <a:r>
              <a:rPr lang="fr-FR" sz="2800" dirty="0" smtClean="0"/>
              <a:t> du tube digestif est élaborée:</a:t>
            </a:r>
          </a:p>
          <a:p>
            <a:r>
              <a:rPr lang="fr-FR" sz="2800" dirty="0" smtClean="0"/>
              <a:t>--------------------------------------------------------------------------------</a:t>
            </a:r>
          </a:p>
          <a:p>
            <a:r>
              <a:rPr lang="fr-FR" sz="2800" dirty="0" smtClean="0"/>
              <a:t> </a:t>
            </a:r>
          </a:p>
          <a:p>
            <a:r>
              <a:rPr lang="fr-FR" sz="2800" dirty="0" smtClean="0"/>
              <a:t> </a:t>
            </a:r>
          </a:p>
          <a:p>
            <a:r>
              <a:rPr lang="fr-FR" sz="2800" dirty="0" smtClean="0"/>
              <a:t>   A. Par les macrophages de la muqueuse digestive </a:t>
            </a:r>
          </a:p>
          <a:p>
            <a:endParaRPr lang="fr-FR" sz="2800" dirty="0" smtClean="0"/>
          </a:p>
          <a:p>
            <a:r>
              <a:rPr lang="fr-FR" sz="2800" dirty="0" smtClean="0">
                <a:solidFill>
                  <a:srgbClr val="0070C0"/>
                </a:solidFill>
              </a:rPr>
              <a:t>  B. Par les cellules épithéliales de la muqueuse digestive </a:t>
            </a:r>
          </a:p>
          <a:p>
            <a:endParaRPr lang="fr-FR" sz="2800" dirty="0" smtClean="0"/>
          </a:p>
          <a:p>
            <a:r>
              <a:rPr lang="fr-FR" sz="2800" dirty="0" smtClean="0"/>
              <a:t>   C. Par les plasmocytes des plaques de Peyer </a:t>
            </a:r>
          </a:p>
          <a:p>
            <a:endParaRPr lang="fr-FR" sz="2800" dirty="0" smtClean="0"/>
          </a:p>
          <a:p>
            <a:r>
              <a:rPr lang="fr-FR" sz="2800" dirty="0" smtClean="0"/>
              <a:t>   D. Par les cellules NK la muqueuse digestive </a:t>
            </a:r>
          </a:p>
          <a:p>
            <a:endParaRPr lang="fr-FR" sz="2800" dirty="0" smtClean="0"/>
          </a:p>
          <a:p>
            <a:r>
              <a:rPr lang="fr-FR" sz="2800" dirty="0" smtClean="0"/>
              <a:t>   E. Par les lymphocytes T </a:t>
            </a:r>
            <a:r>
              <a:rPr lang="fr-FR" sz="2800" dirty="0" err="1" smtClean="0"/>
              <a:t>intraépithéliaux</a:t>
            </a:r>
            <a:r>
              <a:rPr lang="fr-FR" sz="2800" dirty="0" smtClean="0"/>
              <a:t> </a:t>
            </a:r>
          </a:p>
          <a:p>
            <a:r>
              <a:rPr lang="fr-FR" sz="2800" dirty="0" smtClean="0"/>
              <a:t> 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xmlns="" val="2601908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548680"/>
            <a:ext cx="8715436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/>
              <a:t>L'immunoglobuline A :</a:t>
            </a:r>
          </a:p>
          <a:p>
            <a:r>
              <a:rPr lang="fr-FR" sz="2800" dirty="0" smtClean="0"/>
              <a:t>-----------------------------------------------------------------------------</a:t>
            </a:r>
          </a:p>
          <a:p>
            <a:endParaRPr lang="fr-FR" sz="2800" dirty="0" smtClean="0"/>
          </a:p>
          <a:p>
            <a:r>
              <a:rPr lang="fr-FR" sz="2800" dirty="0" smtClean="0">
                <a:solidFill>
                  <a:srgbClr val="0070C0"/>
                </a:solidFill>
              </a:rPr>
              <a:t>  A. Existe sous forme de monomère dans le sang</a:t>
            </a:r>
          </a:p>
          <a:p>
            <a:endParaRPr lang="fr-FR" sz="2800" dirty="0" smtClean="0">
              <a:solidFill>
                <a:srgbClr val="0070C0"/>
              </a:solidFill>
            </a:endParaRPr>
          </a:p>
          <a:p>
            <a:r>
              <a:rPr lang="fr-FR" sz="2800" dirty="0" smtClean="0">
                <a:solidFill>
                  <a:srgbClr val="0070C0"/>
                </a:solidFill>
              </a:rPr>
              <a:t>  B.  Existe sous forme de dimère dans les secrétions</a:t>
            </a:r>
          </a:p>
          <a:p>
            <a:endParaRPr lang="fr-FR" sz="2800" dirty="0" smtClean="0"/>
          </a:p>
          <a:p>
            <a:r>
              <a:rPr lang="fr-FR" sz="2800" dirty="0" smtClean="0">
                <a:solidFill>
                  <a:srgbClr val="0070C0"/>
                </a:solidFill>
              </a:rPr>
              <a:t>  C. Monomérique, elle est dépourvue de la  protéine  J. </a:t>
            </a:r>
          </a:p>
          <a:p>
            <a:endParaRPr lang="fr-FR" sz="2800" dirty="0" smtClean="0"/>
          </a:p>
          <a:p>
            <a:r>
              <a:rPr lang="fr-FR" sz="2800" dirty="0" smtClean="0"/>
              <a:t>  D. </a:t>
            </a:r>
            <a:r>
              <a:rPr lang="fr-FR" sz="2800" dirty="0" err="1" smtClean="0"/>
              <a:t>Pentamérique</a:t>
            </a:r>
            <a:r>
              <a:rPr lang="fr-FR" sz="2800" dirty="0" smtClean="0"/>
              <a:t>, elle se trouve liée à une pièce sécrétoire </a:t>
            </a:r>
          </a:p>
          <a:p>
            <a:endParaRPr lang="fr-FR" sz="2800" dirty="0" smtClean="0"/>
          </a:p>
          <a:p>
            <a:r>
              <a:rPr lang="fr-FR" sz="2800" dirty="0" smtClean="0"/>
              <a:t>   E. Cet </a:t>
            </a:r>
            <a:r>
              <a:rPr lang="fr-FR" sz="2800" dirty="0" err="1" smtClean="0"/>
              <a:t>isotype</a:t>
            </a:r>
            <a:r>
              <a:rPr lang="fr-FR" sz="2800" dirty="0" smtClean="0"/>
              <a:t> possède les  sous-classes suivantes: IgA1, A2, A3, et A4 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xmlns="" val="3904145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2852"/>
            <a:ext cx="914400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/>
              <a:t>Parmi les propositions suivantes, indiquez la (les) quelle(s) se rapporte(nt) aux IgG :</a:t>
            </a:r>
          </a:p>
          <a:p>
            <a:r>
              <a:rPr lang="fr-FR" sz="2800" dirty="0" smtClean="0"/>
              <a:t>--------------------------------------------------------------------------------</a:t>
            </a:r>
          </a:p>
          <a:p>
            <a:r>
              <a:rPr lang="fr-FR" sz="2800" dirty="0" smtClean="0"/>
              <a:t> </a:t>
            </a:r>
          </a:p>
          <a:p>
            <a:r>
              <a:rPr lang="fr-FR" sz="2800" dirty="0" smtClean="0"/>
              <a:t> </a:t>
            </a:r>
          </a:p>
          <a:p>
            <a:r>
              <a:rPr lang="fr-FR" sz="2800" dirty="0" smtClean="0"/>
              <a:t>  </a:t>
            </a:r>
            <a:r>
              <a:rPr lang="fr-FR" sz="2800" dirty="0" smtClean="0">
                <a:solidFill>
                  <a:srgbClr val="0070C0"/>
                </a:solidFill>
              </a:rPr>
              <a:t>A. Ont un poids moléculaire de 150.000 daltons</a:t>
            </a:r>
          </a:p>
          <a:p>
            <a:r>
              <a:rPr lang="fr-FR" sz="2800" dirty="0" smtClean="0"/>
              <a:t> </a:t>
            </a:r>
          </a:p>
          <a:p>
            <a:r>
              <a:rPr lang="fr-FR" sz="2800" dirty="0" smtClean="0"/>
              <a:t>  B. Peuvent se fixer sur les macrophages par le fragment </a:t>
            </a:r>
            <a:r>
              <a:rPr lang="fr-FR" sz="2800" dirty="0" err="1" smtClean="0"/>
              <a:t>Fc</a:t>
            </a:r>
            <a:r>
              <a:rPr lang="fr-FR" sz="2800" dirty="0" smtClean="0"/>
              <a:t> </a:t>
            </a:r>
          </a:p>
          <a:p>
            <a:endParaRPr lang="fr-FR" sz="2800" dirty="0" smtClean="0"/>
          </a:p>
          <a:p>
            <a:r>
              <a:rPr lang="fr-FR" sz="2800" dirty="0" smtClean="0"/>
              <a:t>   C. Sont les immunoglobulines de surfaces membranaires prédominantes des lymphocytes B immatures et matures</a:t>
            </a:r>
          </a:p>
          <a:p>
            <a:endParaRPr lang="fr-FR" sz="2800" dirty="0" smtClean="0"/>
          </a:p>
          <a:p>
            <a:r>
              <a:rPr lang="fr-FR" sz="2800" dirty="0" smtClean="0"/>
              <a:t> </a:t>
            </a:r>
            <a:r>
              <a:rPr lang="fr-FR" sz="2800" dirty="0" smtClean="0">
                <a:solidFill>
                  <a:srgbClr val="0070C0"/>
                </a:solidFill>
              </a:rPr>
              <a:t> D. Sont majoritaires parmi les </a:t>
            </a:r>
            <a:r>
              <a:rPr lang="fr-FR" sz="2800" dirty="0" err="1" smtClean="0">
                <a:solidFill>
                  <a:srgbClr val="0070C0"/>
                </a:solidFill>
              </a:rPr>
              <a:t>Ig</a:t>
            </a:r>
            <a:r>
              <a:rPr lang="fr-FR" sz="2800" dirty="0" smtClean="0">
                <a:solidFill>
                  <a:srgbClr val="0070C0"/>
                </a:solidFill>
              </a:rPr>
              <a:t> sériques </a:t>
            </a:r>
          </a:p>
          <a:p>
            <a:endParaRPr lang="fr-FR" sz="2800" dirty="0" smtClean="0"/>
          </a:p>
          <a:p>
            <a:r>
              <a:rPr lang="fr-FR" sz="2800" dirty="0" smtClean="0">
                <a:solidFill>
                  <a:srgbClr val="0070C0"/>
                </a:solidFill>
              </a:rPr>
              <a:t>  E. Peuvent fixer le complément par voie la classique</a:t>
            </a:r>
            <a:endParaRPr lang="fr-FR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59891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008" y="188640"/>
            <a:ext cx="8964488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/>
              <a:t>Parmi les classes et sous-classes d'immunoglobulines suivantes, indiquer celle qui passe dans la circulation fœtale par transfert placentaire:</a:t>
            </a:r>
          </a:p>
          <a:p>
            <a:r>
              <a:rPr lang="fr-FR" sz="2800" dirty="0" smtClean="0"/>
              <a:t>--------------------------------------------------------------------------------</a:t>
            </a:r>
          </a:p>
          <a:p>
            <a:r>
              <a:rPr lang="fr-FR" sz="2800" dirty="0" smtClean="0"/>
              <a:t> </a:t>
            </a:r>
          </a:p>
          <a:p>
            <a:r>
              <a:rPr lang="fr-FR" sz="2800" dirty="0" smtClean="0"/>
              <a:t>   A. IgM </a:t>
            </a:r>
          </a:p>
          <a:p>
            <a:endParaRPr lang="fr-FR" sz="2800" dirty="0" smtClean="0"/>
          </a:p>
          <a:p>
            <a:r>
              <a:rPr lang="fr-FR" sz="2800" dirty="0" smtClean="0">
                <a:solidFill>
                  <a:srgbClr val="0070C0"/>
                </a:solidFill>
              </a:rPr>
              <a:t>  B. IgG1 </a:t>
            </a:r>
          </a:p>
          <a:p>
            <a:endParaRPr lang="fr-FR" sz="2800" dirty="0" smtClean="0"/>
          </a:p>
          <a:p>
            <a:r>
              <a:rPr lang="fr-FR" sz="2800" dirty="0" smtClean="0"/>
              <a:t>   C. </a:t>
            </a:r>
            <a:r>
              <a:rPr lang="fr-FR" sz="2800" dirty="0" err="1" smtClean="0"/>
              <a:t>IgE</a:t>
            </a:r>
            <a:r>
              <a:rPr lang="fr-FR" sz="2800" dirty="0" smtClean="0"/>
              <a:t> </a:t>
            </a:r>
          </a:p>
          <a:p>
            <a:endParaRPr lang="fr-FR" sz="2800" dirty="0" smtClean="0"/>
          </a:p>
          <a:p>
            <a:r>
              <a:rPr lang="fr-FR" sz="2800" dirty="0" smtClean="0"/>
              <a:t>   D. </a:t>
            </a:r>
            <a:r>
              <a:rPr lang="fr-FR" sz="2800" dirty="0" err="1" smtClean="0"/>
              <a:t>IgA</a:t>
            </a:r>
            <a:r>
              <a:rPr lang="fr-FR" sz="2800" dirty="0" smtClean="0"/>
              <a:t> </a:t>
            </a:r>
            <a:r>
              <a:rPr lang="fr-FR" sz="2800" dirty="0" err="1" smtClean="0"/>
              <a:t>dimériques</a:t>
            </a:r>
            <a:r>
              <a:rPr lang="fr-FR" sz="2800" dirty="0" smtClean="0"/>
              <a:t> </a:t>
            </a:r>
          </a:p>
          <a:p>
            <a:endParaRPr lang="fr-FR" sz="2800" dirty="0" smtClean="0"/>
          </a:p>
          <a:p>
            <a:r>
              <a:rPr lang="fr-FR" sz="2800" dirty="0" smtClean="0"/>
              <a:t>   E. </a:t>
            </a:r>
            <a:r>
              <a:rPr lang="fr-FR" sz="2800" dirty="0" err="1" smtClean="0"/>
              <a:t>IgA</a:t>
            </a:r>
            <a:r>
              <a:rPr lang="fr-FR" sz="2800" dirty="0" smtClean="0"/>
              <a:t> monomériques </a:t>
            </a:r>
          </a:p>
          <a:p>
            <a:r>
              <a:rPr lang="fr-FR" sz="2800" dirty="0" smtClean="0"/>
              <a:t> 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xmlns="" val="1233180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4282" y="642918"/>
            <a:ext cx="8358246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/>
              <a:t>Le fragment </a:t>
            </a:r>
            <a:r>
              <a:rPr lang="fr-FR" sz="2800" dirty="0" err="1" smtClean="0"/>
              <a:t>Fab</a:t>
            </a:r>
            <a:r>
              <a:rPr lang="fr-FR" sz="2800" dirty="0" smtClean="0"/>
              <a:t> obtenu après protéolyse </a:t>
            </a:r>
            <a:r>
              <a:rPr lang="fr-FR" sz="2800" dirty="0" err="1" smtClean="0"/>
              <a:t>d'IgG</a:t>
            </a:r>
            <a:r>
              <a:rPr lang="fr-FR" sz="2800" dirty="0" smtClean="0"/>
              <a:t> par la papaïne:</a:t>
            </a:r>
          </a:p>
          <a:p>
            <a:r>
              <a:rPr lang="fr-FR" sz="2800" dirty="0" smtClean="0">
                <a:solidFill>
                  <a:srgbClr val="0070C0"/>
                </a:solidFill>
              </a:rPr>
              <a:t>--------------------------------------------------------------------------</a:t>
            </a:r>
          </a:p>
          <a:p>
            <a:r>
              <a:rPr lang="fr-FR" sz="2800" dirty="0" smtClean="0">
                <a:solidFill>
                  <a:srgbClr val="0070C0"/>
                </a:solidFill>
              </a:rPr>
              <a:t>  A.  Compte deux domaines variables</a:t>
            </a:r>
          </a:p>
          <a:p>
            <a:endParaRPr lang="fr-FR" sz="2800" dirty="0" smtClean="0"/>
          </a:p>
          <a:p>
            <a:r>
              <a:rPr lang="fr-FR" sz="2800" dirty="0" smtClean="0">
                <a:solidFill>
                  <a:srgbClr val="0070C0"/>
                </a:solidFill>
              </a:rPr>
              <a:t>  </a:t>
            </a:r>
            <a:r>
              <a:rPr lang="fr-FR" sz="2800" dirty="0">
                <a:solidFill>
                  <a:schemeClr val="accent1"/>
                </a:solidFill>
              </a:rPr>
              <a:t> B</a:t>
            </a:r>
            <a:r>
              <a:rPr lang="fr-FR" sz="2800" dirty="0" smtClean="0">
                <a:solidFill>
                  <a:schemeClr val="accent1"/>
                </a:solidFill>
              </a:rPr>
              <a:t>. </a:t>
            </a:r>
            <a:r>
              <a:rPr lang="fr-FR" sz="2800" dirty="0">
                <a:solidFill>
                  <a:schemeClr val="accent1"/>
                </a:solidFill>
              </a:rPr>
              <a:t>Possède  un domaine variable de la chaîne lourde et un autre de la chaine </a:t>
            </a:r>
            <a:r>
              <a:rPr lang="fr-FR" sz="2800" dirty="0" smtClean="0">
                <a:solidFill>
                  <a:schemeClr val="accent1"/>
                </a:solidFill>
              </a:rPr>
              <a:t>légère </a:t>
            </a:r>
          </a:p>
          <a:p>
            <a:endParaRPr lang="fr-FR" sz="2800" dirty="0" smtClean="0">
              <a:solidFill>
                <a:schemeClr val="accent1"/>
              </a:solidFill>
            </a:endParaRPr>
          </a:p>
          <a:p>
            <a:r>
              <a:rPr lang="fr-FR" sz="2800" dirty="0" smtClean="0">
                <a:solidFill>
                  <a:srgbClr val="0070C0"/>
                </a:solidFill>
              </a:rPr>
              <a:t>  C. Il est Monovalent </a:t>
            </a:r>
          </a:p>
          <a:p>
            <a:endParaRPr lang="fr-FR" sz="2800" dirty="0" smtClean="0"/>
          </a:p>
          <a:p>
            <a:r>
              <a:rPr lang="fr-FR" sz="2800" dirty="0" smtClean="0"/>
              <a:t>   D. Il est Bivalent </a:t>
            </a:r>
          </a:p>
          <a:p>
            <a:endParaRPr lang="fr-FR" sz="2800" dirty="0" smtClean="0"/>
          </a:p>
          <a:p>
            <a:r>
              <a:rPr lang="fr-FR" sz="2800" dirty="0" smtClean="0"/>
              <a:t>  E. N’as </a:t>
            </a:r>
            <a:r>
              <a:rPr lang="fr-FR" sz="2800" dirty="0"/>
              <a:t>p</a:t>
            </a:r>
            <a:r>
              <a:rPr lang="fr-FR" sz="2800" dirty="0" smtClean="0"/>
              <a:t>as de fonctions effectrices </a:t>
            </a:r>
          </a:p>
          <a:p>
            <a:endParaRPr lang="fr-FR" sz="2800" dirty="0" smtClean="0"/>
          </a:p>
        </p:txBody>
      </p:sp>
    </p:spTree>
    <p:extLst>
      <p:ext uri="{BB962C8B-B14F-4D97-AF65-F5344CB8AC3E}">
        <p14:creationId xmlns:p14="http://schemas.microsoft.com/office/powerpoint/2010/main" xmlns="" val="178815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0034" y="285728"/>
            <a:ext cx="771530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/>
              <a:t>La première classe d'immunoglobuline produite au cours de l'ontogénie </a:t>
            </a:r>
            <a:r>
              <a:rPr lang="fr-FR" sz="2800" dirty="0"/>
              <a:t> </a:t>
            </a:r>
            <a:r>
              <a:rPr lang="fr-FR" sz="2800" dirty="0" smtClean="0"/>
              <a:t>est: </a:t>
            </a:r>
          </a:p>
          <a:p>
            <a:r>
              <a:rPr lang="fr-FR" sz="2800" dirty="0" smtClean="0"/>
              <a:t>------------------------------------------------------------------</a:t>
            </a:r>
          </a:p>
          <a:p>
            <a:r>
              <a:rPr lang="fr-FR" sz="2800" dirty="0" smtClean="0"/>
              <a:t>   A. IgG </a:t>
            </a:r>
          </a:p>
          <a:p>
            <a:endParaRPr lang="fr-FR" sz="2800" dirty="0" smtClean="0"/>
          </a:p>
          <a:p>
            <a:r>
              <a:rPr lang="fr-FR" sz="2800" dirty="0" smtClean="0"/>
              <a:t>   B. </a:t>
            </a:r>
            <a:r>
              <a:rPr lang="fr-FR" sz="2800" dirty="0" err="1" smtClean="0"/>
              <a:t>IgA</a:t>
            </a:r>
            <a:r>
              <a:rPr lang="fr-FR" sz="2800" dirty="0" smtClean="0"/>
              <a:t> </a:t>
            </a:r>
          </a:p>
          <a:p>
            <a:endParaRPr lang="fr-FR" sz="2800" dirty="0" smtClean="0"/>
          </a:p>
          <a:p>
            <a:r>
              <a:rPr lang="fr-FR" sz="2800" dirty="0" smtClean="0">
                <a:solidFill>
                  <a:srgbClr val="0070C0"/>
                </a:solidFill>
              </a:rPr>
              <a:t>  C. IgM </a:t>
            </a:r>
          </a:p>
          <a:p>
            <a:endParaRPr lang="fr-FR" sz="2800" dirty="0" smtClean="0"/>
          </a:p>
          <a:p>
            <a:r>
              <a:rPr lang="fr-FR" sz="2800" dirty="0" smtClean="0"/>
              <a:t>   D. </a:t>
            </a:r>
            <a:r>
              <a:rPr lang="fr-FR" sz="2800" dirty="0" err="1" smtClean="0"/>
              <a:t>IgD</a:t>
            </a:r>
            <a:r>
              <a:rPr lang="fr-FR" sz="2800" dirty="0" smtClean="0"/>
              <a:t> </a:t>
            </a:r>
          </a:p>
          <a:p>
            <a:endParaRPr lang="fr-FR" sz="2800" dirty="0" smtClean="0"/>
          </a:p>
          <a:p>
            <a:r>
              <a:rPr lang="fr-FR" sz="2800" dirty="0" smtClean="0"/>
              <a:t>   E. </a:t>
            </a:r>
            <a:r>
              <a:rPr lang="fr-FR" sz="2800" dirty="0" err="1" smtClean="0"/>
              <a:t>IgE</a:t>
            </a:r>
            <a:r>
              <a:rPr lang="fr-FR" sz="2800" dirty="0" smtClean="0"/>
              <a:t> 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xmlns="" val="289658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4282" y="302359"/>
            <a:ext cx="821537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/>
              <a:t>La région charnière joue un rôle important dans:</a:t>
            </a:r>
          </a:p>
          <a:p>
            <a:r>
              <a:rPr lang="fr-FR" sz="2800" dirty="0" smtClean="0"/>
              <a:t>-------------------------------------------------------------------------</a:t>
            </a:r>
          </a:p>
          <a:p>
            <a:r>
              <a:rPr lang="fr-FR" sz="2800" dirty="0" smtClean="0"/>
              <a:t> </a:t>
            </a:r>
          </a:p>
          <a:p>
            <a:r>
              <a:rPr lang="fr-FR" sz="2800" dirty="0" smtClean="0"/>
              <a:t> </a:t>
            </a:r>
          </a:p>
          <a:p>
            <a:r>
              <a:rPr lang="fr-FR" sz="2800" dirty="0" smtClean="0"/>
              <a:t>  A. La fixation des protéines de compléments</a:t>
            </a:r>
          </a:p>
          <a:p>
            <a:r>
              <a:rPr lang="fr-FR" sz="2800" dirty="0" smtClean="0"/>
              <a:t> </a:t>
            </a:r>
          </a:p>
          <a:p>
            <a:r>
              <a:rPr lang="fr-FR" sz="2800" dirty="0" smtClean="0">
                <a:solidFill>
                  <a:srgbClr val="0070C0"/>
                </a:solidFill>
              </a:rPr>
              <a:t>  B. La flexibilité des </a:t>
            </a:r>
            <a:r>
              <a:rPr lang="fr-FR" sz="2800" dirty="0" err="1" smtClean="0">
                <a:solidFill>
                  <a:srgbClr val="0070C0"/>
                </a:solidFill>
              </a:rPr>
              <a:t>Ig</a:t>
            </a:r>
            <a:r>
              <a:rPr lang="fr-FR" sz="2800" dirty="0" smtClean="0">
                <a:solidFill>
                  <a:srgbClr val="0070C0"/>
                </a:solidFill>
              </a:rPr>
              <a:t> </a:t>
            </a:r>
          </a:p>
          <a:p>
            <a:endParaRPr lang="fr-FR" sz="2800" dirty="0" smtClean="0"/>
          </a:p>
          <a:p>
            <a:r>
              <a:rPr lang="fr-FR" sz="2800" dirty="0" smtClean="0"/>
              <a:t>   C. La spécificité anticorps des </a:t>
            </a:r>
            <a:r>
              <a:rPr lang="fr-FR" sz="2800" dirty="0" err="1" smtClean="0"/>
              <a:t>Ig</a:t>
            </a:r>
            <a:r>
              <a:rPr lang="fr-FR" sz="2800" dirty="0" smtClean="0"/>
              <a:t> </a:t>
            </a:r>
          </a:p>
          <a:p>
            <a:endParaRPr lang="fr-FR" sz="2800" dirty="0" smtClean="0"/>
          </a:p>
          <a:p>
            <a:r>
              <a:rPr lang="fr-FR" sz="2800" dirty="0" smtClean="0"/>
              <a:t>   D. L'affinité des anticorps </a:t>
            </a:r>
          </a:p>
          <a:p>
            <a:endParaRPr lang="fr-FR" sz="2800" dirty="0" smtClean="0"/>
          </a:p>
          <a:p>
            <a:r>
              <a:rPr lang="fr-FR" sz="2800" dirty="0" smtClean="0"/>
              <a:t>   E. La fixation de la pièce J des </a:t>
            </a:r>
            <a:r>
              <a:rPr lang="fr-FR" sz="2800" dirty="0" err="1" smtClean="0"/>
              <a:t>Ig</a:t>
            </a:r>
            <a:r>
              <a:rPr lang="fr-FR" sz="2800" dirty="0" smtClean="0"/>
              <a:t> polymériques 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xmlns="" val="1967674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2844" y="500042"/>
            <a:ext cx="871543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/>
              <a:t>Les immunoglobulines synthétisées par un plasmocyte individuel :</a:t>
            </a:r>
          </a:p>
          <a:p>
            <a:r>
              <a:rPr lang="fr-FR" sz="2800" dirty="0" smtClean="0"/>
              <a:t>-----------------------------------------------------------------------------     </a:t>
            </a:r>
            <a:r>
              <a:rPr lang="fr-FR" sz="2800" dirty="0" smtClean="0">
                <a:solidFill>
                  <a:srgbClr val="0070C0"/>
                </a:solidFill>
              </a:rPr>
              <a:t>A. Ont toutes la même spécificité anticorps </a:t>
            </a:r>
          </a:p>
          <a:p>
            <a:endParaRPr lang="fr-FR" sz="2800" dirty="0" smtClean="0">
              <a:solidFill>
                <a:srgbClr val="0070C0"/>
              </a:solidFill>
            </a:endParaRPr>
          </a:p>
          <a:p>
            <a:r>
              <a:rPr lang="fr-FR" sz="2800" dirty="0" smtClean="0">
                <a:solidFill>
                  <a:srgbClr val="0070C0"/>
                </a:solidFill>
              </a:rPr>
              <a:t>  B. Ont toutes la même chaîne lourde </a:t>
            </a:r>
          </a:p>
          <a:p>
            <a:endParaRPr lang="fr-FR" sz="2800" dirty="0" smtClean="0">
              <a:solidFill>
                <a:srgbClr val="0070C0"/>
              </a:solidFill>
            </a:endParaRPr>
          </a:p>
          <a:p>
            <a:r>
              <a:rPr lang="fr-FR" sz="2800" dirty="0" smtClean="0">
                <a:solidFill>
                  <a:srgbClr val="0070C0"/>
                </a:solidFill>
              </a:rPr>
              <a:t>  C. Ont toutes la même chaîne légère </a:t>
            </a:r>
          </a:p>
          <a:p>
            <a:endParaRPr lang="fr-FR" sz="2800" dirty="0" smtClean="0">
              <a:solidFill>
                <a:srgbClr val="0070C0"/>
              </a:solidFill>
            </a:endParaRPr>
          </a:p>
          <a:p>
            <a:r>
              <a:rPr lang="fr-FR" sz="2800" dirty="0" smtClean="0">
                <a:solidFill>
                  <a:srgbClr val="0070C0"/>
                </a:solidFill>
              </a:rPr>
              <a:t>   D. Ont toutes le même poids moléculaire</a:t>
            </a:r>
          </a:p>
          <a:p>
            <a:endParaRPr lang="fr-FR" sz="2800" dirty="0" smtClean="0"/>
          </a:p>
          <a:p>
            <a:r>
              <a:rPr lang="fr-FR" sz="2800" dirty="0" smtClean="0"/>
              <a:t>  E. </a:t>
            </a:r>
            <a:r>
              <a:rPr lang="fr-FR" sz="2800" dirty="0"/>
              <a:t>N</a:t>
            </a:r>
            <a:r>
              <a:rPr lang="fr-FR" sz="2800" dirty="0" smtClean="0"/>
              <a:t>e partagent pas les mêmes déterminants idiotypiques 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xmlns="" val="562794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7158" y="357166"/>
            <a:ext cx="785818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 smtClean="0"/>
              <a:t> Pour les </a:t>
            </a:r>
            <a:r>
              <a:rPr lang="fr-FR" sz="2800" b="1" dirty="0" err="1" smtClean="0"/>
              <a:t>IgG</a:t>
            </a:r>
            <a:r>
              <a:rPr lang="fr-FR" sz="2800" b="1" dirty="0" smtClean="0"/>
              <a:t> </a:t>
            </a:r>
            <a:r>
              <a:rPr lang="fr-FR" sz="2800" b="1" dirty="0" err="1" smtClean="0"/>
              <a:t>polyclonales</a:t>
            </a:r>
            <a:r>
              <a:rPr lang="fr-FR" sz="2800" b="1" dirty="0" smtClean="0"/>
              <a:t> sériques, le rapport des chaînes légères kappa/lambda est d'environ</a:t>
            </a:r>
            <a:r>
              <a:rPr lang="fr-FR" sz="2800" dirty="0" smtClean="0"/>
              <a:t>:</a:t>
            </a:r>
          </a:p>
          <a:p>
            <a:r>
              <a:rPr lang="fr-FR" sz="2800" dirty="0" smtClean="0"/>
              <a:t> </a:t>
            </a:r>
          </a:p>
          <a:p>
            <a:r>
              <a:rPr lang="fr-FR" sz="2800" dirty="0" smtClean="0"/>
              <a:t>   A. 0,33 </a:t>
            </a:r>
          </a:p>
          <a:p>
            <a:endParaRPr lang="fr-FR" sz="2800" dirty="0" smtClean="0"/>
          </a:p>
          <a:p>
            <a:r>
              <a:rPr lang="fr-FR" sz="2800" dirty="0" smtClean="0"/>
              <a:t>   B. 0,5 </a:t>
            </a:r>
          </a:p>
          <a:p>
            <a:endParaRPr lang="fr-FR" sz="2800" dirty="0" smtClean="0"/>
          </a:p>
          <a:p>
            <a:r>
              <a:rPr lang="fr-FR" sz="2800" dirty="0" smtClean="0"/>
              <a:t>   C. 1 </a:t>
            </a:r>
          </a:p>
          <a:p>
            <a:endParaRPr lang="fr-FR" sz="2800" dirty="0" smtClean="0"/>
          </a:p>
          <a:p>
            <a:r>
              <a:rPr lang="fr-FR" sz="2800" dirty="0" smtClean="0">
                <a:solidFill>
                  <a:srgbClr val="0070C0"/>
                </a:solidFill>
              </a:rPr>
              <a:t>  D. 2 </a:t>
            </a:r>
          </a:p>
          <a:p>
            <a:endParaRPr lang="fr-FR" sz="2800" dirty="0" smtClean="0"/>
          </a:p>
          <a:p>
            <a:r>
              <a:rPr lang="fr-FR" sz="2800" dirty="0" smtClean="0"/>
              <a:t>   E. 3 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xmlns="" val="9942729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4282" y="214290"/>
            <a:ext cx="8643998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/>
              <a:t>En réponse primaire à un antigène </a:t>
            </a:r>
            <a:r>
              <a:rPr lang="fr-FR" sz="2800" dirty="0" err="1" smtClean="0"/>
              <a:t>thymo</a:t>
            </a:r>
            <a:r>
              <a:rPr lang="fr-FR" sz="2800" dirty="0" smtClean="0"/>
              <a:t>-dépendant, les anticorps sériques sont:</a:t>
            </a:r>
          </a:p>
          <a:p>
            <a:r>
              <a:rPr lang="fr-FR" sz="2800" dirty="0" smtClean="0"/>
              <a:t>----------------------------------------------</a:t>
            </a:r>
          </a:p>
          <a:p>
            <a:r>
              <a:rPr lang="fr-FR" sz="2800" dirty="0" smtClean="0"/>
              <a:t> </a:t>
            </a:r>
          </a:p>
          <a:p>
            <a:r>
              <a:rPr lang="fr-FR" sz="2800" dirty="0" smtClean="0"/>
              <a:t>   A. Seulement des IgM </a:t>
            </a:r>
          </a:p>
          <a:p>
            <a:endParaRPr lang="fr-FR" sz="2800" dirty="0" smtClean="0"/>
          </a:p>
          <a:p>
            <a:r>
              <a:rPr lang="fr-FR" sz="2800" dirty="0" smtClean="0"/>
              <a:t>   B. Seulement des IgG </a:t>
            </a:r>
          </a:p>
          <a:p>
            <a:endParaRPr lang="fr-FR" sz="2800" dirty="0" smtClean="0"/>
          </a:p>
          <a:p>
            <a:r>
              <a:rPr lang="fr-FR" sz="2800" dirty="0" smtClean="0">
                <a:solidFill>
                  <a:srgbClr val="0070C0"/>
                </a:solidFill>
              </a:rPr>
              <a:t>  C. Des IgM puis des IgG </a:t>
            </a:r>
          </a:p>
          <a:p>
            <a:endParaRPr lang="fr-FR" sz="2800" dirty="0" smtClean="0"/>
          </a:p>
          <a:p>
            <a:r>
              <a:rPr lang="fr-FR" sz="2800" dirty="0" smtClean="0"/>
              <a:t>   D. Des </a:t>
            </a:r>
            <a:r>
              <a:rPr lang="fr-FR" sz="2800" dirty="0" err="1" smtClean="0"/>
              <a:t>IgG</a:t>
            </a:r>
            <a:r>
              <a:rPr lang="fr-FR" sz="2800" dirty="0" smtClean="0"/>
              <a:t> en prédominance  puis des IgM </a:t>
            </a:r>
          </a:p>
          <a:p>
            <a:endParaRPr lang="fr-FR" sz="2800" dirty="0" smtClean="0"/>
          </a:p>
          <a:p>
            <a:r>
              <a:rPr lang="fr-FR" sz="2800" dirty="0" smtClean="0"/>
              <a:t>   E. Simultanément des IgM et des </a:t>
            </a:r>
            <a:r>
              <a:rPr lang="fr-FR" sz="2800" dirty="0" err="1" smtClean="0"/>
              <a:t>IgG</a:t>
            </a:r>
            <a:r>
              <a:rPr lang="fr-FR" sz="2800" dirty="0" smtClean="0"/>
              <a:t> dés les 24 premières heures</a:t>
            </a:r>
          </a:p>
          <a:p>
            <a:r>
              <a:rPr lang="fr-FR" sz="2800" dirty="0" smtClean="0"/>
              <a:t> 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xmlns="" val="30249074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57158" y="785794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fr-FR" dirty="0" smtClean="0"/>
              <a:t>Les </a:t>
            </a:r>
            <a:r>
              <a:rPr lang="fr-FR" dirty="0"/>
              <a:t>chaînes légères des immunoglobulines </a:t>
            </a:r>
            <a:r>
              <a:rPr lang="fr-FR" dirty="0" smtClean="0"/>
              <a:t>:</a:t>
            </a:r>
          </a:p>
          <a:p>
            <a:endParaRPr lang="fr-FR" dirty="0"/>
          </a:p>
          <a:p>
            <a:pPr marL="971550" lvl="1" indent="-514350">
              <a:buAutoNum type="alphaUcPeriod"/>
            </a:pPr>
            <a:r>
              <a:rPr lang="fr-FR" sz="2600" dirty="0" smtClean="0">
                <a:solidFill>
                  <a:srgbClr val="0070C0"/>
                </a:solidFill>
              </a:rPr>
              <a:t>S’associées </a:t>
            </a:r>
            <a:r>
              <a:rPr lang="fr-FR" sz="2600" dirty="0">
                <a:solidFill>
                  <a:srgbClr val="0070C0"/>
                </a:solidFill>
              </a:rPr>
              <a:t>à des chaînes lourdes </a:t>
            </a:r>
            <a:endParaRPr lang="fr-FR" sz="2600" dirty="0" smtClean="0">
              <a:solidFill>
                <a:srgbClr val="0070C0"/>
              </a:solidFill>
            </a:endParaRPr>
          </a:p>
          <a:p>
            <a:pPr marL="971550" lvl="1" indent="-514350">
              <a:buAutoNum type="alphaUcPeriod"/>
            </a:pPr>
            <a:endParaRPr lang="fr-FR" sz="2600" dirty="0">
              <a:solidFill>
                <a:srgbClr val="0070C0"/>
              </a:solidFill>
            </a:endParaRPr>
          </a:p>
          <a:p>
            <a:pPr marL="971550" lvl="1" indent="-514350">
              <a:buAutoNum type="alphaUcPeriod" startAt="2"/>
            </a:pPr>
            <a:r>
              <a:rPr lang="fr-FR" sz="2600" dirty="0" smtClean="0"/>
              <a:t>appartiennent </a:t>
            </a:r>
            <a:r>
              <a:rPr lang="fr-FR" sz="2600" dirty="0"/>
              <a:t>au fragment </a:t>
            </a:r>
            <a:r>
              <a:rPr lang="fr-FR" sz="2600" dirty="0" err="1"/>
              <a:t>Fc</a:t>
            </a:r>
            <a:r>
              <a:rPr lang="fr-FR" sz="2600" dirty="0"/>
              <a:t> </a:t>
            </a:r>
            <a:endParaRPr lang="fr-FR" sz="2600" dirty="0" smtClean="0"/>
          </a:p>
          <a:p>
            <a:pPr marL="971550" lvl="1" indent="-514350">
              <a:buAutoNum type="alphaUcPeriod" startAt="2"/>
            </a:pPr>
            <a:endParaRPr lang="fr-FR" sz="2600" dirty="0"/>
          </a:p>
          <a:p>
            <a:pPr marL="971550" lvl="1" indent="-514350">
              <a:buAutoNum type="alphaUcPeriod" startAt="3"/>
            </a:pPr>
            <a:r>
              <a:rPr lang="fr-FR" sz="2600" dirty="0" smtClean="0"/>
              <a:t>sont </a:t>
            </a:r>
            <a:r>
              <a:rPr lang="fr-FR" sz="2600" dirty="0"/>
              <a:t>associées entre-elles pour former le </a:t>
            </a:r>
            <a:r>
              <a:rPr lang="fr-FR" sz="2600" dirty="0" err="1"/>
              <a:t>paratope</a:t>
            </a:r>
            <a:r>
              <a:rPr lang="fr-FR" sz="2600" dirty="0"/>
              <a:t> </a:t>
            </a:r>
            <a:endParaRPr lang="fr-FR" sz="2600" dirty="0" smtClean="0"/>
          </a:p>
          <a:p>
            <a:pPr marL="971550" lvl="1" indent="-514350">
              <a:buAutoNum type="alphaUcPeriod" startAt="3"/>
            </a:pPr>
            <a:endParaRPr lang="fr-FR" sz="2600" dirty="0"/>
          </a:p>
          <a:p>
            <a:pPr marL="971550" lvl="1" indent="-514350">
              <a:buAutoNum type="alphaUcPeriod" startAt="4"/>
            </a:pPr>
            <a:r>
              <a:rPr lang="fr-FR" sz="2600" dirty="0" smtClean="0"/>
              <a:t>sont </a:t>
            </a:r>
            <a:r>
              <a:rPr lang="fr-FR" sz="2600" dirty="0"/>
              <a:t>de 04 </a:t>
            </a:r>
            <a:r>
              <a:rPr lang="fr-FR" sz="2600" dirty="0" smtClean="0"/>
              <a:t>isotypes</a:t>
            </a:r>
          </a:p>
          <a:p>
            <a:pPr marL="971550" lvl="1" indent="-514350">
              <a:buAutoNum type="alphaUcPeriod" startAt="4"/>
            </a:pPr>
            <a:endParaRPr lang="fr-FR" sz="2600" dirty="0"/>
          </a:p>
          <a:p>
            <a:pPr lvl="1">
              <a:buNone/>
            </a:pPr>
            <a:r>
              <a:rPr lang="fr-FR" sz="2600" dirty="0">
                <a:solidFill>
                  <a:srgbClr val="0070C0"/>
                </a:solidFill>
              </a:rPr>
              <a:t>E. </a:t>
            </a:r>
            <a:r>
              <a:rPr lang="fr-FR" sz="2600" dirty="0" smtClean="0">
                <a:solidFill>
                  <a:srgbClr val="0070C0"/>
                </a:solidFill>
              </a:rPr>
              <a:t> contiennent </a:t>
            </a:r>
            <a:r>
              <a:rPr lang="fr-FR" sz="2600" dirty="0">
                <a:solidFill>
                  <a:srgbClr val="0070C0"/>
                </a:solidFill>
              </a:rPr>
              <a:t>un seul domaine constant 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2766336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-36512" y="714356"/>
            <a:ext cx="8967370" cy="4525963"/>
          </a:xfrm>
        </p:spPr>
        <p:txBody>
          <a:bodyPr>
            <a:normAutofit/>
          </a:bodyPr>
          <a:lstStyle/>
          <a:p>
            <a:r>
              <a:rPr lang="fr-FR" dirty="0" smtClean="0"/>
              <a:t>Concernant </a:t>
            </a:r>
            <a:r>
              <a:rPr lang="fr-FR" dirty="0"/>
              <a:t>le fragment </a:t>
            </a:r>
            <a:r>
              <a:rPr lang="fr-FR" dirty="0" err="1"/>
              <a:t>Fc</a:t>
            </a:r>
            <a:r>
              <a:rPr lang="fr-FR" dirty="0"/>
              <a:t> des immunoglobulines </a:t>
            </a:r>
            <a:r>
              <a:rPr lang="fr-FR" dirty="0" smtClean="0"/>
              <a:t>:</a:t>
            </a:r>
          </a:p>
          <a:p>
            <a:endParaRPr lang="fr-FR" dirty="0"/>
          </a:p>
          <a:p>
            <a:pPr lvl="1">
              <a:buNone/>
            </a:pPr>
            <a:r>
              <a:rPr lang="fr-FR" sz="2600" dirty="0">
                <a:solidFill>
                  <a:srgbClr val="0070C0"/>
                </a:solidFill>
              </a:rPr>
              <a:t>A – Constitue le support de la diversité </a:t>
            </a:r>
            <a:r>
              <a:rPr lang="fr-FR" sz="2600" dirty="0" err="1">
                <a:solidFill>
                  <a:srgbClr val="0070C0"/>
                </a:solidFill>
              </a:rPr>
              <a:t>isotypique</a:t>
            </a:r>
            <a:r>
              <a:rPr lang="fr-FR" sz="2600" dirty="0">
                <a:solidFill>
                  <a:srgbClr val="0070C0"/>
                </a:solidFill>
              </a:rPr>
              <a:t> des chaines lourdes</a:t>
            </a:r>
          </a:p>
          <a:p>
            <a:pPr lvl="1">
              <a:buNone/>
            </a:pPr>
            <a:r>
              <a:rPr lang="fr-FR" sz="2600" dirty="0">
                <a:solidFill>
                  <a:srgbClr val="0070C0"/>
                </a:solidFill>
              </a:rPr>
              <a:t>B - Permet aux </a:t>
            </a:r>
            <a:r>
              <a:rPr lang="fr-FR" sz="2600" dirty="0" err="1">
                <a:solidFill>
                  <a:srgbClr val="0070C0"/>
                </a:solidFill>
              </a:rPr>
              <a:t>IgG</a:t>
            </a:r>
            <a:r>
              <a:rPr lang="fr-FR" sz="2600" dirty="0">
                <a:solidFill>
                  <a:srgbClr val="0070C0"/>
                </a:solidFill>
              </a:rPr>
              <a:t> de traverser le placenta</a:t>
            </a:r>
          </a:p>
          <a:p>
            <a:pPr lvl="1">
              <a:buNone/>
            </a:pPr>
            <a:r>
              <a:rPr lang="fr-FR" sz="2600" dirty="0">
                <a:solidFill>
                  <a:srgbClr val="0070C0"/>
                </a:solidFill>
              </a:rPr>
              <a:t>C - Permet la fixation des IgE aux mastocytes</a:t>
            </a:r>
          </a:p>
          <a:p>
            <a:pPr lvl="1">
              <a:buNone/>
            </a:pPr>
            <a:r>
              <a:rPr lang="fr-FR" sz="2600" dirty="0"/>
              <a:t>D - Fixe le composant </a:t>
            </a:r>
            <a:r>
              <a:rPr lang="fr-FR" sz="2600" dirty="0" smtClean="0"/>
              <a:t>C1q </a:t>
            </a:r>
            <a:r>
              <a:rPr lang="fr-FR" sz="2600" dirty="0"/>
              <a:t>du complément, dans </a:t>
            </a:r>
            <a:r>
              <a:rPr lang="fr-FR" sz="2600" dirty="0" smtClean="0"/>
              <a:t>le cas des </a:t>
            </a:r>
            <a:r>
              <a:rPr lang="fr-FR" sz="2600" dirty="0" err="1" smtClean="0"/>
              <a:t>IgA</a:t>
            </a:r>
            <a:r>
              <a:rPr lang="fr-FR" sz="2600" dirty="0" smtClean="0"/>
              <a:t> </a:t>
            </a:r>
            <a:endParaRPr lang="fr-FR" sz="2600" dirty="0"/>
          </a:p>
          <a:p>
            <a:pPr lvl="1">
              <a:buNone/>
            </a:pPr>
            <a:r>
              <a:rPr lang="fr-FR" sz="2600" dirty="0">
                <a:solidFill>
                  <a:srgbClr val="0070C0"/>
                </a:solidFill>
              </a:rPr>
              <a:t>E - Est </a:t>
            </a:r>
            <a:r>
              <a:rPr lang="fr-FR" sz="2600" dirty="0" smtClean="0">
                <a:solidFill>
                  <a:srgbClr val="0070C0"/>
                </a:solidFill>
              </a:rPr>
              <a:t>la partie </a:t>
            </a:r>
            <a:r>
              <a:rPr lang="fr-FR" sz="2600" dirty="0">
                <a:solidFill>
                  <a:srgbClr val="0070C0"/>
                </a:solidFill>
              </a:rPr>
              <a:t>de fixation de la chaîne J, dans les </a:t>
            </a:r>
            <a:r>
              <a:rPr lang="fr-FR" sz="2600" dirty="0" err="1">
                <a:solidFill>
                  <a:srgbClr val="0070C0"/>
                </a:solidFill>
              </a:rPr>
              <a:t>IgA</a:t>
            </a:r>
            <a:endParaRPr lang="fr-FR" sz="2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430289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33261" y="476672"/>
            <a:ext cx="8847358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Le système du complément:</a:t>
            </a:r>
          </a:p>
          <a:p>
            <a:endParaRPr lang="fr-FR" sz="2800" dirty="0" smtClean="0"/>
          </a:p>
          <a:p>
            <a:endParaRPr lang="fr-FR" sz="2400" dirty="0"/>
          </a:p>
          <a:p>
            <a:pPr marL="285750" indent="-285750">
              <a:buFontTx/>
              <a:buChar char="-"/>
            </a:pPr>
            <a:r>
              <a:rPr lang="fr-FR" sz="2400" dirty="0" smtClean="0">
                <a:solidFill>
                  <a:srgbClr val="0070C0"/>
                </a:solidFill>
              </a:rPr>
              <a:t>Comprend </a:t>
            </a:r>
            <a:r>
              <a:rPr lang="fr-FR" sz="2400" dirty="0">
                <a:solidFill>
                  <a:srgbClr val="0070C0"/>
                </a:solidFill>
              </a:rPr>
              <a:t>d</a:t>
            </a:r>
            <a:r>
              <a:rPr lang="fr-FR" sz="2400" dirty="0" smtClean="0">
                <a:solidFill>
                  <a:srgbClr val="0070C0"/>
                </a:solidFill>
              </a:rPr>
              <a:t>es molécules solubles, et membranaires de régulation</a:t>
            </a:r>
          </a:p>
          <a:p>
            <a:pPr marL="285750" indent="-285750">
              <a:buFontTx/>
              <a:buChar char="-"/>
            </a:pPr>
            <a:endParaRPr lang="fr-FR" sz="2400" dirty="0"/>
          </a:p>
          <a:p>
            <a:pPr marL="285750" indent="-285750">
              <a:buFontTx/>
              <a:buChar char="-"/>
            </a:pPr>
            <a:r>
              <a:rPr lang="fr-FR" sz="2400" dirty="0" smtClean="0">
                <a:solidFill>
                  <a:srgbClr val="0070C0"/>
                </a:solidFill>
              </a:rPr>
              <a:t>Impliquer dans la défense innée par la voie alterne</a:t>
            </a:r>
          </a:p>
          <a:p>
            <a:pPr marL="285750" indent="-285750">
              <a:buFontTx/>
              <a:buChar char="-"/>
            </a:pPr>
            <a:endParaRPr lang="fr-FR" sz="2400" dirty="0"/>
          </a:p>
          <a:p>
            <a:pPr marL="285750" indent="-285750">
              <a:buFontTx/>
              <a:buChar char="-"/>
            </a:pPr>
            <a:r>
              <a:rPr lang="fr-FR" sz="2400" dirty="0" smtClean="0"/>
              <a:t>Ne s’active qu’en présence de complexes immuns</a:t>
            </a:r>
          </a:p>
          <a:p>
            <a:pPr marL="285750" indent="-285750">
              <a:buFontTx/>
              <a:buChar char="-"/>
            </a:pPr>
            <a:endParaRPr lang="fr-FR" sz="2400" dirty="0"/>
          </a:p>
          <a:p>
            <a:pPr marL="285750" indent="-285750">
              <a:buFontTx/>
              <a:buChar char="-"/>
            </a:pPr>
            <a:r>
              <a:rPr lang="fr-FR" sz="2400" dirty="0" smtClean="0">
                <a:solidFill>
                  <a:srgbClr val="0070C0"/>
                </a:solidFill>
              </a:rPr>
              <a:t> S’active en réaction de protéolyse en chaines ou cascade</a:t>
            </a:r>
          </a:p>
          <a:p>
            <a:pPr marL="285750" indent="-285750">
              <a:buFontTx/>
              <a:buChar char="-"/>
            </a:pPr>
            <a:endParaRPr lang="fr-FR" sz="2400" dirty="0" smtClean="0">
              <a:solidFill>
                <a:srgbClr val="0070C0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sz="2400" dirty="0" smtClean="0">
                <a:solidFill>
                  <a:srgbClr val="0070C0"/>
                </a:solidFill>
              </a:rPr>
              <a:t>S’active via trois voie distinctes</a:t>
            </a:r>
            <a:endParaRPr lang="fr-FR" sz="2400" dirty="0">
              <a:solidFill>
                <a:srgbClr val="0070C0"/>
              </a:solidFill>
            </a:endParaRPr>
          </a:p>
          <a:p>
            <a:pPr marL="285750" indent="-285750">
              <a:buFontTx/>
              <a:buChar char="-"/>
            </a:pPr>
            <a:endParaRPr lang="fr-FR" sz="2400" dirty="0" smtClean="0"/>
          </a:p>
        </p:txBody>
      </p:sp>
    </p:spTree>
    <p:extLst>
      <p:ext uri="{BB962C8B-B14F-4D97-AF65-F5344CB8AC3E}">
        <p14:creationId xmlns:p14="http://schemas.microsoft.com/office/powerpoint/2010/main" xmlns="" val="5151818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611560" y="764704"/>
            <a:ext cx="669674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/>
              <a:t>Parmi les rôles du complément:</a:t>
            </a:r>
          </a:p>
          <a:p>
            <a:endParaRPr lang="fr-FR" sz="2800" dirty="0"/>
          </a:p>
          <a:p>
            <a:pPr marL="285750" indent="-285750">
              <a:buFontTx/>
              <a:buChar char="-"/>
            </a:pPr>
            <a:r>
              <a:rPr lang="fr-FR" sz="2800" dirty="0" smtClean="0">
                <a:solidFill>
                  <a:srgbClr val="0070C0"/>
                </a:solidFill>
              </a:rPr>
              <a:t>Clearance des immuns complexes</a:t>
            </a:r>
          </a:p>
          <a:p>
            <a:pPr marL="285750" indent="-285750">
              <a:buFontTx/>
              <a:buChar char="-"/>
            </a:pPr>
            <a:endParaRPr lang="fr-FR" sz="2800" dirty="0">
              <a:solidFill>
                <a:srgbClr val="0070C0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sz="2800" dirty="0" smtClean="0">
                <a:solidFill>
                  <a:srgbClr val="0070C0"/>
                </a:solidFill>
              </a:rPr>
              <a:t> Opsonisation des antigènes</a:t>
            </a:r>
          </a:p>
          <a:p>
            <a:pPr marL="285750" indent="-285750">
              <a:buFontTx/>
              <a:buChar char="-"/>
            </a:pPr>
            <a:endParaRPr lang="fr-FR" sz="2800" dirty="0"/>
          </a:p>
          <a:p>
            <a:pPr marL="285750" indent="-285750">
              <a:buFontTx/>
              <a:buChar char="-"/>
            </a:pPr>
            <a:r>
              <a:rPr lang="fr-FR" sz="2800" dirty="0" smtClean="0"/>
              <a:t> ADCC</a:t>
            </a:r>
          </a:p>
          <a:p>
            <a:pPr marL="285750" indent="-285750">
              <a:buFontTx/>
              <a:buChar char="-"/>
            </a:pPr>
            <a:endParaRPr lang="fr-FR" sz="2800" dirty="0"/>
          </a:p>
          <a:p>
            <a:pPr marL="285750" indent="-285750">
              <a:buFontTx/>
              <a:buChar char="-"/>
            </a:pPr>
            <a:r>
              <a:rPr lang="fr-FR" sz="2800" dirty="0" smtClean="0">
                <a:solidFill>
                  <a:srgbClr val="0070C0"/>
                </a:solidFill>
              </a:rPr>
              <a:t> Chimiotactisme</a:t>
            </a:r>
          </a:p>
          <a:p>
            <a:pPr marL="285750" indent="-285750">
              <a:buFontTx/>
              <a:buChar char="-"/>
            </a:pPr>
            <a:endParaRPr lang="fr-FR" sz="2800" dirty="0">
              <a:solidFill>
                <a:srgbClr val="0070C0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sz="2800" dirty="0" smtClean="0">
                <a:solidFill>
                  <a:srgbClr val="0070C0"/>
                </a:solidFill>
              </a:rPr>
              <a:t> Neutralisation des virus</a:t>
            </a:r>
            <a:endParaRPr lang="fr-FR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966394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539552" y="764704"/>
            <a:ext cx="8424936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/>
              <a:t>Concernant le système du complément:</a:t>
            </a:r>
          </a:p>
          <a:p>
            <a:endParaRPr lang="fr-FR" sz="2400" dirty="0"/>
          </a:p>
          <a:p>
            <a:pPr marL="285750" indent="-285750">
              <a:buFontTx/>
              <a:buChar char="-"/>
            </a:pPr>
            <a:r>
              <a:rPr lang="fr-FR" sz="2400" dirty="0" smtClean="0">
                <a:solidFill>
                  <a:srgbClr val="0070C0"/>
                </a:solidFill>
              </a:rPr>
              <a:t> Le C3 est la fraction crucial dans l’activation des trois voies</a:t>
            </a:r>
          </a:p>
          <a:p>
            <a:r>
              <a:rPr lang="fr-FR" sz="2400" dirty="0" smtClean="0">
                <a:solidFill>
                  <a:srgbClr val="0070C0"/>
                </a:solidFill>
              </a:rPr>
              <a:t> d’activation</a:t>
            </a:r>
          </a:p>
          <a:p>
            <a:pPr marL="285750" indent="-285750">
              <a:buFontTx/>
              <a:buChar char="-"/>
            </a:pPr>
            <a:endParaRPr lang="fr-FR" sz="2400" dirty="0">
              <a:solidFill>
                <a:srgbClr val="0070C0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sz="2400" dirty="0" smtClean="0">
                <a:solidFill>
                  <a:srgbClr val="0070C0"/>
                </a:solidFill>
              </a:rPr>
              <a:t> Une absence du C1 inhibiteur s’ensuit par l’ANGIOOEDEUM </a:t>
            </a:r>
          </a:p>
          <a:p>
            <a:pPr marL="285750" indent="-285750">
              <a:buFontTx/>
              <a:buChar char="-"/>
            </a:pPr>
            <a:endParaRPr lang="fr-FR" sz="2400" dirty="0"/>
          </a:p>
          <a:p>
            <a:pPr marL="285750" indent="-285750">
              <a:buFontTx/>
              <a:buChar char="-"/>
            </a:pPr>
            <a:r>
              <a:rPr lang="fr-FR" sz="2400" dirty="0" smtClean="0"/>
              <a:t> Ses fractions sont pour la plupart  thermostables</a:t>
            </a:r>
          </a:p>
          <a:p>
            <a:pPr marL="285750" indent="-285750">
              <a:buFontTx/>
              <a:buChar char="-"/>
            </a:pPr>
            <a:endParaRPr lang="fr-FR" sz="2400" dirty="0">
              <a:solidFill>
                <a:srgbClr val="0070C0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sz="2400" dirty="0" smtClean="0">
                <a:solidFill>
                  <a:srgbClr val="0070C0"/>
                </a:solidFill>
              </a:rPr>
              <a:t> Est régulé par des facteur solubles à savoir: Facteurs H, P, I,</a:t>
            </a:r>
          </a:p>
          <a:p>
            <a:pPr marL="285750" indent="-285750">
              <a:buFontTx/>
              <a:buChar char="-"/>
            </a:pPr>
            <a:endParaRPr lang="fr-FR" sz="2400" dirty="0">
              <a:solidFill>
                <a:srgbClr val="0070C0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sz="2400" dirty="0" smtClean="0">
                <a:solidFill>
                  <a:srgbClr val="0070C0"/>
                </a:solidFill>
              </a:rPr>
              <a:t>  Est régulé par des facteur membranaires  à savoir: MCP et DA</a:t>
            </a:r>
            <a:r>
              <a:rPr lang="fr-FR" sz="2400" dirty="0" smtClean="0"/>
              <a:t>F</a:t>
            </a:r>
          </a:p>
          <a:p>
            <a:pPr marL="285750" indent="-285750">
              <a:buFontTx/>
              <a:buChar char="-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xmlns="" val="16856834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51520" y="620688"/>
            <a:ext cx="7162987" cy="46474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Ces molécules sont impliquées dans l’activation </a:t>
            </a:r>
          </a:p>
          <a:p>
            <a:r>
              <a:rPr lang="fr-FR" sz="2800" dirty="0" smtClean="0"/>
              <a:t>de la voie alterne du complément:</a:t>
            </a:r>
          </a:p>
          <a:p>
            <a:endParaRPr lang="fr-FR" sz="2400" dirty="0">
              <a:solidFill>
                <a:srgbClr val="0070C0"/>
              </a:solidFill>
            </a:endParaRPr>
          </a:p>
          <a:p>
            <a:pPr marL="285750" indent="-285750"/>
            <a:r>
              <a:rPr lang="fr-FR" sz="2400" dirty="0" smtClean="0">
                <a:solidFill>
                  <a:srgbClr val="0070C0"/>
                </a:solidFill>
              </a:rPr>
              <a:t>1) C3</a:t>
            </a:r>
          </a:p>
          <a:p>
            <a:pPr marL="285750" indent="-285750">
              <a:buFontTx/>
              <a:buChar char="-"/>
            </a:pPr>
            <a:endParaRPr lang="fr-FR" sz="2400" dirty="0">
              <a:solidFill>
                <a:srgbClr val="0070C0"/>
              </a:solidFill>
            </a:endParaRPr>
          </a:p>
          <a:p>
            <a:pPr marL="285750" indent="-285750"/>
            <a:r>
              <a:rPr lang="fr-FR" sz="2400" dirty="0" smtClean="0">
                <a:solidFill>
                  <a:srgbClr val="0070C0"/>
                </a:solidFill>
              </a:rPr>
              <a:t>2)  Facteur B</a:t>
            </a:r>
          </a:p>
          <a:p>
            <a:pPr marL="285750" indent="-285750">
              <a:buFontTx/>
              <a:buChar char="-"/>
            </a:pPr>
            <a:endParaRPr lang="fr-FR" sz="2400" dirty="0">
              <a:solidFill>
                <a:srgbClr val="0070C0"/>
              </a:solidFill>
            </a:endParaRPr>
          </a:p>
          <a:p>
            <a:pPr marL="285750" indent="-285750"/>
            <a:r>
              <a:rPr lang="fr-FR" sz="2400" dirty="0" smtClean="0">
                <a:solidFill>
                  <a:srgbClr val="0070C0"/>
                </a:solidFill>
              </a:rPr>
              <a:t>3)  Facteur P</a:t>
            </a:r>
          </a:p>
          <a:p>
            <a:pPr marL="285750" indent="-285750">
              <a:buFontTx/>
              <a:buChar char="-"/>
            </a:pPr>
            <a:endParaRPr lang="fr-FR" sz="2400" dirty="0"/>
          </a:p>
          <a:p>
            <a:pPr marL="457200" indent="-457200">
              <a:buAutoNum type="arabicParenR" startAt="4"/>
            </a:pPr>
            <a:r>
              <a:rPr lang="fr-FR" sz="2400" dirty="0" smtClean="0"/>
              <a:t>Facteur I</a:t>
            </a:r>
          </a:p>
          <a:p>
            <a:endParaRPr lang="fr-FR" sz="2400" dirty="0"/>
          </a:p>
          <a:p>
            <a:pPr marL="285750" indent="-285750"/>
            <a:r>
              <a:rPr lang="fr-FR" sz="2400" dirty="0" smtClean="0">
                <a:solidFill>
                  <a:srgbClr val="0070C0"/>
                </a:solidFill>
              </a:rPr>
              <a:t>5)  Facteur D</a:t>
            </a:r>
            <a:endParaRPr lang="fr-FR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526318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611560" y="836712"/>
            <a:ext cx="7328866" cy="46474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Ces molécules sont impliquées dans l’activation </a:t>
            </a:r>
          </a:p>
          <a:p>
            <a:r>
              <a:rPr lang="fr-FR" sz="2800" b="1" dirty="0" smtClean="0"/>
              <a:t>de la voie classique:</a:t>
            </a:r>
          </a:p>
          <a:p>
            <a:endParaRPr lang="fr-FR" sz="2400" dirty="0"/>
          </a:p>
          <a:p>
            <a:pPr marL="285750" indent="-285750">
              <a:buFontTx/>
              <a:buChar char="-"/>
            </a:pPr>
            <a:r>
              <a:rPr lang="fr-FR" sz="2400" dirty="0" smtClean="0">
                <a:solidFill>
                  <a:srgbClr val="0070C0"/>
                </a:solidFill>
              </a:rPr>
              <a:t>C3</a:t>
            </a:r>
          </a:p>
          <a:p>
            <a:pPr marL="285750" indent="-285750">
              <a:buFontTx/>
              <a:buChar char="-"/>
            </a:pPr>
            <a:endParaRPr lang="fr-FR" sz="2400" dirty="0">
              <a:solidFill>
                <a:srgbClr val="0070C0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sz="2400" dirty="0" smtClean="0">
                <a:solidFill>
                  <a:srgbClr val="0070C0"/>
                </a:solidFill>
              </a:rPr>
              <a:t> C1q</a:t>
            </a:r>
          </a:p>
          <a:p>
            <a:pPr marL="285750" indent="-285750">
              <a:buFontTx/>
              <a:buChar char="-"/>
            </a:pPr>
            <a:endParaRPr lang="fr-FR" sz="2400" dirty="0">
              <a:solidFill>
                <a:srgbClr val="0070C0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sz="2400" dirty="0" smtClean="0">
                <a:solidFill>
                  <a:srgbClr val="0070C0"/>
                </a:solidFill>
              </a:rPr>
              <a:t> Fraction C2</a:t>
            </a:r>
          </a:p>
          <a:p>
            <a:pPr marL="285750" indent="-285750">
              <a:buFontTx/>
              <a:buChar char="-"/>
            </a:pPr>
            <a:endParaRPr lang="fr-FR" sz="2400" dirty="0">
              <a:solidFill>
                <a:srgbClr val="0070C0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sz="2400" dirty="0" smtClean="0">
                <a:solidFill>
                  <a:srgbClr val="0070C0"/>
                </a:solidFill>
              </a:rPr>
              <a:t> Fraction C4</a:t>
            </a:r>
          </a:p>
          <a:p>
            <a:pPr marL="285750" indent="-285750">
              <a:buFontTx/>
              <a:buChar char="-"/>
            </a:pPr>
            <a:endParaRPr lang="fr-FR" sz="2400" dirty="0"/>
          </a:p>
          <a:p>
            <a:pPr marL="285750" indent="-285750">
              <a:buFontTx/>
              <a:buChar char="-"/>
            </a:pPr>
            <a:r>
              <a:rPr lang="fr-FR" sz="2400" dirty="0" smtClean="0"/>
              <a:t> MBL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xmlns="" val="3124379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4282" y="357166"/>
            <a:ext cx="8072494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smtClean="0"/>
              <a:t>Le C1q du complément possède une structure évoquant :</a:t>
            </a:r>
          </a:p>
          <a:p>
            <a:r>
              <a:rPr lang="fr-FR" sz="2800" dirty="0" smtClean="0"/>
              <a:t>-----------------------------------------------------------------------</a:t>
            </a:r>
          </a:p>
          <a:p>
            <a:r>
              <a:rPr lang="fr-FR" sz="2800" dirty="0" smtClean="0"/>
              <a:t> </a:t>
            </a:r>
          </a:p>
          <a:p>
            <a:r>
              <a:rPr lang="fr-FR" sz="2800" dirty="0" smtClean="0"/>
              <a:t>   A. Un bouquet de 12 tulipes </a:t>
            </a:r>
          </a:p>
          <a:p>
            <a:endParaRPr lang="fr-FR" sz="2800" dirty="0" smtClean="0"/>
          </a:p>
          <a:p>
            <a:r>
              <a:rPr lang="fr-FR" sz="2800" dirty="0" smtClean="0">
                <a:solidFill>
                  <a:srgbClr val="0070C0"/>
                </a:solidFill>
              </a:rPr>
              <a:t>  B. Un bouquet de 6 tulipes </a:t>
            </a:r>
          </a:p>
          <a:p>
            <a:endParaRPr lang="fr-FR" sz="2800" dirty="0" smtClean="0"/>
          </a:p>
          <a:p>
            <a:r>
              <a:rPr lang="fr-FR" sz="2800" dirty="0" smtClean="0"/>
              <a:t>   C. Un tulipe </a:t>
            </a:r>
          </a:p>
          <a:p>
            <a:endParaRPr lang="fr-FR" sz="2800" dirty="0" smtClean="0"/>
          </a:p>
          <a:p>
            <a:r>
              <a:rPr lang="fr-FR" sz="2800" dirty="0" smtClean="0"/>
              <a:t>   D. Un palmier à 12 palmes </a:t>
            </a:r>
          </a:p>
          <a:p>
            <a:endParaRPr lang="fr-FR" sz="2800" dirty="0" smtClean="0"/>
          </a:p>
          <a:p>
            <a:r>
              <a:rPr lang="fr-FR" sz="2800" dirty="0" smtClean="0"/>
              <a:t>   E. Une étoile à 5 branches 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xmlns="" val="815759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2844" y="642918"/>
            <a:ext cx="864396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 smtClean="0"/>
              <a:t>Lors de l'activation du complément par la voie classique, la C3 convertase:</a:t>
            </a:r>
          </a:p>
          <a:p>
            <a:r>
              <a:rPr lang="fr-FR" sz="2800" dirty="0" smtClean="0"/>
              <a:t> </a:t>
            </a:r>
          </a:p>
          <a:p>
            <a:r>
              <a:rPr lang="fr-FR" sz="2800" dirty="0" smtClean="0">
                <a:solidFill>
                  <a:srgbClr val="0070C0"/>
                </a:solidFill>
              </a:rPr>
              <a:t>  A. Est formée de C 4b2a</a:t>
            </a:r>
          </a:p>
          <a:p>
            <a:r>
              <a:rPr lang="fr-FR" sz="2800" dirty="0" smtClean="0"/>
              <a:t> </a:t>
            </a:r>
          </a:p>
          <a:p>
            <a:r>
              <a:rPr lang="fr-FR" sz="2800" dirty="0" smtClean="0"/>
              <a:t>   B. Clive de C2 en C2a et C2b</a:t>
            </a:r>
          </a:p>
          <a:p>
            <a:r>
              <a:rPr lang="fr-FR" sz="2800" dirty="0" smtClean="0"/>
              <a:t> </a:t>
            </a:r>
          </a:p>
          <a:p>
            <a:r>
              <a:rPr lang="fr-FR" sz="2800" dirty="0" smtClean="0"/>
              <a:t>   C. Clive le C4 en C4 a et C4 b </a:t>
            </a:r>
          </a:p>
          <a:p>
            <a:endParaRPr lang="fr-FR" sz="2800" dirty="0" smtClean="0"/>
          </a:p>
          <a:p>
            <a:r>
              <a:rPr lang="fr-FR" sz="2800" dirty="0" smtClean="0">
                <a:solidFill>
                  <a:srgbClr val="0070C0"/>
                </a:solidFill>
              </a:rPr>
              <a:t>   D. </a:t>
            </a:r>
            <a:r>
              <a:rPr lang="fr-FR" sz="2800" dirty="0">
                <a:solidFill>
                  <a:srgbClr val="0070C0"/>
                </a:solidFill>
              </a:rPr>
              <a:t>Clive le C3 en C3a et C3b </a:t>
            </a:r>
          </a:p>
          <a:p>
            <a:r>
              <a:rPr lang="fr-FR" sz="2800" dirty="0" smtClean="0"/>
              <a:t>  </a:t>
            </a:r>
          </a:p>
          <a:p>
            <a:r>
              <a:rPr lang="fr-FR" sz="2800" dirty="0"/>
              <a:t>    </a:t>
            </a:r>
            <a:r>
              <a:rPr lang="fr-FR" sz="2800" dirty="0" smtClean="0"/>
              <a:t>F. </a:t>
            </a:r>
            <a:r>
              <a:rPr lang="fr-FR" sz="2800" dirty="0"/>
              <a:t>Clive </a:t>
            </a:r>
            <a:r>
              <a:rPr lang="fr-FR" sz="2800" dirty="0" smtClean="0"/>
              <a:t>le C5 en C5 a et C5 b  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xmlns="" val="42925009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611560" y="548680"/>
            <a:ext cx="7325467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C3 CONVERTASE DE LA VOIE Alterne:</a:t>
            </a:r>
          </a:p>
          <a:p>
            <a:endParaRPr lang="fr-FR" sz="2800" dirty="0"/>
          </a:p>
          <a:p>
            <a:r>
              <a:rPr lang="fr-FR" sz="2800" dirty="0" smtClean="0">
                <a:solidFill>
                  <a:srgbClr val="0070C0"/>
                </a:solidFill>
              </a:rPr>
              <a:t>-  Est le C3b </a:t>
            </a:r>
            <a:r>
              <a:rPr lang="fr-FR" sz="2800" dirty="0" err="1" smtClean="0">
                <a:solidFill>
                  <a:srgbClr val="0070C0"/>
                </a:solidFill>
              </a:rPr>
              <a:t>Bb</a:t>
            </a:r>
            <a:endParaRPr lang="fr-FR" sz="2800" dirty="0" smtClean="0">
              <a:solidFill>
                <a:srgbClr val="0070C0"/>
              </a:solidFill>
            </a:endParaRPr>
          </a:p>
          <a:p>
            <a:endParaRPr lang="fr-FR" sz="2800" dirty="0"/>
          </a:p>
          <a:p>
            <a:pPr marL="285750" indent="-285750">
              <a:buFontTx/>
              <a:buChar char="-"/>
            </a:pPr>
            <a:r>
              <a:rPr lang="fr-FR" sz="2800" dirty="0" smtClean="0">
                <a:solidFill>
                  <a:srgbClr val="0070C0"/>
                </a:solidFill>
              </a:rPr>
              <a:t>A comme substrat la fraction C3</a:t>
            </a:r>
          </a:p>
          <a:p>
            <a:pPr marL="285750" indent="-285750">
              <a:buFontTx/>
              <a:buChar char="-"/>
            </a:pPr>
            <a:endParaRPr lang="fr-FR" sz="2800" dirty="0">
              <a:solidFill>
                <a:srgbClr val="0070C0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sz="2800" dirty="0" smtClean="0">
                <a:solidFill>
                  <a:srgbClr val="0070C0"/>
                </a:solidFill>
              </a:rPr>
              <a:t> Essentielle pour la formation du C5 convertase</a:t>
            </a:r>
          </a:p>
          <a:p>
            <a:pPr marL="285750" indent="-285750">
              <a:buFontTx/>
              <a:buChar char="-"/>
            </a:pPr>
            <a:endParaRPr lang="fr-FR" sz="2800" dirty="0"/>
          </a:p>
          <a:p>
            <a:pPr marL="285750" indent="-285750">
              <a:buFontTx/>
              <a:buChar char="-"/>
            </a:pPr>
            <a:r>
              <a:rPr lang="fr-FR" sz="2800" dirty="0" smtClean="0">
                <a:solidFill>
                  <a:srgbClr val="0070C0"/>
                </a:solidFill>
              </a:rPr>
              <a:t> Est stabilisée par la properdine ou Facteur P</a:t>
            </a:r>
          </a:p>
          <a:p>
            <a:pPr marL="285750" indent="-285750">
              <a:buFontTx/>
              <a:buChar char="-"/>
            </a:pPr>
            <a:endParaRPr lang="fr-FR" sz="2800" dirty="0"/>
          </a:p>
          <a:p>
            <a:pPr marL="285750" indent="-285750">
              <a:buFontTx/>
              <a:buChar char="-"/>
            </a:pPr>
            <a:r>
              <a:rPr lang="fr-FR" sz="2800" dirty="0" smtClean="0"/>
              <a:t> Se fixe sur la partie </a:t>
            </a:r>
            <a:r>
              <a:rPr lang="fr-FR" sz="2800" dirty="0" err="1" smtClean="0"/>
              <a:t>Fc</a:t>
            </a:r>
            <a:r>
              <a:rPr lang="fr-FR" sz="2800" dirty="0" smtClean="0"/>
              <a:t> de </a:t>
            </a:r>
            <a:r>
              <a:rPr lang="fr-FR" sz="2800" dirty="0" err="1" smtClean="0"/>
              <a:t>l’IgG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xmlns="" val="7946027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77049" y="714356"/>
            <a:ext cx="8609793" cy="49552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La voie MBL:</a:t>
            </a:r>
          </a:p>
          <a:p>
            <a:endParaRPr lang="fr-FR" sz="2400" dirty="0"/>
          </a:p>
          <a:p>
            <a:pPr marL="285750" indent="-285750">
              <a:buFontTx/>
              <a:buChar char="-"/>
            </a:pPr>
            <a:r>
              <a:rPr lang="fr-FR" sz="2400" dirty="0" smtClean="0">
                <a:solidFill>
                  <a:srgbClr val="0070C0"/>
                </a:solidFill>
              </a:rPr>
              <a:t>Activée par les résidus mannoses</a:t>
            </a:r>
          </a:p>
          <a:p>
            <a:pPr marL="285750" indent="-285750">
              <a:buFontTx/>
              <a:buChar char="-"/>
            </a:pPr>
            <a:endParaRPr lang="fr-FR" sz="2400" dirty="0">
              <a:solidFill>
                <a:srgbClr val="0070C0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sz="2400" dirty="0" smtClean="0">
                <a:solidFill>
                  <a:srgbClr val="0070C0"/>
                </a:solidFill>
              </a:rPr>
              <a:t> MBL est une </a:t>
            </a:r>
            <a:r>
              <a:rPr lang="fr-FR" sz="2400" dirty="0" err="1" smtClean="0">
                <a:solidFill>
                  <a:srgbClr val="0070C0"/>
                </a:solidFill>
              </a:rPr>
              <a:t>collectine</a:t>
            </a:r>
            <a:r>
              <a:rPr lang="fr-FR" sz="2400" dirty="0" smtClean="0">
                <a:solidFill>
                  <a:srgbClr val="0070C0"/>
                </a:solidFill>
              </a:rPr>
              <a:t> qui ressemble au C1q</a:t>
            </a:r>
          </a:p>
          <a:p>
            <a:pPr marL="285750" indent="-285750">
              <a:buFontTx/>
              <a:buChar char="-"/>
            </a:pPr>
            <a:endParaRPr lang="fr-FR" sz="2400" dirty="0">
              <a:solidFill>
                <a:srgbClr val="0070C0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sz="2400" dirty="0" smtClean="0">
                <a:solidFill>
                  <a:srgbClr val="0070C0"/>
                </a:solidFill>
              </a:rPr>
              <a:t> Les MASP1 et 2 se ressemblent  aux c1r et c1s</a:t>
            </a:r>
          </a:p>
          <a:p>
            <a:pPr marL="285750" indent="-285750">
              <a:buFontTx/>
              <a:buChar char="-"/>
            </a:pPr>
            <a:endParaRPr lang="fr-FR" sz="2400" dirty="0"/>
          </a:p>
          <a:p>
            <a:pPr marL="285750" indent="-285750">
              <a:buFontTx/>
              <a:buChar char="-"/>
            </a:pPr>
            <a:r>
              <a:rPr lang="fr-FR" sz="2400" dirty="0" smtClean="0"/>
              <a:t> Comme pour la voie classique, elle est dépendante des anticorps</a:t>
            </a:r>
          </a:p>
          <a:p>
            <a:r>
              <a:rPr lang="fr-FR" sz="2400" dirty="0"/>
              <a:t> </a:t>
            </a:r>
            <a:r>
              <a:rPr lang="fr-FR" sz="2400" dirty="0" smtClean="0"/>
              <a:t>    IgG en particulier</a:t>
            </a:r>
          </a:p>
          <a:p>
            <a:pPr marL="285750" indent="-285750">
              <a:buFontTx/>
              <a:buChar char="-"/>
            </a:pPr>
            <a:endParaRPr lang="fr-FR" sz="2400" dirty="0">
              <a:solidFill>
                <a:srgbClr val="0070C0"/>
              </a:solidFill>
            </a:endParaRPr>
          </a:p>
          <a:p>
            <a:pPr marL="285750" indent="-285750">
              <a:buFontTx/>
              <a:buChar char="-"/>
            </a:pPr>
            <a:r>
              <a:rPr lang="fr-FR" sz="2400" dirty="0" smtClean="0">
                <a:solidFill>
                  <a:srgbClr val="0070C0"/>
                </a:solidFill>
              </a:rPr>
              <a:t> Entraine le clivage de C4 et C2 en premier lieu comme </a:t>
            </a:r>
          </a:p>
          <a:p>
            <a:pPr marL="285750" indent="-285750"/>
            <a:r>
              <a:rPr lang="fr-FR" sz="2400" dirty="0" smtClean="0">
                <a:solidFill>
                  <a:srgbClr val="0070C0"/>
                </a:solidFill>
              </a:rPr>
              <a:t>Pour la voie classique.</a:t>
            </a:r>
            <a:endParaRPr lang="fr-FR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542500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0020" y="134314"/>
            <a:ext cx="8778240" cy="660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fr-FR" sz="2400" b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Ces cellules immunitaires jouent un rôle déterminant au cours de l’hypersensibilité de type I :   </a:t>
            </a:r>
            <a:endParaRPr lang="fr-FR" sz="2400" b="1" dirty="0" smtClean="0"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fr-FR" sz="32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                </a:t>
            </a:r>
            <a:endParaRPr lang="fr-FR" sz="32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indent="-514350">
              <a:lnSpc>
                <a:spcPct val="115000"/>
              </a:lnSpc>
              <a:spcAft>
                <a:spcPts val="0"/>
              </a:spcAft>
              <a:buAutoNum type="alphaLcParenR"/>
            </a:pPr>
            <a:r>
              <a:rPr lang="fr-FR" sz="3200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Les mastocytes</a:t>
            </a:r>
          </a:p>
          <a:p>
            <a:pPr marL="514350" indent="-514350">
              <a:lnSpc>
                <a:spcPct val="115000"/>
              </a:lnSpc>
              <a:spcAft>
                <a:spcPts val="0"/>
              </a:spcAft>
              <a:buAutoNum type="alphaLcParenR"/>
            </a:pPr>
            <a:endParaRPr lang="fr-FR" sz="32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fr-FR" sz="3200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b) Les </a:t>
            </a:r>
            <a:r>
              <a:rPr lang="fr-FR" sz="3200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basophiles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fr-FR" sz="32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fr-FR" sz="3200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c) Les cellules TCD4+/</a:t>
            </a:r>
            <a:r>
              <a:rPr lang="fr-FR" sz="3200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TH2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fr-FR" sz="32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fr-FR" sz="3200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d) Les cellules </a:t>
            </a:r>
            <a:r>
              <a:rPr lang="fr-FR" sz="3200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fr-FR" sz="32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fr-FR" sz="32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e) Les polynucléaires neutrophiles</a:t>
            </a:r>
            <a:endParaRPr lang="fr-F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517241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85801" y="1762482"/>
            <a:ext cx="776225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fr-FR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La voie alterne du complément</a:t>
            </a:r>
            <a:endParaRPr kumimoji="0" lang="fr-F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kumimoji="0" lang="fr-FR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Les Iymphocytes T cytotoxiques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 - Les</a:t>
            </a:r>
            <a:r>
              <a:rPr kumimoji="0" lang="fr-FR" sz="3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anticorps cytotoxiques </a:t>
            </a:r>
            <a:r>
              <a:rPr kumimoji="0" lang="fr-FR" sz="36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IgG</a:t>
            </a:r>
            <a:r>
              <a:rPr kumimoji="0" lang="fr-FR" sz="3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et </a:t>
            </a:r>
            <a:r>
              <a:rPr kumimoji="0" lang="fr-FR" sz="36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IgM</a:t>
            </a:r>
            <a:endParaRPr kumimoji="0" lang="fr-F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kumimoji="0" lang="fr-FR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Les cellules NK</a:t>
            </a:r>
            <a:endParaRPr kumimoji="0" lang="fr-F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6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kumimoji="0" lang="fr-FR" sz="36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Les IgE fixées sur les mastocytes ou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6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les basophiles</a:t>
            </a:r>
            <a:endParaRPr kumimoji="0" lang="fr-FR" sz="36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342900" y="1066801"/>
            <a:ext cx="44250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HS type I fait intervenir : </a:t>
            </a:r>
            <a:endParaRPr lang="fr-FR" sz="3200" b="1" dirty="0"/>
          </a:p>
        </p:txBody>
      </p:sp>
    </p:spTree>
    <p:extLst>
      <p:ext uri="{BB962C8B-B14F-4D97-AF65-F5344CB8AC3E}">
        <p14:creationId xmlns:p14="http://schemas.microsoft.com/office/powerpoint/2010/main" xmlns="" val="27843322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73853" y="332656"/>
            <a:ext cx="8767689" cy="6124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Low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</a:tabLst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Dans l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’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hypersensibilit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de type I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 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:</a:t>
            </a:r>
          </a:p>
          <a:p>
            <a:pPr marL="0" marR="0" lvl="0" indent="0" algn="justLow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</a:tabLst>
            </a:pPr>
            <a:endParaRPr kumimoji="0" lang="fr-FR" sz="28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  <a:p>
            <a:pPr marL="514350" marR="0" lvl="0" indent="-51435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arenR"/>
              <a:tabLst>
                <a:tab pos="228600" algn="l"/>
              </a:tabLst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Les manifestations cliniques apparaissent dans les quelques minutes  suivant la p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tration de l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’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allerg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è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ne dans un organisme pr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-sensibilis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endParaRPr kumimoji="0" lang="fr-FR" sz="28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</a:tabLst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b) La demi-vie des IgE sp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cifiques d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’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allerg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è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nes augmente apr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è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 leur fixation sur les cellules effectrices</a:t>
            </a:r>
            <a:endParaRPr kumimoji="0" lang="fr-FR" sz="28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</a:tabLst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c) Les mastocytes</a:t>
            </a:r>
            <a:r>
              <a:rPr kumimoji="0" lang="fr-FR" sz="2800" b="0" i="0" u="none" strike="noStrike" cap="none" normalizeH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et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les basophiles</a:t>
            </a:r>
            <a:r>
              <a:rPr kumimoji="0" lang="fr-FR" sz="2800" b="0" i="0" u="none" strike="noStrike" cap="none" normalizeH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sont des acteurs principaux </a:t>
            </a:r>
            <a:r>
              <a:rPr lang="fr-FR" sz="2800" dirty="0" smtClean="0">
                <a:solidFill>
                  <a:srgbClr val="0070C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via l’expression du récepteur d’IgE de haute affinité (</a:t>
            </a:r>
            <a:r>
              <a:rPr lang="fr-FR" sz="2800" dirty="0" err="1" smtClean="0">
                <a:solidFill>
                  <a:srgbClr val="0070C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RFc</a:t>
            </a:r>
            <a:r>
              <a:rPr lang="fr-FR" sz="2800" dirty="0" smtClean="0">
                <a:solidFill>
                  <a:srgbClr val="0070C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  <a:sym typeface="Symbol"/>
              </a:rPr>
              <a:t></a:t>
            </a:r>
            <a:r>
              <a:rPr lang="fr-FR" sz="2800" dirty="0" smtClean="0">
                <a:solidFill>
                  <a:srgbClr val="0070C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type I</a:t>
            </a:r>
            <a:r>
              <a:rPr lang="fr-FR" sz="28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)</a:t>
            </a:r>
            <a:endParaRPr kumimoji="0" lang="fr-FR" sz="28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</a:tabLst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d) L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’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IL-4 et l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’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IL-13  sont  impliqu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es dans l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’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orientation vers la r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ponse Th1 pour l’induction de la synthèse d’IgE</a:t>
            </a:r>
            <a:endParaRPr kumimoji="0" lang="fr-FR" sz="28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</a:tabLst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e) L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’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histamine pr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-stock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 dans les granules des cellules constitue un m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diateur du stade tardif de la phase effectrice  </a:t>
            </a:r>
            <a:endParaRPr kumimoji="0" lang="fr-FR" sz="28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284871" y="844062"/>
            <a:ext cx="7491046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Low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</a:tabLst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Les manifestations cliniques suivantes sont  li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es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à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un m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canisme d'hypersensibilit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imm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diate :</a:t>
            </a:r>
          </a:p>
          <a:p>
            <a:pPr marL="0" marR="0" lvl="0" indent="0" algn="justLow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28600" algn="l"/>
              </a:tabLst>
            </a:pPr>
            <a:endParaRPr kumimoji="0" lang="fr-FR" sz="28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  <a:p>
            <a:pPr marL="514350" marR="0" lvl="0" indent="-51435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lain"/>
              <a:tabLst>
                <a:tab pos="228600" algn="l"/>
              </a:tabLst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La maladie c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œ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liaque</a:t>
            </a:r>
          </a:p>
          <a:p>
            <a:pPr marL="514350" marR="0" lvl="0" indent="-51435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lain"/>
              <a:tabLst>
                <a:tab pos="228600" algn="l"/>
              </a:tabLst>
            </a:pPr>
            <a:endParaRPr kumimoji="0" lang="fr-FR" sz="28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  <a:p>
            <a:pPr marL="514350" marR="0" lvl="0" indent="-51435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lain" startAt="2"/>
              <a:tabLst>
                <a:tab pos="228600" algn="l"/>
              </a:tabLst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La rhinite pollinique</a:t>
            </a:r>
          </a:p>
          <a:p>
            <a:pPr marL="514350" marR="0" lvl="0" indent="-51435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lain" startAt="2"/>
              <a:tabLst>
                <a:tab pos="228600" algn="l"/>
              </a:tabLst>
            </a:pPr>
            <a:endParaRPr kumimoji="0" lang="fr-FR" sz="28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  <a:p>
            <a:pPr marL="514350" marR="0" lvl="0" indent="-51435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lain" startAt="3"/>
              <a:tabLst>
                <a:tab pos="228600" algn="l"/>
              </a:tabLst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L'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Angio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-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œ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è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me par d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ficit en C1 inhibiteur  </a:t>
            </a:r>
          </a:p>
          <a:p>
            <a:pPr marL="514350" marR="0" lvl="0" indent="-51435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lain" startAt="3"/>
              <a:tabLst>
                <a:tab pos="228600" algn="l"/>
              </a:tabLst>
            </a:pPr>
            <a:endParaRPr kumimoji="0" lang="fr-FR" sz="28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  <a:p>
            <a:pPr marL="514350" marR="0" lvl="0" indent="-51435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lain" startAt="4"/>
              <a:tabLst>
                <a:tab pos="228600" algn="l"/>
              </a:tabLst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L'ecz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ma de contact</a:t>
            </a:r>
          </a:p>
          <a:p>
            <a:pPr marL="514350" marR="0" lvl="0" indent="-51435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lain" startAt="4"/>
              <a:tabLst>
                <a:tab pos="228600" algn="l"/>
              </a:tabLst>
            </a:pPr>
            <a:endParaRPr kumimoji="0" lang="fr-FR" sz="28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Low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28600" algn="l"/>
              </a:tabLst>
            </a:pPr>
            <a:r>
              <a:rPr lang="fr-FR" sz="2800" dirty="0" smtClean="0">
                <a:solidFill>
                  <a:srgbClr val="0070C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5  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Le choc anaphylactique </a:t>
            </a: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284871" y="604906"/>
            <a:ext cx="7491046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fr-FR" sz="2800" b="1" dirty="0" smtClean="0"/>
              <a:t>Parmi les traitements suivants,  quel est celui qui est  spécifique et efficace dans l’hypersensibilité de type 1 :</a:t>
            </a:r>
          </a:p>
          <a:p>
            <a:pPr lvl="0"/>
            <a:endParaRPr lang="fr-FR" sz="2800" dirty="0" smtClean="0"/>
          </a:p>
          <a:p>
            <a:pPr marL="514350" lvl="0" indent="-514350">
              <a:buAutoNum type="alphaLcParenR"/>
            </a:pPr>
            <a:r>
              <a:rPr lang="fr-FR" sz="2800" dirty="0" smtClean="0"/>
              <a:t>Les antihistaminiques type H1</a:t>
            </a:r>
          </a:p>
          <a:p>
            <a:pPr marL="514350" lvl="0" indent="-514350">
              <a:buAutoNum type="alphaLcParenR"/>
            </a:pPr>
            <a:endParaRPr lang="fr-FR" sz="2800" dirty="0" smtClean="0"/>
          </a:p>
          <a:p>
            <a:pPr lvl="0"/>
            <a:r>
              <a:rPr lang="fr-FR" sz="2800" dirty="0" smtClean="0"/>
              <a:t>b) Les inhibiteurs des </a:t>
            </a:r>
            <a:r>
              <a:rPr lang="fr-FR" sz="2800" dirty="0" err="1" smtClean="0"/>
              <a:t>leucotriènes</a:t>
            </a:r>
            <a:r>
              <a:rPr lang="fr-FR" sz="2800" dirty="0" smtClean="0"/>
              <a:t> </a:t>
            </a:r>
          </a:p>
          <a:p>
            <a:pPr lvl="0"/>
            <a:endParaRPr lang="fr-FR" sz="2800" dirty="0" smtClean="0"/>
          </a:p>
          <a:p>
            <a:pPr lvl="0"/>
            <a:r>
              <a:rPr lang="fr-FR" sz="2800" dirty="0" smtClean="0">
                <a:solidFill>
                  <a:srgbClr val="0070C0"/>
                </a:solidFill>
              </a:rPr>
              <a:t>c) L’éviction </a:t>
            </a:r>
          </a:p>
          <a:p>
            <a:pPr lvl="0"/>
            <a:endParaRPr lang="fr-FR" sz="2800" dirty="0" smtClean="0"/>
          </a:p>
          <a:p>
            <a:pPr lvl="0"/>
            <a:r>
              <a:rPr lang="fr-FR" sz="2800" dirty="0" smtClean="0"/>
              <a:t>d) L’adrénaline</a:t>
            </a:r>
          </a:p>
          <a:p>
            <a:pPr lvl="0"/>
            <a:endParaRPr lang="fr-FR" sz="2800" dirty="0" smtClean="0"/>
          </a:p>
          <a:p>
            <a:pPr lvl="0"/>
            <a:r>
              <a:rPr lang="fr-FR" sz="2800" dirty="0" smtClean="0"/>
              <a:t>e) Les glucocorticoïdes </a:t>
            </a:r>
            <a:endParaRPr lang="fr-FR" sz="2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284871" y="604905"/>
            <a:ext cx="7491046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fr-FR" sz="2800" b="1" dirty="0" smtClean="0"/>
              <a:t>Concernant l’état d’hypersensibilité de type II </a:t>
            </a:r>
            <a:endParaRPr lang="fr-FR" sz="2800" dirty="0" smtClean="0"/>
          </a:p>
          <a:p>
            <a:pPr lvl="0"/>
            <a:endParaRPr lang="fr-FR" sz="2800" dirty="0" smtClean="0"/>
          </a:p>
          <a:p>
            <a:pPr lvl="0"/>
            <a:r>
              <a:rPr lang="fr-FR" sz="2800" dirty="0" smtClean="0"/>
              <a:t>a) C’est une hypersensibilité qui est responsable toujours d’une </a:t>
            </a:r>
            <a:r>
              <a:rPr lang="fr-FR" sz="2800" dirty="0" err="1" smtClean="0"/>
              <a:t>cytotoxicité</a:t>
            </a:r>
            <a:r>
              <a:rPr lang="fr-FR" sz="2800" dirty="0" smtClean="0"/>
              <a:t> cellulaire</a:t>
            </a:r>
          </a:p>
          <a:p>
            <a:pPr lvl="0"/>
            <a:endParaRPr lang="fr-FR" sz="2800" dirty="0" smtClean="0"/>
          </a:p>
          <a:p>
            <a:pPr lvl="0"/>
            <a:r>
              <a:rPr lang="fr-FR" sz="2800" dirty="0" smtClean="0">
                <a:solidFill>
                  <a:srgbClr val="0070C0"/>
                </a:solidFill>
              </a:rPr>
              <a:t>b) Elle implique le système du complément </a:t>
            </a:r>
          </a:p>
          <a:p>
            <a:pPr lvl="0"/>
            <a:endParaRPr lang="fr-FR" sz="2800" dirty="0" smtClean="0"/>
          </a:p>
          <a:p>
            <a:pPr lvl="0"/>
            <a:r>
              <a:rPr lang="fr-FR" sz="2800" dirty="0" smtClean="0"/>
              <a:t>c) Elle peut utiliser les </a:t>
            </a:r>
            <a:r>
              <a:rPr lang="fr-FR" sz="2800" dirty="0" err="1" smtClean="0"/>
              <a:t>IgE</a:t>
            </a:r>
            <a:r>
              <a:rPr lang="fr-FR" sz="2800" dirty="0" smtClean="0"/>
              <a:t> comme  effecteur</a:t>
            </a:r>
          </a:p>
          <a:p>
            <a:pPr lvl="0"/>
            <a:endParaRPr lang="fr-FR" sz="2800" dirty="0" smtClean="0"/>
          </a:p>
          <a:p>
            <a:pPr lvl="0"/>
            <a:r>
              <a:rPr lang="fr-FR" sz="2800" dirty="0" smtClean="0"/>
              <a:t>d) Elle se développe suite à une hyper immunisation contre un antigène soluble</a:t>
            </a:r>
          </a:p>
          <a:p>
            <a:pPr lvl="0"/>
            <a:endParaRPr lang="fr-FR" sz="2800" dirty="0" smtClean="0">
              <a:solidFill>
                <a:srgbClr val="0070C0"/>
              </a:solidFill>
            </a:endParaRPr>
          </a:p>
          <a:p>
            <a:pPr lvl="0"/>
            <a:r>
              <a:rPr lang="fr-FR" sz="2800" dirty="0" smtClean="0">
                <a:solidFill>
                  <a:srgbClr val="0070C0"/>
                </a:solidFill>
              </a:rPr>
              <a:t>e) Elle peut impliquer les </a:t>
            </a:r>
            <a:r>
              <a:rPr lang="fr-FR" sz="2800" dirty="0" err="1" smtClean="0">
                <a:solidFill>
                  <a:srgbClr val="0070C0"/>
                </a:solidFill>
              </a:rPr>
              <a:t>natural</a:t>
            </a:r>
            <a:r>
              <a:rPr lang="fr-FR" sz="2800" dirty="0" smtClean="0">
                <a:solidFill>
                  <a:srgbClr val="0070C0"/>
                </a:solidFill>
              </a:rPr>
              <a:t> killer par ADCC</a:t>
            </a:r>
            <a:endParaRPr lang="fr-FR" sz="2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527539" y="492370"/>
            <a:ext cx="7849772" cy="6494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Les maladies suivantes font intervenir des m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canismes d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’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HPS de type II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 </a:t>
            </a:r>
            <a:r>
              <a:rPr kumimoji="0" lang="fr-FR" sz="32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: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arenR"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La maladie h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molytique du nouveau-n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b) Les</a:t>
            </a:r>
            <a:r>
              <a:rPr kumimoji="0" lang="fr-FR" sz="3200" b="0" i="0" u="none" strike="noStrike" cap="none" normalizeH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c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ytopénies par anticorps anti-antig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è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nes membranaires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c) Le rejet aigu de l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’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allogreffe r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nale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d) La maladie des 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leveurs d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’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oiseaux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e) La dr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panocytose</a:t>
            </a:r>
            <a:endParaRPr kumimoji="0" lang="fr-FR" sz="32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316522" y="116632"/>
            <a:ext cx="8577776" cy="6555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La maladie h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molytique du nouveau-n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(MHNN)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 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:</a:t>
            </a:r>
            <a:endParaRPr kumimoji="0" lang="fr-FR" sz="28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b="0" i="0" u="none" strike="noStrike" cap="none" normalizeH="0" baseline="0" dirty="0" smtClean="0">
              <a:ln>
                <a:noFill/>
              </a:ln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arenR"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Est un exemple de r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action 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allog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nique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ayant pour cible des plaquettes  du f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œ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b) Le premier enfant est en r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è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gle g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rale pr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serv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de cette maladie</a:t>
            </a:r>
            <a:endParaRPr kumimoji="0" lang="fr-FR" sz="28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c) Le principal syst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è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me 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allog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nique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impliqu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est le syst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è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me ABO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d) Les syst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è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mes antig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niques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rythrocytaires 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Kell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et Duffy ne sont jamais responsables de la MHNN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e) Le traitement curatif consiste en la pratique de l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’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exsanguino-transfusion chez la m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è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re ayant d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velopp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 des 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Ac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cytotoxiques </a:t>
            </a:r>
            <a:endParaRPr kumimoji="0" lang="fr-FR" sz="28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133864" y="116632"/>
            <a:ext cx="8830624" cy="6432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’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an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mie h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molytique auto-immune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à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anticorps froids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 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arenR"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Refl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è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te un 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tat d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’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hypersensibilit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de type III.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lphaLcParenR"/>
              <a:tabLst/>
            </a:pPr>
            <a:endParaRPr kumimoji="0" lang="fr-FR" sz="32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b) Implique essentiellement des </a:t>
            </a:r>
            <a:r>
              <a:rPr kumimoji="0" lang="fr-FR" sz="3200" b="0" i="0" u="none" strike="noStrike" cap="none" normalizeH="0" baseline="0" dirty="0" err="1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IgG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cytotoxiques.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c) Implique une activation du compl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ment par voie classique via des autoanticorps de classe IgM.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d) Conduit 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à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une h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molyse extravasculaire.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e) Implique des antig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è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nes 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é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rythrocytaires 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à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savoir l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’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antig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è</a:t>
            </a:r>
            <a:r>
              <a:rPr kumimoji="0" lang="fr-FR" sz="32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ne I.</a:t>
            </a:r>
            <a:endParaRPr kumimoji="0" lang="fr-FR" sz="32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0020" y="90934"/>
            <a:ext cx="8629650" cy="632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fr-FR" sz="3200" b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Les pathologies  suivantes sont la </a:t>
            </a:r>
            <a:r>
              <a:rPr lang="fr-FR" sz="32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conséquence d’un </a:t>
            </a:r>
            <a:r>
              <a:rPr lang="fr-FR" sz="3200" b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désordre de type  hypersensibilité cytotoxique</a:t>
            </a:r>
            <a:r>
              <a:rPr lang="fr-FR" sz="32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fr-FR" sz="32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indent="-514350">
              <a:lnSpc>
                <a:spcPct val="115000"/>
              </a:lnSpc>
              <a:spcAft>
                <a:spcPts val="0"/>
              </a:spcAft>
              <a:buAutoNum type="alphaLcParenR"/>
            </a:pPr>
            <a:r>
              <a:rPr lang="fr-FR" sz="3200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Maladie </a:t>
            </a:r>
            <a:r>
              <a:rPr lang="fr-FR" sz="3200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de </a:t>
            </a:r>
            <a:r>
              <a:rPr lang="fr-FR" sz="3200" dirty="0" err="1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Goodpasture</a:t>
            </a:r>
            <a:endParaRPr lang="fr-FR" sz="32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fr-FR" sz="3200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b) Vascularites à </a:t>
            </a:r>
            <a:r>
              <a:rPr lang="fr-FR" sz="3200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ANCA</a:t>
            </a:r>
            <a:endParaRPr lang="fr-FR" sz="32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fr-FR" sz="3200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c) Anémies hémolytiques autoimmunes à anticorps </a:t>
            </a:r>
            <a:r>
              <a:rPr lang="fr-FR" sz="3200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froids</a:t>
            </a:r>
            <a:endParaRPr lang="fr-FR" sz="32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fr-FR" sz="3200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d) Rejet </a:t>
            </a:r>
            <a:r>
              <a:rPr lang="fr-FR" sz="3200" dirty="0" err="1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hyperaigue</a:t>
            </a:r>
            <a:r>
              <a:rPr lang="fr-FR" sz="3200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du greffon  par anticorps </a:t>
            </a:r>
            <a:r>
              <a:rPr lang="fr-FR" sz="3200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préformés</a:t>
            </a:r>
            <a:endParaRPr lang="fr-FR" sz="32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fr-FR" sz="32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e) </a:t>
            </a:r>
            <a:r>
              <a:rPr lang="fr-FR" sz="320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Rhinite allergique</a:t>
            </a:r>
            <a:endParaRPr lang="fr-F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257068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8590" y="354599"/>
            <a:ext cx="8698230" cy="79714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fr-FR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maladie hémolytique du nouveau Né</a:t>
            </a:r>
            <a:r>
              <a:rPr lang="fr-FR" sz="32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algn="just">
              <a:spcAft>
                <a:spcPts val="0"/>
              </a:spcAft>
            </a:pPr>
            <a:endParaRPr lang="fr-FR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fr-FR" sz="3200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a)  </a:t>
            </a:r>
            <a:r>
              <a:rPr lang="fr-FR" sz="3200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Reflète </a:t>
            </a:r>
            <a:r>
              <a:rPr lang="fr-FR" sz="3200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 mécanismes lésionnels tributaires à des anticorps cytotoxiques anti-Rhésus. </a:t>
            </a:r>
            <a:endParaRPr lang="fr-FR" sz="3200" dirty="0" smtClean="0">
              <a:solidFill>
                <a:srgbClr val="0070C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fr-FR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fr-FR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b)   </a:t>
            </a:r>
            <a:r>
              <a:rPr lang="fr-FR" sz="3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Survient </a:t>
            </a:r>
            <a:r>
              <a:rPr lang="fr-FR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essentiellement chez les mères Rhésus </a:t>
            </a:r>
            <a:r>
              <a:rPr lang="fr-FR" sz="3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positifs</a:t>
            </a:r>
          </a:p>
          <a:p>
            <a:pPr algn="just">
              <a:spcAft>
                <a:spcPts val="0"/>
              </a:spcAft>
            </a:pPr>
            <a:endParaRPr lang="fr-FR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fr-FR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fr-FR" sz="3200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c)  </a:t>
            </a:r>
            <a:r>
              <a:rPr lang="fr-FR" sz="3200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Moins </a:t>
            </a:r>
            <a:r>
              <a:rPr lang="fr-FR" sz="3200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fréquente en cas d’incompatibilité ABO entre </a:t>
            </a:r>
            <a:r>
              <a:rPr lang="fr-FR" sz="3200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Mère/enfant.</a:t>
            </a:r>
          </a:p>
          <a:p>
            <a:pPr algn="just">
              <a:spcAft>
                <a:spcPts val="0"/>
              </a:spcAft>
            </a:pPr>
            <a:endParaRPr lang="fr-FR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fr-FR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d)   </a:t>
            </a:r>
            <a:r>
              <a:rPr lang="fr-FR" sz="3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 </a:t>
            </a:r>
            <a:r>
              <a:rPr lang="fr-FR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compliquée par une hémolyse </a:t>
            </a:r>
            <a:r>
              <a:rPr lang="fr-FR" sz="32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intravasculaire</a:t>
            </a:r>
            <a:endParaRPr lang="fr-FR" sz="32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fr-FR" sz="32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fr-FR" sz="3200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e)    </a:t>
            </a:r>
            <a:r>
              <a:rPr lang="fr-FR" sz="3200" dirty="0" smtClean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 </a:t>
            </a:r>
            <a:r>
              <a:rPr lang="fr-FR" sz="3200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éviter par l’administration des anticorps </a:t>
            </a:r>
            <a:r>
              <a:rPr lang="fr-FR" sz="3200" dirty="0" err="1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anti-D</a:t>
            </a:r>
            <a:r>
              <a:rPr lang="fr-FR" sz="3200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fr-FR" sz="3200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471109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8590" y="354598"/>
            <a:ext cx="869823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endParaRPr lang="fr-FR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FR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fr-FR" sz="3200" b="1" dirty="0" smtClean="0"/>
              <a:t>Parmi les pathologies induites par le dépôt inapproprié des immuns complexes, on site :</a:t>
            </a:r>
          </a:p>
          <a:p>
            <a:endParaRPr lang="fr-FR" sz="3200" dirty="0" smtClean="0"/>
          </a:p>
          <a:p>
            <a:r>
              <a:rPr lang="fr-FR" sz="3200" dirty="0" smtClean="0">
                <a:solidFill>
                  <a:srgbClr val="0070C0"/>
                </a:solidFill>
              </a:rPr>
              <a:t>a)    L’alvéolite allergique extrinsèque.</a:t>
            </a:r>
          </a:p>
          <a:p>
            <a:r>
              <a:rPr lang="fr-FR" sz="3200" dirty="0" smtClean="0">
                <a:solidFill>
                  <a:srgbClr val="0070C0"/>
                </a:solidFill>
              </a:rPr>
              <a:t>b)   La maladie du poumon de fermier</a:t>
            </a:r>
          </a:p>
          <a:p>
            <a:r>
              <a:rPr lang="fr-FR" sz="3200" dirty="0" smtClean="0"/>
              <a:t>c)   L’Eczéma </a:t>
            </a:r>
            <a:r>
              <a:rPr lang="fr-FR" sz="3200" dirty="0" err="1" smtClean="0"/>
              <a:t>atopique</a:t>
            </a:r>
            <a:r>
              <a:rPr lang="fr-FR" sz="3200" dirty="0" smtClean="0"/>
              <a:t> du nourrisson</a:t>
            </a:r>
          </a:p>
          <a:p>
            <a:r>
              <a:rPr lang="fr-FR" sz="3200" dirty="0" smtClean="0"/>
              <a:t>d)  L’anémie hémolytique du nouveau-né.</a:t>
            </a:r>
          </a:p>
          <a:p>
            <a:r>
              <a:rPr lang="fr-FR" sz="3200" dirty="0" smtClean="0"/>
              <a:t>e)   La sclérodermie</a:t>
            </a:r>
          </a:p>
          <a:p>
            <a:pPr algn="just">
              <a:spcAft>
                <a:spcPts val="0"/>
              </a:spcAft>
            </a:pPr>
            <a:endParaRPr lang="fr-F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471109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9512" y="548680"/>
            <a:ext cx="820891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/>
              <a:t>Le phénomène d'Arthus fait intervenir</a:t>
            </a:r>
            <a:r>
              <a:rPr lang="fr-FR" sz="2800" b="1" dirty="0" smtClean="0"/>
              <a:t>: </a:t>
            </a:r>
            <a:endParaRPr lang="fr-FR" sz="2800" b="1" dirty="0"/>
          </a:p>
          <a:p>
            <a:r>
              <a:rPr lang="fr-FR" sz="2800" dirty="0"/>
              <a:t> </a:t>
            </a:r>
          </a:p>
          <a:p>
            <a:r>
              <a:rPr lang="fr-FR" sz="2800" dirty="0">
                <a:solidFill>
                  <a:srgbClr val="0070C0"/>
                </a:solidFill>
              </a:rPr>
              <a:t>  A. Polynucléaires neutrophiles </a:t>
            </a:r>
            <a:endParaRPr lang="fr-FR" sz="2800" dirty="0" smtClean="0">
              <a:solidFill>
                <a:srgbClr val="0070C0"/>
              </a:solidFill>
            </a:endParaRPr>
          </a:p>
          <a:p>
            <a:endParaRPr lang="fr-FR" sz="2800" dirty="0"/>
          </a:p>
          <a:p>
            <a:r>
              <a:rPr lang="fr-FR" sz="2800" dirty="0"/>
              <a:t>   B. </a:t>
            </a:r>
            <a:r>
              <a:rPr lang="fr-FR" sz="2800" dirty="0" smtClean="0"/>
              <a:t>Cellules NK</a:t>
            </a:r>
          </a:p>
          <a:p>
            <a:endParaRPr lang="fr-FR" sz="2800" dirty="0"/>
          </a:p>
          <a:p>
            <a:r>
              <a:rPr lang="fr-FR" sz="2800" dirty="0"/>
              <a:t>  C. </a:t>
            </a:r>
            <a:r>
              <a:rPr lang="fr-FR" sz="2800" dirty="0" smtClean="0"/>
              <a:t>Immuns complexes circulants</a:t>
            </a:r>
          </a:p>
          <a:p>
            <a:endParaRPr lang="fr-FR" sz="2800" dirty="0"/>
          </a:p>
          <a:p>
            <a:r>
              <a:rPr lang="fr-FR" sz="2800" dirty="0">
                <a:solidFill>
                  <a:srgbClr val="0070C0"/>
                </a:solidFill>
              </a:rPr>
              <a:t>   D. Mastocytes </a:t>
            </a:r>
            <a:r>
              <a:rPr lang="fr-FR" sz="2800" dirty="0" smtClean="0">
                <a:solidFill>
                  <a:srgbClr val="0070C0"/>
                </a:solidFill>
              </a:rPr>
              <a:t>résidentes dans les tissus et activées par le C3a</a:t>
            </a:r>
          </a:p>
          <a:p>
            <a:endParaRPr lang="fr-FR" sz="2800" dirty="0">
              <a:solidFill>
                <a:srgbClr val="0070C0"/>
              </a:solidFill>
            </a:endParaRPr>
          </a:p>
          <a:p>
            <a:r>
              <a:rPr lang="fr-FR" sz="2800" dirty="0">
                <a:solidFill>
                  <a:srgbClr val="0070C0"/>
                </a:solidFill>
              </a:rPr>
              <a:t>  E. Complément </a:t>
            </a:r>
            <a:r>
              <a:rPr lang="fr-FR" sz="2800" dirty="0" smtClean="0">
                <a:solidFill>
                  <a:srgbClr val="0070C0"/>
                </a:solidFill>
              </a:rPr>
              <a:t>par voie classique</a:t>
            </a:r>
            <a:endParaRPr lang="fr-FR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013756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9512" y="476674"/>
            <a:ext cx="849694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/>
              <a:t>L'effet pathogène des complexes </a:t>
            </a:r>
            <a:r>
              <a:rPr lang="fr-FR" sz="2400" dirty="0" smtClean="0"/>
              <a:t>immuns </a:t>
            </a:r>
            <a:r>
              <a:rPr lang="fr-FR" sz="2400" dirty="0"/>
              <a:t>:</a:t>
            </a:r>
          </a:p>
          <a:p>
            <a:r>
              <a:rPr lang="fr-FR" sz="2400" dirty="0"/>
              <a:t>--------------------------------------------------------------------------------</a:t>
            </a:r>
          </a:p>
          <a:p>
            <a:r>
              <a:rPr lang="fr-FR" sz="2400" dirty="0"/>
              <a:t> </a:t>
            </a:r>
          </a:p>
          <a:p>
            <a:r>
              <a:rPr lang="fr-FR" sz="2400" dirty="0"/>
              <a:t>   A. Est toujours dû à des complexes formés dans la circulation </a:t>
            </a:r>
            <a:endParaRPr lang="fr-FR" sz="2400" dirty="0" smtClean="0"/>
          </a:p>
          <a:p>
            <a:endParaRPr lang="fr-FR" sz="2400" dirty="0"/>
          </a:p>
          <a:p>
            <a:r>
              <a:rPr lang="fr-FR" sz="2400" dirty="0"/>
              <a:t>   B. Explique l'intérêt majeur du dosage des complexes immuns circulants en </a:t>
            </a:r>
            <a:r>
              <a:rPr lang="fr-FR" sz="2400" dirty="0" err="1"/>
              <a:t>immunopathologie</a:t>
            </a:r>
            <a:r>
              <a:rPr lang="fr-FR" sz="2400" dirty="0"/>
              <a:t> </a:t>
            </a:r>
            <a:endParaRPr lang="fr-FR" sz="2400" dirty="0" smtClean="0"/>
          </a:p>
          <a:p>
            <a:endParaRPr lang="fr-FR" sz="2400" dirty="0">
              <a:solidFill>
                <a:srgbClr val="0070C0"/>
              </a:solidFill>
            </a:endParaRPr>
          </a:p>
          <a:p>
            <a:r>
              <a:rPr lang="fr-FR" sz="2400" dirty="0">
                <a:solidFill>
                  <a:srgbClr val="0070C0"/>
                </a:solidFill>
              </a:rPr>
              <a:t>  C. Est un mécanisme important dans les glomérulonéphrites lupiques </a:t>
            </a:r>
            <a:endParaRPr lang="fr-FR" sz="2400" dirty="0" smtClean="0">
              <a:solidFill>
                <a:srgbClr val="0070C0"/>
              </a:solidFill>
            </a:endParaRPr>
          </a:p>
          <a:p>
            <a:endParaRPr lang="fr-FR" sz="2400" dirty="0"/>
          </a:p>
          <a:p>
            <a:r>
              <a:rPr lang="fr-FR" sz="2400" dirty="0"/>
              <a:t>   D. Est un mécanisme important des anémies hémolytiques du lupus </a:t>
            </a:r>
            <a:endParaRPr lang="fr-FR" sz="2400" dirty="0" smtClean="0"/>
          </a:p>
          <a:p>
            <a:endParaRPr lang="fr-FR" sz="2400" dirty="0"/>
          </a:p>
          <a:p>
            <a:r>
              <a:rPr lang="fr-FR" sz="2400" dirty="0">
                <a:solidFill>
                  <a:srgbClr val="0070C0"/>
                </a:solidFill>
              </a:rPr>
              <a:t>   E. Ne s'observe pas avec </a:t>
            </a:r>
            <a:r>
              <a:rPr lang="fr-FR" sz="2400" dirty="0" smtClean="0">
                <a:solidFill>
                  <a:srgbClr val="0070C0"/>
                </a:solidFill>
              </a:rPr>
              <a:t>des antigènes de type haptène</a:t>
            </a:r>
            <a:endParaRPr lang="fr-FR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186337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3130" y="292604"/>
            <a:ext cx="874846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/>
              <a:t>Les anticorps responsables de la réaction d'Arthus :</a:t>
            </a:r>
          </a:p>
          <a:p>
            <a:r>
              <a:rPr lang="fr-FR" sz="2400" dirty="0"/>
              <a:t>--------------------------------------------------------------------------------</a:t>
            </a:r>
          </a:p>
          <a:p>
            <a:r>
              <a:rPr lang="fr-FR" sz="2400" dirty="0"/>
              <a:t> </a:t>
            </a:r>
          </a:p>
          <a:p>
            <a:r>
              <a:rPr lang="fr-FR" sz="2400" dirty="0">
                <a:solidFill>
                  <a:srgbClr val="0070C0"/>
                </a:solidFill>
              </a:rPr>
              <a:t>   A. </a:t>
            </a:r>
            <a:r>
              <a:rPr lang="fr-FR" sz="2400" dirty="0" smtClean="0">
                <a:solidFill>
                  <a:srgbClr val="0070C0"/>
                </a:solidFill>
              </a:rPr>
              <a:t>Sont </a:t>
            </a:r>
            <a:r>
              <a:rPr lang="fr-FR" sz="2400" dirty="0">
                <a:solidFill>
                  <a:srgbClr val="0070C0"/>
                </a:solidFill>
              </a:rPr>
              <a:t>de classe </a:t>
            </a:r>
            <a:r>
              <a:rPr lang="fr-FR" sz="2400" dirty="0" err="1" smtClean="0">
                <a:solidFill>
                  <a:srgbClr val="0070C0"/>
                </a:solidFill>
              </a:rPr>
              <a:t>IgG</a:t>
            </a:r>
            <a:r>
              <a:rPr lang="fr-FR" sz="2400" dirty="0" smtClean="0">
                <a:solidFill>
                  <a:srgbClr val="0070C0"/>
                </a:solidFill>
              </a:rPr>
              <a:t> ou </a:t>
            </a:r>
            <a:r>
              <a:rPr lang="fr-FR" sz="2400" dirty="0" err="1" smtClean="0">
                <a:solidFill>
                  <a:srgbClr val="0070C0"/>
                </a:solidFill>
              </a:rPr>
              <a:t>IgM</a:t>
            </a:r>
            <a:endParaRPr lang="fr-FR" sz="2400" dirty="0">
              <a:solidFill>
                <a:srgbClr val="0070C0"/>
              </a:solidFill>
            </a:endParaRPr>
          </a:p>
          <a:p>
            <a:endParaRPr lang="fr-FR" sz="2400" dirty="0">
              <a:solidFill>
                <a:srgbClr val="0070C0"/>
              </a:solidFill>
            </a:endParaRPr>
          </a:p>
          <a:p>
            <a:r>
              <a:rPr lang="fr-FR" sz="2400" dirty="0">
                <a:solidFill>
                  <a:srgbClr val="0070C0"/>
                </a:solidFill>
              </a:rPr>
              <a:t>  B. Sont précipitants </a:t>
            </a:r>
            <a:endParaRPr lang="fr-FR" sz="2400" dirty="0" smtClean="0">
              <a:solidFill>
                <a:srgbClr val="0070C0"/>
              </a:solidFill>
            </a:endParaRPr>
          </a:p>
          <a:p>
            <a:endParaRPr lang="fr-FR" sz="2400" dirty="0">
              <a:solidFill>
                <a:srgbClr val="0070C0"/>
              </a:solidFill>
            </a:endParaRPr>
          </a:p>
          <a:p>
            <a:r>
              <a:rPr lang="fr-FR" sz="2400" dirty="0">
                <a:solidFill>
                  <a:srgbClr val="0070C0"/>
                </a:solidFill>
              </a:rPr>
              <a:t>  C. Fixent le complément </a:t>
            </a:r>
            <a:endParaRPr lang="fr-FR" sz="2400" dirty="0" smtClean="0">
              <a:solidFill>
                <a:srgbClr val="0070C0"/>
              </a:solidFill>
            </a:endParaRPr>
          </a:p>
          <a:p>
            <a:endParaRPr lang="fr-FR" sz="2400" dirty="0"/>
          </a:p>
          <a:p>
            <a:r>
              <a:rPr lang="fr-FR" sz="2400" dirty="0">
                <a:solidFill>
                  <a:srgbClr val="0070C0"/>
                </a:solidFill>
              </a:rPr>
              <a:t>   D. </a:t>
            </a:r>
            <a:r>
              <a:rPr lang="fr-FR" sz="2400" dirty="0" smtClean="0">
                <a:solidFill>
                  <a:srgbClr val="0070C0"/>
                </a:solidFill>
              </a:rPr>
              <a:t>Produits suite à une </a:t>
            </a:r>
            <a:r>
              <a:rPr lang="fr-FR" sz="2400" dirty="0" err="1" smtClean="0">
                <a:solidFill>
                  <a:srgbClr val="0070C0"/>
                </a:solidFill>
              </a:rPr>
              <a:t>hyperimmunisation</a:t>
            </a:r>
            <a:r>
              <a:rPr lang="fr-FR" sz="2400" dirty="0" smtClean="0">
                <a:solidFill>
                  <a:srgbClr val="0070C0"/>
                </a:solidFill>
              </a:rPr>
              <a:t> par un antigène hétérologue</a:t>
            </a:r>
            <a:r>
              <a:rPr lang="fr-FR" sz="2400" dirty="0" smtClean="0"/>
              <a:t> </a:t>
            </a:r>
          </a:p>
          <a:p>
            <a:endParaRPr lang="fr-FR" sz="2400" dirty="0"/>
          </a:p>
          <a:p>
            <a:r>
              <a:rPr lang="fr-FR" sz="2400" dirty="0"/>
              <a:t>   E. Agissent essentiellement en se fixant sur les polynucléaires basophiles </a:t>
            </a:r>
          </a:p>
        </p:txBody>
      </p:sp>
    </p:spTree>
    <p:extLst>
      <p:ext uri="{BB962C8B-B14F-4D97-AF65-F5344CB8AC3E}">
        <p14:creationId xmlns:p14="http://schemas.microsoft.com/office/powerpoint/2010/main" xmlns="" val="27412983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1520" y="332656"/>
            <a:ext cx="8208912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2800" dirty="0"/>
          </a:p>
          <a:p>
            <a:r>
              <a:rPr lang="fr-FR" sz="2800" dirty="0"/>
              <a:t>Quel est le délai d'apparition d'une maladie sérique aiguë après une injection de protéines étrangères chez un sujet non sensibilisé à celle-ci</a:t>
            </a:r>
            <a:r>
              <a:rPr lang="fr-FR" sz="2800" dirty="0" smtClean="0"/>
              <a:t>? </a:t>
            </a:r>
            <a:endParaRPr lang="fr-FR" sz="2800" dirty="0"/>
          </a:p>
          <a:p>
            <a:r>
              <a:rPr lang="fr-FR" sz="2800" dirty="0"/>
              <a:t> </a:t>
            </a:r>
          </a:p>
          <a:p>
            <a:r>
              <a:rPr lang="fr-FR" sz="2800" dirty="0"/>
              <a:t>   A. Moins d'une heure </a:t>
            </a:r>
          </a:p>
          <a:p>
            <a:endParaRPr lang="fr-FR" sz="2800" dirty="0"/>
          </a:p>
          <a:p>
            <a:r>
              <a:rPr lang="fr-FR" sz="2800" dirty="0"/>
              <a:t>   B. Environ 24 heures </a:t>
            </a:r>
            <a:endParaRPr lang="fr-FR" sz="2800" dirty="0" smtClean="0"/>
          </a:p>
          <a:p>
            <a:endParaRPr lang="fr-FR" sz="2800" dirty="0"/>
          </a:p>
          <a:p>
            <a:r>
              <a:rPr lang="fr-FR" sz="2800" dirty="0"/>
              <a:t>   C. 48 à 72 heures </a:t>
            </a:r>
            <a:endParaRPr lang="fr-FR" sz="2800" dirty="0" smtClean="0"/>
          </a:p>
          <a:p>
            <a:endParaRPr lang="fr-FR" sz="2800" dirty="0"/>
          </a:p>
          <a:p>
            <a:r>
              <a:rPr lang="fr-FR" sz="2800" dirty="0">
                <a:solidFill>
                  <a:srgbClr val="0070C0"/>
                </a:solidFill>
              </a:rPr>
              <a:t>  D. Une dizaine de jours </a:t>
            </a:r>
            <a:endParaRPr lang="fr-FR" sz="2800" dirty="0" smtClean="0">
              <a:solidFill>
                <a:srgbClr val="0070C0"/>
              </a:solidFill>
            </a:endParaRPr>
          </a:p>
          <a:p>
            <a:endParaRPr lang="fr-FR" sz="2800" dirty="0"/>
          </a:p>
          <a:p>
            <a:r>
              <a:rPr lang="fr-FR" sz="2800" dirty="0"/>
              <a:t>   E. Un à deux mois </a:t>
            </a:r>
          </a:p>
        </p:txBody>
      </p:sp>
    </p:spTree>
    <p:extLst>
      <p:ext uri="{BB962C8B-B14F-4D97-AF65-F5344CB8AC3E}">
        <p14:creationId xmlns:p14="http://schemas.microsoft.com/office/powerpoint/2010/main" xmlns="" val="8895805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8590" y="354598"/>
            <a:ext cx="869823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3200" b="1" dirty="0" smtClean="0"/>
          </a:p>
          <a:p>
            <a:r>
              <a:rPr lang="fr-FR" sz="3200" b="1" dirty="0" smtClean="0"/>
              <a:t>Ces antigènes sont capables de déclencher un état d’hypersensibilité retardée :</a:t>
            </a:r>
          </a:p>
          <a:p>
            <a:endParaRPr lang="fr-FR" sz="3200" dirty="0" smtClean="0">
              <a:solidFill>
                <a:srgbClr val="0070C0"/>
              </a:solidFill>
            </a:endParaRPr>
          </a:p>
          <a:p>
            <a:pPr lvl="0"/>
            <a:r>
              <a:rPr lang="fr-FR" sz="3200" dirty="0" smtClean="0">
                <a:solidFill>
                  <a:srgbClr val="0070C0"/>
                </a:solidFill>
              </a:rPr>
              <a:t>a) Le Chrome utilisé pour tanner le cuir</a:t>
            </a:r>
          </a:p>
          <a:p>
            <a:pPr lvl="0"/>
            <a:r>
              <a:rPr lang="fr-FR" sz="3200" dirty="0" smtClean="0"/>
              <a:t>b) Les immunoglobulines administrées par voie IV</a:t>
            </a:r>
          </a:p>
          <a:p>
            <a:pPr lvl="0"/>
            <a:r>
              <a:rPr lang="fr-FR" sz="3200" dirty="0" smtClean="0">
                <a:solidFill>
                  <a:srgbClr val="0070C0"/>
                </a:solidFill>
              </a:rPr>
              <a:t>c) La tuberculine utilisée dans le test IDR</a:t>
            </a:r>
          </a:p>
          <a:p>
            <a:pPr lvl="0"/>
            <a:r>
              <a:rPr lang="fr-FR" sz="3200" dirty="0" smtClean="0"/>
              <a:t>d) Le sérum antitétanique</a:t>
            </a:r>
          </a:p>
          <a:p>
            <a:pPr lvl="0"/>
            <a:r>
              <a:rPr lang="fr-FR" sz="3200" dirty="0" smtClean="0"/>
              <a:t>e) Traitement du diabète par l’insuline humaine </a:t>
            </a:r>
          </a:p>
          <a:p>
            <a:pPr algn="just">
              <a:spcAft>
                <a:spcPts val="0"/>
              </a:spcAft>
            </a:pPr>
            <a:endParaRPr lang="fr-F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471109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8590" y="298315"/>
            <a:ext cx="8698230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fr-FR" sz="3200" b="1" u="sng" dirty="0" smtClean="0"/>
              <a:t>L’eczéma de contact:</a:t>
            </a:r>
          </a:p>
          <a:p>
            <a:pPr lvl="0"/>
            <a:endParaRPr lang="fr-FR" sz="3200" dirty="0" smtClean="0"/>
          </a:p>
          <a:p>
            <a:pPr marL="514350" lvl="0" indent="-514350">
              <a:buAutoNum type="alphaLcParenR"/>
            </a:pPr>
            <a:r>
              <a:rPr lang="fr-FR" sz="3200" dirty="0" smtClean="0"/>
              <a:t>Est  l’un des  phénomènes d’hypersensibilité semi-retardée.</a:t>
            </a:r>
          </a:p>
          <a:p>
            <a:pPr lvl="0"/>
            <a:r>
              <a:rPr lang="fr-FR" sz="3200" dirty="0" smtClean="0">
                <a:solidFill>
                  <a:srgbClr val="0070C0"/>
                </a:solidFill>
              </a:rPr>
              <a:t>b) Fait suite à une  réponse immunitaire exagérée contre des antigènes de type haptène</a:t>
            </a:r>
            <a:endParaRPr lang="fr-FR" sz="3200" dirty="0" smtClean="0"/>
          </a:p>
          <a:p>
            <a:pPr lvl="0"/>
            <a:r>
              <a:rPr lang="fr-FR" sz="3200" dirty="0" smtClean="0"/>
              <a:t>c) Se manifeste dans 2 à 3 semaines suite à la réintroduction de l’Ag. </a:t>
            </a:r>
          </a:p>
          <a:p>
            <a:pPr lvl="0"/>
            <a:endParaRPr lang="fr-FR" sz="3200" dirty="0" smtClean="0">
              <a:solidFill>
                <a:srgbClr val="0070C0"/>
              </a:solidFill>
            </a:endParaRPr>
          </a:p>
          <a:p>
            <a:pPr lvl="0"/>
            <a:r>
              <a:rPr lang="fr-FR" sz="3200" dirty="0" smtClean="0">
                <a:solidFill>
                  <a:srgbClr val="0070C0"/>
                </a:solidFill>
              </a:rPr>
              <a:t>d) Est explorée in-vivo par le Patch-test </a:t>
            </a:r>
          </a:p>
          <a:p>
            <a:pPr lvl="0"/>
            <a:endParaRPr lang="fr-FR" sz="3200" dirty="0" smtClean="0"/>
          </a:p>
          <a:p>
            <a:pPr lvl="0"/>
            <a:r>
              <a:rPr lang="fr-FR" sz="3200" dirty="0" smtClean="0"/>
              <a:t>e) Peut être explorée biologiquement par une électrophorèse des protéines sérique.</a:t>
            </a:r>
          </a:p>
          <a:p>
            <a:pPr algn="just">
              <a:spcAft>
                <a:spcPts val="0"/>
              </a:spcAft>
            </a:pPr>
            <a:endParaRPr lang="fr-FR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4711090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</TotalTime>
  <Words>2064</Words>
  <Application>Microsoft Office PowerPoint</Application>
  <PresentationFormat>Affichage à l'écran (4:3)</PresentationFormat>
  <Paragraphs>513</Paragraphs>
  <Slides>49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49</vt:i4>
      </vt:variant>
    </vt:vector>
  </HeadingPairs>
  <TitlesOfParts>
    <vt:vector size="50" baseType="lpstr">
      <vt:lpstr>Thème Office</vt:lpstr>
      <vt:lpstr>Questions ….???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  <vt:lpstr>Diapositive 42</vt:lpstr>
      <vt:lpstr>Diapositive 43</vt:lpstr>
      <vt:lpstr>Diapositive 44</vt:lpstr>
      <vt:lpstr>Diapositive 45</vt:lpstr>
      <vt:lpstr>Diapositive 46</vt:lpstr>
      <vt:lpstr>Diapositive 47</vt:lpstr>
      <vt:lpstr>Diapositive 48</vt:lpstr>
      <vt:lpstr>Diapositive 49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admin</dc:creator>
  <cp:lastModifiedBy>acer</cp:lastModifiedBy>
  <cp:revision>121</cp:revision>
  <dcterms:created xsi:type="dcterms:W3CDTF">2012-10-27T20:54:59Z</dcterms:created>
  <dcterms:modified xsi:type="dcterms:W3CDTF">2024-06-23T07:29:21Z</dcterms:modified>
</cp:coreProperties>
</file>