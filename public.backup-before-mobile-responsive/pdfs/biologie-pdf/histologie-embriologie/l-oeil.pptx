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Default Extension="jpeg" ContentType="image/jpeg"/>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sldSz cx="9144000" cy="6858000" type="screen4x3"/>
  <p:notesSz cx="6858000" cy="9144000"/>
  <p:custDataLst>
    <p:tags r:id="rId40"/>
  </p:custDataLst>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a:tcStyle>
        <a:tcBdr/>
        <a:fill>
          <a:solidFill>
            <a:srgbClr val="E8ECF4"/>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a:tcStyle>
        <a:tcBdr/>
        <a:fill>
          <a:solidFill>
            <a:srgbClr val="EFF3E9"/>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a:tcStyle>
        <a:tcBdr/>
        <a:fill>
          <a:solidFill>
            <a:srgbClr val="FDEE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1" name="Shape 91"/>
          <p:cNvSpPr>
            <a:spLocks noGrp="1" noRot="1" noChangeAspect="1"/>
          </p:cNvSpPr>
          <p:nvPr>
            <p:ph type="sldImg"/>
          </p:nvPr>
        </p:nvSpPr>
        <p:spPr>
          <a:xfrm>
            <a:off x="1143000" y="685800"/>
            <a:ext cx="4572000" cy="3429000"/>
          </a:xfrm>
          <a:prstGeom prst="rect">
            <a:avLst/>
          </a:prstGeom>
        </p:spPr>
        <p:txBody>
          <a:bodyPr/>
          <a:lstStyle/>
          <a:p>
            <a:endParaRPr/>
          </a:p>
        </p:txBody>
      </p:sp>
      <p:sp>
        <p:nvSpPr>
          <p:cNvPr id="92" name="Shape 92"/>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 name="Shape 155"/>
          <p:cNvSpPr>
            <a:spLocks noGrp="1" noRot="1" noChangeAspect="1"/>
          </p:cNvSpPr>
          <p:nvPr>
            <p:ph type="sldImg"/>
          </p:nvPr>
        </p:nvSpPr>
        <p:spPr>
          <a:prstGeom prst="rect">
            <a:avLst/>
          </a:prstGeom>
        </p:spPr>
        <p:txBody>
          <a:bodyPr/>
          <a:lstStyle/>
          <a:p>
            <a:endParaRPr/>
          </a:p>
        </p:txBody>
      </p:sp>
      <p:sp>
        <p:nvSpPr>
          <p:cNvPr id="156" name="Shape 156"/>
          <p:cNvSpPr>
            <a:spLocks noGrp="1"/>
          </p:cNvSpPr>
          <p:nvPr>
            <p:ph type="body" sz="quarter" idx="1"/>
          </p:nvPr>
        </p:nvSpPr>
        <p:spPr>
          <a:prstGeom prst="rect">
            <a:avLst/>
          </a:prstGeom>
        </p:spPr>
        <p:txBody>
          <a:bodyPr/>
          <a:lstStyle/>
          <a:p>
            <a:r>
              <a:t> limbe des histologistes : il correspond à la ligne d’enchâssement des fibres de collagène de la cornée périphérique dans la sclère. Cette ligne commence en surface à l’extrémité de la couche de Bowman, dessine une parabole à sommet postérieur vers le canal de Schlemm et se termine dans la chambre antérieure, à l’extrémité de la membrane de Descemet</a:t>
            </a:r>
          </a:p>
          <a:p>
            <a:endParaRPr/>
          </a:p>
          <a:p>
            <a:endParaRPr/>
          </a:p>
          <a:p>
            <a:endParaRPr/>
          </a:p>
          <a:p>
            <a:r>
              <a:t>a : épithélium conjonctival ; b : stroma conjonctival ; c : capsule de Tenon et épisclère ; d : stroma limbique et cornéoscléral ; e : muscle ciliaire ; f : partie circulaire et radiaire du muscle ciliaire.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 name="Shape 278"/>
          <p:cNvSpPr>
            <a:spLocks noGrp="1" noRot="1" noChangeAspect="1"/>
          </p:cNvSpPr>
          <p:nvPr>
            <p:ph type="sldImg"/>
          </p:nvPr>
        </p:nvSpPr>
        <p:spPr>
          <a:prstGeom prst="rect">
            <a:avLst/>
          </a:prstGeom>
        </p:spPr>
        <p:txBody>
          <a:bodyPr/>
          <a:lstStyle/>
          <a:p>
            <a:endParaRPr/>
          </a:p>
        </p:txBody>
      </p:sp>
      <p:sp>
        <p:nvSpPr>
          <p:cNvPr id="279" name="Shape 279"/>
          <p:cNvSpPr>
            <a:spLocks noGrp="1"/>
          </p:cNvSpPr>
          <p:nvPr>
            <p:ph type="body" sz="quarter" idx="1"/>
          </p:nvPr>
        </p:nvSpPr>
        <p:spPr>
          <a:prstGeom prst="rect">
            <a:avLst/>
          </a:prstGeom>
        </p:spPr>
        <p:txBody>
          <a:bodyPr/>
          <a:lstStyle/>
          <a:p>
            <a:r>
              <a:t>Les différentes couches cellulaires de la rétine:</a:t>
            </a:r>
            <a:br/>
            <a:r>
              <a:t/>
            </a:r>
            <a:br/>
            <a:r>
              <a:t>la rétine sensorielle comprend 4 types de cellules:</a:t>
            </a:r>
            <a:br/>
            <a:r>
              <a:t/>
            </a:r>
            <a:br/>
            <a:r>
              <a:t>1) des neurones photorécepteurs : les cônes et les bâtonnets</a:t>
            </a:r>
            <a:br/>
            <a:r>
              <a:t/>
            </a:r>
            <a:br/>
            <a:r>
              <a:t>2) des neurones de conduction : des cellules bipolaires et les cellules ganglionnaires</a:t>
            </a:r>
            <a:br/>
            <a:r>
              <a:t/>
            </a:r>
            <a:br/>
            <a:r>
              <a:t>3) des neurones d’association : les cellules amacrines et des cellules horizontales</a:t>
            </a:r>
            <a:br/>
            <a:r>
              <a:t/>
            </a:r>
            <a:br/>
            <a:r>
              <a:t>4) des cellules de soutien de la névroglie: cellules de Muller</a:t>
            </a:r>
            <a:b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Diapositive de titre">
    <p:spTree>
      <p:nvGrpSpPr>
        <p:cNvPr id="1" name=""/>
        <p:cNvGrpSpPr/>
        <p:nvPr/>
      </p:nvGrpSpPr>
      <p:grpSpPr>
        <a:xfrm>
          <a:off x="0" y="0"/>
          <a:ext cx="0" cy="0"/>
          <a:chOff x="0" y="0"/>
          <a:chExt cx="0" cy="0"/>
        </a:xfrm>
      </p:grpSpPr>
      <p:sp>
        <p:nvSpPr>
          <p:cNvPr id="11" name="Shape 11"/>
          <p:cNvSpPr txBox="1">
            <a:spLocks noGrp="1"/>
          </p:cNvSpPr>
          <p:nvPr>
            <p:ph type="title"/>
          </p:nvPr>
        </p:nvSpPr>
        <p:spPr>
          <a:xfrm>
            <a:off x="685800" y="2130425"/>
            <a:ext cx="7772400" cy="1470025"/>
          </a:xfrm>
          <a:prstGeom prst="rect">
            <a:avLst/>
          </a:prstGeom>
        </p:spPr>
        <p:txBody>
          <a:bodyPr/>
          <a:lstStyle/>
          <a:p>
            <a:r>
              <a:t>Title Text</a:t>
            </a:r>
          </a:p>
        </p:txBody>
      </p:sp>
      <p:sp>
        <p:nvSpPr>
          <p:cNvPr id="12" name="Shape 12"/>
          <p:cNvSpPr txBox="1">
            <a:spLocks noGrp="1"/>
          </p:cNvSpPr>
          <p:nvPr>
            <p:ph type="body" sz="quarter" idx="1"/>
          </p:nvPr>
        </p:nvSpPr>
        <p:spPr>
          <a:xfrm>
            <a:off x="1371600" y="3886200"/>
            <a:ext cx="6400800" cy="1752600"/>
          </a:xfrm>
          <a:prstGeom prst="rect">
            <a:avLst/>
          </a:prstGeom>
        </p:spPr>
        <p:txBody>
          <a:bodyPr/>
          <a:lstStyle>
            <a:lvl1pPr marL="0" indent="0" algn="ctr">
              <a:buSzTx/>
              <a:buFontTx/>
              <a:buNone/>
              <a:defRPr>
                <a:solidFill>
                  <a:srgbClr val="888888"/>
                </a:solidFill>
              </a:defRPr>
            </a:lvl1pPr>
            <a:lvl2pPr marL="0" indent="457200" algn="ctr">
              <a:buSzTx/>
              <a:buFontTx/>
              <a:buNone/>
              <a:defRPr>
                <a:solidFill>
                  <a:srgbClr val="888888"/>
                </a:solidFill>
              </a:defRPr>
            </a:lvl2pPr>
            <a:lvl3pPr marL="0" indent="914400" algn="ctr">
              <a:buSzTx/>
              <a:buFontTx/>
              <a:buNone/>
              <a:defRPr>
                <a:solidFill>
                  <a:srgbClr val="888888"/>
                </a:solidFill>
              </a:defRPr>
            </a:lvl3pPr>
            <a:lvl4pPr marL="0" indent="1371600" algn="ctr">
              <a:buSzTx/>
              <a:buFontTx/>
              <a:buNone/>
              <a:defRPr>
                <a:solidFill>
                  <a:srgbClr val="888888"/>
                </a:solidFill>
              </a:defRPr>
            </a:lvl4pPr>
            <a:lvl5pPr marL="0" indent="1828800" algn="ctr">
              <a:buSzTx/>
              <a:buFontTx/>
              <a:buNone/>
              <a:defRPr>
                <a:solidFill>
                  <a:srgbClr val="888888"/>
                </a:solidFill>
              </a:defRPr>
            </a:lvl5pPr>
          </a:lstStyle>
          <a:p>
            <a:r>
              <a:t>Body Level One</a:t>
            </a:r>
          </a:p>
          <a:p>
            <a:pPr lvl="1"/>
            <a:r>
              <a:t>Body Level Two</a:t>
            </a:r>
          </a:p>
          <a:p>
            <a:pPr lvl="2"/>
            <a:r>
              <a:t>Body Level Three</a:t>
            </a:r>
          </a:p>
          <a:p>
            <a:pPr lvl="3"/>
            <a:r>
              <a:t>Body Level Four</a:t>
            </a:r>
          </a:p>
          <a:p>
            <a:pPr lvl="4"/>
            <a:r>
              <a:t>Body Level Five</a:t>
            </a:r>
          </a:p>
        </p:txBody>
      </p:sp>
      <p:sp>
        <p:nvSpPr>
          <p:cNvPr id="13" name="Shape 13"/>
          <p:cNvSpPr txBox="1">
            <a:spLocks noGrp="1"/>
          </p:cNvSpPr>
          <p:nvPr>
            <p:ph type="sldNum" sz="quarter" idx="2"/>
          </p:nvPr>
        </p:nvSpPr>
        <p:spPr>
          <a:prstGeom prst="rect">
            <a:avLst/>
          </a:prstGeom>
        </p:spPr>
        <p:txBody>
          <a:bodyPr/>
          <a:lstStyle/>
          <a:p>
            <a:fld id="{86CB4B4D-7CA3-9044-876B-883B54F8677D}" type="slidenum">
              <a:rPr/>
              <a:pPr/>
              <a:t>‹N°›</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re et contenu">
    <p:spTree>
      <p:nvGrpSpPr>
        <p:cNvPr id="1" name=""/>
        <p:cNvGrpSpPr/>
        <p:nvPr/>
      </p:nvGrpSpPr>
      <p:grpSpPr>
        <a:xfrm>
          <a:off x="0" y="0"/>
          <a:ext cx="0" cy="0"/>
          <a:chOff x="0" y="0"/>
          <a:chExt cx="0" cy="0"/>
        </a:xfrm>
      </p:grpSpPr>
      <p:sp>
        <p:nvSpPr>
          <p:cNvPr id="20" name="Shape 20"/>
          <p:cNvSpPr txBox="1">
            <a:spLocks noGrp="1"/>
          </p:cNvSpPr>
          <p:nvPr>
            <p:ph type="title"/>
          </p:nvPr>
        </p:nvSpPr>
        <p:spPr>
          <a:prstGeom prst="rect">
            <a:avLst/>
          </a:prstGeom>
        </p:spPr>
        <p:txBody>
          <a:bodyPr/>
          <a:lstStyle/>
          <a:p>
            <a:r>
              <a:t>Title Text</a:t>
            </a:r>
          </a:p>
        </p:txBody>
      </p:sp>
      <p:sp>
        <p:nvSpPr>
          <p:cNvPr id="21" name="Shape 21"/>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2" name="Shape 22"/>
          <p:cNvSpPr txBox="1">
            <a:spLocks noGrp="1"/>
          </p:cNvSpPr>
          <p:nvPr>
            <p:ph type="sldNum" sz="quarter" idx="2"/>
          </p:nvPr>
        </p:nvSpPr>
        <p:spPr>
          <a:prstGeom prst="rect">
            <a:avLst/>
          </a:prstGeom>
        </p:spPr>
        <p:txBody>
          <a:bodyPr/>
          <a:lstStyle/>
          <a:p>
            <a:fld id="{86CB4B4D-7CA3-9044-876B-883B54F8677D}" type="slidenum">
              <a:rPr/>
              <a:pPr/>
              <a:t>‹N°›</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re de section">
    <p:spTree>
      <p:nvGrpSpPr>
        <p:cNvPr id="1" name=""/>
        <p:cNvGrpSpPr/>
        <p:nvPr/>
      </p:nvGrpSpPr>
      <p:grpSpPr>
        <a:xfrm>
          <a:off x="0" y="0"/>
          <a:ext cx="0" cy="0"/>
          <a:chOff x="0" y="0"/>
          <a:chExt cx="0" cy="0"/>
        </a:xfrm>
      </p:grpSpPr>
      <p:sp>
        <p:nvSpPr>
          <p:cNvPr id="29" name="Shape 29"/>
          <p:cNvSpPr txBox="1">
            <a:spLocks noGrp="1"/>
          </p:cNvSpPr>
          <p:nvPr>
            <p:ph type="title"/>
          </p:nvPr>
        </p:nvSpPr>
        <p:spPr>
          <a:xfrm>
            <a:off x="722312" y="4406900"/>
            <a:ext cx="7772401" cy="1362075"/>
          </a:xfrm>
          <a:prstGeom prst="rect">
            <a:avLst/>
          </a:prstGeom>
        </p:spPr>
        <p:txBody>
          <a:bodyPr anchor="t"/>
          <a:lstStyle>
            <a:lvl1pPr>
              <a:defRPr sz="4000" cap="all">
                <a:latin typeface="+mn-lt"/>
                <a:ea typeface="+mn-ea"/>
                <a:cs typeface="+mn-cs"/>
                <a:sym typeface="Calibri"/>
              </a:defRPr>
            </a:lvl1pPr>
          </a:lstStyle>
          <a:p>
            <a:r>
              <a:t>Title Text</a:t>
            </a:r>
          </a:p>
        </p:txBody>
      </p:sp>
      <p:sp>
        <p:nvSpPr>
          <p:cNvPr id="30" name="Shape 30"/>
          <p:cNvSpPr txBox="1">
            <a:spLocks noGrp="1"/>
          </p:cNvSpPr>
          <p:nvPr>
            <p:ph type="body" sz="quarter" idx="1"/>
          </p:nvPr>
        </p:nvSpPr>
        <p:spPr>
          <a:xfrm>
            <a:off x="722312" y="2906713"/>
            <a:ext cx="7772401" cy="1500188"/>
          </a:xfrm>
          <a:prstGeom prst="rect">
            <a:avLst/>
          </a:prstGeom>
        </p:spPr>
        <p:txBody>
          <a:bodyPr anchor="b"/>
          <a:lstStyle>
            <a:lvl1pPr marL="0" indent="0">
              <a:spcBef>
                <a:spcPts val="400"/>
              </a:spcBef>
              <a:buSzTx/>
              <a:buFontTx/>
              <a:buNone/>
              <a:defRPr sz="2000">
                <a:solidFill>
                  <a:srgbClr val="888888"/>
                </a:solidFill>
              </a:defRPr>
            </a:lvl1pPr>
            <a:lvl2pPr marL="0" indent="457200">
              <a:spcBef>
                <a:spcPts val="400"/>
              </a:spcBef>
              <a:buSzTx/>
              <a:buFontTx/>
              <a:buNone/>
              <a:defRPr sz="2000">
                <a:solidFill>
                  <a:srgbClr val="888888"/>
                </a:solidFill>
              </a:defRPr>
            </a:lvl2pPr>
            <a:lvl3pPr marL="0" indent="914400">
              <a:spcBef>
                <a:spcPts val="400"/>
              </a:spcBef>
              <a:buSzTx/>
              <a:buFontTx/>
              <a:buNone/>
              <a:defRPr sz="2000">
                <a:solidFill>
                  <a:srgbClr val="888888"/>
                </a:solidFill>
              </a:defRPr>
            </a:lvl3pPr>
            <a:lvl4pPr marL="0" indent="1371600">
              <a:spcBef>
                <a:spcPts val="400"/>
              </a:spcBef>
              <a:buSzTx/>
              <a:buFontTx/>
              <a:buNone/>
              <a:defRPr sz="2000">
                <a:solidFill>
                  <a:srgbClr val="888888"/>
                </a:solidFill>
              </a:defRPr>
            </a:lvl4pPr>
            <a:lvl5pPr marL="0" indent="1828800">
              <a:spcBef>
                <a:spcPts val="400"/>
              </a:spcBef>
              <a:buSzTx/>
              <a:buFontTx/>
              <a:buNone/>
              <a:defRPr sz="2000">
                <a:solidFill>
                  <a:srgbClr val="888888"/>
                </a:solidFill>
              </a:defRPr>
            </a:lvl5pPr>
          </a:lstStyle>
          <a:p>
            <a:r>
              <a:t>Body Level One</a:t>
            </a:r>
          </a:p>
          <a:p>
            <a:pPr lvl="1"/>
            <a:r>
              <a:t>Body Level Two</a:t>
            </a:r>
          </a:p>
          <a:p>
            <a:pPr lvl="2"/>
            <a:r>
              <a:t>Body Level Three</a:t>
            </a:r>
          </a:p>
          <a:p>
            <a:pPr lvl="3"/>
            <a:r>
              <a:t>Body Level Four</a:t>
            </a:r>
          </a:p>
          <a:p>
            <a:pPr lvl="4"/>
            <a:r>
              <a:t>Body Level Five</a:t>
            </a:r>
          </a:p>
        </p:txBody>
      </p:sp>
      <p:sp>
        <p:nvSpPr>
          <p:cNvPr id="31" name="Shape 31"/>
          <p:cNvSpPr txBox="1">
            <a:spLocks noGrp="1"/>
          </p:cNvSpPr>
          <p:nvPr>
            <p:ph type="sldNum" sz="quarter" idx="2"/>
          </p:nvPr>
        </p:nvSpPr>
        <p:spPr>
          <a:prstGeom prst="rect">
            <a:avLst/>
          </a:prstGeom>
        </p:spPr>
        <p:txBody>
          <a:bodyPr/>
          <a:lstStyle/>
          <a:p>
            <a:fld id="{86CB4B4D-7CA3-9044-876B-883B54F8677D}" type="slidenum">
              <a:rPr/>
              <a:pPr/>
              <a:t>‹N°›</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Deux contenus">
    <p:spTree>
      <p:nvGrpSpPr>
        <p:cNvPr id="1" name=""/>
        <p:cNvGrpSpPr/>
        <p:nvPr/>
      </p:nvGrpSpPr>
      <p:grpSpPr>
        <a:xfrm>
          <a:off x="0" y="0"/>
          <a:ext cx="0" cy="0"/>
          <a:chOff x="0" y="0"/>
          <a:chExt cx="0" cy="0"/>
        </a:xfrm>
      </p:grpSpPr>
      <p:sp>
        <p:nvSpPr>
          <p:cNvPr id="38" name="Shape 38"/>
          <p:cNvSpPr txBox="1">
            <a:spLocks noGrp="1"/>
          </p:cNvSpPr>
          <p:nvPr>
            <p:ph type="title"/>
          </p:nvPr>
        </p:nvSpPr>
        <p:spPr>
          <a:prstGeom prst="rect">
            <a:avLst/>
          </a:prstGeom>
        </p:spPr>
        <p:txBody>
          <a:bodyPr/>
          <a:lstStyle/>
          <a:p>
            <a:r>
              <a:t>Title Text</a:t>
            </a:r>
          </a:p>
        </p:txBody>
      </p:sp>
      <p:sp>
        <p:nvSpPr>
          <p:cNvPr id="39" name="Shape 39"/>
          <p:cNvSpPr txBox="1">
            <a:spLocks noGrp="1"/>
          </p:cNvSpPr>
          <p:nvPr>
            <p:ph type="body" sz="half" idx="1"/>
          </p:nvPr>
        </p:nvSpPr>
        <p:spPr>
          <a:xfrm>
            <a:off x="457200" y="1600200"/>
            <a:ext cx="4038600" cy="4525963"/>
          </a:xfrm>
          <a:prstGeom prst="rect">
            <a:avLst/>
          </a:prstGeom>
        </p:spPr>
        <p:txBody>
          <a:bodyPr/>
          <a:lstStyle>
            <a:lvl1pPr>
              <a:spcBef>
                <a:spcPts val="600"/>
              </a:spcBef>
              <a:defRPr sz="2800"/>
            </a:lvl1pPr>
            <a:lvl2pPr marL="790575" indent="-333375">
              <a:spcBef>
                <a:spcPts val="600"/>
              </a:spcBef>
              <a:defRPr sz="2800"/>
            </a:lvl2pPr>
            <a:lvl3pPr marL="1234439" indent="-320039">
              <a:spcBef>
                <a:spcPts val="600"/>
              </a:spcBef>
              <a:defRPr sz="2800"/>
            </a:lvl3pPr>
            <a:lvl4pPr marL="1727200" indent="-355600">
              <a:spcBef>
                <a:spcPts val="600"/>
              </a:spcBef>
              <a:defRPr sz="2800"/>
            </a:lvl4pPr>
            <a:lvl5pPr marL="2184400" indent="-355600">
              <a:spcBef>
                <a:spcPts val="600"/>
              </a:spcBef>
              <a:defRPr sz="2800"/>
            </a:lvl5pPr>
          </a:lstStyle>
          <a:p>
            <a:r>
              <a:t>Body Level One</a:t>
            </a:r>
          </a:p>
          <a:p>
            <a:pPr lvl="1"/>
            <a:r>
              <a:t>Body Level Two</a:t>
            </a:r>
          </a:p>
          <a:p>
            <a:pPr lvl="2"/>
            <a:r>
              <a:t>Body Level Three</a:t>
            </a:r>
          </a:p>
          <a:p>
            <a:pPr lvl="3"/>
            <a:r>
              <a:t>Body Level Four</a:t>
            </a:r>
          </a:p>
          <a:p>
            <a:pPr lvl="4"/>
            <a:r>
              <a:t>Body Level Five</a:t>
            </a:r>
          </a:p>
        </p:txBody>
      </p:sp>
      <p:sp>
        <p:nvSpPr>
          <p:cNvPr id="40" name="Shape 40"/>
          <p:cNvSpPr txBox="1">
            <a:spLocks noGrp="1"/>
          </p:cNvSpPr>
          <p:nvPr>
            <p:ph type="sldNum" sz="quarter" idx="2"/>
          </p:nvPr>
        </p:nvSpPr>
        <p:spPr>
          <a:prstGeom prst="rect">
            <a:avLst/>
          </a:prstGeom>
        </p:spPr>
        <p:txBody>
          <a:bodyPr/>
          <a:lstStyle/>
          <a:p>
            <a:fld id="{86CB4B4D-7CA3-9044-876B-883B54F8677D}" type="slidenum">
              <a:rPr/>
              <a:pPr/>
              <a:t>‹N°›</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Comparaison">
    <p:spTree>
      <p:nvGrpSpPr>
        <p:cNvPr id="1" name=""/>
        <p:cNvGrpSpPr/>
        <p:nvPr/>
      </p:nvGrpSpPr>
      <p:grpSpPr>
        <a:xfrm>
          <a:off x="0" y="0"/>
          <a:ext cx="0" cy="0"/>
          <a:chOff x="0" y="0"/>
          <a:chExt cx="0" cy="0"/>
        </a:xfrm>
      </p:grpSpPr>
      <p:sp>
        <p:nvSpPr>
          <p:cNvPr id="47" name="Shape 47"/>
          <p:cNvSpPr txBox="1">
            <a:spLocks noGrp="1"/>
          </p:cNvSpPr>
          <p:nvPr>
            <p:ph type="title"/>
          </p:nvPr>
        </p:nvSpPr>
        <p:spPr>
          <a:prstGeom prst="rect">
            <a:avLst/>
          </a:prstGeom>
        </p:spPr>
        <p:txBody>
          <a:bodyPr/>
          <a:lstStyle/>
          <a:p>
            <a:r>
              <a:t>Title Text</a:t>
            </a:r>
          </a:p>
        </p:txBody>
      </p:sp>
      <p:sp>
        <p:nvSpPr>
          <p:cNvPr id="48" name="Shape 48"/>
          <p:cNvSpPr txBox="1">
            <a:spLocks noGrp="1"/>
          </p:cNvSpPr>
          <p:nvPr>
            <p:ph type="body" sz="quarter" idx="1"/>
          </p:nvPr>
        </p:nvSpPr>
        <p:spPr>
          <a:xfrm>
            <a:off x="457200" y="1535112"/>
            <a:ext cx="4040188" cy="639763"/>
          </a:xfrm>
          <a:prstGeom prst="rect">
            <a:avLst/>
          </a:prstGeom>
        </p:spPr>
        <p:txBody>
          <a:bodyPr anchor="b"/>
          <a:lstStyle>
            <a:lvl1pPr marL="0" indent="0">
              <a:spcBef>
                <a:spcPts val="500"/>
              </a:spcBef>
              <a:buSzTx/>
              <a:buFontTx/>
              <a:buNone/>
              <a:defRPr sz="2400" b="1"/>
            </a:lvl1pPr>
            <a:lvl2pPr marL="0" indent="457200">
              <a:spcBef>
                <a:spcPts val="500"/>
              </a:spcBef>
              <a:buSzTx/>
              <a:buFontTx/>
              <a:buNone/>
              <a:defRPr sz="2400" b="1"/>
            </a:lvl2pPr>
            <a:lvl3pPr marL="0" indent="914400">
              <a:spcBef>
                <a:spcPts val="500"/>
              </a:spcBef>
              <a:buSzTx/>
              <a:buFontTx/>
              <a:buNone/>
              <a:defRPr sz="2400" b="1"/>
            </a:lvl3pPr>
            <a:lvl4pPr marL="0" indent="1371600">
              <a:spcBef>
                <a:spcPts val="500"/>
              </a:spcBef>
              <a:buSzTx/>
              <a:buFontTx/>
              <a:buNone/>
              <a:defRPr sz="2400" b="1"/>
            </a:lvl4pPr>
            <a:lvl5pPr marL="0" indent="1828800">
              <a:spcBef>
                <a:spcPts val="500"/>
              </a:spcBef>
              <a:buSzTx/>
              <a:buFontTx/>
              <a:buNone/>
              <a:defRPr sz="2400" b="1"/>
            </a:lvl5pPr>
          </a:lstStyle>
          <a:p>
            <a:r>
              <a:t>Body Level One</a:t>
            </a:r>
          </a:p>
          <a:p>
            <a:pPr lvl="1"/>
            <a:r>
              <a:t>Body Level Two</a:t>
            </a:r>
          </a:p>
          <a:p>
            <a:pPr lvl="2"/>
            <a:r>
              <a:t>Body Level Three</a:t>
            </a:r>
          </a:p>
          <a:p>
            <a:pPr lvl="3"/>
            <a:r>
              <a:t>Body Level Four</a:t>
            </a:r>
          </a:p>
          <a:p>
            <a:pPr lvl="4"/>
            <a:r>
              <a:t>Body Level Five</a:t>
            </a:r>
          </a:p>
        </p:txBody>
      </p:sp>
      <p:sp>
        <p:nvSpPr>
          <p:cNvPr id="49" name="Espace réservé du texte 4"/>
          <p:cNvSpPr>
            <a:spLocks noGrp="1"/>
          </p:cNvSpPr>
          <p:nvPr>
            <p:ph type="body" sz="quarter" idx="13"/>
          </p:nvPr>
        </p:nvSpPr>
        <p:spPr>
          <a:xfrm>
            <a:off x="4645025" y="1535112"/>
            <a:ext cx="4041775" cy="639763"/>
          </a:xfrm>
          <a:prstGeom prst="rect">
            <a:avLst/>
          </a:prstGeom>
        </p:spPr>
        <p:txBody>
          <a:bodyPr anchor="b"/>
          <a:lstStyle/>
          <a:p>
            <a:pPr marL="0" indent="0">
              <a:spcBef>
                <a:spcPts val="500"/>
              </a:spcBef>
              <a:buSzTx/>
              <a:buFontTx/>
              <a:buNone/>
              <a:defRPr sz="2400" b="1"/>
            </a:pPr>
            <a:endParaRPr/>
          </a:p>
        </p:txBody>
      </p:sp>
      <p:sp>
        <p:nvSpPr>
          <p:cNvPr id="50" name="Shape 50"/>
          <p:cNvSpPr txBox="1">
            <a:spLocks noGrp="1"/>
          </p:cNvSpPr>
          <p:nvPr>
            <p:ph type="sldNum" sz="quarter" idx="2"/>
          </p:nvPr>
        </p:nvSpPr>
        <p:spPr>
          <a:prstGeom prst="rect">
            <a:avLst/>
          </a:prstGeom>
        </p:spPr>
        <p:txBody>
          <a:bodyPr/>
          <a:lstStyle/>
          <a:p>
            <a:fld id="{86CB4B4D-7CA3-9044-876B-883B54F8677D}" type="slidenum">
              <a:rPr/>
              <a:pPr/>
              <a:t>‹N°›</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re seul">
    <p:spTree>
      <p:nvGrpSpPr>
        <p:cNvPr id="1" name=""/>
        <p:cNvGrpSpPr/>
        <p:nvPr/>
      </p:nvGrpSpPr>
      <p:grpSpPr>
        <a:xfrm>
          <a:off x="0" y="0"/>
          <a:ext cx="0" cy="0"/>
          <a:chOff x="0" y="0"/>
          <a:chExt cx="0" cy="0"/>
        </a:xfrm>
      </p:grpSpPr>
      <p:sp>
        <p:nvSpPr>
          <p:cNvPr id="57" name="Shape 57"/>
          <p:cNvSpPr txBox="1">
            <a:spLocks noGrp="1"/>
          </p:cNvSpPr>
          <p:nvPr>
            <p:ph type="title"/>
          </p:nvPr>
        </p:nvSpPr>
        <p:spPr>
          <a:prstGeom prst="rect">
            <a:avLst/>
          </a:prstGeom>
        </p:spPr>
        <p:txBody>
          <a:bodyPr/>
          <a:lstStyle/>
          <a:p>
            <a:r>
              <a:t>Title Text</a:t>
            </a:r>
          </a:p>
        </p:txBody>
      </p:sp>
      <p:sp>
        <p:nvSpPr>
          <p:cNvPr id="58" name="Shape 58"/>
          <p:cNvSpPr txBox="1">
            <a:spLocks noGrp="1"/>
          </p:cNvSpPr>
          <p:nvPr>
            <p:ph type="sldNum" sz="quarter" idx="2"/>
          </p:nvPr>
        </p:nvSpPr>
        <p:spPr>
          <a:prstGeom prst="rect">
            <a:avLst/>
          </a:prstGeom>
        </p:spPr>
        <p:txBody>
          <a:bodyPr/>
          <a:lstStyle/>
          <a:p>
            <a:fld id="{86CB4B4D-7CA3-9044-876B-883B54F8677D}" type="slidenum">
              <a:rPr/>
              <a:pPr/>
              <a:t>‹N°›</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Vide">
    <p:spTree>
      <p:nvGrpSpPr>
        <p:cNvPr id="1" name=""/>
        <p:cNvGrpSpPr/>
        <p:nvPr/>
      </p:nvGrpSpPr>
      <p:grpSpPr>
        <a:xfrm>
          <a:off x="0" y="0"/>
          <a:ext cx="0" cy="0"/>
          <a:chOff x="0" y="0"/>
          <a:chExt cx="0" cy="0"/>
        </a:xfrm>
      </p:grpSpPr>
      <p:sp>
        <p:nvSpPr>
          <p:cNvPr id="65" name="Shape 65"/>
          <p:cNvSpPr txBox="1">
            <a:spLocks noGrp="1"/>
          </p:cNvSpPr>
          <p:nvPr>
            <p:ph type="sldNum" sz="quarter" idx="2"/>
          </p:nvPr>
        </p:nvSpPr>
        <p:spPr>
          <a:prstGeom prst="rect">
            <a:avLst/>
          </a:prstGeom>
        </p:spPr>
        <p:txBody>
          <a:bodyPr/>
          <a:lstStyle/>
          <a:p>
            <a:fld id="{86CB4B4D-7CA3-9044-876B-883B54F8677D}" type="slidenum">
              <a:rPr/>
              <a:pPr/>
              <a:t>‹N°›</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Contenu avec légende">
    <p:spTree>
      <p:nvGrpSpPr>
        <p:cNvPr id="1" name=""/>
        <p:cNvGrpSpPr/>
        <p:nvPr/>
      </p:nvGrpSpPr>
      <p:grpSpPr>
        <a:xfrm>
          <a:off x="0" y="0"/>
          <a:ext cx="0" cy="0"/>
          <a:chOff x="0" y="0"/>
          <a:chExt cx="0" cy="0"/>
        </a:xfrm>
      </p:grpSpPr>
      <p:sp>
        <p:nvSpPr>
          <p:cNvPr id="72" name="Shape 72"/>
          <p:cNvSpPr txBox="1">
            <a:spLocks noGrp="1"/>
          </p:cNvSpPr>
          <p:nvPr>
            <p:ph type="title"/>
          </p:nvPr>
        </p:nvSpPr>
        <p:spPr>
          <a:xfrm>
            <a:off x="457200" y="273050"/>
            <a:ext cx="3008314" cy="1162050"/>
          </a:xfrm>
          <a:prstGeom prst="rect">
            <a:avLst/>
          </a:prstGeom>
        </p:spPr>
        <p:txBody>
          <a:bodyPr anchor="b"/>
          <a:lstStyle>
            <a:lvl1pPr>
              <a:defRPr sz="2000">
                <a:latin typeface="+mn-lt"/>
                <a:ea typeface="+mn-ea"/>
                <a:cs typeface="+mn-cs"/>
                <a:sym typeface="Calibri"/>
              </a:defRPr>
            </a:lvl1pPr>
          </a:lstStyle>
          <a:p>
            <a:r>
              <a:t>Title Text</a:t>
            </a:r>
          </a:p>
        </p:txBody>
      </p:sp>
      <p:sp>
        <p:nvSpPr>
          <p:cNvPr id="73" name="Shape 73"/>
          <p:cNvSpPr txBox="1">
            <a:spLocks noGrp="1"/>
          </p:cNvSpPr>
          <p:nvPr>
            <p:ph type="body" idx="1"/>
          </p:nvPr>
        </p:nvSpPr>
        <p:spPr>
          <a:xfrm>
            <a:off x="3575050" y="273050"/>
            <a:ext cx="5111750" cy="5853113"/>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74" name="Espace réservé du texte 3"/>
          <p:cNvSpPr>
            <a:spLocks noGrp="1"/>
          </p:cNvSpPr>
          <p:nvPr>
            <p:ph type="body" sz="half" idx="13"/>
          </p:nvPr>
        </p:nvSpPr>
        <p:spPr>
          <a:xfrm>
            <a:off x="457199" y="1435100"/>
            <a:ext cx="3008315" cy="4691063"/>
          </a:xfrm>
          <a:prstGeom prst="rect">
            <a:avLst/>
          </a:prstGeom>
        </p:spPr>
        <p:txBody>
          <a:bodyPr/>
          <a:lstStyle/>
          <a:p>
            <a:pPr marL="0" indent="0">
              <a:spcBef>
                <a:spcPts val="300"/>
              </a:spcBef>
              <a:buSzTx/>
              <a:buFontTx/>
              <a:buNone/>
              <a:defRPr sz="1400"/>
            </a:pPr>
            <a:endParaRPr/>
          </a:p>
        </p:txBody>
      </p:sp>
      <p:sp>
        <p:nvSpPr>
          <p:cNvPr id="75" name="Shape 75"/>
          <p:cNvSpPr txBox="1">
            <a:spLocks noGrp="1"/>
          </p:cNvSpPr>
          <p:nvPr>
            <p:ph type="sldNum" sz="quarter" idx="2"/>
          </p:nvPr>
        </p:nvSpPr>
        <p:spPr>
          <a:prstGeom prst="rect">
            <a:avLst/>
          </a:prstGeom>
        </p:spPr>
        <p:txBody>
          <a:bodyPr/>
          <a:lstStyle/>
          <a:p>
            <a:fld id="{86CB4B4D-7CA3-9044-876B-883B54F8677D}" type="slidenum">
              <a:rPr/>
              <a:pPr/>
              <a:t>‹N°›</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Image avec légende">
    <p:spTree>
      <p:nvGrpSpPr>
        <p:cNvPr id="1" name=""/>
        <p:cNvGrpSpPr/>
        <p:nvPr/>
      </p:nvGrpSpPr>
      <p:grpSpPr>
        <a:xfrm>
          <a:off x="0" y="0"/>
          <a:ext cx="0" cy="0"/>
          <a:chOff x="0" y="0"/>
          <a:chExt cx="0" cy="0"/>
        </a:xfrm>
      </p:grpSpPr>
      <p:sp>
        <p:nvSpPr>
          <p:cNvPr id="82" name="Shape 82"/>
          <p:cNvSpPr txBox="1">
            <a:spLocks noGrp="1"/>
          </p:cNvSpPr>
          <p:nvPr>
            <p:ph type="title"/>
          </p:nvPr>
        </p:nvSpPr>
        <p:spPr>
          <a:xfrm>
            <a:off x="1792288" y="4800600"/>
            <a:ext cx="5486401" cy="566738"/>
          </a:xfrm>
          <a:prstGeom prst="rect">
            <a:avLst/>
          </a:prstGeom>
        </p:spPr>
        <p:txBody>
          <a:bodyPr anchor="b"/>
          <a:lstStyle>
            <a:lvl1pPr>
              <a:defRPr sz="2000">
                <a:latin typeface="+mn-lt"/>
                <a:ea typeface="+mn-ea"/>
                <a:cs typeface="+mn-cs"/>
                <a:sym typeface="Calibri"/>
              </a:defRPr>
            </a:lvl1pPr>
          </a:lstStyle>
          <a:p>
            <a:r>
              <a:t>Title Text</a:t>
            </a:r>
          </a:p>
        </p:txBody>
      </p:sp>
      <p:sp>
        <p:nvSpPr>
          <p:cNvPr id="83" name="Espace réservé pour une image  2"/>
          <p:cNvSpPr>
            <a:spLocks noGrp="1"/>
          </p:cNvSpPr>
          <p:nvPr>
            <p:ph type="pic" sz="half" idx="13"/>
          </p:nvPr>
        </p:nvSpPr>
        <p:spPr>
          <a:xfrm>
            <a:off x="1792288" y="612775"/>
            <a:ext cx="5486401" cy="4114800"/>
          </a:xfrm>
          <a:prstGeom prst="rect">
            <a:avLst/>
          </a:prstGeom>
        </p:spPr>
        <p:txBody>
          <a:bodyPr lIns="91439" rIns="91439">
            <a:noAutofit/>
          </a:bodyPr>
          <a:lstStyle/>
          <a:p>
            <a:endParaRPr/>
          </a:p>
        </p:txBody>
      </p:sp>
      <p:sp>
        <p:nvSpPr>
          <p:cNvPr id="84" name="Shape 84"/>
          <p:cNvSpPr txBox="1">
            <a:spLocks noGrp="1"/>
          </p:cNvSpPr>
          <p:nvPr>
            <p:ph type="body" sz="quarter" idx="1"/>
          </p:nvPr>
        </p:nvSpPr>
        <p:spPr>
          <a:xfrm>
            <a:off x="1792288" y="5367337"/>
            <a:ext cx="5486401" cy="804863"/>
          </a:xfrm>
          <a:prstGeom prst="rect">
            <a:avLst/>
          </a:prstGeom>
        </p:spPr>
        <p:txBody>
          <a:bodyPr/>
          <a:lstStyle>
            <a:lvl1pPr marL="0" indent="0">
              <a:spcBef>
                <a:spcPts val="300"/>
              </a:spcBef>
              <a:buSzTx/>
              <a:buFontTx/>
              <a:buNone/>
              <a:defRPr sz="1400"/>
            </a:lvl1pPr>
            <a:lvl2pPr marL="0" indent="457200">
              <a:spcBef>
                <a:spcPts val="300"/>
              </a:spcBef>
              <a:buSzTx/>
              <a:buFontTx/>
              <a:buNone/>
              <a:defRPr sz="1400"/>
            </a:lvl2pPr>
            <a:lvl3pPr marL="0" indent="914400">
              <a:spcBef>
                <a:spcPts val="300"/>
              </a:spcBef>
              <a:buSzTx/>
              <a:buFontTx/>
              <a:buNone/>
              <a:defRPr sz="1400"/>
            </a:lvl3pPr>
            <a:lvl4pPr marL="0" indent="1371600">
              <a:spcBef>
                <a:spcPts val="300"/>
              </a:spcBef>
              <a:buSzTx/>
              <a:buFontTx/>
              <a:buNone/>
              <a:defRPr sz="1400"/>
            </a:lvl4pPr>
            <a:lvl5pPr marL="0" indent="1828800">
              <a:spcBef>
                <a:spcPts val="300"/>
              </a:spcBef>
              <a:buSzTx/>
              <a:buFontTx/>
              <a:buNone/>
              <a:defRPr sz="1400"/>
            </a:lvl5pPr>
          </a:lstStyle>
          <a:p>
            <a:r>
              <a:t>Body Level One</a:t>
            </a:r>
          </a:p>
          <a:p>
            <a:pPr lvl="1"/>
            <a:r>
              <a:t>Body Level Two</a:t>
            </a:r>
          </a:p>
          <a:p>
            <a:pPr lvl="2"/>
            <a:r>
              <a:t>Body Level Three</a:t>
            </a:r>
          </a:p>
          <a:p>
            <a:pPr lvl="3"/>
            <a:r>
              <a:t>Body Level Four</a:t>
            </a:r>
          </a:p>
          <a:p>
            <a:pPr lvl="4"/>
            <a:r>
              <a:t>Body Level Five</a:t>
            </a:r>
          </a:p>
        </p:txBody>
      </p:sp>
      <p:sp>
        <p:nvSpPr>
          <p:cNvPr id="85" name="Shape 85"/>
          <p:cNvSpPr txBox="1">
            <a:spLocks noGrp="1"/>
          </p:cNvSpPr>
          <p:nvPr>
            <p:ph type="sldNum" sz="quarter" idx="2"/>
          </p:nvPr>
        </p:nvSpPr>
        <p:spPr>
          <a:prstGeom prst="rect">
            <a:avLst/>
          </a:prstGeom>
        </p:spPr>
        <p:txBody>
          <a:bodyPr/>
          <a:lstStyle/>
          <a:p>
            <a:fld id="{86CB4B4D-7CA3-9044-876B-883B54F8677D}" type="slidenum">
              <a:rPr/>
              <a:pPr/>
              <a:t>‹N°›</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2"/>
          <p:cNvSpPr txBox="1">
            <a:spLocks noGrp="1"/>
          </p:cNvSpPr>
          <p:nvPr>
            <p:ph type="title"/>
          </p:nvPr>
        </p:nvSpPr>
        <p:spPr>
          <a:xfrm>
            <a:off x="457200" y="274638"/>
            <a:ext cx="8229600" cy="1143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normAutofit/>
          </a:bodyPr>
          <a:lstStyle/>
          <a:p>
            <a:r>
              <a:t>Title Text</a:t>
            </a:r>
          </a:p>
        </p:txBody>
      </p:sp>
      <p:sp>
        <p:nvSpPr>
          <p:cNvPr id="3" name="Shape 3"/>
          <p:cNvSpPr txBox="1">
            <a:spLocks noGrp="1"/>
          </p:cNvSpPr>
          <p:nvPr>
            <p:ph type="body" idx="1"/>
          </p:nvPr>
        </p:nvSpPr>
        <p:spPr>
          <a:xfrm>
            <a:off x="457200" y="1600200"/>
            <a:ext cx="8229600" cy="45259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ormAutofit/>
          </a:bodyPr>
          <a:lstStyle/>
          <a:p>
            <a:r>
              <a:t>Body Level One</a:t>
            </a:r>
          </a:p>
          <a:p>
            <a:pPr lvl="1"/>
            <a:r>
              <a:t>Body Level Two</a:t>
            </a:r>
          </a:p>
          <a:p>
            <a:pPr lvl="2"/>
            <a:r>
              <a:t>Body Level Three</a:t>
            </a:r>
          </a:p>
          <a:p>
            <a:pPr lvl="3"/>
            <a:r>
              <a:t>Body Level Four</a:t>
            </a:r>
          </a:p>
          <a:p>
            <a:pPr lvl="4"/>
            <a:r>
              <a:t>Body Level Five</a:t>
            </a:r>
          </a:p>
        </p:txBody>
      </p:sp>
      <p:sp>
        <p:nvSpPr>
          <p:cNvPr id="4" name="Shape 4"/>
          <p:cNvSpPr txBox="1">
            <a:spLocks noGrp="1"/>
          </p:cNvSpPr>
          <p:nvPr>
            <p:ph type="sldNum" sz="quarter" idx="2"/>
          </p:nvPr>
        </p:nvSpPr>
        <p:spPr>
          <a:xfrm>
            <a:off x="8422818" y="6404292"/>
            <a:ext cx="263983" cy="269241"/>
          </a:xfrm>
          <a:prstGeom prst="rect">
            <a:avLst/>
          </a:prstGeom>
          <a:ln w="12700">
            <a:miter lim="400000"/>
          </a:ln>
        </p:spPr>
        <p:txBody>
          <a:bodyPr wrap="none" lIns="45719" rIns="45719" anchor="ctr">
            <a:spAutoFit/>
          </a:bodyPr>
          <a:lstStyle>
            <a:lvl1pPr algn="r">
              <a:defRPr sz="1200">
                <a:solidFill>
                  <a:srgbClr val="888888"/>
                </a:solidFill>
              </a:defRPr>
            </a:lvl1pPr>
          </a:lstStyle>
          <a:p>
            <a:fld id="{86CB4B4D-7CA3-9044-876B-883B54F8677D}" type="slidenum">
              <a:rPr/>
              <a:pPr/>
              <a:t>‹N°›</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ransition spd="med"/>
  <p:txStyles>
    <p:titleStyle>
      <a:lvl1pPr marL="0" marR="0" indent="0" algn="l" defTabSz="914400" rtl="0" latinLnBrk="0">
        <a:lnSpc>
          <a:spcPct val="100000"/>
        </a:lnSpc>
        <a:spcBef>
          <a:spcPts val="0"/>
        </a:spcBef>
        <a:spcAft>
          <a:spcPts val="0"/>
        </a:spcAft>
        <a:buClrTx/>
        <a:buSzTx/>
        <a:buFontTx/>
        <a:buNone/>
        <a:tabLst/>
        <a:defRPr sz="2700" b="1" i="0" u="none" strike="noStrike" cap="none" spc="0" baseline="0">
          <a:ln>
            <a:noFill/>
          </a:ln>
          <a:solidFill>
            <a:srgbClr val="000000"/>
          </a:solidFill>
          <a:uFillTx/>
          <a:latin typeface="Times New Roman"/>
          <a:ea typeface="Times New Roman"/>
          <a:cs typeface="Times New Roman"/>
          <a:sym typeface="Times New Roman"/>
        </a:defRPr>
      </a:lvl1pPr>
      <a:lvl2pPr marL="0" marR="0" indent="0" algn="l" defTabSz="914400" rtl="0" latinLnBrk="0">
        <a:lnSpc>
          <a:spcPct val="100000"/>
        </a:lnSpc>
        <a:spcBef>
          <a:spcPts val="0"/>
        </a:spcBef>
        <a:spcAft>
          <a:spcPts val="0"/>
        </a:spcAft>
        <a:buClrTx/>
        <a:buSzTx/>
        <a:buFontTx/>
        <a:buNone/>
        <a:tabLst/>
        <a:defRPr sz="2700" b="1" i="0" u="none" strike="noStrike" cap="none" spc="0" baseline="0">
          <a:ln>
            <a:noFill/>
          </a:ln>
          <a:solidFill>
            <a:srgbClr val="000000"/>
          </a:solidFill>
          <a:uFillTx/>
          <a:latin typeface="Times New Roman"/>
          <a:ea typeface="Times New Roman"/>
          <a:cs typeface="Times New Roman"/>
          <a:sym typeface="Times New Roman"/>
        </a:defRPr>
      </a:lvl2pPr>
      <a:lvl3pPr marL="0" marR="0" indent="0" algn="l" defTabSz="914400" rtl="0" latinLnBrk="0">
        <a:lnSpc>
          <a:spcPct val="100000"/>
        </a:lnSpc>
        <a:spcBef>
          <a:spcPts val="0"/>
        </a:spcBef>
        <a:spcAft>
          <a:spcPts val="0"/>
        </a:spcAft>
        <a:buClrTx/>
        <a:buSzTx/>
        <a:buFontTx/>
        <a:buNone/>
        <a:tabLst/>
        <a:defRPr sz="2700" b="1" i="0" u="none" strike="noStrike" cap="none" spc="0" baseline="0">
          <a:ln>
            <a:noFill/>
          </a:ln>
          <a:solidFill>
            <a:srgbClr val="000000"/>
          </a:solidFill>
          <a:uFillTx/>
          <a:latin typeface="Times New Roman"/>
          <a:ea typeface="Times New Roman"/>
          <a:cs typeface="Times New Roman"/>
          <a:sym typeface="Times New Roman"/>
        </a:defRPr>
      </a:lvl3pPr>
      <a:lvl4pPr marL="0" marR="0" indent="0" algn="l" defTabSz="914400" rtl="0" latinLnBrk="0">
        <a:lnSpc>
          <a:spcPct val="100000"/>
        </a:lnSpc>
        <a:spcBef>
          <a:spcPts val="0"/>
        </a:spcBef>
        <a:spcAft>
          <a:spcPts val="0"/>
        </a:spcAft>
        <a:buClrTx/>
        <a:buSzTx/>
        <a:buFontTx/>
        <a:buNone/>
        <a:tabLst/>
        <a:defRPr sz="2700" b="1" i="0" u="none" strike="noStrike" cap="none" spc="0" baseline="0">
          <a:ln>
            <a:noFill/>
          </a:ln>
          <a:solidFill>
            <a:srgbClr val="000000"/>
          </a:solidFill>
          <a:uFillTx/>
          <a:latin typeface="Times New Roman"/>
          <a:ea typeface="Times New Roman"/>
          <a:cs typeface="Times New Roman"/>
          <a:sym typeface="Times New Roman"/>
        </a:defRPr>
      </a:lvl4pPr>
      <a:lvl5pPr marL="0" marR="0" indent="0" algn="l" defTabSz="914400" rtl="0" latinLnBrk="0">
        <a:lnSpc>
          <a:spcPct val="100000"/>
        </a:lnSpc>
        <a:spcBef>
          <a:spcPts val="0"/>
        </a:spcBef>
        <a:spcAft>
          <a:spcPts val="0"/>
        </a:spcAft>
        <a:buClrTx/>
        <a:buSzTx/>
        <a:buFontTx/>
        <a:buNone/>
        <a:tabLst/>
        <a:defRPr sz="2700" b="1" i="0" u="none" strike="noStrike" cap="none" spc="0" baseline="0">
          <a:ln>
            <a:noFill/>
          </a:ln>
          <a:solidFill>
            <a:srgbClr val="000000"/>
          </a:solidFill>
          <a:uFillTx/>
          <a:latin typeface="Times New Roman"/>
          <a:ea typeface="Times New Roman"/>
          <a:cs typeface="Times New Roman"/>
          <a:sym typeface="Times New Roman"/>
        </a:defRPr>
      </a:lvl5pPr>
      <a:lvl6pPr marL="0" marR="0" indent="0" algn="l" defTabSz="914400" rtl="0" latinLnBrk="0">
        <a:lnSpc>
          <a:spcPct val="100000"/>
        </a:lnSpc>
        <a:spcBef>
          <a:spcPts val="0"/>
        </a:spcBef>
        <a:spcAft>
          <a:spcPts val="0"/>
        </a:spcAft>
        <a:buClrTx/>
        <a:buSzTx/>
        <a:buFontTx/>
        <a:buNone/>
        <a:tabLst/>
        <a:defRPr sz="2700" b="1" i="0" u="none" strike="noStrike" cap="none" spc="0" baseline="0">
          <a:ln>
            <a:noFill/>
          </a:ln>
          <a:solidFill>
            <a:srgbClr val="000000"/>
          </a:solidFill>
          <a:uFillTx/>
          <a:latin typeface="Times New Roman"/>
          <a:ea typeface="Times New Roman"/>
          <a:cs typeface="Times New Roman"/>
          <a:sym typeface="Times New Roman"/>
        </a:defRPr>
      </a:lvl6pPr>
      <a:lvl7pPr marL="0" marR="0" indent="0" algn="l" defTabSz="914400" rtl="0" latinLnBrk="0">
        <a:lnSpc>
          <a:spcPct val="100000"/>
        </a:lnSpc>
        <a:spcBef>
          <a:spcPts val="0"/>
        </a:spcBef>
        <a:spcAft>
          <a:spcPts val="0"/>
        </a:spcAft>
        <a:buClrTx/>
        <a:buSzTx/>
        <a:buFontTx/>
        <a:buNone/>
        <a:tabLst/>
        <a:defRPr sz="2700" b="1" i="0" u="none" strike="noStrike" cap="none" spc="0" baseline="0">
          <a:ln>
            <a:noFill/>
          </a:ln>
          <a:solidFill>
            <a:srgbClr val="000000"/>
          </a:solidFill>
          <a:uFillTx/>
          <a:latin typeface="Times New Roman"/>
          <a:ea typeface="Times New Roman"/>
          <a:cs typeface="Times New Roman"/>
          <a:sym typeface="Times New Roman"/>
        </a:defRPr>
      </a:lvl7pPr>
      <a:lvl8pPr marL="0" marR="0" indent="0" algn="l" defTabSz="914400" rtl="0" latinLnBrk="0">
        <a:lnSpc>
          <a:spcPct val="100000"/>
        </a:lnSpc>
        <a:spcBef>
          <a:spcPts val="0"/>
        </a:spcBef>
        <a:spcAft>
          <a:spcPts val="0"/>
        </a:spcAft>
        <a:buClrTx/>
        <a:buSzTx/>
        <a:buFontTx/>
        <a:buNone/>
        <a:tabLst/>
        <a:defRPr sz="2700" b="1" i="0" u="none" strike="noStrike" cap="none" spc="0" baseline="0">
          <a:ln>
            <a:noFill/>
          </a:ln>
          <a:solidFill>
            <a:srgbClr val="000000"/>
          </a:solidFill>
          <a:uFillTx/>
          <a:latin typeface="Times New Roman"/>
          <a:ea typeface="Times New Roman"/>
          <a:cs typeface="Times New Roman"/>
          <a:sym typeface="Times New Roman"/>
        </a:defRPr>
      </a:lvl8pPr>
      <a:lvl9pPr marL="0" marR="0" indent="0" algn="l" defTabSz="914400" rtl="0" latinLnBrk="0">
        <a:lnSpc>
          <a:spcPct val="100000"/>
        </a:lnSpc>
        <a:spcBef>
          <a:spcPts val="0"/>
        </a:spcBef>
        <a:spcAft>
          <a:spcPts val="0"/>
        </a:spcAft>
        <a:buClrTx/>
        <a:buSzTx/>
        <a:buFontTx/>
        <a:buNone/>
        <a:tabLst/>
        <a:defRPr sz="2700" b="1" i="0" u="none" strike="noStrike" cap="none" spc="0" baseline="0">
          <a:ln>
            <a:noFill/>
          </a:ln>
          <a:solidFill>
            <a:srgbClr val="000000"/>
          </a:solidFill>
          <a:uFillTx/>
          <a:latin typeface="Times New Roman"/>
          <a:ea typeface="Times New Roman"/>
          <a:cs typeface="Times New Roman"/>
          <a:sym typeface="Times New Roman"/>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2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xml"/><Relationship Id="rId5" Type="http://schemas.openxmlformats.org/officeDocument/2006/relationships/image" Target="../media/image39.png"/><Relationship Id="rId4" Type="http://schemas.openxmlformats.org/officeDocument/2006/relationships/image" Target="../media/image38.png"/></Relationships>
</file>

<file path=ppt/slides/_rels/slide2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xml"/><Relationship Id="rId4" Type="http://schemas.openxmlformats.org/officeDocument/2006/relationships/image" Target="../media/image43.png"/></Relationships>
</file>

<file path=ppt/slides/_rels/slide30.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Titre 1"/>
          <p:cNvSpPr txBox="1">
            <a:spLocks noGrp="1"/>
          </p:cNvSpPr>
          <p:nvPr>
            <p:ph type="ctrTitle"/>
          </p:nvPr>
        </p:nvSpPr>
        <p:spPr>
          <a:xfrm>
            <a:off x="321438" y="1309969"/>
            <a:ext cx="8242368" cy="3909226"/>
          </a:xfrm>
          <a:prstGeom prst="rect">
            <a:avLst/>
          </a:prstGeom>
          <a:solidFill>
            <a:srgbClr val="FFFF00"/>
          </a:solidFill>
          <a:ln w="25400">
            <a:solidFill>
              <a:schemeClr val="accent1"/>
            </a:solidFill>
            <a:round/>
          </a:ln>
        </p:spPr>
        <p:txBody>
          <a:bodyPr>
            <a:normAutofit fontScale="90000"/>
          </a:bodyPr>
          <a:lstStyle/>
          <a:p>
            <a:pPr algn="ctr" defTabSz="374904">
              <a:defRPr sz="4387"/>
            </a:pPr>
            <a:endParaRPr/>
          </a:p>
          <a:p>
            <a:pPr algn="ctr" defTabSz="374904">
              <a:defRPr sz="4387"/>
            </a:pPr>
            <a:r>
              <a:rPr cap="all"/>
              <a:t>L’organe de vision</a:t>
            </a:r>
          </a:p>
          <a:p>
            <a:pPr algn="ctr" defTabSz="374904">
              <a:defRPr sz="4387"/>
            </a:pPr>
            <a:r>
              <a:rPr cap="all"/>
              <a:t>- L’œil -</a:t>
            </a:r>
            <a:r>
              <a:t/>
            </a:r>
            <a:br/>
            <a:r>
              <a:t/>
            </a:r>
            <a:br/>
            <a:r>
              <a:t/>
            </a:r>
            <a:br/>
            <a:r>
              <a:rPr sz="1803"/>
              <a:t>Dr N .Messala</a:t>
            </a:r>
            <a:br>
              <a:rPr sz="1803"/>
            </a:br>
            <a:endParaRPr sz="1803"/>
          </a:p>
        </p:txBody>
      </p:sp>
    </p:spTree>
  </p:cSld>
  <p:clrMapOvr>
    <a:masterClrMapping/>
  </p:clrMapOvr>
  <p:transition spd="med"/>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Shape 96"/>
          <p:cNvSpPr txBox="1"/>
          <p:nvPr/>
        </p:nvSpPr>
        <p:spPr>
          <a:xfrm>
            <a:off x="190832" y="332678"/>
            <a:ext cx="8496903" cy="236395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just" defTabSz="457200">
              <a:defRPr sz="2500">
                <a:latin typeface="Times New Roman"/>
                <a:ea typeface="Times New Roman"/>
                <a:cs typeface="Times New Roman"/>
                <a:sym typeface="Times New Roman"/>
              </a:defRPr>
            </a:pPr>
            <a:r>
              <a:t>  </a:t>
            </a:r>
            <a:r>
              <a:rPr sz="3000"/>
              <a:t>La </a:t>
            </a:r>
            <a:r>
              <a:rPr sz="3000" b="1">
                <a:solidFill>
                  <a:srgbClr val="FF4015"/>
                </a:solidFill>
              </a:rPr>
              <a:t>vision</a:t>
            </a:r>
            <a:r>
              <a:rPr sz="3000"/>
              <a:t> est le sens le plus développé chez L'être humain </a:t>
            </a:r>
            <a:r>
              <a:t>: on estime que</a:t>
            </a:r>
          </a:p>
          <a:p>
            <a:pPr marL="1012657" lvl="2" indent="-250657" algn="just" defTabSz="457200">
              <a:buSzPct val="100000"/>
              <a:buChar char="•"/>
              <a:defRPr sz="2500">
                <a:latin typeface="Times New Roman"/>
                <a:ea typeface="Times New Roman"/>
                <a:cs typeface="Times New Roman"/>
                <a:sym typeface="Times New Roman"/>
              </a:defRPr>
            </a:pPr>
            <a:r>
              <a:t> 70 % des récepteurs sensoriels de l'organisme sont situés dans les yeux</a:t>
            </a:r>
          </a:p>
          <a:p>
            <a:pPr marL="1012657" lvl="2" indent="-250657" algn="just" defTabSz="457200">
              <a:buSzPct val="100000"/>
              <a:buChar char="•"/>
              <a:defRPr sz="2500">
                <a:latin typeface="Times New Roman"/>
                <a:ea typeface="Times New Roman"/>
                <a:cs typeface="Times New Roman"/>
                <a:sym typeface="Times New Roman"/>
              </a:defRPr>
            </a:pPr>
            <a:r>
              <a:t>près de la moitié du cortex cérébral participe à un aspect ou à autres du traitement de l'information visuelle.</a:t>
            </a:r>
          </a:p>
        </p:txBody>
      </p:sp>
      <p:sp>
        <p:nvSpPr>
          <p:cNvPr id="97" name="Shape 97"/>
          <p:cNvSpPr txBox="1"/>
          <p:nvPr/>
        </p:nvSpPr>
        <p:spPr>
          <a:xfrm>
            <a:off x="409935" y="2815177"/>
            <a:ext cx="8324130" cy="1601414"/>
          </a:xfrm>
          <a:prstGeom prst="rect">
            <a:avLst/>
          </a:prstGeom>
          <a:solidFill>
            <a:schemeClr val="accent1">
              <a:lumOff val="23725"/>
            </a:schemeClr>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gn="just" defTabSz="457200">
              <a:defRPr sz="2600">
                <a:latin typeface="Times New Roman"/>
                <a:ea typeface="Times New Roman"/>
                <a:cs typeface="Times New Roman"/>
                <a:sym typeface="Times New Roman"/>
              </a:defRPr>
            </a:lvl1pPr>
          </a:lstStyle>
          <a:p>
            <a:r>
              <a:t>    Les cellules réceptrices de l'œil (photorécepteurs) captent et encodent par transduction la lumière qui pénètre dans l’œil, le cerveau interprète ces signaux et forme les images du monde qui nous entoure.</a:t>
            </a:r>
          </a:p>
        </p:txBody>
      </p:sp>
      <p:sp>
        <p:nvSpPr>
          <p:cNvPr id="98" name="Shape 98"/>
          <p:cNvSpPr txBox="1"/>
          <p:nvPr/>
        </p:nvSpPr>
        <p:spPr>
          <a:xfrm>
            <a:off x="229062" y="4687537"/>
            <a:ext cx="8685876" cy="180245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just" defTabSz="457200">
              <a:defRPr sz="3000">
                <a:latin typeface="Times New Roman"/>
                <a:ea typeface="Times New Roman"/>
                <a:cs typeface="Times New Roman"/>
                <a:sym typeface="Times New Roman"/>
              </a:defRPr>
            </a:pPr>
            <a:r>
              <a:t>       </a:t>
            </a:r>
            <a:r>
              <a:rPr b="1">
                <a:solidFill>
                  <a:srgbClr val="FF4015"/>
                </a:solidFill>
              </a:rPr>
              <a:t>L’œil</a:t>
            </a:r>
            <a:r>
              <a:t> adulte est une sphère d’un diamètre ~ 2,5cm </a:t>
            </a:r>
          </a:p>
          <a:p>
            <a:pPr algn="just" defTabSz="457200">
              <a:defRPr sz="3000">
                <a:latin typeface="Times New Roman"/>
                <a:ea typeface="Times New Roman"/>
                <a:cs typeface="Times New Roman"/>
                <a:sym typeface="Times New Roman"/>
              </a:defRPr>
            </a:pPr>
            <a:r>
              <a:t>Seul le 1/6 antérieur de la surface de l’œil est visible; le reste est entouré et protège par un coussin de graisse et par les parois osseuses de l’orbite</a:t>
            </a:r>
          </a:p>
        </p:txBody>
      </p:sp>
    </p:spTree>
  </p:cSld>
  <p:clrMapOvr>
    <a:masterClrMapping/>
  </p:clrMapOvr>
  <p:transition spd="med"/>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Titre 1"/>
          <p:cNvSpPr txBox="1">
            <a:spLocks noGrp="1"/>
          </p:cNvSpPr>
          <p:nvPr>
            <p:ph type="ctrTitle"/>
          </p:nvPr>
        </p:nvSpPr>
        <p:spPr>
          <a:xfrm>
            <a:off x="214282" y="214290"/>
            <a:ext cx="8572560" cy="6357982"/>
          </a:xfrm>
          <a:prstGeom prst="rect">
            <a:avLst/>
          </a:prstGeom>
          <a:ln w="9525">
            <a:solidFill>
              <a:schemeClr val="accent1"/>
            </a:solidFill>
            <a:round/>
          </a:ln>
        </p:spPr>
        <p:txBody>
          <a:bodyPr>
            <a:normAutofit fontScale="90000"/>
          </a:bodyPr>
          <a:lstStyle/>
          <a:p>
            <a:pPr defTabSz="740663">
              <a:defRPr sz="2187"/>
            </a:pPr>
            <a:r>
              <a:rPr dirty="0" err="1"/>
              <a:t>L’œil</a:t>
            </a:r>
            <a:r>
              <a:rPr dirty="0"/>
              <a:t> </a:t>
            </a:r>
            <a:r>
              <a:rPr dirty="0" err="1"/>
              <a:t>est</a:t>
            </a:r>
            <a:r>
              <a:rPr dirty="0"/>
              <a:t> </a:t>
            </a:r>
            <a:r>
              <a:rPr dirty="0" err="1"/>
              <a:t>enfermé</a:t>
            </a:r>
            <a:r>
              <a:rPr dirty="0"/>
              <a:t> </a:t>
            </a:r>
            <a:r>
              <a:rPr dirty="0" err="1"/>
              <a:t>dans</a:t>
            </a:r>
            <a:r>
              <a:rPr dirty="0"/>
              <a:t> </a:t>
            </a:r>
            <a:r>
              <a:rPr dirty="0" err="1"/>
              <a:t>une</a:t>
            </a:r>
            <a:r>
              <a:rPr dirty="0"/>
              <a:t> </a:t>
            </a:r>
            <a:r>
              <a:rPr dirty="0" err="1"/>
              <a:t>cavité</a:t>
            </a:r>
            <a:r>
              <a:rPr dirty="0"/>
              <a:t> </a:t>
            </a:r>
            <a:r>
              <a:rPr dirty="0" err="1"/>
              <a:t>osseuse</a:t>
            </a:r>
            <a:r>
              <a:rPr dirty="0"/>
              <a:t>: </a:t>
            </a:r>
            <a:r>
              <a:rPr dirty="0" err="1">
                <a:solidFill>
                  <a:srgbClr val="FF0000"/>
                </a:solidFill>
              </a:rPr>
              <a:t>l’orbite</a:t>
            </a:r>
            <a:r>
              <a:rPr dirty="0"/>
              <a:t>, et </a:t>
            </a:r>
            <a:r>
              <a:rPr dirty="0" err="1"/>
              <a:t>connecté</a:t>
            </a:r>
            <a:r>
              <a:rPr dirty="0"/>
              <a:t> au </a:t>
            </a:r>
            <a:r>
              <a:rPr dirty="0" err="1"/>
              <a:t>cerveau</a:t>
            </a:r>
            <a:r>
              <a:rPr dirty="0"/>
              <a:t> par </a:t>
            </a:r>
            <a:r>
              <a:rPr dirty="0">
                <a:solidFill>
                  <a:srgbClr val="FF0000"/>
                </a:solidFill>
              </a:rPr>
              <a:t>le nerf </a:t>
            </a:r>
            <a:r>
              <a:rPr dirty="0" err="1">
                <a:solidFill>
                  <a:srgbClr val="FF0000"/>
                </a:solidFill>
              </a:rPr>
              <a:t>optique</a:t>
            </a:r>
            <a:r>
              <a:rPr dirty="0">
                <a:solidFill>
                  <a:srgbClr val="FF0000"/>
                </a:solidFill>
              </a:rPr>
              <a:t/>
            </a:r>
            <a:br>
              <a:rPr dirty="0">
                <a:solidFill>
                  <a:srgbClr val="FF0000"/>
                </a:solidFill>
              </a:rPr>
            </a:br>
            <a:r>
              <a:rPr dirty="0">
                <a:solidFill>
                  <a:srgbClr val="FF0000"/>
                </a:solidFill>
              </a:rPr>
              <a:t/>
            </a:r>
            <a:br>
              <a:rPr dirty="0">
                <a:solidFill>
                  <a:srgbClr val="FF0000"/>
                </a:solidFill>
              </a:rPr>
            </a:br>
            <a:r>
              <a:rPr dirty="0">
                <a:solidFill>
                  <a:srgbClr val="FF0000"/>
                </a:solidFill>
              </a:rPr>
              <a:t>-le globe </a:t>
            </a:r>
            <a:r>
              <a:rPr dirty="0" err="1">
                <a:solidFill>
                  <a:srgbClr val="FF0000"/>
                </a:solidFill>
              </a:rPr>
              <a:t>oculaire</a:t>
            </a:r>
            <a:r>
              <a:rPr dirty="0">
                <a:solidFill>
                  <a:srgbClr val="FF0000"/>
                </a:solidFill>
              </a:rPr>
              <a:t> </a:t>
            </a:r>
            <a:r>
              <a:rPr dirty="0" err="1">
                <a:solidFill>
                  <a:srgbClr val="FF0000"/>
                </a:solidFill>
              </a:rPr>
              <a:t>est</a:t>
            </a:r>
            <a:r>
              <a:rPr dirty="0">
                <a:solidFill>
                  <a:srgbClr val="FF0000"/>
                </a:solidFill>
              </a:rPr>
              <a:t> </a:t>
            </a:r>
            <a:r>
              <a:rPr dirty="0" err="1">
                <a:solidFill>
                  <a:srgbClr val="FF0000"/>
                </a:solidFill>
              </a:rPr>
              <a:t>constitué</a:t>
            </a:r>
            <a:r>
              <a:rPr dirty="0">
                <a:solidFill>
                  <a:srgbClr val="FF0000"/>
                </a:solidFill>
              </a:rPr>
              <a:t> de 3 </a:t>
            </a:r>
            <a:r>
              <a:rPr dirty="0" err="1">
                <a:solidFill>
                  <a:srgbClr val="FF0000"/>
                </a:solidFill>
              </a:rPr>
              <a:t>tuniques</a:t>
            </a:r>
            <a:r>
              <a:rPr dirty="0">
                <a:solidFill>
                  <a:srgbClr val="FF0000"/>
                </a:solidFill>
              </a:rPr>
              <a:t> </a:t>
            </a:r>
            <a:r>
              <a:rPr dirty="0" err="1">
                <a:solidFill>
                  <a:srgbClr val="FF0000"/>
                </a:solidFill>
              </a:rPr>
              <a:t>ou</a:t>
            </a:r>
            <a:r>
              <a:rPr dirty="0">
                <a:solidFill>
                  <a:srgbClr val="FF0000"/>
                </a:solidFill>
              </a:rPr>
              <a:t> couches:</a:t>
            </a:r>
            <a:br>
              <a:rPr dirty="0">
                <a:solidFill>
                  <a:srgbClr val="FF0000"/>
                </a:solidFill>
              </a:rPr>
            </a:br>
            <a:r>
              <a:rPr lang="fr-FR" dirty="0" smtClean="0">
                <a:solidFill>
                  <a:srgbClr val="FF0000"/>
                </a:solidFill>
                <a:effectLst>
                  <a:outerShdw blurRad="38100" dist="38100" dir="2700000" algn="tl">
                    <a:srgbClr val="000000">
                      <a:alpha val="43137"/>
                    </a:srgbClr>
                  </a:outerShdw>
                </a:effectLst>
              </a:rPr>
              <a:t>      1) </a:t>
            </a:r>
            <a:r>
              <a:rPr dirty="0" smtClean="0">
                <a:solidFill>
                  <a:srgbClr val="FF0000"/>
                </a:solidFill>
                <a:effectLst>
                  <a:outerShdw blurRad="38100" dist="38100" dir="2700000" algn="tl">
                    <a:srgbClr val="000000">
                      <a:alpha val="43137"/>
                    </a:srgbClr>
                  </a:outerShdw>
                </a:effectLst>
              </a:rPr>
              <a:t>la </a:t>
            </a:r>
            <a:r>
              <a:rPr lang="fr-FR" dirty="0" smtClean="0">
                <a:solidFill>
                  <a:srgbClr val="FF0000"/>
                </a:solidFill>
                <a:effectLst>
                  <a:outerShdw blurRad="38100" dist="38100" dir="2700000" algn="tl">
                    <a:srgbClr val="000000">
                      <a:alpha val="43137"/>
                    </a:srgbClr>
                  </a:outerShdw>
                </a:effectLst>
              </a:rPr>
              <a:t> </a:t>
            </a:r>
            <a:r>
              <a:rPr dirty="0" err="1" smtClean="0">
                <a:solidFill>
                  <a:srgbClr val="FF0000"/>
                </a:solidFill>
                <a:effectLst>
                  <a:outerShdw blurRad="38100" dist="38100" dir="2700000" algn="tl">
                    <a:srgbClr val="000000">
                      <a:alpha val="43137"/>
                    </a:srgbClr>
                  </a:outerShdw>
                </a:effectLst>
              </a:rPr>
              <a:t>sclérotique</a:t>
            </a:r>
            <a:r>
              <a:rPr lang="fr-FR" dirty="0" smtClean="0">
                <a:solidFill>
                  <a:srgbClr val="FF0000"/>
                </a:solidFill>
                <a:effectLst>
                  <a:outerShdw blurRad="38100" dist="38100" dir="2700000" algn="tl">
                    <a:srgbClr val="000000">
                      <a:alpha val="43137"/>
                    </a:srgbClr>
                  </a:outerShdw>
                </a:effectLst>
              </a:rPr>
              <a:t> </a:t>
            </a:r>
            <a:r>
              <a:rPr dirty="0" smtClean="0">
                <a:solidFill>
                  <a:srgbClr val="FF0000"/>
                </a:solidFill>
                <a:effectLst>
                  <a:outerShdw blurRad="38100" dist="38100" dir="2700000" algn="tl">
                    <a:srgbClr val="000000">
                      <a:alpha val="43137"/>
                    </a:srgbClr>
                  </a:outerShdw>
                </a:effectLst>
              </a:rPr>
              <a:t> </a:t>
            </a:r>
            <a:r>
              <a:rPr dirty="0">
                <a:solidFill>
                  <a:srgbClr val="FF0000"/>
                </a:solidFill>
                <a:effectLst>
                  <a:outerShdw blurRad="38100" dist="38100" dir="2700000" algn="tl">
                    <a:srgbClr val="000000">
                      <a:alpha val="43137"/>
                    </a:srgbClr>
                  </a:outerShdw>
                </a:effectLst>
              </a:rPr>
              <a:t>et </a:t>
            </a:r>
            <a:r>
              <a:rPr lang="fr-FR" dirty="0" smtClean="0">
                <a:solidFill>
                  <a:srgbClr val="FF0000"/>
                </a:solidFill>
                <a:effectLst>
                  <a:outerShdw blurRad="38100" dist="38100" dir="2700000" algn="tl">
                    <a:srgbClr val="000000">
                      <a:alpha val="43137"/>
                    </a:srgbClr>
                  </a:outerShdw>
                </a:effectLst>
              </a:rPr>
              <a:t> </a:t>
            </a:r>
            <a:r>
              <a:rPr dirty="0" smtClean="0">
                <a:solidFill>
                  <a:srgbClr val="FF0000"/>
                </a:solidFill>
                <a:effectLst>
                  <a:outerShdw blurRad="38100" dist="38100" dir="2700000" algn="tl">
                    <a:srgbClr val="000000">
                      <a:alpha val="43137"/>
                    </a:srgbClr>
                  </a:outerShdw>
                </a:effectLst>
              </a:rPr>
              <a:t>la </a:t>
            </a:r>
            <a:r>
              <a:rPr lang="fr-FR" dirty="0" smtClean="0">
                <a:solidFill>
                  <a:srgbClr val="FF0000"/>
                </a:solidFill>
                <a:effectLst>
                  <a:outerShdw blurRad="38100" dist="38100" dir="2700000" algn="tl">
                    <a:srgbClr val="000000">
                      <a:alpha val="43137"/>
                    </a:srgbClr>
                  </a:outerShdw>
                </a:effectLst>
              </a:rPr>
              <a:t> </a:t>
            </a:r>
            <a:r>
              <a:rPr dirty="0" err="1" smtClean="0">
                <a:solidFill>
                  <a:srgbClr val="FF0000"/>
                </a:solidFill>
                <a:effectLst>
                  <a:outerShdw blurRad="38100" dist="38100" dir="2700000" algn="tl">
                    <a:srgbClr val="000000">
                      <a:alpha val="43137"/>
                    </a:srgbClr>
                  </a:outerShdw>
                </a:effectLst>
              </a:rPr>
              <a:t>cornée</a:t>
            </a:r>
            <a:r>
              <a:rPr lang="fr-FR" dirty="0" smtClean="0">
                <a:solidFill>
                  <a:srgbClr val="FF0000"/>
                </a:solidFill>
                <a:effectLst>
                  <a:outerShdw blurRad="38100" dist="38100" dir="2700000" algn="tl">
                    <a:srgbClr val="000000">
                      <a:alpha val="43137"/>
                    </a:srgbClr>
                  </a:outerShdw>
                </a:effectLst>
              </a:rPr>
              <a:t/>
            </a:r>
            <a:br>
              <a:rPr lang="fr-FR" dirty="0" smtClean="0">
                <a:solidFill>
                  <a:srgbClr val="FF0000"/>
                </a:solidFill>
                <a:effectLst>
                  <a:outerShdw blurRad="38100" dist="38100" dir="2700000" algn="tl">
                    <a:srgbClr val="000000">
                      <a:alpha val="43137"/>
                    </a:srgbClr>
                  </a:outerShdw>
                </a:effectLst>
              </a:rPr>
            </a:br>
            <a:r>
              <a:rPr dirty="0" smtClean="0">
                <a:solidFill>
                  <a:srgbClr val="FF0000"/>
                </a:solidFill>
                <a:effectLst>
                  <a:outerShdw blurRad="38100" dist="38100" dir="2700000" algn="tl">
                    <a:srgbClr val="000000">
                      <a:alpha val="43137"/>
                    </a:srgbClr>
                  </a:outerShdw>
                </a:effectLst>
              </a:rPr>
              <a:t> </a:t>
            </a:r>
            <a:r>
              <a:rPr lang="fr-FR" dirty="0" smtClean="0">
                <a:solidFill>
                  <a:srgbClr val="FF0000"/>
                </a:solidFill>
                <a:effectLst>
                  <a:outerShdw blurRad="38100" dist="38100" dir="2700000" algn="tl">
                    <a:srgbClr val="000000">
                      <a:alpha val="43137"/>
                    </a:srgbClr>
                  </a:outerShdw>
                </a:effectLst>
              </a:rPr>
              <a:t>     2) </a:t>
            </a:r>
            <a:r>
              <a:rPr dirty="0" err="1" smtClean="0">
                <a:solidFill>
                  <a:srgbClr val="FF0000"/>
                </a:solidFill>
                <a:effectLst>
                  <a:outerShdw blurRad="38100" dist="38100" dir="2700000" algn="tl">
                    <a:srgbClr val="000000">
                      <a:alpha val="43137"/>
                    </a:srgbClr>
                  </a:outerShdw>
                </a:effectLst>
              </a:rPr>
              <a:t>l’uvée</a:t>
            </a:r>
            <a:r>
              <a:rPr lang="fr-FR" dirty="0" smtClean="0">
                <a:solidFill>
                  <a:srgbClr val="FF0000"/>
                </a:solidFill>
                <a:effectLst>
                  <a:outerShdw blurRad="38100" dist="38100" dir="2700000" algn="tl">
                    <a:srgbClr val="000000">
                      <a:alpha val="43137"/>
                    </a:srgbClr>
                  </a:outerShdw>
                </a:effectLst>
              </a:rPr>
              <a:t/>
            </a:r>
            <a:br>
              <a:rPr lang="fr-FR" dirty="0" smtClean="0">
                <a:solidFill>
                  <a:srgbClr val="FF0000"/>
                </a:solidFill>
                <a:effectLst>
                  <a:outerShdw blurRad="38100" dist="38100" dir="2700000" algn="tl">
                    <a:srgbClr val="000000">
                      <a:alpha val="43137"/>
                    </a:srgbClr>
                  </a:outerShdw>
                </a:effectLst>
              </a:rPr>
            </a:br>
            <a:r>
              <a:rPr lang="fr-FR" dirty="0" smtClean="0">
                <a:solidFill>
                  <a:srgbClr val="FF0000"/>
                </a:solidFill>
                <a:effectLst>
                  <a:outerShdw blurRad="38100" dist="38100" dir="2700000" algn="tl">
                    <a:srgbClr val="000000">
                      <a:alpha val="43137"/>
                    </a:srgbClr>
                  </a:outerShdw>
                </a:effectLst>
              </a:rPr>
              <a:t>     </a:t>
            </a:r>
            <a:r>
              <a:rPr dirty="0" smtClean="0">
                <a:solidFill>
                  <a:srgbClr val="FF0000"/>
                </a:solidFill>
                <a:effectLst>
                  <a:outerShdw blurRad="38100" dist="38100" dir="2700000" algn="tl">
                    <a:srgbClr val="000000">
                      <a:alpha val="43137"/>
                    </a:srgbClr>
                  </a:outerShdw>
                </a:effectLst>
              </a:rPr>
              <a:t> </a:t>
            </a:r>
            <a:r>
              <a:rPr lang="fr-FR" dirty="0" smtClean="0">
                <a:solidFill>
                  <a:srgbClr val="FF0000"/>
                </a:solidFill>
                <a:effectLst>
                  <a:outerShdw blurRad="38100" dist="38100" dir="2700000" algn="tl">
                    <a:srgbClr val="000000">
                      <a:alpha val="43137"/>
                    </a:srgbClr>
                  </a:outerShdw>
                </a:effectLst>
              </a:rPr>
              <a:t>3) </a:t>
            </a:r>
            <a:r>
              <a:rPr dirty="0" smtClean="0">
                <a:solidFill>
                  <a:srgbClr val="FF0000"/>
                </a:solidFill>
                <a:effectLst>
                  <a:outerShdw blurRad="38100" dist="38100" dir="2700000" algn="tl">
                    <a:srgbClr val="000000">
                      <a:alpha val="43137"/>
                    </a:srgbClr>
                  </a:outerShdw>
                </a:effectLst>
              </a:rPr>
              <a:t>la</a:t>
            </a:r>
            <a:r>
              <a:rPr lang="fr-FR" dirty="0" smtClean="0">
                <a:solidFill>
                  <a:srgbClr val="FF0000"/>
                </a:solidFill>
                <a:effectLst>
                  <a:outerShdw blurRad="38100" dist="38100" dir="2700000" algn="tl">
                    <a:srgbClr val="000000">
                      <a:alpha val="43137"/>
                    </a:srgbClr>
                  </a:outerShdw>
                </a:effectLst>
              </a:rPr>
              <a:t> </a:t>
            </a:r>
            <a:r>
              <a:rPr dirty="0" err="1" smtClean="0">
                <a:solidFill>
                  <a:srgbClr val="FF0000"/>
                </a:solidFill>
                <a:effectLst>
                  <a:outerShdw blurRad="38100" dist="38100" dir="2700000" algn="tl">
                    <a:srgbClr val="000000">
                      <a:alpha val="43137"/>
                    </a:srgbClr>
                  </a:outerShdw>
                </a:effectLst>
              </a:rPr>
              <a:t>rétine</a:t>
            </a:r>
            <a:r>
              <a:rPr dirty="0"/>
              <a:t/>
            </a:r>
            <a:br>
              <a:rPr dirty="0"/>
            </a:br>
            <a:r>
              <a:rPr dirty="0"/>
              <a:t/>
            </a:r>
            <a:br>
              <a:rPr dirty="0"/>
            </a:br>
            <a:r>
              <a:rPr dirty="0">
                <a:solidFill>
                  <a:srgbClr val="FF0000"/>
                </a:solidFill>
              </a:rPr>
              <a:t>- a </a:t>
            </a:r>
            <a:r>
              <a:rPr dirty="0" err="1">
                <a:solidFill>
                  <a:srgbClr val="FF0000"/>
                </a:solidFill>
              </a:rPr>
              <a:t>l’intérieur</a:t>
            </a:r>
            <a:r>
              <a:rPr dirty="0">
                <a:solidFill>
                  <a:srgbClr val="FF0000"/>
                </a:solidFill>
              </a:rPr>
              <a:t> on observe 3 </a:t>
            </a:r>
            <a:r>
              <a:rPr dirty="0" err="1">
                <a:solidFill>
                  <a:srgbClr val="FF0000"/>
                </a:solidFill>
              </a:rPr>
              <a:t>cavités</a:t>
            </a:r>
            <a:r>
              <a:rPr dirty="0">
                <a:solidFill>
                  <a:srgbClr val="FF0000"/>
                </a:solidFill>
              </a:rPr>
              <a:t>: </a:t>
            </a:r>
            <a:r>
              <a:rPr dirty="0"/>
              <a:t>la </a:t>
            </a:r>
            <a:r>
              <a:rPr dirty="0" err="1"/>
              <a:t>chambre</a:t>
            </a:r>
            <a:r>
              <a:rPr dirty="0"/>
              <a:t> </a:t>
            </a:r>
            <a:r>
              <a:rPr dirty="0" err="1"/>
              <a:t>antérieure</a:t>
            </a:r>
            <a:r>
              <a:rPr dirty="0"/>
              <a:t>, la </a:t>
            </a:r>
            <a:r>
              <a:rPr dirty="0" err="1"/>
              <a:t>chambre</a:t>
            </a:r>
            <a:r>
              <a:rPr dirty="0"/>
              <a:t> </a:t>
            </a:r>
            <a:r>
              <a:rPr dirty="0" err="1"/>
              <a:t>postérieure</a:t>
            </a:r>
            <a:r>
              <a:rPr dirty="0"/>
              <a:t> et la </a:t>
            </a:r>
            <a:r>
              <a:rPr dirty="0" err="1"/>
              <a:t>cavité</a:t>
            </a:r>
            <a:r>
              <a:rPr dirty="0"/>
              <a:t> </a:t>
            </a:r>
            <a:r>
              <a:rPr dirty="0" err="1"/>
              <a:t>vitré</a:t>
            </a:r>
            <a:r>
              <a:rPr dirty="0"/>
              <a:t>.</a:t>
            </a:r>
            <a:br>
              <a:rPr dirty="0"/>
            </a:br>
            <a:r>
              <a:rPr dirty="0"/>
              <a:t/>
            </a:r>
            <a:br>
              <a:rPr dirty="0"/>
            </a:br>
            <a:r>
              <a:rPr dirty="0">
                <a:solidFill>
                  <a:srgbClr val="FF0000"/>
                </a:solidFill>
              </a:rPr>
              <a:t>- </a:t>
            </a:r>
            <a:r>
              <a:rPr dirty="0" err="1">
                <a:solidFill>
                  <a:srgbClr val="FF0000"/>
                </a:solidFill>
              </a:rPr>
              <a:t>l’humeur</a:t>
            </a:r>
            <a:r>
              <a:rPr dirty="0">
                <a:solidFill>
                  <a:srgbClr val="FF0000"/>
                </a:solidFill>
              </a:rPr>
              <a:t> </a:t>
            </a:r>
            <a:r>
              <a:rPr dirty="0" err="1">
                <a:solidFill>
                  <a:srgbClr val="FF0000"/>
                </a:solidFill>
              </a:rPr>
              <a:t>aqueuse</a:t>
            </a:r>
            <a:r>
              <a:rPr dirty="0">
                <a:solidFill>
                  <a:srgbClr val="FF0000"/>
                </a:solidFill>
              </a:rPr>
              <a:t>: </a:t>
            </a:r>
            <a:r>
              <a:rPr dirty="0" err="1"/>
              <a:t>circule</a:t>
            </a:r>
            <a:r>
              <a:rPr dirty="0"/>
              <a:t> de la </a:t>
            </a:r>
            <a:r>
              <a:rPr dirty="0" err="1"/>
              <a:t>chambre</a:t>
            </a:r>
            <a:r>
              <a:rPr dirty="0"/>
              <a:t> post </a:t>
            </a:r>
            <a:r>
              <a:rPr dirty="0" err="1"/>
              <a:t>vers</a:t>
            </a:r>
            <a:r>
              <a:rPr dirty="0"/>
              <a:t> la </a:t>
            </a:r>
            <a:r>
              <a:rPr dirty="0" err="1"/>
              <a:t>chambre</a:t>
            </a:r>
            <a:r>
              <a:rPr dirty="0"/>
              <a:t> ant</a:t>
            </a:r>
            <a:br>
              <a:rPr dirty="0"/>
            </a:br>
            <a:r>
              <a:rPr dirty="0">
                <a:solidFill>
                  <a:srgbClr val="FF0000"/>
                </a:solidFill>
              </a:rPr>
              <a:t>- le </a:t>
            </a:r>
            <a:r>
              <a:rPr dirty="0" err="1">
                <a:solidFill>
                  <a:srgbClr val="FF0000"/>
                </a:solidFill>
              </a:rPr>
              <a:t>cristallin</a:t>
            </a:r>
            <a:r>
              <a:rPr dirty="0">
                <a:solidFill>
                  <a:srgbClr val="FF0000"/>
                </a:solidFill>
              </a:rPr>
              <a:t> </a:t>
            </a:r>
            <a:r>
              <a:rPr dirty="0"/>
              <a:t>:</a:t>
            </a:r>
            <a:r>
              <a:rPr dirty="0" err="1"/>
              <a:t>est</a:t>
            </a:r>
            <a:r>
              <a:rPr dirty="0"/>
              <a:t> </a:t>
            </a:r>
            <a:r>
              <a:rPr dirty="0" err="1"/>
              <a:t>situé</a:t>
            </a:r>
            <a:r>
              <a:rPr dirty="0"/>
              <a:t> </a:t>
            </a:r>
            <a:r>
              <a:rPr dirty="0" err="1"/>
              <a:t>devant</a:t>
            </a:r>
            <a:r>
              <a:rPr dirty="0"/>
              <a:t> la </a:t>
            </a:r>
            <a:r>
              <a:rPr dirty="0" err="1"/>
              <a:t>cavité</a:t>
            </a:r>
            <a:r>
              <a:rPr dirty="0"/>
              <a:t> </a:t>
            </a:r>
            <a:r>
              <a:rPr dirty="0" err="1"/>
              <a:t>vitrée</a:t>
            </a:r>
            <a:r>
              <a:rPr dirty="0"/>
              <a:t> (</a:t>
            </a:r>
            <a:r>
              <a:rPr dirty="0" err="1"/>
              <a:t>l’humeur</a:t>
            </a:r>
            <a:r>
              <a:rPr dirty="0"/>
              <a:t> </a:t>
            </a:r>
            <a:r>
              <a:rPr dirty="0" err="1"/>
              <a:t>vitrée</a:t>
            </a:r>
            <a:r>
              <a:rPr dirty="0"/>
              <a:t>)</a:t>
            </a:r>
            <a:br>
              <a:rPr dirty="0"/>
            </a:br>
            <a:r>
              <a:rPr dirty="0"/>
              <a:t/>
            </a:r>
            <a:br>
              <a:rPr dirty="0"/>
            </a:br>
            <a:r>
              <a:rPr dirty="0">
                <a:solidFill>
                  <a:srgbClr val="FF0000"/>
                </a:solidFill>
              </a:rPr>
              <a:t>- </a:t>
            </a:r>
            <a:r>
              <a:rPr dirty="0" err="1">
                <a:solidFill>
                  <a:srgbClr val="FF0000"/>
                </a:solidFill>
              </a:rPr>
              <a:t>l’orbite</a:t>
            </a:r>
            <a:r>
              <a:rPr dirty="0">
                <a:solidFill>
                  <a:srgbClr val="FF0000"/>
                </a:solidFill>
              </a:rPr>
              <a:t>, les </a:t>
            </a:r>
            <a:r>
              <a:rPr dirty="0" err="1">
                <a:solidFill>
                  <a:srgbClr val="FF0000"/>
                </a:solidFill>
              </a:rPr>
              <a:t>paupières</a:t>
            </a:r>
            <a:r>
              <a:rPr dirty="0">
                <a:solidFill>
                  <a:srgbClr val="FF0000"/>
                </a:solidFill>
              </a:rPr>
              <a:t>, la </a:t>
            </a:r>
            <a:r>
              <a:rPr dirty="0" err="1">
                <a:solidFill>
                  <a:srgbClr val="FF0000"/>
                </a:solidFill>
              </a:rPr>
              <a:t>conjonctive</a:t>
            </a:r>
            <a:r>
              <a:rPr dirty="0">
                <a:solidFill>
                  <a:srgbClr val="FF0000"/>
                </a:solidFill>
              </a:rPr>
              <a:t> et </a:t>
            </a:r>
            <a:r>
              <a:rPr dirty="0" err="1">
                <a:solidFill>
                  <a:srgbClr val="FF0000"/>
                </a:solidFill>
              </a:rPr>
              <a:t>l’appareil</a:t>
            </a:r>
            <a:r>
              <a:rPr dirty="0">
                <a:solidFill>
                  <a:srgbClr val="FF0000"/>
                </a:solidFill>
              </a:rPr>
              <a:t> </a:t>
            </a:r>
            <a:r>
              <a:rPr dirty="0" err="1">
                <a:solidFill>
                  <a:srgbClr val="FF0000"/>
                </a:solidFill>
              </a:rPr>
              <a:t>lacrymal</a:t>
            </a:r>
            <a:r>
              <a:rPr dirty="0">
                <a:solidFill>
                  <a:srgbClr val="FF0000"/>
                </a:solidFill>
              </a:rPr>
              <a:t> </a:t>
            </a:r>
            <a:r>
              <a:rPr dirty="0" err="1">
                <a:solidFill>
                  <a:srgbClr val="FF0000"/>
                </a:solidFill>
              </a:rPr>
              <a:t>protègent</a:t>
            </a:r>
            <a:r>
              <a:rPr dirty="0">
                <a:solidFill>
                  <a:srgbClr val="FF0000"/>
                </a:solidFill>
              </a:rPr>
              <a:t>: </a:t>
            </a:r>
            <a:r>
              <a:rPr dirty="0"/>
              <a:t>le globe </a:t>
            </a:r>
            <a:r>
              <a:rPr dirty="0" err="1"/>
              <a:t>oculaire</a:t>
            </a:r>
            <a:r>
              <a:rPr dirty="0"/>
              <a:t> </a:t>
            </a:r>
            <a:br>
              <a:rPr dirty="0"/>
            </a:br>
            <a:r>
              <a:rPr dirty="0"/>
              <a:t/>
            </a:r>
            <a:br>
              <a:rPr dirty="0"/>
            </a:br>
            <a:r>
              <a:rPr dirty="0"/>
              <a:t/>
            </a:r>
            <a:br>
              <a:rPr dirty="0"/>
            </a:br>
            <a:endParaRPr dirty="0"/>
          </a:p>
        </p:txBody>
      </p:sp>
    </p:spTree>
  </p:cSld>
  <p:clrMapOvr>
    <a:masterClrMapping/>
  </p:clrMapOvr>
  <p:transition spd="med"/>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Shape 102"/>
          <p:cNvSpPr txBox="1"/>
          <p:nvPr/>
        </p:nvSpPr>
        <p:spPr>
          <a:xfrm>
            <a:off x="8887" y="26791"/>
            <a:ext cx="9023390" cy="507056"/>
          </a:xfrm>
          <a:prstGeom prst="rect">
            <a:avLst/>
          </a:prstGeom>
          <a:solidFill>
            <a:schemeClr val="accent1">
              <a:satOff val="-4409"/>
              <a:lumOff val="-10509"/>
            </a:schemeClr>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gn="ctr" defTabSz="457200">
              <a:defRPr sz="3000" cap="all">
                <a:solidFill>
                  <a:srgbClr val="FFFFFF"/>
                </a:solidFill>
                <a:latin typeface="Times New Roman"/>
                <a:ea typeface="Times New Roman"/>
                <a:cs typeface="Times New Roman"/>
                <a:sym typeface="Times New Roman"/>
              </a:defRPr>
            </a:lvl1pPr>
          </a:lstStyle>
          <a:p>
            <a:r>
              <a:t>Structure histologique de l’oeil</a:t>
            </a:r>
          </a:p>
        </p:txBody>
      </p:sp>
      <p:sp>
        <p:nvSpPr>
          <p:cNvPr id="103" name="Shape 103"/>
          <p:cNvSpPr txBox="1"/>
          <p:nvPr/>
        </p:nvSpPr>
        <p:spPr>
          <a:xfrm>
            <a:off x="82517" y="645538"/>
            <a:ext cx="3451248" cy="507056"/>
          </a:xfrm>
          <a:prstGeom prst="rect">
            <a:avLst/>
          </a:prstGeom>
          <a:solidFill>
            <a:schemeClr val="accent1">
              <a:lumOff val="23725"/>
            </a:schemeClr>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defTabSz="457200">
              <a:defRPr sz="3000" b="1" i="1" cap="small">
                <a:latin typeface="Times New Roman"/>
                <a:ea typeface="Times New Roman"/>
                <a:cs typeface="Times New Roman"/>
                <a:sym typeface="Times New Roman"/>
              </a:defRPr>
            </a:lvl1pPr>
          </a:lstStyle>
          <a:p>
            <a:r>
              <a:t>Les trois tuniques </a:t>
            </a:r>
          </a:p>
        </p:txBody>
      </p:sp>
      <p:sp>
        <p:nvSpPr>
          <p:cNvPr id="104" name="Shape 104"/>
          <p:cNvSpPr txBox="1"/>
          <p:nvPr/>
        </p:nvSpPr>
        <p:spPr>
          <a:xfrm>
            <a:off x="3651191" y="978575"/>
            <a:ext cx="2594296" cy="507056"/>
          </a:xfrm>
          <a:prstGeom prst="rect">
            <a:avLst/>
          </a:prstGeom>
          <a:solidFill>
            <a:schemeClr val="accent1">
              <a:lumOff val="23725"/>
            </a:schemeClr>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defTabSz="457200">
              <a:defRPr sz="3000" b="1" i="1" cap="small">
                <a:latin typeface="Times New Roman"/>
                <a:ea typeface="Times New Roman"/>
                <a:cs typeface="Times New Roman"/>
                <a:sym typeface="Times New Roman"/>
              </a:defRPr>
            </a:lvl1pPr>
          </a:lstStyle>
          <a:p>
            <a:r>
              <a:t>Les chambres </a:t>
            </a:r>
          </a:p>
        </p:txBody>
      </p:sp>
      <p:pic>
        <p:nvPicPr>
          <p:cNvPr id="105" name="Image 1" descr="Image 1"/>
          <p:cNvPicPr>
            <a:picLocks noChangeAspect="1"/>
          </p:cNvPicPr>
          <p:nvPr/>
        </p:nvPicPr>
        <p:blipFill>
          <a:blip r:embed="rId2" cstate="email">
            <a:extLst/>
          </a:blip>
          <a:srcRect/>
          <a:stretch>
            <a:fillRect/>
          </a:stretch>
        </p:blipFill>
        <p:spPr>
          <a:xfrm>
            <a:off x="1399812" y="1612377"/>
            <a:ext cx="6911261" cy="5140310"/>
          </a:xfrm>
          <a:prstGeom prst="rect">
            <a:avLst/>
          </a:prstGeom>
          <a:ln w="12700">
            <a:miter lim="400000"/>
          </a:ln>
        </p:spPr>
      </p:pic>
      <p:sp>
        <p:nvSpPr>
          <p:cNvPr id="106" name="Shape 106"/>
          <p:cNvSpPr txBox="1"/>
          <p:nvPr/>
        </p:nvSpPr>
        <p:spPr>
          <a:xfrm>
            <a:off x="6475942" y="1280457"/>
            <a:ext cx="2509167" cy="507056"/>
          </a:xfrm>
          <a:prstGeom prst="rect">
            <a:avLst/>
          </a:prstGeom>
          <a:solidFill>
            <a:schemeClr val="accent1">
              <a:lumOff val="23725"/>
            </a:schemeClr>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defTabSz="457200">
              <a:defRPr sz="3000" b="1" i="1" cap="small">
                <a:latin typeface="Times New Roman"/>
                <a:ea typeface="Times New Roman"/>
                <a:cs typeface="Times New Roman"/>
                <a:sym typeface="Times New Roman"/>
              </a:defRPr>
            </a:lvl1pPr>
          </a:lstStyle>
          <a:p>
            <a:r>
              <a:t>Le cristallin </a:t>
            </a:r>
          </a:p>
        </p:txBody>
      </p:sp>
    </p:spTree>
  </p:cSld>
  <p:clrMapOvr>
    <a:masterClrMapping/>
  </p:clrMapOvr>
  <p:transition spd="med"/>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8" name="Picture 2" descr="Picture 2"/>
          <p:cNvPicPr>
            <a:picLocks noChangeAspect="1"/>
          </p:cNvPicPr>
          <p:nvPr/>
        </p:nvPicPr>
        <p:blipFill>
          <a:blip r:embed="rId2">
            <a:extLst/>
          </a:blip>
          <a:srcRect/>
          <a:stretch>
            <a:fillRect/>
          </a:stretch>
        </p:blipFill>
        <p:spPr>
          <a:xfrm>
            <a:off x="5107564" y="1653359"/>
            <a:ext cx="4029170" cy="4405978"/>
          </a:xfrm>
          <a:prstGeom prst="rect">
            <a:avLst/>
          </a:prstGeom>
          <a:ln w="12700">
            <a:solidFill>
              <a:srgbClr val="000000"/>
            </a:solidFill>
            <a:miter lim="400000"/>
          </a:ln>
        </p:spPr>
      </p:pic>
      <p:sp>
        <p:nvSpPr>
          <p:cNvPr id="109" name="Shape 109"/>
          <p:cNvSpPr txBox="1"/>
          <p:nvPr/>
        </p:nvSpPr>
        <p:spPr>
          <a:xfrm>
            <a:off x="554926" y="560932"/>
            <a:ext cx="7465004" cy="150035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defTabSz="457200">
              <a:defRPr sz="2500">
                <a:latin typeface="Times New Roman"/>
                <a:ea typeface="Times New Roman"/>
                <a:cs typeface="Times New Roman"/>
                <a:sym typeface="Times New Roman"/>
              </a:defRPr>
            </a:pPr>
            <a:r>
              <a:t>le globe oculaire est constitué de </a:t>
            </a:r>
            <a:r>
              <a:rPr b="1"/>
              <a:t>3 tuniques:</a:t>
            </a:r>
          </a:p>
          <a:p>
            <a:pPr marL="1012657" lvl="2" indent="-250657" defTabSz="457200">
              <a:buSzPct val="100000"/>
              <a:buChar char="•"/>
              <a:defRPr sz="2500">
                <a:latin typeface="Times New Roman"/>
                <a:ea typeface="Times New Roman"/>
                <a:cs typeface="Times New Roman"/>
                <a:sym typeface="Times New Roman"/>
              </a:defRPr>
            </a:pPr>
            <a:r>
              <a:t>tunique externe ( sclerotique et cornée)</a:t>
            </a:r>
          </a:p>
          <a:p>
            <a:pPr marL="1012657" lvl="2" indent="-250657" defTabSz="457200">
              <a:buSzPct val="100000"/>
              <a:buChar char="•"/>
              <a:defRPr sz="2500">
                <a:latin typeface="Times New Roman"/>
                <a:ea typeface="Times New Roman"/>
                <a:cs typeface="Times New Roman"/>
                <a:sym typeface="Times New Roman"/>
              </a:defRPr>
            </a:pPr>
            <a:r>
              <a:t>tunique moyenne (uvée)</a:t>
            </a:r>
          </a:p>
          <a:p>
            <a:pPr marL="1012657" lvl="2" indent="-250657" defTabSz="457200">
              <a:buSzPct val="100000"/>
              <a:buChar char="•"/>
              <a:defRPr sz="2500">
                <a:latin typeface="Times New Roman"/>
                <a:ea typeface="Times New Roman"/>
                <a:cs typeface="Times New Roman"/>
                <a:sym typeface="Times New Roman"/>
              </a:defRPr>
            </a:pPr>
            <a:r>
              <a:t>tunique interne ( retine) </a:t>
            </a:r>
          </a:p>
        </p:txBody>
      </p:sp>
      <p:sp>
        <p:nvSpPr>
          <p:cNvPr id="110" name="Shape 110"/>
          <p:cNvSpPr txBox="1"/>
          <p:nvPr/>
        </p:nvSpPr>
        <p:spPr>
          <a:xfrm>
            <a:off x="23098" y="28623"/>
            <a:ext cx="3451249" cy="507056"/>
          </a:xfrm>
          <a:prstGeom prst="rect">
            <a:avLst/>
          </a:prstGeom>
          <a:solidFill>
            <a:schemeClr val="accent1">
              <a:lumOff val="23725"/>
            </a:schemeClr>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defTabSz="457200">
              <a:defRPr sz="3000" b="1" i="1" cap="small">
                <a:latin typeface="Times New Roman"/>
                <a:ea typeface="Times New Roman"/>
                <a:cs typeface="Times New Roman"/>
                <a:sym typeface="Times New Roman"/>
              </a:defRPr>
            </a:lvl1pPr>
          </a:lstStyle>
          <a:p>
            <a:r>
              <a:t>Les trois tuniques </a:t>
            </a:r>
          </a:p>
        </p:txBody>
      </p:sp>
      <p:grpSp>
        <p:nvGrpSpPr>
          <p:cNvPr id="118" name="Group 118"/>
          <p:cNvGrpSpPr/>
          <p:nvPr/>
        </p:nvGrpSpPr>
        <p:grpSpPr>
          <a:xfrm>
            <a:off x="-131866" y="1634209"/>
            <a:ext cx="9134941" cy="4351258"/>
            <a:chOff x="0" y="0"/>
            <a:chExt cx="9134940" cy="4351256"/>
          </a:xfrm>
        </p:grpSpPr>
        <p:sp>
          <p:nvSpPr>
            <p:cNvPr id="111" name="Shape 111"/>
            <p:cNvSpPr/>
            <p:nvPr/>
          </p:nvSpPr>
          <p:spPr>
            <a:xfrm>
              <a:off x="8362463" y="947792"/>
              <a:ext cx="772478" cy="233102"/>
            </a:xfrm>
            <a:prstGeom prst="roundRect">
              <a:avLst>
                <a:gd name="adj" fmla="val 50000"/>
              </a:avLst>
            </a:prstGeom>
            <a:noFill/>
            <a:ln w="50800" cap="flat">
              <a:solidFill>
                <a:srgbClr val="82D3FE"/>
              </a:solidFill>
              <a:prstDash val="solid"/>
              <a:round/>
            </a:ln>
            <a:effectLst/>
          </p:spPr>
          <p:txBody>
            <a:bodyPr wrap="square" lIns="45719" tIns="45719" rIns="45719" bIns="45719" numCol="1" anchor="ctr">
              <a:noAutofit/>
            </a:bodyPr>
            <a:lstStyle/>
            <a:p>
              <a:endParaRPr/>
            </a:p>
          </p:txBody>
        </p:sp>
        <p:sp>
          <p:nvSpPr>
            <p:cNvPr id="112" name="Shape 112"/>
            <p:cNvSpPr/>
            <p:nvPr/>
          </p:nvSpPr>
          <p:spPr>
            <a:xfrm>
              <a:off x="7849591" y="0"/>
              <a:ext cx="526285" cy="230563"/>
            </a:xfrm>
            <a:prstGeom prst="roundRect">
              <a:avLst>
                <a:gd name="adj" fmla="val 50000"/>
              </a:avLst>
            </a:prstGeom>
            <a:noFill/>
            <a:ln w="50800" cap="flat">
              <a:solidFill>
                <a:srgbClr val="82D3FE"/>
              </a:solidFill>
              <a:prstDash val="solid"/>
              <a:round/>
            </a:ln>
            <a:effectLst/>
          </p:spPr>
          <p:txBody>
            <a:bodyPr wrap="square" lIns="45719" tIns="45719" rIns="45719" bIns="45719" numCol="1" anchor="ctr">
              <a:noAutofit/>
            </a:bodyPr>
            <a:lstStyle/>
            <a:p>
              <a:endParaRPr/>
            </a:p>
          </p:txBody>
        </p:sp>
        <p:sp>
          <p:nvSpPr>
            <p:cNvPr id="113" name="Shape 113"/>
            <p:cNvSpPr/>
            <p:nvPr/>
          </p:nvSpPr>
          <p:spPr>
            <a:xfrm>
              <a:off x="8467580" y="1196606"/>
              <a:ext cx="562244" cy="222950"/>
            </a:xfrm>
            <a:prstGeom prst="roundRect">
              <a:avLst>
                <a:gd name="adj" fmla="val 50000"/>
              </a:avLst>
            </a:prstGeom>
            <a:noFill/>
            <a:ln w="50800" cap="flat">
              <a:solidFill>
                <a:srgbClr val="D38190"/>
              </a:solidFill>
              <a:prstDash val="solid"/>
              <a:round/>
            </a:ln>
            <a:effectLst/>
          </p:spPr>
          <p:txBody>
            <a:bodyPr wrap="square" lIns="45719" tIns="45719" rIns="45719" bIns="45719" numCol="1" anchor="ctr">
              <a:noAutofit/>
            </a:bodyPr>
            <a:lstStyle/>
            <a:p>
              <a:endParaRPr/>
            </a:p>
          </p:txBody>
        </p:sp>
        <p:sp>
          <p:nvSpPr>
            <p:cNvPr id="114" name="Shape 114"/>
            <p:cNvSpPr/>
            <p:nvPr/>
          </p:nvSpPr>
          <p:spPr>
            <a:xfrm>
              <a:off x="8508189" y="1501176"/>
              <a:ext cx="481026" cy="220411"/>
            </a:xfrm>
            <a:prstGeom prst="roundRect">
              <a:avLst>
                <a:gd name="adj" fmla="val 50000"/>
              </a:avLst>
            </a:prstGeom>
            <a:noFill/>
            <a:ln w="50800" cap="flat">
              <a:solidFill>
                <a:srgbClr val="855100"/>
              </a:solidFill>
              <a:prstDash val="solid"/>
              <a:round/>
            </a:ln>
            <a:effectLst/>
          </p:spPr>
          <p:txBody>
            <a:bodyPr wrap="square" lIns="45719" tIns="45719" rIns="45719" bIns="45719" numCol="1" anchor="ctr">
              <a:noAutofit/>
            </a:bodyPr>
            <a:lstStyle/>
            <a:p>
              <a:endParaRPr/>
            </a:p>
          </p:txBody>
        </p:sp>
        <p:sp>
          <p:nvSpPr>
            <p:cNvPr id="115" name="Shape 115"/>
            <p:cNvSpPr/>
            <p:nvPr/>
          </p:nvSpPr>
          <p:spPr>
            <a:xfrm>
              <a:off x="7813752" y="297590"/>
              <a:ext cx="342851" cy="157320"/>
            </a:xfrm>
            <a:prstGeom prst="roundRect">
              <a:avLst>
                <a:gd name="adj" fmla="val 50000"/>
              </a:avLst>
            </a:prstGeom>
            <a:noFill/>
            <a:ln w="50800" cap="flat">
              <a:solidFill>
                <a:srgbClr val="D38190"/>
              </a:solidFill>
              <a:prstDash val="solid"/>
              <a:round/>
            </a:ln>
            <a:effectLst/>
          </p:spPr>
          <p:txBody>
            <a:bodyPr wrap="square" lIns="45719" tIns="45719" rIns="45719" bIns="45719" numCol="1" anchor="ctr">
              <a:noAutofit/>
            </a:bodyPr>
            <a:lstStyle/>
            <a:p>
              <a:endParaRPr/>
            </a:p>
          </p:txBody>
        </p:sp>
        <p:sp>
          <p:nvSpPr>
            <p:cNvPr id="116" name="Shape 116"/>
            <p:cNvSpPr/>
            <p:nvPr/>
          </p:nvSpPr>
          <p:spPr>
            <a:xfrm>
              <a:off x="8277649" y="404561"/>
              <a:ext cx="767627" cy="526559"/>
            </a:xfrm>
            <a:prstGeom prst="roundRect">
              <a:avLst>
                <a:gd name="adj" fmla="val 30622"/>
              </a:avLst>
            </a:prstGeom>
            <a:noFill/>
            <a:ln w="50800" cap="flat">
              <a:solidFill>
                <a:srgbClr val="D38190"/>
              </a:solidFill>
              <a:prstDash val="solid"/>
              <a:round/>
            </a:ln>
            <a:effectLst/>
          </p:spPr>
          <p:txBody>
            <a:bodyPr wrap="square" lIns="45719" tIns="45719" rIns="45719" bIns="45719" numCol="1" anchor="ctr">
              <a:noAutofit/>
            </a:bodyPr>
            <a:lstStyle/>
            <a:p>
              <a:endParaRPr/>
            </a:p>
          </p:txBody>
        </p:sp>
        <p:pic>
          <p:nvPicPr>
            <p:cNvPr id="117" name="38DB0FCE-3AB4-4225-B08F-2CF350997EA9-L0-001.png"/>
            <p:cNvPicPr>
              <a:picLocks noChangeAspect="1"/>
            </p:cNvPicPr>
            <p:nvPr/>
          </p:nvPicPr>
          <p:blipFill>
            <a:blip r:embed="rId3" cstate="email">
              <a:extLst/>
            </a:blip>
            <a:stretch>
              <a:fillRect/>
            </a:stretch>
          </p:blipFill>
          <p:spPr>
            <a:xfrm>
              <a:off x="0" y="452328"/>
              <a:ext cx="5198572" cy="3898929"/>
            </a:xfrm>
            <a:prstGeom prst="rect">
              <a:avLst/>
            </a:prstGeom>
            <a:ln w="12700" cap="flat">
              <a:noFill/>
              <a:miter lim="400000"/>
            </a:ln>
            <a:effectLst/>
          </p:spPr>
        </p:pic>
      </p:gr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1" animBg="1" advAuto="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Shape 120"/>
          <p:cNvSpPr txBox="1"/>
          <p:nvPr/>
        </p:nvSpPr>
        <p:spPr>
          <a:xfrm>
            <a:off x="585337" y="660267"/>
            <a:ext cx="2526319" cy="433553"/>
          </a:xfrm>
          <a:prstGeom prst="rect">
            <a:avLst/>
          </a:prstGeom>
          <a:solidFill>
            <a:srgbClr val="82D3FE"/>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defTabSz="457200">
              <a:defRPr sz="2500" b="1" i="1" cap="small">
                <a:latin typeface="Times New Roman"/>
                <a:ea typeface="Times New Roman"/>
                <a:cs typeface="Times New Roman"/>
                <a:sym typeface="Times New Roman"/>
              </a:defRPr>
            </a:lvl1pPr>
          </a:lstStyle>
          <a:p>
            <a:r>
              <a:t>tunique externe</a:t>
            </a:r>
          </a:p>
        </p:txBody>
      </p:sp>
      <p:sp>
        <p:nvSpPr>
          <p:cNvPr id="121" name="Shape 121"/>
          <p:cNvSpPr txBox="1"/>
          <p:nvPr/>
        </p:nvSpPr>
        <p:spPr>
          <a:xfrm>
            <a:off x="30575" y="27358"/>
            <a:ext cx="3451248" cy="507056"/>
          </a:xfrm>
          <a:prstGeom prst="rect">
            <a:avLst/>
          </a:prstGeom>
          <a:solidFill>
            <a:schemeClr val="accent1">
              <a:lumOff val="23725"/>
            </a:schemeClr>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defTabSz="457200">
              <a:defRPr sz="3000" b="1" i="1" cap="small">
                <a:latin typeface="Times New Roman"/>
                <a:ea typeface="Times New Roman"/>
                <a:cs typeface="Times New Roman"/>
                <a:sym typeface="Times New Roman"/>
              </a:defRPr>
            </a:lvl1pPr>
          </a:lstStyle>
          <a:p>
            <a:r>
              <a:t>Les trois tuniques </a:t>
            </a:r>
          </a:p>
        </p:txBody>
      </p:sp>
      <p:sp>
        <p:nvSpPr>
          <p:cNvPr id="122" name="Shape 122"/>
          <p:cNvSpPr txBox="1"/>
          <p:nvPr/>
        </p:nvSpPr>
        <p:spPr>
          <a:xfrm>
            <a:off x="1065092" y="1219673"/>
            <a:ext cx="2956308" cy="372750"/>
          </a:xfrm>
          <a:prstGeom prst="rect">
            <a:avLst/>
          </a:prstGeom>
          <a:solidFill>
            <a:srgbClr val="C7EBFE"/>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defTabSz="457200">
              <a:defRPr sz="2000" i="1">
                <a:latin typeface="Times New Roman"/>
                <a:ea typeface="Times New Roman"/>
                <a:cs typeface="Times New Roman"/>
                <a:sym typeface="Times New Roman"/>
              </a:defRPr>
            </a:lvl1pPr>
          </a:lstStyle>
          <a:p>
            <a:r>
              <a:t>1 - La sclérotique ou sclére:</a:t>
            </a:r>
          </a:p>
        </p:txBody>
      </p:sp>
      <p:sp>
        <p:nvSpPr>
          <p:cNvPr id="123" name="Shape 123"/>
          <p:cNvSpPr txBox="1"/>
          <p:nvPr/>
        </p:nvSpPr>
        <p:spPr>
          <a:xfrm>
            <a:off x="30575" y="1777614"/>
            <a:ext cx="8883563" cy="58477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defTabSz="457200">
              <a:defRPr sz="2500">
                <a:latin typeface="Times New Roman"/>
                <a:ea typeface="Times New Roman"/>
                <a:cs typeface="Times New Roman"/>
                <a:sym typeface="Times New Roman"/>
              </a:defRPr>
            </a:pPr>
            <a:r>
              <a:rPr sz="1600" dirty="0" err="1"/>
              <a:t>une</a:t>
            </a:r>
            <a:r>
              <a:rPr sz="1600" dirty="0"/>
              <a:t> </a:t>
            </a:r>
            <a:r>
              <a:rPr sz="1600" dirty="0" err="1"/>
              <a:t>couche</a:t>
            </a:r>
            <a:r>
              <a:rPr sz="1600" dirty="0"/>
              <a:t> de </a:t>
            </a:r>
            <a:r>
              <a:rPr sz="1600" b="1" dirty="0"/>
              <a:t>1 à 0,4 mm </a:t>
            </a:r>
            <a:r>
              <a:rPr sz="1600" b="1" dirty="0" err="1"/>
              <a:t>d’épaisseur</a:t>
            </a:r>
            <a:r>
              <a:rPr sz="1600" dirty="0"/>
              <a:t>, </a:t>
            </a:r>
            <a:r>
              <a:rPr sz="1600" dirty="0" err="1"/>
              <a:t>formée</a:t>
            </a:r>
            <a:r>
              <a:rPr sz="1600" dirty="0"/>
              <a:t> par des </a:t>
            </a:r>
            <a:r>
              <a:rPr sz="1600" dirty="0" err="1"/>
              <a:t>fibres</a:t>
            </a:r>
            <a:r>
              <a:rPr sz="1600" dirty="0"/>
              <a:t> de </a:t>
            </a:r>
            <a:r>
              <a:rPr sz="1600" dirty="0" err="1"/>
              <a:t>collagènes</a:t>
            </a:r>
            <a:r>
              <a:rPr sz="1600" dirty="0" smtClean="0"/>
              <a:t>,</a:t>
            </a:r>
            <a:endParaRPr lang="fr-FR" sz="1600" dirty="0" smtClean="0"/>
          </a:p>
          <a:p>
            <a:pPr defTabSz="457200">
              <a:defRPr sz="2500">
                <a:latin typeface="Times New Roman"/>
                <a:ea typeface="Times New Roman"/>
                <a:cs typeface="Times New Roman"/>
                <a:sym typeface="Times New Roman"/>
              </a:defRPr>
            </a:pPr>
            <a:r>
              <a:rPr sz="1600" dirty="0" smtClean="0"/>
              <a:t> </a:t>
            </a:r>
            <a:r>
              <a:rPr sz="1600" dirty="0"/>
              <a:t>des </a:t>
            </a:r>
            <a:r>
              <a:rPr sz="1600" dirty="0" err="1"/>
              <a:t>fibres</a:t>
            </a:r>
            <a:r>
              <a:rPr sz="1600" dirty="0"/>
              <a:t> </a:t>
            </a:r>
            <a:r>
              <a:rPr sz="1600" dirty="0" err="1"/>
              <a:t>élastiques</a:t>
            </a:r>
            <a:r>
              <a:rPr sz="1600" dirty="0"/>
              <a:t> </a:t>
            </a:r>
            <a:r>
              <a:rPr sz="1600" dirty="0" err="1"/>
              <a:t>produits</a:t>
            </a:r>
            <a:r>
              <a:rPr sz="1600" dirty="0"/>
              <a:t> par des </a:t>
            </a:r>
            <a:r>
              <a:rPr sz="1600" dirty="0" err="1"/>
              <a:t>fibroblastes</a:t>
            </a:r>
            <a:endParaRPr sz="1600" dirty="0"/>
          </a:p>
        </p:txBody>
      </p:sp>
      <p:grpSp>
        <p:nvGrpSpPr>
          <p:cNvPr id="126" name="Group 126"/>
          <p:cNvGrpSpPr/>
          <p:nvPr/>
        </p:nvGrpSpPr>
        <p:grpSpPr>
          <a:xfrm>
            <a:off x="-131853" y="2694477"/>
            <a:ext cx="4564334" cy="4072279"/>
            <a:chOff x="-471630" y="0"/>
            <a:chExt cx="4564333" cy="4072278"/>
          </a:xfrm>
        </p:grpSpPr>
        <p:pic>
          <p:nvPicPr>
            <p:cNvPr id="124" name="Picture 2" descr="Picture 2"/>
            <p:cNvPicPr>
              <a:picLocks noChangeAspect="1"/>
            </p:cNvPicPr>
            <p:nvPr/>
          </p:nvPicPr>
          <p:blipFill>
            <a:blip r:embed="rId2">
              <a:extLst/>
            </a:blip>
            <a:srcRect/>
            <a:stretch>
              <a:fillRect/>
            </a:stretch>
          </p:blipFill>
          <p:spPr>
            <a:xfrm>
              <a:off x="360728" y="509757"/>
              <a:ext cx="3312456" cy="3562522"/>
            </a:xfrm>
            <a:prstGeom prst="rect">
              <a:avLst/>
            </a:prstGeom>
            <a:ln w="12700" cap="flat">
              <a:noFill/>
              <a:miter lim="400000"/>
            </a:ln>
            <a:effectLst/>
          </p:spPr>
        </p:pic>
        <p:sp>
          <p:nvSpPr>
            <p:cNvPr id="125" name="Shape 125"/>
            <p:cNvSpPr txBox="1"/>
            <p:nvPr/>
          </p:nvSpPr>
          <p:spPr>
            <a:xfrm>
              <a:off x="-471631" y="0"/>
              <a:ext cx="4564334" cy="433553"/>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tIns="45719" rIns="45719" bIns="45719" numCol="1" anchor="t">
              <a:spAutoFit/>
            </a:bodyPr>
            <a:lstStyle>
              <a:lvl1pPr defTabSz="457200">
                <a:defRPr sz="2500">
                  <a:latin typeface="Times New Roman"/>
                  <a:ea typeface="Times New Roman"/>
                  <a:cs typeface="Times New Roman"/>
                  <a:sym typeface="Times New Roman"/>
                </a:defRPr>
              </a:lvl1pPr>
            </a:lstStyle>
            <a:p>
              <a:r>
                <a:t>- la partie int fait face à la choroïde</a:t>
              </a:r>
            </a:p>
          </p:txBody>
        </p:sp>
      </p:grpSp>
      <p:grpSp>
        <p:nvGrpSpPr>
          <p:cNvPr id="129" name="Group 129"/>
          <p:cNvGrpSpPr/>
          <p:nvPr/>
        </p:nvGrpSpPr>
        <p:grpSpPr>
          <a:xfrm>
            <a:off x="4730184" y="2697400"/>
            <a:ext cx="4533404" cy="4157304"/>
            <a:chOff x="68915" y="0"/>
            <a:chExt cx="4533402" cy="4157302"/>
          </a:xfrm>
        </p:grpSpPr>
        <p:pic>
          <p:nvPicPr>
            <p:cNvPr id="127" name="pasted-image.jpeg"/>
            <p:cNvPicPr>
              <a:picLocks noChangeAspect="1"/>
            </p:cNvPicPr>
            <p:nvPr/>
          </p:nvPicPr>
          <p:blipFill>
            <a:blip r:embed="rId3" cstate="email">
              <a:extLst/>
            </a:blip>
            <a:srcRect/>
            <a:stretch>
              <a:fillRect/>
            </a:stretch>
          </p:blipFill>
          <p:spPr>
            <a:xfrm>
              <a:off x="143240" y="1369443"/>
              <a:ext cx="4131350" cy="2787861"/>
            </a:xfrm>
            <a:prstGeom prst="rect">
              <a:avLst/>
            </a:prstGeom>
            <a:ln w="12700" cap="flat">
              <a:noFill/>
              <a:miter lim="400000"/>
            </a:ln>
            <a:effectLst/>
          </p:spPr>
        </p:pic>
        <p:sp>
          <p:nvSpPr>
            <p:cNvPr id="128" name="Shape 128"/>
            <p:cNvSpPr txBox="1"/>
            <p:nvPr/>
          </p:nvSpPr>
          <p:spPr>
            <a:xfrm>
              <a:off x="68915" y="0"/>
              <a:ext cx="4533403" cy="1144753"/>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t">
              <a:spAutoFit/>
            </a:bodyPr>
            <a:lstStyle>
              <a:lvl1pPr algn="ctr" defTabSz="457200">
                <a:defRPr sz="2500">
                  <a:latin typeface="Times New Roman"/>
                  <a:ea typeface="Times New Roman"/>
                  <a:cs typeface="Times New Roman"/>
                  <a:sym typeface="Times New Roman"/>
                </a:defRPr>
              </a:lvl1pPr>
            </a:lstStyle>
            <a:p>
              <a:r>
                <a:rPr dirty="0"/>
                <a:t>les tendons des 6 muscles </a:t>
              </a:r>
              <a:r>
                <a:rPr dirty="0" err="1"/>
                <a:t>extrinsèques</a:t>
              </a:r>
              <a:r>
                <a:rPr dirty="0"/>
                <a:t> de l’oeil </a:t>
              </a:r>
              <a:r>
                <a:rPr dirty="0" err="1"/>
                <a:t>s’attachent</a:t>
              </a:r>
              <a:r>
                <a:rPr dirty="0"/>
                <a:t> sur la face </a:t>
              </a:r>
              <a:r>
                <a:rPr dirty="0" err="1"/>
                <a:t>ext</a:t>
              </a:r>
              <a:r>
                <a:rPr dirty="0"/>
                <a:t> de la </a:t>
              </a:r>
              <a:r>
                <a:rPr dirty="0" err="1"/>
                <a:t>sclérotique</a:t>
              </a:r>
              <a:endParaRPr dirty="0"/>
            </a:p>
          </p:txBody>
        </p:sp>
      </p:grpSp>
      <p:sp>
        <p:nvSpPr>
          <p:cNvPr id="130" name="Shape 130"/>
          <p:cNvSpPr/>
          <p:nvPr/>
        </p:nvSpPr>
        <p:spPr>
          <a:xfrm flipV="1">
            <a:off x="4549068" y="2893158"/>
            <a:ext cx="1" cy="3818191"/>
          </a:xfrm>
          <a:prstGeom prst="line">
            <a:avLst/>
          </a:prstGeom>
          <a:ln w="25400">
            <a:solidFill>
              <a:schemeClr val="accent1"/>
            </a:solidFill>
          </a:ln>
          <a:effectLst>
            <a:outerShdw blurRad="38100" dist="20000" dir="5400000" rotWithShape="0">
              <a:srgbClr val="000000">
                <a:alpha val="38000"/>
              </a:srgbClr>
            </a:outerShdw>
          </a:effectLst>
        </p:spPr>
        <p:txBody>
          <a:bodyPr lIns="45719" rIns="45719"/>
          <a:lstStyle/>
          <a:p>
            <a:endParaRPr/>
          </a:p>
        </p:txBody>
      </p:sp>
      <p:sp>
        <p:nvSpPr>
          <p:cNvPr id="131" name="Shape 131"/>
          <p:cNvSpPr/>
          <p:nvPr/>
        </p:nvSpPr>
        <p:spPr>
          <a:xfrm flipH="1" flipV="1">
            <a:off x="1812098" y="2627435"/>
            <a:ext cx="5585740" cy="1"/>
          </a:xfrm>
          <a:prstGeom prst="line">
            <a:avLst/>
          </a:prstGeom>
          <a:ln w="25400">
            <a:solidFill>
              <a:schemeClr val="accent1"/>
            </a:solidFill>
          </a:ln>
          <a:effectLst>
            <a:outerShdw blurRad="38100" dist="20000" dir="5400000" rotWithShape="0">
              <a:srgbClr val="000000">
                <a:alpha val="38000"/>
              </a:srgbClr>
            </a:outerShdw>
          </a:effectLst>
        </p:spPr>
        <p:txBody>
          <a:bodyPr lIns="45719" rIns="45719"/>
          <a:lstStyle/>
          <a:p>
            <a:endParaRPr/>
          </a:p>
        </p:txBody>
      </p:sp>
      <p:grpSp>
        <p:nvGrpSpPr>
          <p:cNvPr id="135" name="Group 135"/>
          <p:cNvGrpSpPr/>
          <p:nvPr/>
        </p:nvGrpSpPr>
        <p:grpSpPr>
          <a:xfrm>
            <a:off x="7313703" y="110677"/>
            <a:ext cx="1600434" cy="1744515"/>
            <a:chOff x="0" y="0"/>
            <a:chExt cx="1600432" cy="1744513"/>
          </a:xfrm>
        </p:grpSpPr>
        <p:pic>
          <p:nvPicPr>
            <p:cNvPr id="132" name="14CA8028-C266-4590-8F74-901C69F610C4-L0-001.png"/>
            <p:cNvPicPr>
              <a:picLocks/>
            </p:cNvPicPr>
            <p:nvPr/>
          </p:nvPicPr>
          <p:blipFill>
            <a:blip r:embed="rId4" cstate="email">
              <a:extLst/>
            </a:blip>
            <a:srcRect/>
            <a:stretch>
              <a:fillRect/>
            </a:stretch>
          </p:blipFill>
          <p:spPr>
            <a:xfrm>
              <a:off x="47279" y="0"/>
              <a:ext cx="1553154" cy="1698672"/>
            </a:xfrm>
            <a:prstGeom prst="rect">
              <a:avLst/>
            </a:prstGeom>
            <a:ln w="12700" cap="flat">
              <a:noFill/>
              <a:miter lim="400000"/>
            </a:ln>
            <a:effectLst/>
          </p:spPr>
        </p:pic>
        <p:sp>
          <p:nvSpPr>
            <p:cNvPr id="133" name="Shape 133"/>
            <p:cNvSpPr/>
            <p:nvPr/>
          </p:nvSpPr>
          <p:spPr>
            <a:xfrm rot="7528107">
              <a:off x="211709" y="1447096"/>
              <a:ext cx="423369" cy="158222"/>
            </a:xfrm>
            <a:prstGeom prst="roundRect">
              <a:avLst>
                <a:gd name="adj" fmla="val 0"/>
              </a:avLst>
            </a:prstGeom>
            <a:solidFill>
              <a:srgbClr val="FFFFFF"/>
            </a:solidFill>
            <a:ln w="12700" cap="flat">
              <a:noFill/>
              <a:miter lim="400000"/>
            </a:ln>
            <a:effectLst/>
          </p:spPr>
          <p:txBody>
            <a:bodyPr wrap="square" lIns="45719" tIns="45719" rIns="45719" bIns="45719" numCol="1" anchor="ctr">
              <a:noAutofit/>
            </a:bodyPr>
            <a:lstStyle/>
            <a:p>
              <a:endParaRPr/>
            </a:p>
          </p:txBody>
        </p:sp>
        <p:sp>
          <p:nvSpPr>
            <p:cNvPr id="134" name="Shape 134"/>
            <p:cNvSpPr/>
            <p:nvPr/>
          </p:nvSpPr>
          <p:spPr>
            <a:xfrm rot="8444394">
              <a:off x="2825" y="1277488"/>
              <a:ext cx="388186" cy="147386"/>
            </a:xfrm>
            <a:prstGeom prst="roundRect">
              <a:avLst>
                <a:gd name="adj" fmla="val 0"/>
              </a:avLst>
            </a:prstGeom>
            <a:solidFill>
              <a:srgbClr val="FFFFFF"/>
            </a:solidFill>
            <a:ln w="12700" cap="flat">
              <a:noFill/>
              <a:miter lim="400000"/>
            </a:ln>
            <a:effectLst/>
          </p:spPr>
          <p:txBody>
            <a:bodyPr wrap="square" lIns="45719" tIns="45719" rIns="45719" bIns="45719" numCol="1" anchor="ctr">
              <a:noAutofit/>
            </a:bodyPr>
            <a:lstStyle/>
            <a:p>
              <a:endParaRPr/>
            </a:p>
          </p:txBody>
        </p:sp>
      </p:gr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2" nodeType="clickEffect">
                                  <p:stCondLst>
                                    <p:cond delay="0"/>
                                  </p:stCondLst>
                                  <p:iterate>
                                    <p:tmAbs val="0"/>
                                  </p:iterate>
                                  <p:childTnLst>
                                    <p:set>
                                      <p:cBhvr>
                                        <p:cTn id="10" fill="hold"/>
                                        <p:tgtEl>
                                          <p:spTgt spid="1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 grpId="1" animBg="1" advAuto="0"/>
      <p:bldP spid="129" grpId="2" animBg="1" advAuto="0"/>
    </p:bldLst>
  </p:timing>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37" name="Picture 2" descr="Picture 2"/>
          <p:cNvPicPr>
            <a:picLocks noChangeAspect="1"/>
          </p:cNvPicPr>
          <p:nvPr/>
        </p:nvPicPr>
        <p:blipFill>
          <a:blip r:embed="rId2">
            <a:extLst/>
          </a:blip>
          <a:srcRect/>
          <a:stretch>
            <a:fillRect/>
          </a:stretch>
        </p:blipFill>
        <p:spPr>
          <a:xfrm>
            <a:off x="0" y="0"/>
            <a:ext cx="9144000" cy="6858001"/>
          </a:xfrm>
          <a:prstGeom prst="rect">
            <a:avLst/>
          </a:prstGeom>
          <a:ln w="12700">
            <a:miter lim="400000"/>
          </a:ln>
        </p:spPr>
      </p:pic>
    </p:spTree>
  </p:cSld>
  <p:clrMapOvr>
    <a:masterClrMapping/>
  </p:clrMapOvr>
  <p:transition spd="med"/>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Shape 139"/>
          <p:cNvSpPr txBox="1"/>
          <p:nvPr/>
        </p:nvSpPr>
        <p:spPr>
          <a:xfrm>
            <a:off x="585337" y="660267"/>
            <a:ext cx="2526319" cy="433553"/>
          </a:xfrm>
          <a:prstGeom prst="rect">
            <a:avLst/>
          </a:prstGeom>
          <a:solidFill>
            <a:srgbClr val="82D3FE"/>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defTabSz="457200">
              <a:defRPr sz="2500" b="1" i="1" cap="small">
                <a:latin typeface="Times New Roman"/>
                <a:ea typeface="Times New Roman"/>
                <a:cs typeface="Times New Roman"/>
                <a:sym typeface="Times New Roman"/>
              </a:defRPr>
            </a:lvl1pPr>
          </a:lstStyle>
          <a:p>
            <a:r>
              <a:t>tunique externe</a:t>
            </a:r>
          </a:p>
        </p:txBody>
      </p:sp>
      <p:sp>
        <p:nvSpPr>
          <p:cNvPr id="140" name="Shape 140"/>
          <p:cNvSpPr txBox="1"/>
          <p:nvPr/>
        </p:nvSpPr>
        <p:spPr>
          <a:xfrm>
            <a:off x="30575" y="27358"/>
            <a:ext cx="3451248" cy="507056"/>
          </a:xfrm>
          <a:prstGeom prst="rect">
            <a:avLst/>
          </a:prstGeom>
          <a:solidFill>
            <a:schemeClr val="accent1">
              <a:lumOff val="23725"/>
            </a:schemeClr>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defTabSz="457200">
              <a:defRPr sz="3000" b="1" i="1" cap="small">
                <a:latin typeface="Times New Roman"/>
                <a:ea typeface="Times New Roman"/>
                <a:cs typeface="Times New Roman"/>
                <a:sym typeface="Times New Roman"/>
              </a:defRPr>
            </a:lvl1pPr>
          </a:lstStyle>
          <a:p>
            <a:r>
              <a:t>Les trois tuniques </a:t>
            </a:r>
          </a:p>
        </p:txBody>
      </p:sp>
      <p:sp>
        <p:nvSpPr>
          <p:cNvPr id="141" name="Shape 141"/>
          <p:cNvSpPr txBox="1"/>
          <p:nvPr/>
        </p:nvSpPr>
        <p:spPr>
          <a:xfrm>
            <a:off x="1065092" y="1219673"/>
            <a:ext cx="1522225" cy="372750"/>
          </a:xfrm>
          <a:prstGeom prst="rect">
            <a:avLst/>
          </a:prstGeom>
          <a:solidFill>
            <a:srgbClr val="C7EBFE"/>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defTabSz="457200">
              <a:defRPr sz="2000" i="1">
                <a:latin typeface="Times New Roman"/>
                <a:ea typeface="Times New Roman"/>
                <a:cs typeface="Times New Roman"/>
                <a:sym typeface="Times New Roman"/>
              </a:defRPr>
            </a:lvl1pPr>
          </a:lstStyle>
          <a:p>
            <a:r>
              <a:t>2 - La Cornée</a:t>
            </a:r>
          </a:p>
        </p:txBody>
      </p:sp>
      <p:sp>
        <p:nvSpPr>
          <p:cNvPr id="142" name="Shape 142"/>
          <p:cNvSpPr txBox="1"/>
          <p:nvPr/>
        </p:nvSpPr>
        <p:spPr>
          <a:xfrm>
            <a:off x="265344" y="1718276"/>
            <a:ext cx="8613312" cy="78915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defTabSz="457200">
              <a:defRPr sz="2500">
                <a:latin typeface="Times New Roman"/>
                <a:ea typeface="Times New Roman"/>
                <a:cs typeface="Times New Roman"/>
                <a:sym typeface="Times New Roman"/>
              </a:defRPr>
            </a:pPr>
            <a:r>
              <a:t>une couche de </a:t>
            </a:r>
            <a:r>
              <a:rPr b="1"/>
              <a:t>1,1 à 0,8mm d’epaisseur,  </a:t>
            </a:r>
            <a:r>
              <a:t>transparente, dépourvue de vx sanguins et très riches en terminaisons nerveuses</a:t>
            </a:r>
          </a:p>
        </p:txBody>
      </p:sp>
      <p:grpSp>
        <p:nvGrpSpPr>
          <p:cNvPr id="145" name="Group 145"/>
          <p:cNvGrpSpPr/>
          <p:nvPr/>
        </p:nvGrpSpPr>
        <p:grpSpPr>
          <a:xfrm>
            <a:off x="4613591" y="2703953"/>
            <a:ext cx="4580776" cy="4112098"/>
            <a:chOff x="0" y="0"/>
            <a:chExt cx="4580774" cy="4112096"/>
          </a:xfrm>
        </p:grpSpPr>
        <p:pic>
          <p:nvPicPr>
            <p:cNvPr id="143" name="pasted-image.jpeg"/>
            <p:cNvPicPr>
              <a:picLocks noChangeAspect="1"/>
            </p:cNvPicPr>
            <p:nvPr/>
          </p:nvPicPr>
          <p:blipFill>
            <a:blip r:embed="rId3" cstate="email">
              <a:extLst/>
            </a:blip>
            <a:srcRect/>
            <a:stretch>
              <a:fillRect/>
            </a:stretch>
          </p:blipFill>
          <p:spPr>
            <a:xfrm>
              <a:off x="971477" y="970187"/>
              <a:ext cx="3031576" cy="3141910"/>
            </a:xfrm>
            <a:prstGeom prst="rect">
              <a:avLst/>
            </a:prstGeom>
            <a:ln w="12700" cap="flat">
              <a:noFill/>
              <a:miter lim="400000"/>
            </a:ln>
            <a:effectLst/>
          </p:spPr>
        </p:pic>
        <p:sp>
          <p:nvSpPr>
            <p:cNvPr id="144" name="Shape 144"/>
            <p:cNvSpPr txBox="1"/>
            <p:nvPr/>
          </p:nvSpPr>
          <p:spPr>
            <a:xfrm>
              <a:off x="0" y="0"/>
              <a:ext cx="4580775" cy="1450092"/>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t">
              <a:spAutoFit/>
            </a:bodyPr>
            <a:lstStyle/>
            <a:p>
              <a:pPr defTabSz="457200">
                <a:defRPr sz="2400">
                  <a:latin typeface="Times New Roman"/>
                  <a:ea typeface="Times New Roman"/>
                  <a:cs typeface="Times New Roman"/>
                  <a:sym typeface="Times New Roman"/>
                </a:defRPr>
              </a:pPr>
              <a:r>
                <a:t>au niveau du limbe (jonction entre cornée et sclérotique) , </a:t>
              </a:r>
              <a:r>
                <a:rPr b="1"/>
                <a:t>l’épithélium cornéen est en continuité avec la conjonctive</a:t>
              </a:r>
            </a:p>
          </p:txBody>
        </p:sp>
      </p:grpSp>
      <p:grpSp>
        <p:nvGrpSpPr>
          <p:cNvPr id="148" name="Group 148"/>
          <p:cNvGrpSpPr/>
          <p:nvPr/>
        </p:nvGrpSpPr>
        <p:grpSpPr>
          <a:xfrm>
            <a:off x="279484" y="2773785"/>
            <a:ext cx="4311972" cy="3703119"/>
            <a:chOff x="0" y="0"/>
            <a:chExt cx="4311970" cy="3703117"/>
          </a:xfrm>
        </p:grpSpPr>
        <p:sp>
          <p:nvSpPr>
            <p:cNvPr id="146" name="Shape 146"/>
            <p:cNvSpPr txBox="1"/>
            <p:nvPr/>
          </p:nvSpPr>
          <p:spPr>
            <a:xfrm>
              <a:off x="147671" y="0"/>
              <a:ext cx="3785943" cy="789153"/>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t">
              <a:spAutoFit/>
            </a:bodyPr>
            <a:lstStyle/>
            <a:p>
              <a:pPr algn="ctr" defTabSz="457200">
                <a:defRPr sz="2500">
                  <a:latin typeface="Times New Roman"/>
                  <a:ea typeface="Times New Roman"/>
                  <a:cs typeface="Times New Roman"/>
                  <a:sym typeface="Times New Roman"/>
                </a:defRPr>
              </a:pPr>
              <a:r>
                <a:t>la face ant de la cornée est humidifiée par les </a:t>
              </a:r>
              <a:r>
                <a:rPr b="1"/>
                <a:t>larmes</a:t>
              </a:r>
            </a:p>
          </p:txBody>
        </p:sp>
        <p:pic>
          <p:nvPicPr>
            <p:cNvPr id="147" name="8D6C4D8E-DB81-491A-B288-1E10AD0FFD0D-L0-001.png"/>
            <p:cNvPicPr>
              <a:picLocks noChangeAspect="1"/>
            </p:cNvPicPr>
            <p:nvPr/>
          </p:nvPicPr>
          <p:blipFill>
            <a:blip r:embed="rId4" cstate="email">
              <a:extLst/>
            </a:blip>
            <a:srcRect/>
            <a:stretch>
              <a:fillRect/>
            </a:stretch>
          </p:blipFill>
          <p:spPr>
            <a:xfrm>
              <a:off x="0" y="1055509"/>
              <a:ext cx="4311971" cy="2647609"/>
            </a:xfrm>
            <a:prstGeom prst="rect">
              <a:avLst/>
            </a:prstGeom>
            <a:ln w="12700" cap="flat">
              <a:noFill/>
              <a:miter lim="400000"/>
            </a:ln>
            <a:effectLst/>
          </p:spPr>
        </p:pic>
      </p:grpSp>
      <p:sp>
        <p:nvSpPr>
          <p:cNvPr id="149" name="Shape 149"/>
          <p:cNvSpPr/>
          <p:nvPr/>
        </p:nvSpPr>
        <p:spPr>
          <a:xfrm flipV="1">
            <a:off x="4549068" y="2773785"/>
            <a:ext cx="1" cy="3937564"/>
          </a:xfrm>
          <a:prstGeom prst="line">
            <a:avLst/>
          </a:prstGeom>
          <a:ln w="25400">
            <a:solidFill>
              <a:schemeClr val="accent1"/>
            </a:solidFill>
          </a:ln>
          <a:effectLst>
            <a:outerShdw blurRad="38100" dist="20000" dir="5400000" rotWithShape="0">
              <a:srgbClr val="000000">
                <a:alpha val="38000"/>
              </a:srgbClr>
            </a:outerShdw>
          </a:effectLst>
        </p:spPr>
        <p:txBody>
          <a:bodyPr lIns="45719" rIns="45719"/>
          <a:lstStyle/>
          <a:p>
            <a:endParaRPr/>
          </a:p>
        </p:txBody>
      </p:sp>
      <p:sp>
        <p:nvSpPr>
          <p:cNvPr id="150" name="Shape 150"/>
          <p:cNvSpPr/>
          <p:nvPr/>
        </p:nvSpPr>
        <p:spPr>
          <a:xfrm flipH="1" flipV="1">
            <a:off x="2031268" y="2633282"/>
            <a:ext cx="5035602" cy="1"/>
          </a:xfrm>
          <a:prstGeom prst="line">
            <a:avLst/>
          </a:prstGeom>
          <a:ln w="25400">
            <a:solidFill>
              <a:schemeClr val="accent1"/>
            </a:solidFill>
          </a:ln>
          <a:effectLst>
            <a:outerShdw blurRad="38100" dist="20000" dir="5400000" rotWithShape="0">
              <a:srgbClr val="000000">
                <a:alpha val="38000"/>
              </a:srgbClr>
            </a:outerShdw>
          </a:effectLst>
        </p:spPr>
        <p:txBody>
          <a:bodyPr lIns="45719" rIns="45719"/>
          <a:lstStyle/>
          <a:p>
            <a:endParaRPr/>
          </a:p>
        </p:txBody>
      </p:sp>
      <p:grpSp>
        <p:nvGrpSpPr>
          <p:cNvPr id="154" name="Group 154"/>
          <p:cNvGrpSpPr/>
          <p:nvPr/>
        </p:nvGrpSpPr>
        <p:grpSpPr>
          <a:xfrm>
            <a:off x="7313703" y="110677"/>
            <a:ext cx="1600434" cy="1744515"/>
            <a:chOff x="0" y="0"/>
            <a:chExt cx="1600432" cy="1744513"/>
          </a:xfrm>
        </p:grpSpPr>
        <p:pic>
          <p:nvPicPr>
            <p:cNvPr id="151" name="14CA8028-C266-4590-8F74-901C69F610C4-L0-001.png"/>
            <p:cNvPicPr>
              <a:picLocks/>
            </p:cNvPicPr>
            <p:nvPr/>
          </p:nvPicPr>
          <p:blipFill>
            <a:blip r:embed="rId5" cstate="email">
              <a:extLst/>
            </a:blip>
            <a:srcRect/>
            <a:stretch>
              <a:fillRect/>
            </a:stretch>
          </p:blipFill>
          <p:spPr>
            <a:xfrm>
              <a:off x="47279" y="0"/>
              <a:ext cx="1553154" cy="1698672"/>
            </a:xfrm>
            <a:prstGeom prst="rect">
              <a:avLst/>
            </a:prstGeom>
            <a:ln w="12700" cap="flat">
              <a:noFill/>
              <a:miter lim="400000"/>
            </a:ln>
            <a:effectLst/>
          </p:spPr>
        </p:pic>
        <p:sp>
          <p:nvSpPr>
            <p:cNvPr id="152" name="Shape 152"/>
            <p:cNvSpPr/>
            <p:nvPr/>
          </p:nvSpPr>
          <p:spPr>
            <a:xfrm rot="7528107">
              <a:off x="211709" y="1447096"/>
              <a:ext cx="423369" cy="158222"/>
            </a:xfrm>
            <a:prstGeom prst="roundRect">
              <a:avLst>
                <a:gd name="adj" fmla="val 0"/>
              </a:avLst>
            </a:prstGeom>
            <a:solidFill>
              <a:srgbClr val="FFFFFF"/>
            </a:solidFill>
            <a:ln w="12700" cap="flat">
              <a:noFill/>
              <a:miter lim="400000"/>
            </a:ln>
            <a:effectLst/>
          </p:spPr>
          <p:txBody>
            <a:bodyPr wrap="square" lIns="45719" tIns="45719" rIns="45719" bIns="45719" numCol="1" anchor="ctr">
              <a:noAutofit/>
            </a:bodyPr>
            <a:lstStyle/>
            <a:p>
              <a:endParaRPr/>
            </a:p>
          </p:txBody>
        </p:sp>
        <p:sp>
          <p:nvSpPr>
            <p:cNvPr id="153" name="Shape 153"/>
            <p:cNvSpPr/>
            <p:nvPr/>
          </p:nvSpPr>
          <p:spPr>
            <a:xfrm rot="8444394">
              <a:off x="2825" y="1277488"/>
              <a:ext cx="388186" cy="147386"/>
            </a:xfrm>
            <a:prstGeom prst="roundRect">
              <a:avLst>
                <a:gd name="adj" fmla="val 0"/>
              </a:avLst>
            </a:prstGeom>
            <a:solidFill>
              <a:srgbClr val="FFFFFF"/>
            </a:solidFill>
            <a:ln w="12700" cap="flat">
              <a:noFill/>
              <a:miter lim="400000"/>
            </a:ln>
            <a:effectLst/>
          </p:spPr>
          <p:txBody>
            <a:bodyPr wrap="square" lIns="45719" tIns="45719" rIns="45719" bIns="45719" numCol="1" anchor="ctr">
              <a:noAutofit/>
            </a:bodyPr>
            <a:lstStyle/>
            <a:p>
              <a:endParaRPr/>
            </a:p>
          </p:txBody>
        </p:sp>
      </p:gr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4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2" nodeType="clickEffect">
                                  <p:stCondLst>
                                    <p:cond delay="0"/>
                                  </p:stCondLst>
                                  <p:iterate>
                                    <p:tmAbs val="0"/>
                                  </p:iterate>
                                  <p:childTnLst>
                                    <p:set>
                                      <p:cBhvr>
                                        <p:cTn id="10" fill="hold"/>
                                        <p:tgtEl>
                                          <p:spTgt spid="1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 grpId="2" animBg="1" advAuto="0"/>
      <p:bldP spid="148" grpId="1" animBg="1" advAuto="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 name="Shape 158"/>
          <p:cNvSpPr txBox="1"/>
          <p:nvPr/>
        </p:nvSpPr>
        <p:spPr>
          <a:xfrm>
            <a:off x="585337" y="660267"/>
            <a:ext cx="2526319" cy="433553"/>
          </a:xfrm>
          <a:prstGeom prst="rect">
            <a:avLst/>
          </a:prstGeom>
          <a:solidFill>
            <a:srgbClr val="82D3FE"/>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defTabSz="457200">
              <a:defRPr sz="2500" b="1" i="1" cap="small">
                <a:latin typeface="Times New Roman"/>
                <a:ea typeface="Times New Roman"/>
                <a:cs typeface="Times New Roman"/>
                <a:sym typeface="Times New Roman"/>
              </a:defRPr>
            </a:lvl1pPr>
          </a:lstStyle>
          <a:p>
            <a:r>
              <a:t>tunique externe</a:t>
            </a:r>
          </a:p>
        </p:txBody>
      </p:sp>
      <p:sp>
        <p:nvSpPr>
          <p:cNvPr id="159" name="Shape 159"/>
          <p:cNvSpPr txBox="1"/>
          <p:nvPr/>
        </p:nvSpPr>
        <p:spPr>
          <a:xfrm>
            <a:off x="30575" y="27358"/>
            <a:ext cx="3451248" cy="507056"/>
          </a:xfrm>
          <a:prstGeom prst="rect">
            <a:avLst/>
          </a:prstGeom>
          <a:solidFill>
            <a:schemeClr val="accent1">
              <a:lumOff val="23725"/>
            </a:schemeClr>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defTabSz="457200">
              <a:defRPr sz="3000" b="1" i="1" cap="small">
                <a:latin typeface="Times New Roman"/>
                <a:ea typeface="Times New Roman"/>
                <a:cs typeface="Times New Roman"/>
                <a:sym typeface="Times New Roman"/>
              </a:defRPr>
            </a:lvl1pPr>
          </a:lstStyle>
          <a:p>
            <a:r>
              <a:t>Les trois tuniques </a:t>
            </a:r>
          </a:p>
        </p:txBody>
      </p:sp>
      <p:sp>
        <p:nvSpPr>
          <p:cNvPr id="160" name="Shape 160"/>
          <p:cNvSpPr txBox="1"/>
          <p:nvPr/>
        </p:nvSpPr>
        <p:spPr>
          <a:xfrm>
            <a:off x="1065092" y="1219673"/>
            <a:ext cx="1522225" cy="372750"/>
          </a:xfrm>
          <a:prstGeom prst="rect">
            <a:avLst/>
          </a:prstGeom>
          <a:solidFill>
            <a:srgbClr val="C7EBFE"/>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defTabSz="457200">
              <a:defRPr sz="2000" i="1">
                <a:latin typeface="Times New Roman"/>
                <a:ea typeface="Times New Roman"/>
                <a:cs typeface="Times New Roman"/>
                <a:sym typeface="Times New Roman"/>
              </a:defRPr>
            </a:lvl1pPr>
          </a:lstStyle>
          <a:p>
            <a:r>
              <a:t>2 - La Cornée</a:t>
            </a:r>
          </a:p>
        </p:txBody>
      </p:sp>
      <p:pic>
        <p:nvPicPr>
          <p:cNvPr id="161" name="Picture 2" descr="Picture 2"/>
          <p:cNvPicPr>
            <a:picLocks noChangeAspect="1"/>
          </p:cNvPicPr>
          <p:nvPr/>
        </p:nvPicPr>
        <p:blipFill>
          <a:blip r:embed="rId2">
            <a:extLst/>
          </a:blip>
          <a:srcRect/>
          <a:stretch>
            <a:fillRect/>
          </a:stretch>
        </p:blipFill>
        <p:spPr>
          <a:xfrm>
            <a:off x="21483" y="2034546"/>
            <a:ext cx="2816024" cy="4658384"/>
          </a:xfrm>
          <a:prstGeom prst="rect">
            <a:avLst/>
          </a:prstGeom>
          <a:ln w="12700">
            <a:miter lim="400000"/>
          </a:ln>
        </p:spPr>
      </p:pic>
      <p:sp>
        <p:nvSpPr>
          <p:cNvPr id="162" name="Shape 162"/>
          <p:cNvSpPr txBox="1"/>
          <p:nvPr/>
        </p:nvSpPr>
        <p:spPr>
          <a:xfrm>
            <a:off x="4892227" y="1310315"/>
            <a:ext cx="1183269" cy="37275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defTabSz="457200">
              <a:defRPr sz="2000">
                <a:latin typeface="Times New Roman"/>
                <a:ea typeface="Times New Roman"/>
                <a:cs typeface="Times New Roman"/>
                <a:sym typeface="Times New Roman"/>
              </a:defRPr>
            </a:lvl1pPr>
          </a:lstStyle>
          <a:p>
            <a:r>
              <a:t>5 couches:</a:t>
            </a:r>
          </a:p>
        </p:txBody>
      </p:sp>
      <p:sp>
        <p:nvSpPr>
          <p:cNvPr id="163" name="Shape 163"/>
          <p:cNvSpPr txBox="1"/>
          <p:nvPr/>
        </p:nvSpPr>
        <p:spPr>
          <a:xfrm>
            <a:off x="4830602" y="1800584"/>
            <a:ext cx="3893653" cy="66485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defTabSz="457200">
              <a:defRPr sz="2000">
                <a:latin typeface="Times New Roman"/>
                <a:ea typeface="Times New Roman"/>
                <a:cs typeface="Times New Roman"/>
                <a:sym typeface="Times New Roman"/>
              </a:defRPr>
            </a:pPr>
            <a:r>
              <a:rPr b="1" u="sng"/>
              <a:t>l’épithélium Cornéen</a:t>
            </a:r>
            <a:r>
              <a:t>: pavimenteux stratifie (5 à 7couches)</a:t>
            </a:r>
          </a:p>
        </p:txBody>
      </p:sp>
      <p:pic>
        <p:nvPicPr>
          <p:cNvPr id="164" name="75C363B3-E333-4D86-812C-4CC4AEC700A7-L0-001.png"/>
          <p:cNvPicPr>
            <a:picLocks noChangeAspect="1"/>
          </p:cNvPicPr>
          <p:nvPr/>
        </p:nvPicPr>
        <p:blipFill>
          <a:blip r:embed="rId3" cstate="email">
            <a:extLst/>
          </a:blip>
          <a:srcRect/>
          <a:stretch>
            <a:fillRect/>
          </a:stretch>
        </p:blipFill>
        <p:spPr>
          <a:xfrm rot="5400000">
            <a:off x="2623174" y="1434418"/>
            <a:ext cx="2421740" cy="1789733"/>
          </a:xfrm>
          <a:prstGeom prst="rect">
            <a:avLst/>
          </a:prstGeom>
          <a:ln w="12700">
            <a:miter lim="400000"/>
          </a:ln>
        </p:spPr>
      </p:pic>
      <p:sp>
        <p:nvSpPr>
          <p:cNvPr id="165" name="Shape 165"/>
          <p:cNvSpPr/>
          <p:nvPr/>
        </p:nvSpPr>
        <p:spPr>
          <a:xfrm flipV="1">
            <a:off x="4109138" y="1288380"/>
            <a:ext cx="1" cy="1355995"/>
          </a:xfrm>
          <a:prstGeom prst="line">
            <a:avLst/>
          </a:prstGeom>
          <a:ln w="25400">
            <a:solidFill>
              <a:srgbClr val="000000"/>
            </a:solidFill>
            <a:headEnd type="stealth"/>
            <a:tailEnd type="stealth"/>
          </a:ln>
        </p:spPr>
        <p:txBody>
          <a:bodyPr lIns="45719" rIns="45719"/>
          <a:lstStyle/>
          <a:p>
            <a:endParaRPr/>
          </a:p>
        </p:txBody>
      </p:sp>
      <p:sp>
        <p:nvSpPr>
          <p:cNvPr id="166" name="Shape 166"/>
          <p:cNvSpPr/>
          <p:nvPr/>
        </p:nvSpPr>
        <p:spPr>
          <a:xfrm flipV="1">
            <a:off x="4161870" y="2648951"/>
            <a:ext cx="1" cy="488420"/>
          </a:xfrm>
          <a:prstGeom prst="line">
            <a:avLst/>
          </a:prstGeom>
          <a:ln w="25400">
            <a:solidFill>
              <a:srgbClr val="000000"/>
            </a:solidFill>
            <a:headEnd type="stealth"/>
            <a:tailEnd type="stealth"/>
          </a:ln>
        </p:spPr>
        <p:txBody>
          <a:bodyPr lIns="45719" rIns="45719"/>
          <a:lstStyle/>
          <a:p>
            <a:endParaRPr/>
          </a:p>
        </p:txBody>
      </p:sp>
      <p:sp>
        <p:nvSpPr>
          <p:cNvPr id="167" name="Shape 167"/>
          <p:cNvSpPr/>
          <p:nvPr/>
        </p:nvSpPr>
        <p:spPr>
          <a:xfrm flipV="1">
            <a:off x="2284441" y="1333794"/>
            <a:ext cx="632927" cy="1132990"/>
          </a:xfrm>
          <a:prstGeom prst="line">
            <a:avLst/>
          </a:prstGeom>
          <a:ln w="25400">
            <a:solidFill>
              <a:srgbClr val="000000"/>
            </a:solidFill>
            <a:custDash>
              <a:ds d="200000" sp="200000"/>
            </a:custDash>
          </a:ln>
        </p:spPr>
        <p:txBody>
          <a:bodyPr lIns="45719" rIns="45719"/>
          <a:lstStyle/>
          <a:p>
            <a:endParaRPr/>
          </a:p>
        </p:txBody>
      </p:sp>
      <p:sp>
        <p:nvSpPr>
          <p:cNvPr id="168" name="Shape 168"/>
          <p:cNvSpPr/>
          <p:nvPr/>
        </p:nvSpPr>
        <p:spPr>
          <a:xfrm flipH="1" flipV="1">
            <a:off x="2220630" y="2885608"/>
            <a:ext cx="760549" cy="1086784"/>
          </a:xfrm>
          <a:prstGeom prst="line">
            <a:avLst/>
          </a:prstGeom>
          <a:ln w="25400">
            <a:solidFill>
              <a:srgbClr val="000000"/>
            </a:solidFill>
            <a:custDash>
              <a:ds d="200000" sp="200000"/>
            </a:custDash>
          </a:ln>
        </p:spPr>
        <p:txBody>
          <a:bodyPr lIns="45719" rIns="45719"/>
          <a:lstStyle/>
          <a:p>
            <a:endParaRPr/>
          </a:p>
        </p:txBody>
      </p:sp>
      <p:sp>
        <p:nvSpPr>
          <p:cNvPr id="169" name="Shape 169"/>
          <p:cNvSpPr txBox="1"/>
          <p:nvPr/>
        </p:nvSpPr>
        <p:spPr>
          <a:xfrm>
            <a:off x="4870305" y="2582954"/>
            <a:ext cx="4117632" cy="154115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defTabSz="457200">
              <a:defRPr sz="2000">
                <a:latin typeface="Times New Roman"/>
                <a:ea typeface="Times New Roman"/>
                <a:cs typeface="Times New Roman"/>
                <a:sym typeface="Times New Roman"/>
              </a:defRPr>
            </a:pPr>
            <a:r>
              <a:rPr b="1" u="sng"/>
              <a:t>la couche ou membrane de Bowman</a:t>
            </a:r>
            <a:r>
              <a:t>: contient des fibres de collagènes type I dépourvue de fibres élastiques( barrière protectrice contre les traumatismes et invasion bactérienne)</a:t>
            </a:r>
          </a:p>
        </p:txBody>
      </p:sp>
      <p:sp>
        <p:nvSpPr>
          <p:cNvPr id="170" name="Shape 170"/>
          <p:cNvSpPr txBox="1"/>
          <p:nvPr/>
        </p:nvSpPr>
        <p:spPr>
          <a:xfrm>
            <a:off x="4870305" y="2582954"/>
            <a:ext cx="4117632" cy="37275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defTabSz="457200">
              <a:defRPr sz="2000">
                <a:latin typeface="Times New Roman"/>
                <a:ea typeface="Times New Roman"/>
                <a:cs typeface="Times New Roman"/>
                <a:sym typeface="Times New Roman"/>
              </a:defRPr>
            </a:pPr>
            <a:r>
              <a:rPr b="1" u="sng"/>
              <a:t>la couche ou membrane de Bowman</a:t>
            </a:r>
            <a:r>
              <a:t>:</a:t>
            </a:r>
          </a:p>
        </p:txBody>
      </p:sp>
      <p:sp>
        <p:nvSpPr>
          <p:cNvPr id="171" name="Shape 171"/>
          <p:cNvSpPr txBox="1"/>
          <p:nvPr/>
        </p:nvSpPr>
        <p:spPr>
          <a:xfrm>
            <a:off x="4847167" y="4076278"/>
            <a:ext cx="3958040" cy="124905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defTabSz="457200">
              <a:defRPr sz="2000">
                <a:latin typeface="Times New Roman"/>
                <a:ea typeface="Times New Roman"/>
                <a:cs typeface="Times New Roman"/>
                <a:sym typeface="Times New Roman"/>
              </a:defRPr>
            </a:pPr>
            <a:r>
              <a:rPr b="1" u="sng"/>
              <a:t>le stroma</a:t>
            </a:r>
            <a:r>
              <a:t>:  transparant (90% de l’épaisseur de la cornée)des faisceaux de fibres de collagènes forment des couches régulières</a:t>
            </a:r>
          </a:p>
        </p:txBody>
      </p:sp>
      <p:sp>
        <p:nvSpPr>
          <p:cNvPr id="172" name="Shape 172"/>
          <p:cNvSpPr txBox="1"/>
          <p:nvPr/>
        </p:nvSpPr>
        <p:spPr>
          <a:xfrm>
            <a:off x="4852863" y="4076278"/>
            <a:ext cx="1108111" cy="37275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defTabSz="457200">
              <a:defRPr sz="2000" b="1" u="sng">
                <a:latin typeface="Times New Roman"/>
                <a:ea typeface="Times New Roman"/>
                <a:cs typeface="Times New Roman"/>
                <a:sym typeface="Times New Roman"/>
              </a:defRPr>
            </a:lvl1pPr>
          </a:lstStyle>
          <a:p>
            <a:pPr>
              <a:defRPr b="0" u="none"/>
            </a:pPr>
            <a:r>
              <a:rPr b="1" u="sng"/>
              <a:t>le stroma</a:t>
            </a:r>
          </a:p>
        </p:txBody>
      </p:sp>
      <p:sp>
        <p:nvSpPr>
          <p:cNvPr id="173" name="Shape 173"/>
          <p:cNvSpPr txBox="1"/>
          <p:nvPr/>
        </p:nvSpPr>
        <p:spPr>
          <a:xfrm>
            <a:off x="4797817" y="5217285"/>
            <a:ext cx="4262608" cy="95695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defTabSz="457200">
              <a:defRPr sz="2000">
                <a:latin typeface="Times New Roman"/>
                <a:ea typeface="Times New Roman"/>
                <a:cs typeface="Times New Roman"/>
                <a:sym typeface="Times New Roman"/>
              </a:defRPr>
            </a:pPr>
            <a:r>
              <a:rPr b="1" u="sng"/>
              <a:t>la membrane de Descemet</a:t>
            </a:r>
            <a:r>
              <a:t>: plus épaisse, produite par l’endothélium cornéen , contient du collagène type VII</a:t>
            </a:r>
          </a:p>
        </p:txBody>
      </p:sp>
      <p:sp>
        <p:nvSpPr>
          <p:cNvPr id="174" name="Shape 174"/>
          <p:cNvSpPr txBox="1"/>
          <p:nvPr/>
        </p:nvSpPr>
        <p:spPr>
          <a:xfrm>
            <a:off x="4801574" y="5209762"/>
            <a:ext cx="2946510" cy="37275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defTabSz="457200">
              <a:defRPr sz="2000" b="1" u="sng">
                <a:latin typeface="Times New Roman"/>
                <a:ea typeface="Times New Roman"/>
                <a:cs typeface="Times New Roman"/>
                <a:sym typeface="Times New Roman"/>
              </a:defRPr>
            </a:lvl1pPr>
          </a:lstStyle>
          <a:p>
            <a:pPr>
              <a:defRPr b="0" u="none"/>
            </a:pPr>
            <a:r>
              <a:rPr b="1" u="sng"/>
              <a:t>la membrane de Descemet</a:t>
            </a:r>
          </a:p>
        </p:txBody>
      </p:sp>
      <p:sp>
        <p:nvSpPr>
          <p:cNvPr id="175" name="Shape 175"/>
          <p:cNvSpPr txBox="1"/>
          <p:nvPr/>
        </p:nvSpPr>
        <p:spPr>
          <a:xfrm>
            <a:off x="4844143" y="6146124"/>
            <a:ext cx="4407149" cy="66485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defTabSz="457200">
              <a:defRPr sz="2000">
                <a:latin typeface="Times New Roman"/>
                <a:ea typeface="Times New Roman"/>
                <a:cs typeface="Times New Roman"/>
                <a:sym typeface="Times New Roman"/>
              </a:defRPr>
            </a:pPr>
            <a:r>
              <a:rPr b="1" u="sng"/>
              <a:t>l’endothélium cornéen</a:t>
            </a:r>
            <a:r>
              <a:t> : simple couche de cellules épithéliales pavimenteuses </a:t>
            </a:r>
          </a:p>
        </p:txBody>
      </p:sp>
      <p:sp>
        <p:nvSpPr>
          <p:cNvPr id="176" name="Shape 176"/>
          <p:cNvSpPr txBox="1"/>
          <p:nvPr/>
        </p:nvSpPr>
        <p:spPr>
          <a:xfrm>
            <a:off x="4838665" y="6146124"/>
            <a:ext cx="2538101" cy="37275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defTabSz="457200">
              <a:defRPr sz="2000" b="1" u="sng">
                <a:latin typeface="Times New Roman"/>
                <a:ea typeface="Times New Roman"/>
                <a:cs typeface="Times New Roman"/>
                <a:sym typeface="Times New Roman"/>
              </a:defRPr>
            </a:lvl1pPr>
          </a:lstStyle>
          <a:p>
            <a:pPr>
              <a:defRPr b="0" u="none"/>
            </a:pPr>
            <a:r>
              <a:rPr b="1" u="sng"/>
              <a:t>l’endothélium cornéen</a:t>
            </a:r>
          </a:p>
        </p:txBody>
      </p:sp>
      <p:pic>
        <p:nvPicPr>
          <p:cNvPr id="177" name="75C363B3-E333-4D86-812C-4CC4AEC700A7-L0-001.png"/>
          <p:cNvPicPr>
            <a:picLocks noChangeAspect="1"/>
          </p:cNvPicPr>
          <p:nvPr/>
        </p:nvPicPr>
        <p:blipFill>
          <a:blip r:embed="rId4" cstate="email">
            <a:extLst/>
          </a:blip>
          <a:srcRect/>
          <a:stretch>
            <a:fillRect/>
          </a:stretch>
        </p:blipFill>
        <p:spPr>
          <a:xfrm rot="5400000">
            <a:off x="2789861" y="4625741"/>
            <a:ext cx="2088279" cy="1777121"/>
          </a:xfrm>
          <a:prstGeom prst="rect">
            <a:avLst/>
          </a:prstGeom>
          <a:ln w="12700">
            <a:miter lim="400000"/>
          </a:ln>
        </p:spPr>
      </p:pic>
      <p:sp>
        <p:nvSpPr>
          <p:cNvPr id="178" name="Shape 178"/>
          <p:cNvSpPr/>
          <p:nvPr/>
        </p:nvSpPr>
        <p:spPr>
          <a:xfrm flipV="1">
            <a:off x="4245530" y="3178120"/>
            <a:ext cx="1" cy="2790139"/>
          </a:xfrm>
          <a:prstGeom prst="line">
            <a:avLst/>
          </a:prstGeom>
          <a:ln w="25400">
            <a:solidFill>
              <a:srgbClr val="000000"/>
            </a:solidFill>
            <a:headEnd type="stealth"/>
            <a:tailEnd type="stealth"/>
          </a:ln>
        </p:spPr>
        <p:txBody>
          <a:bodyPr lIns="45719" rIns="45719"/>
          <a:lstStyle/>
          <a:p>
            <a:endParaRPr/>
          </a:p>
        </p:txBody>
      </p:sp>
      <p:sp>
        <p:nvSpPr>
          <p:cNvPr id="179" name="Shape 179"/>
          <p:cNvSpPr/>
          <p:nvPr/>
        </p:nvSpPr>
        <p:spPr>
          <a:xfrm flipV="1">
            <a:off x="4379282" y="5955016"/>
            <a:ext cx="1" cy="312635"/>
          </a:xfrm>
          <a:prstGeom prst="line">
            <a:avLst/>
          </a:prstGeom>
          <a:ln w="25400">
            <a:solidFill>
              <a:srgbClr val="000000"/>
            </a:solidFill>
            <a:headEnd type="stealth"/>
            <a:tailEnd type="stealth"/>
          </a:ln>
        </p:spPr>
        <p:txBody>
          <a:bodyPr lIns="45719" rIns="45719"/>
          <a:lstStyle/>
          <a:p>
            <a:endParaRPr/>
          </a:p>
        </p:txBody>
      </p:sp>
      <p:sp>
        <p:nvSpPr>
          <p:cNvPr id="180" name="Shape 180"/>
          <p:cNvSpPr/>
          <p:nvPr/>
        </p:nvSpPr>
        <p:spPr>
          <a:xfrm flipV="1">
            <a:off x="2383471" y="4623024"/>
            <a:ext cx="597726" cy="1546227"/>
          </a:xfrm>
          <a:prstGeom prst="line">
            <a:avLst/>
          </a:prstGeom>
          <a:ln w="25400">
            <a:solidFill>
              <a:srgbClr val="000000"/>
            </a:solidFill>
            <a:custDash>
              <a:ds d="200000" sp="200000"/>
            </a:custDash>
          </a:ln>
        </p:spPr>
        <p:txBody>
          <a:bodyPr lIns="45719" rIns="45719"/>
          <a:lstStyle/>
          <a:p>
            <a:endParaRPr/>
          </a:p>
        </p:txBody>
      </p:sp>
      <p:sp>
        <p:nvSpPr>
          <p:cNvPr id="181" name="Shape 181"/>
          <p:cNvSpPr/>
          <p:nvPr/>
        </p:nvSpPr>
        <p:spPr>
          <a:xfrm flipH="1" flipV="1">
            <a:off x="2422352" y="6440694"/>
            <a:ext cx="558585" cy="75712"/>
          </a:xfrm>
          <a:prstGeom prst="line">
            <a:avLst/>
          </a:prstGeom>
          <a:ln w="25400">
            <a:solidFill>
              <a:srgbClr val="000000"/>
            </a:solidFill>
            <a:custDash>
              <a:ds d="200000" sp="200000"/>
            </a:custDash>
          </a:ln>
        </p:spPr>
        <p:txBody>
          <a:bodyPr lIns="45719" rIns="45719"/>
          <a:lstStyle/>
          <a:p>
            <a:endParaRPr/>
          </a:p>
        </p:txBody>
      </p:sp>
      <p:sp>
        <p:nvSpPr>
          <p:cNvPr id="182" name="Shape 182"/>
          <p:cNvSpPr/>
          <p:nvPr/>
        </p:nvSpPr>
        <p:spPr>
          <a:xfrm flipV="1">
            <a:off x="4497126" y="6283251"/>
            <a:ext cx="1" cy="296119"/>
          </a:xfrm>
          <a:prstGeom prst="line">
            <a:avLst/>
          </a:prstGeom>
          <a:ln w="25400">
            <a:solidFill>
              <a:srgbClr val="000000"/>
            </a:solidFill>
            <a:headEnd type="stealth"/>
            <a:tailEnd type="stealth"/>
          </a:ln>
        </p:spPr>
        <p:txBody>
          <a:bodyPr lIns="45719" rIns="45719"/>
          <a:lstStyle/>
          <a:p>
            <a:endParaRPr/>
          </a:p>
        </p:txBody>
      </p:sp>
      <p:sp>
        <p:nvSpPr>
          <p:cNvPr id="183" name="Shape 183"/>
          <p:cNvSpPr txBox="1"/>
          <p:nvPr/>
        </p:nvSpPr>
        <p:spPr>
          <a:xfrm>
            <a:off x="4830602" y="1780002"/>
            <a:ext cx="2411101" cy="37275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defTabSz="457200">
              <a:defRPr sz="2000" b="1" u="sng">
                <a:latin typeface="Times New Roman"/>
                <a:ea typeface="Times New Roman"/>
                <a:cs typeface="Times New Roman"/>
                <a:sym typeface="Times New Roman"/>
              </a:defRPr>
            </a:lvl1pPr>
          </a:lstStyle>
          <a:p>
            <a:pPr>
              <a:defRPr b="0" u="none"/>
            </a:pPr>
            <a:r>
              <a:rPr b="1" u="sng"/>
              <a:t>l’épithélium Cornéen</a:t>
            </a:r>
          </a:p>
        </p:txBody>
      </p:sp>
      <p:grpSp>
        <p:nvGrpSpPr>
          <p:cNvPr id="187" name="Group 187"/>
          <p:cNvGrpSpPr/>
          <p:nvPr/>
        </p:nvGrpSpPr>
        <p:grpSpPr>
          <a:xfrm>
            <a:off x="7313703" y="110677"/>
            <a:ext cx="1600434" cy="1744515"/>
            <a:chOff x="0" y="0"/>
            <a:chExt cx="1600432" cy="1744513"/>
          </a:xfrm>
        </p:grpSpPr>
        <p:pic>
          <p:nvPicPr>
            <p:cNvPr id="184" name="14CA8028-C266-4590-8F74-901C69F610C4-L0-001.png"/>
            <p:cNvPicPr>
              <a:picLocks/>
            </p:cNvPicPr>
            <p:nvPr/>
          </p:nvPicPr>
          <p:blipFill>
            <a:blip r:embed="rId5" cstate="email">
              <a:extLst/>
            </a:blip>
            <a:srcRect/>
            <a:stretch>
              <a:fillRect/>
            </a:stretch>
          </p:blipFill>
          <p:spPr>
            <a:xfrm>
              <a:off x="47279" y="0"/>
              <a:ext cx="1553154" cy="1698672"/>
            </a:xfrm>
            <a:prstGeom prst="rect">
              <a:avLst/>
            </a:prstGeom>
            <a:ln w="12700" cap="flat">
              <a:noFill/>
              <a:miter lim="400000"/>
            </a:ln>
            <a:effectLst/>
          </p:spPr>
        </p:pic>
        <p:sp>
          <p:nvSpPr>
            <p:cNvPr id="185" name="Shape 185"/>
            <p:cNvSpPr/>
            <p:nvPr/>
          </p:nvSpPr>
          <p:spPr>
            <a:xfrm rot="7528107">
              <a:off x="211709" y="1447096"/>
              <a:ext cx="423369" cy="158222"/>
            </a:xfrm>
            <a:prstGeom prst="roundRect">
              <a:avLst>
                <a:gd name="adj" fmla="val 0"/>
              </a:avLst>
            </a:prstGeom>
            <a:solidFill>
              <a:srgbClr val="FFFFFF"/>
            </a:solidFill>
            <a:ln w="12700" cap="flat">
              <a:noFill/>
              <a:miter lim="400000"/>
            </a:ln>
            <a:effectLst/>
          </p:spPr>
          <p:txBody>
            <a:bodyPr wrap="square" lIns="45719" tIns="45719" rIns="45719" bIns="45719" numCol="1" anchor="ctr">
              <a:noAutofit/>
            </a:bodyPr>
            <a:lstStyle/>
            <a:p>
              <a:endParaRPr/>
            </a:p>
          </p:txBody>
        </p:sp>
        <p:sp>
          <p:nvSpPr>
            <p:cNvPr id="186" name="Shape 186"/>
            <p:cNvSpPr/>
            <p:nvPr/>
          </p:nvSpPr>
          <p:spPr>
            <a:xfrm rot="8444394">
              <a:off x="2825" y="1277488"/>
              <a:ext cx="388186" cy="147386"/>
            </a:xfrm>
            <a:prstGeom prst="roundRect">
              <a:avLst>
                <a:gd name="adj" fmla="val 0"/>
              </a:avLst>
            </a:prstGeom>
            <a:solidFill>
              <a:srgbClr val="FFFFFF"/>
            </a:solidFill>
            <a:ln w="12700" cap="flat">
              <a:noFill/>
              <a:miter lim="400000"/>
            </a:ln>
            <a:effectLst/>
          </p:spPr>
          <p:txBody>
            <a:bodyPr wrap="square" lIns="45719" tIns="45719" rIns="45719" bIns="45719" numCol="1" anchor="ctr">
              <a:noAutofit/>
            </a:bodyPr>
            <a:lstStyle/>
            <a:p>
              <a:endParaRPr/>
            </a:p>
          </p:txBody>
        </p:sp>
      </p:gr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83"/>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2" nodeType="afterEffect">
                                  <p:stCondLst>
                                    <p:cond delay="0"/>
                                  </p:stCondLst>
                                  <p:iterate>
                                    <p:tmAbs val="0"/>
                                  </p:iterate>
                                  <p:childTnLst>
                                    <p:set>
                                      <p:cBhvr>
                                        <p:cTn id="9" fill="hold"/>
                                        <p:tgtEl>
                                          <p:spTgt spid="163"/>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xit" presetSubtype="0" fill="hold" grpId="3" nodeType="clickEffect">
                                  <p:stCondLst>
                                    <p:cond delay="0"/>
                                  </p:stCondLst>
                                  <p:iterate>
                                    <p:tmAbs val="0"/>
                                  </p:iterate>
                                  <p:childTnLst>
                                    <p:set>
                                      <p:cBhvr>
                                        <p:cTn id="13" fill="hold">
                                          <p:stCondLst>
                                            <p:cond delay="0"/>
                                          </p:stCondLst>
                                        </p:cTn>
                                        <p:tgtEl>
                                          <p:spTgt spid="163"/>
                                        </p:tgtEl>
                                        <p:attrNameLst>
                                          <p:attrName>style.visibility</p:attrName>
                                        </p:attrNameLst>
                                      </p:cBhvr>
                                      <p:to>
                                        <p:strVal val="hidden"/>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4" nodeType="clickEffect">
                                  <p:stCondLst>
                                    <p:cond delay="0"/>
                                  </p:stCondLst>
                                  <p:iterate>
                                    <p:tmAbs val="0"/>
                                  </p:iterate>
                                  <p:childTnLst>
                                    <p:set>
                                      <p:cBhvr>
                                        <p:cTn id="17" fill="hold"/>
                                        <p:tgtEl>
                                          <p:spTgt spid="170"/>
                                        </p:tgtEl>
                                        <p:attrNameLst>
                                          <p:attrName>style.visibility</p:attrName>
                                        </p:attrNameLst>
                                      </p:cBhvr>
                                      <p:to>
                                        <p:strVal val="visible"/>
                                      </p:to>
                                    </p:set>
                                  </p:childTnLst>
                                </p:cTn>
                              </p:par>
                            </p:childTnLst>
                          </p:cTn>
                        </p:par>
                        <p:par>
                          <p:cTn id="18" fill="hold">
                            <p:stCondLst>
                              <p:cond delay="0"/>
                            </p:stCondLst>
                            <p:childTnLst>
                              <p:par>
                                <p:cTn id="19" presetID="1" presetClass="entr" presetSubtype="0" fill="hold" grpId="5" nodeType="afterEffect">
                                  <p:stCondLst>
                                    <p:cond delay="0"/>
                                  </p:stCondLst>
                                  <p:iterate>
                                    <p:tmAbs val="0"/>
                                  </p:iterate>
                                  <p:childTnLst>
                                    <p:set>
                                      <p:cBhvr>
                                        <p:cTn id="20" fill="hold"/>
                                        <p:tgtEl>
                                          <p:spTgt spid="16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xit" presetSubtype="0" fill="hold" grpId="6" nodeType="clickEffect">
                                  <p:stCondLst>
                                    <p:cond delay="0"/>
                                  </p:stCondLst>
                                  <p:iterate>
                                    <p:tmAbs val="0"/>
                                  </p:iterate>
                                  <p:childTnLst>
                                    <p:set>
                                      <p:cBhvr>
                                        <p:cTn id="24" fill="hold">
                                          <p:stCondLst>
                                            <p:cond delay="0"/>
                                          </p:stCondLst>
                                        </p:cTn>
                                        <p:tgtEl>
                                          <p:spTgt spid="169"/>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7" nodeType="clickEffect">
                                  <p:stCondLst>
                                    <p:cond delay="0"/>
                                  </p:stCondLst>
                                  <p:iterate>
                                    <p:tmAbs val="0"/>
                                  </p:iterate>
                                  <p:childTnLst>
                                    <p:set>
                                      <p:cBhvr>
                                        <p:cTn id="28" fill="hold"/>
                                        <p:tgtEl>
                                          <p:spTgt spid="172"/>
                                        </p:tgtEl>
                                        <p:attrNameLst>
                                          <p:attrName>style.visibility</p:attrName>
                                        </p:attrNameLst>
                                      </p:cBhvr>
                                      <p:to>
                                        <p:strVal val="visible"/>
                                      </p:to>
                                    </p:set>
                                  </p:childTnLst>
                                </p:cTn>
                              </p:par>
                            </p:childTnLst>
                          </p:cTn>
                        </p:par>
                        <p:par>
                          <p:cTn id="29" fill="hold">
                            <p:stCondLst>
                              <p:cond delay="0"/>
                            </p:stCondLst>
                            <p:childTnLst>
                              <p:par>
                                <p:cTn id="30" presetID="1" presetClass="entr" presetSubtype="0" fill="hold" grpId="8" nodeType="afterEffect">
                                  <p:stCondLst>
                                    <p:cond delay="0"/>
                                  </p:stCondLst>
                                  <p:iterate>
                                    <p:tmAbs val="0"/>
                                  </p:iterate>
                                  <p:childTnLst>
                                    <p:set>
                                      <p:cBhvr>
                                        <p:cTn id="31" fill="hold"/>
                                        <p:tgtEl>
                                          <p:spTgt spid="171"/>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xit" presetSubtype="0" fill="hold" grpId="9" nodeType="clickEffect">
                                  <p:stCondLst>
                                    <p:cond delay="0"/>
                                  </p:stCondLst>
                                  <p:iterate>
                                    <p:tmAbs val="0"/>
                                  </p:iterate>
                                  <p:childTnLst>
                                    <p:set>
                                      <p:cBhvr>
                                        <p:cTn id="35" fill="hold">
                                          <p:stCondLst>
                                            <p:cond delay="0"/>
                                          </p:stCondLst>
                                        </p:cTn>
                                        <p:tgtEl>
                                          <p:spTgt spid="171"/>
                                        </p:tgtEl>
                                        <p:attrNameLst>
                                          <p:attrName>style.visibility</p:attrName>
                                        </p:attrNameLst>
                                      </p:cBhvr>
                                      <p:to>
                                        <p:strVal val="hidden"/>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10" nodeType="clickEffect">
                                  <p:stCondLst>
                                    <p:cond delay="0"/>
                                  </p:stCondLst>
                                  <p:iterate>
                                    <p:tmAbs val="0"/>
                                  </p:iterate>
                                  <p:childTnLst>
                                    <p:set>
                                      <p:cBhvr>
                                        <p:cTn id="39" fill="hold"/>
                                        <p:tgtEl>
                                          <p:spTgt spid="174"/>
                                        </p:tgtEl>
                                        <p:attrNameLst>
                                          <p:attrName>style.visibility</p:attrName>
                                        </p:attrNameLst>
                                      </p:cBhvr>
                                      <p:to>
                                        <p:strVal val="visible"/>
                                      </p:to>
                                    </p:set>
                                  </p:childTnLst>
                                </p:cTn>
                              </p:par>
                            </p:childTnLst>
                          </p:cTn>
                        </p:par>
                        <p:par>
                          <p:cTn id="40" fill="hold">
                            <p:stCondLst>
                              <p:cond delay="0"/>
                            </p:stCondLst>
                            <p:childTnLst>
                              <p:par>
                                <p:cTn id="41" presetID="1" presetClass="entr" presetSubtype="0" fill="hold" grpId="11" nodeType="afterEffect">
                                  <p:stCondLst>
                                    <p:cond delay="0"/>
                                  </p:stCondLst>
                                  <p:iterate>
                                    <p:tmAbs val="0"/>
                                  </p:iterate>
                                  <p:childTnLst>
                                    <p:set>
                                      <p:cBhvr>
                                        <p:cTn id="42" fill="hold"/>
                                        <p:tgtEl>
                                          <p:spTgt spid="17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xit" presetSubtype="0" fill="hold" grpId="12" nodeType="clickEffect">
                                  <p:stCondLst>
                                    <p:cond delay="0"/>
                                  </p:stCondLst>
                                  <p:iterate>
                                    <p:tmAbs val="0"/>
                                  </p:iterate>
                                  <p:childTnLst>
                                    <p:set>
                                      <p:cBhvr>
                                        <p:cTn id="46" fill="hold">
                                          <p:stCondLst>
                                            <p:cond delay="0"/>
                                          </p:stCondLst>
                                        </p:cTn>
                                        <p:tgtEl>
                                          <p:spTgt spid="173"/>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3" nodeType="clickEffect">
                                  <p:stCondLst>
                                    <p:cond delay="0"/>
                                  </p:stCondLst>
                                  <p:iterate>
                                    <p:tmAbs val="0"/>
                                  </p:iterate>
                                  <p:childTnLst>
                                    <p:set>
                                      <p:cBhvr>
                                        <p:cTn id="50" fill="hold"/>
                                        <p:tgtEl>
                                          <p:spTgt spid="176"/>
                                        </p:tgtEl>
                                        <p:attrNameLst>
                                          <p:attrName>style.visibility</p:attrName>
                                        </p:attrNameLst>
                                      </p:cBhvr>
                                      <p:to>
                                        <p:strVal val="visible"/>
                                      </p:to>
                                    </p:set>
                                  </p:childTnLst>
                                </p:cTn>
                              </p:par>
                            </p:childTnLst>
                          </p:cTn>
                        </p:par>
                        <p:par>
                          <p:cTn id="51" fill="hold">
                            <p:stCondLst>
                              <p:cond delay="0"/>
                            </p:stCondLst>
                            <p:childTnLst>
                              <p:par>
                                <p:cTn id="52" presetID="1" presetClass="entr" presetSubtype="0" fill="hold" grpId="14" nodeType="afterEffect">
                                  <p:stCondLst>
                                    <p:cond delay="0"/>
                                  </p:stCondLst>
                                  <p:iterate>
                                    <p:tmAbs val="0"/>
                                  </p:iterate>
                                  <p:childTnLst>
                                    <p:set>
                                      <p:cBhvr>
                                        <p:cTn id="53" fill="hold"/>
                                        <p:tgtEl>
                                          <p:spTgt spid="175"/>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xit" presetSubtype="0" fill="hold" grpId="15" nodeType="clickEffect">
                                  <p:stCondLst>
                                    <p:cond delay="0"/>
                                  </p:stCondLst>
                                  <p:iterate>
                                    <p:tmAbs val="0"/>
                                  </p:iterate>
                                  <p:childTnLst>
                                    <p:set>
                                      <p:cBhvr>
                                        <p:cTn id="57" fill="hold">
                                          <p:stCondLst>
                                            <p:cond delay="0"/>
                                          </p:stCondLst>
                                        </p:cTn>
                                        <p:tgtEl>
                                          <p:spTgt spid="17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 grpId="2" animBg="1" advAuto="0"/>
      <p:bldP spid="163" grpId="3" animBg="1" advAuto="0"/>
      <p:bldP spid="169" grpId="5" animBg="1" advAuto="0"/>
      <p:bldP spid="169" grpId="6" animBg="1" advAuto="0"/>
      <p:bldP spid="170" grpId="4" animBg="1" advAuto="0"/>
      <p:bldP spid="171" grpId="8" animBg="1" advAuto="0"/>
      <p:bldP spid="171" grpId="9" animBg="1" advAuto="0"/>
      <p:bldP spid="172" grpId="7" animBg="1" advAuto="0"/>
      <p:bldP spid="173" grpId="11" animBg="1" advAuto="0"/>
      <p:bldP spid="173" grpId="12" animBg="1" advAuto="0"/>
      <p:bldP spid="174" grpId="10" animBg="1" advAuto="0"/>
      <p:bldP spid="175" grpId="14" animBg="1" advAuto="0"/>
      <p:bldP spid="175" grpId="15" animBg="1" advAuto="0"/>
      <p:bldP spid="176" grpId="13" animBg="1" advAuto="0"/>
      <p:bldP spid="183" grpId="1" animBg="1" advAuto="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9" name="14CA8028-C266-4590-8F74-901C69F610C4-L0-001.png"/>
          <p:cNvPicPr>
            <a:picLocks/>
          </p:cNvPicPr>
          <p:nvPr/>
        </p:nvPicPr>
        <p:blipFill>
          <a:blip r:embed="rId2" cstate="email">
            <a:extLst/>
          </a:blip>
          <a:srcRect/>
          <a:stretch>
            <a:fillRect/>
          </a:stretch>
        </p:blipFill>
        <p:spPr>
          <a:xfrm>
            <a:off x="6970416" y="16848"/>
            <a:ext cx="2124436" cy="1951620"/>
          </a:xfrm>
          <a:prstGeom prst="rect">
            <a:avLst/>
          </a:prstGeom>
          <a:ln w="12700">
            <a:miter lim="400000"/>
          </a:ln>
        </p:spPr>
      </p:pic>
      <p:sp>
        <p:nvSpPr>
          <p:cNvPr id="190" name="Shape 190"/>
          <p:cNvSpPr txBox="1"/>
          <p:nvPr/>
        </p:nvSpPr>
        <p:spPr>
          <a:xfrm>
            <a:off x="30575" y="27358"/>
            <a:ext cx="3451248" cy="507056"/>
          </a:xfrm>
          <a:prstGeom prst="rect">
            <a:avLst/>
          </a:prstGeom>
          <a:solidFill>
            <a:schemeClr val="accent1">
              <a:lumOff val="23725"/>
            </a:schemeClr>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defTabSz="457200">
              <a:defRPr sz="3000" b="1" i="1" cap="small">
                <a:latin typeface="Times New Roman"/>
                <a:ea typeface="Times New Roman"/>
                <a:cs typeface="Times New Roman"/>
                <a:sym typeface="Times New Roman"/>
              </a:defRPr>
            </a:lvl1pPr>
          </a:lstStyle>
          <a:p>
            <a:r>
              <a:t>Les trois tuniques </a:t>
            </a:r>
          </a:p>
        </p:txBody>
      </p:sp>
      <p:sp>
        <p:nvSpPr>
          <p:cNvPr id="191" name="Shape 191"/>
          <p:cNvSpPr txBox="1"/>
          <p:nvPr/>
        </p:nvSpPr>
        <p:spPr>
          <a:xfrm>
            <a:off x="585337" y="660267"/>
            <a:ext cx="2667241" cy="433553"/>
          </a:xfrm>
          <a:prstGeom prst="rect">
            <a:avLst/>
          </a:prstGeom>
          <a:solidFill>
            <a:srgbClr val="D47387"/>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defTabSz="457200">
              <a:defRPr sz="2500" b="1" i="1" cap="small">
                <a:solidFill>
                  <a:srgbClr val="FFFFFF"/>
                </a:solidFill>
                <a:latin typeface="Times New Roman"/>
                <a:ea typeface="Times New Roman"/>
                <a:cs typeface="Times New Roman"/>
                <a:sym typeface="Times New Roman"/>
              </a:defRPr>
            </a:lvl1pPr>
          </a:lstStyle>
          <a:p>
            <a:r>
              <a:t>tunique Moyenne</a:t>
            </a:r>
          </a:p>
        </p:txBody>
      </p:sp>
      <p:sp>
        <p:nvSpPr>
          <p:cNvPr id="192" name="Shape 192"/>
          <p:cNvSpPr txBox="1"/>
          <p:nvPr/>
        </p:nvSpPr>
        <p:spPr>
          <a:xfrm>
            <a:off x="-1496735" y="1147489"/>
            <a:ext cx="127001" cy="86427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z="2700" b="1">
                <a:latin typeface="Times New Roman"/>
                <a:ea typeface="Times New Roman"/>
                <a:cs typeface="Times New Roman"/>
                <a:sym typeface="Times New Roman"/>
              </a:defRPr>
            </a:lvl1pPr>
          </a:lstStyle>
          <a:p>
            <a:r>
              <a:t/>
            </a:r>
            <a:br/>
            <a:endParaRPr/>
          </a:p>
        </p:txBody>
      </p:sp>
      <p:sp>
        <p:nvSpPr>
          <p:cNvPr id="193" name="Shape 193"/>
          <p:cNvSpPr txBox="1"/>
          <p:nvPr/>
        </p:nvSpPr>
        <p:spPr>
          <a:xfrm>
            <a:off x="3331824" y="544618"/>
            <a:ext cx="4429502" cy="66485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defTabSz="457200">
              <a:defRPr sz="2000">
                <a:latin typeface="Times New Roman"/>
                <a:ea typeface="Times New Roman"/>
                <a:cs typeface="Times New Roman"/>
                <a:sym typeface="Times New Roman"/>
              </a:defRPr>
            </a:pPr>
            <a:r>
              <a:t>tunique vasculaire pigmentaire de l’œil </a:t>
            </a:r>
          </a:p>
          <a:p>
            <a:pPr defTabSz="457200">
              <a:defRPr sz="2000">
                <a:latin typeface="Times New Roman"/>
                <a:ea typeface="Times New Roman"/>
                <a:cs typeface="Times New Roman"/>
                <a:sym typeface="Times New Roman"/>
              </a:defRPr>
            </a:pPr>
            <a:r>
              <a:t>se divise en 3 régions</a:t>
            </a:r>
          </a:p>
        </p:txBody>
      </p:sp>
      <p:sp>
        <p:nvSpPr>
          <p:cNvPr id="194" name="Shape 194"/>
          <p:cNvSpPr txBox="1"/>
          <p:nvPr/>
        </p:nvSpPr>
        <p:spPr>
          <a:xfrm>
            <a:off x="1088549" y="1333958"/>
            <a:ext cx="1724631" cy="372751"/>
          </a:xfrm>
          <a:prstGeom prst="rect">
            <a:avLst/>
          </a:prstGeom>
          <a:solidFill>
            <a:srgbClr val="D48593"/>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defTabSz="457200">
              <a:defRPr sz="2000" i="1">
                <a:solidFill>
                  <a:srgbClr val="FFFFFF"/>
                </a:solidFill>
                <a:latin typeface="Times New Roman"/>
                <a:ea typeface="Times New Roman"/>
                <a:cs typeface="Times New Roman"/>
                <a:sym typeface="Times New Roman"/>
              </a:defRPr>
            </a:lvl1pPr>
          </a:lstStyle>
          <a:p>
            <a:r>
              <a:t>1 - La Choroïde</a:t>
            </a:r>
          </a:p>
        </p:txBody>
      </p:sp>
      <p:grpSp>
        <p:nvGrpSpPr>
          <p:cNvPr id="197" name="Group 197"/>
          <p:cNvGrpSpPr/>
          <p:nvPr/>
        </p:nvGrpSpPr>
        <p:grpSpPr>
          <a:xfrm>
            <a:off x="3321535" y="1322033"/>
            <a:ext cx="3703245" cy="384676"/>
            <a:chOff x="0" y="0"/>
            <a:chExt cx="3703244" cy="384675"/>
          </a:xfrm>
        </p:grpSpPr>
        <p:sp>
          <p:nvSpPr>
            <p:cNvPr id="195" name="Shape 195"/>
            <p:cNvSpPr txBox="1"/>
            <p:nvPr/>
          </p:nvSpPr>
          <p:spPr>
            <a:xfrm>
              <a:off x="0" y="0"/>
              <a:ext cx="2182897" cy="372750"/>
            </a:xfrm>
            <a:prstGeom prst="rect">
              <a:avLst/>
            </a:prstGeom>
            <a:solidFill>
              <a:srgbClr val="D48593"/>
            </a:solid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tIns="45719" rIns="45719" bIns="45719" numCol="1" anchor="t">
              <a:spAutoFit/>
            </a:bodyPr>
            <a:lstStyle>
              <a:lvl1pPr defTabSz="457200">
                <a:defRPr sz="2000" i="1">
                  <a:solidFill>
                    <a:srgbClr val="FFFFFF"/>
                  </a:solidFill>
                  <a:latin typeface="Times New Roman"/>
                  <a:ea typeface="Times New Roman"/>
                  <a:cs typeface="Times New Roman"/>
                  <a:sym typeface="Times New Roman"/>
                </a:defRPr>
              </a:lvl1pPr>
            </a:lstStyle>
            <a:p>
              <a:r>
                <a:t>2 - Le corps cilliaire</a:t>
              </a:r>
            </a:p>
          </p:txBody>
        </p:sp>
        <p:sp>
          <p:nvSpPr>
            <p:cNvPr id="196" name="Shape 196"/>
            <p:cNvSpPr txBox="1"/>
            <p:nvPr/>
          </p:nvSpPr>
          <p:spPr>
            <a:xfrm>
              <a:off x="2691252" y="11925"/>
              <a:ext cx="1011993" cy="372751"/>
            </a:xfrm>
            <a:prstGeom prst="rect">
              <a:avLst/>
            </a:prstGeom>
            <a:solidFill>
              <a:srgbClr val="D48593"/>
            </a:solid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tIns="45719" rIns="45719" bIns="45719" numCol="1" anchor="t">
              <a:spAutoFit/>
            </a:bodyPr>
            <a:lstStyle>
              <a:lvl1pPr defTabSz="457200">
                <a:defRPr sz="2000" i="1">
                  <a:solidFill>
                    <a:srgbClr val="FFFFFF"/>
                  </a:solidFill>
                  <a:latin typeface="Times New Roman"/>
                  <a:ea typeface="Times New Roman"/>
                  <a:cs typeface="Times New Roman"/>
                  <a:sym typeface="Times New Roman"/>
                </a:defRPr>
              </a:lvl1pPr>
            </a:lstStyle>
            <a:p>
              <a:r>
                <a:t>3 - L’Iris</a:t>
              </a:r>
            </a:p>
          </p:txBody>
        </p:sp>
      </p:grpSp>
      <p:grpSp>
        <p:nvGrpSpPr>
          <p:cNvPr id="206" name="Group 206"/>
          <p:cNvGrpSpPr/>
          <p:nvPr/>
        </p:nvGrpSpPr>
        <p:grpSpPr>
          <a:xfrm>
            <a:off x="259154" y="1819274"/>
            <a:ext cx="8865571" cy="4999566"/>
            <a:chOff x="0" y="0"/>
            <a:chExt cx="8865569" cy="4999565"/>
          </a:xfrm>
        </p:grpSpPr>
        <p:grpSp>
          <p:nvGrpSpPr>
            <p:cNvPr id="204" name="Group 204"/>
            <p:cNvGrpSpPr/>
            <p:nvPr/>
          </p:nvGrpSpPr>
          <p:grpSpPr>
            <a:xfrm>
              <a:off x="54878" y="1954484"/>
              <a:ext cx="8810692" cy="3045082"/>
              <a:chOff x="0" y="517440"/>
              <a:chExt cx="8810691" cy="3045080"/>
            </a:xfrm>
          </p:grpSpPr>
          <p:pic>
            <p:nvPicPr>
              <p:cNvPr id="198" name="Picture 2" descr="Picture 2"/>
              <p:cNvPicPr>
                <a:picLocks noChangeAspect="1"/>
              </p:cNvPicPr>
              <p:nvPr/>
            </p:nvPicPr>
            <p:blipFill>
              <a:blip r:embed="rId3">
                <a:extLst/>
              </a:blip>
              <a:srcRect/>
              <a:stretch>
                <a:fillRect/>
              </a:stretch>
            </p:blipFill>
            <p:spPr>
              <a:xfrm>
                <a:off x="0" y="1889380"/>
                <a:ext cx="5611512" cy="1378663"/>
              </a:xfrm>
              <a:prstGeom prst="rect">
                <a:avLst/>
              </a:prstGeom>
              <a:ln w="12700" cap="flat">
                <a:solidFill>
                  <a:srgbClr val="000000"/>
                </a:solidFill>
                <a:prstDash val="solid"/>
                <a:miter lim="400000"/>
              </a:ln>
              <a:effectLst/>
            </p:spPr>
          </p:pic>
          <p:grpSp>
            <p:nvGrpSpPr>
              <p:cNvPr id="201" name="Group 201"/>
              <p:cNvGrpSpPr/>
              <p:nvPr/>
            </p:nvGrpSpPr>
            <p:grpSpPr>
              <a:xfrm>
                <a:off x="5996158" y="517440"/>
                <a:ext cx="2814534" cy="3045081"/>
                <a:chOff x="0" y="517440"/>
                <a:chExt cx="2814533" cy="3045080"/>
              </a:xfrm>
            </p:grpSpPr>
            <p:pic>
              <p:nvPicPr>
                <p:cNvPr id="199" name="Picture 2" descr="Picture 2"/>
                <p:cNvPicPr>
                  <a:picLocks noChangeAspect="1"/>
                </p:cNvPicPr>
                <p:nvPr/>
              </p:nvPicPr>
              <p:blipFill>
                <a:blip r:embed="rId4">
                  <a:extLst/>
                </a:blip>
                <a:srcRect/>
                <a:stretch>
                  <a:fillRect/>
                </a:stretch>
              </p:blipFill>
              <p:spPr>
                <a:xfrm>
                  <a:off x="1918176" y="802651"/>
                  <a:ext cx="896358" cy="2735653"/>
                </a:xfrm>
                <a:prstGeom prst="rect">
                  <a:avLst/>
                </a:prstGeom>
                <a:ln w="12700" cap="flat">
                  <a:noFill/>
                  <a:miter lim="400000"/>
                </a:ln>
                <a:effectLst/>
              </p:spPr>
            </p:pic>
            <p:pic>
              <p:nvPicPr>
                <p:cNvPr id="200" name="Picture 2" descr="Picture 2"/>
                <p:cNvPicPr>
                  <a:picLocks noChangeAspect="1"/>
                </p:cNvPicPr>
                <p:nvPr/>
              </p:nvPicPr>
              <p:blipFill>
                <a:blip r:embed="rId5">
                  <a:extLst/>
                </a:blip>
                <a:srcRect/>
                <a:stretch>
                  <a:fillRect/>
                </a:stretch>
              </p:blipFill>
              <p:spPr>
                <a:xfrm flipH="1">
                  <a:off x="0" y="517440"/>
                  <a:ext cx="1969527" cy="3045081"/>
                </a:xfrm>
                <a:prstGeom prst="rect">
                  <a:avLst/>
                </a:prstGeom>
                <a:ln w="12700" cap="flat">
                  <a:noFill/>
                  <a:miter lim="400000"/>
                </a:ln>
                <a:effectLst/>
              </p:spPr>
            </p:pic>
          </p:grpSp>
          <p:sp>
            <p:nvSpPr>
              <p:cNvPr id="202" name="Shape 202"/>
              <p:cNvSpPr/>
              <p:nvPr/>
            </p:nvSpPr>
            <p:spPr>
              <a:xfrm>
                <a:off x="5630894" y="1910865"/>
                <a:ext cx="382696" cy="382696"/>
              </a:xfrm>
              <a:prstGeom prst="line">
                <a:avLst/>
              </a:prstGeom>
              <a:noFill/>
              <a:ln w="12700" cap="flat">
                <a:solidFill>
                  <a:srgbClr val="000000"/>
                </a:solidFill>
                <a:custDash>
                  <a:ds d="200000" sp="200000"/>
                </a:custDash>
                <a:round/>
              </a:ln>
              <a:effectLst>
                <a:outerShdw blurRad="38100" dist="20000" dir="5400000" rotWithShape="0">
                  <a:srgbClr val="000000">
                    <a:alpha val="38000"/>
                  </a:srgbClr>
                </a:outerShdw>
              </a:effectLst>
            </p:spPr>
            <p:txBody>
              <a:bodyPr wrap="square" lIns="45719" tIns="45719" rIns="45719" bIns="45719" numCol="1" anchor="t">
                <a:noAutofit/>
              </a:bodyPr>
              <a:lstStyle/>
              <a:p>
                <a:endParaRPr/>
              </a:p>
            </p:txBody>
          </p:sp>
          <p:sp>
            <p:nvSpPr>
              <p:cNvPr id="203" name="Shape 203"/>
              <p:cNvSpPr/>
              <p:nvPr/>
            </p:nvSpPr>
            <p:spPr>
              <a:xfrm>
                <a:off x="5577799" y="3166399"/>
                <a:ext cx="395281" cy="1"/>
              </a:xfrm>
              <a:prstGeom prst="line">
                <a:avLst/>
              </a:prstGeom>
              <a:noFill/>
              <a:ln w="12700" cap="flat">
                <a:solidFill>
                  <a:srgbClr val="000000"/>
                </a:solidFill>
                <a:custDash>
                  <a:ds d="200000" sp="200000"/>
                </a:custDash>
                <a:round/>
              </a:ln>
              <a:effectLst>
                <a:outerShdw blurRad="38100" dist="20000" dir="5400000" rotWithShape="0">
                  <a:srgbClr val="000000">
                    <a:alpha val="38000"/>
                  </a:srgbClr>
                </a:outerShdw>
              </a:effectLst>
            </p:spPr>
            <p:txBody>
              <a:bodyPr wrap="square" lIns="45719" tIns="45719" rIns="45719" bIns="45719" numCol="1" anchor="t">
                <a:noAutofit/>
              </a:bodyPr>
              <a:lstStyle/>
              <a:p>
                <a:endParaRPr/>
              </a:p>
            </p:txBody>
          </p:sp>
        </p:grpSp>
        <p:sp>
          <p:nvSpPr>
            <p:cNvPr id="205" name="Shape 205"/>
            <p:cNvSpPr txBox="1"/>
            <p:nvPr/>
          </p:nvSpPr>
          <p:spPr>
            <a:xfrm>
              <a:off x="0" y="0"/>
              <a:ext cx="1112699" cy="37275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tIns="45719" rIns="45719" bIns="45719" numCol="1" anchor="t">
              <a:spAutoFit/>
            </a:bodyPr>
            <a:lstStyle>
              <a:lvl1pPr defTabSz="457200">
                <a:defRPr sz="2000">
                  <a:latin typeface="Times New Roman"/>
                  <a:ea typeface="Times New Roman"/>
                  <a:cs typeface="Times New Roman"/>
                  <a:sym typeface="Times New Roman"/>
                </a:defRPr>
              </a:lvl1pPr>
            </a:lstStyle>
            <a:p>
              <a:r>
                <a:t>3 couches</a:t>
              </a:r>
            </a:p>
          </p:txBody>
        </p:sp>
      </p:grpSp>
      <p:grpSp>
        <p:nvGrpSpPr>
          <p:cNvPr id="209" name="Group 209"/>
          <p:cNvGrpSpPr/>
          <p:nvPr/>
        </p:nvGrpSpPr>
        <p:grpSpPr>
          <a:xfrm>
            <a:off x="19683" y="2111544"/>
            <a:ext cx="9104634" cy="3578541"/>
            <a:chOff x="0" y="0"/>
            <a:chExt cx="9104633" cy="3578539"/>
          </a:xfrm>
        </p:grpSpPr>
        <p:sp>
          <p:nvSpPr>
            <p:cNvPr id="207" name="Shape 207"/>
            <p:cNvSpPr txBox="1"/>
            <p:nvPr/>
          </p:nvSpPr>
          <p:spPr>
            <a:xfrm>
              <a:off x="0" y="0"/>
              <a:ext cx="9104634" cy="37275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t">
              <a:spAutoFit/>
            </a:bodyPr>
            <a:lstStyle/>
            <a:p>
              <a:pPr defTabSz="457200">
                <a:defRPr sz="2000">
                  <a:latin typeface="Times New Roman"/>
                  <a:ea typeface="Times New Roman"/>
                  <a:cs typeface="Times New Roman"/>
                  <a:sym typeface="Times New Roman"/>
                </a:defRPr>
              </a:pPr>
              <a:r>
                <a:rPr b="1"/>
                <a:t>la membrane de Bruch: </a:t>
              </a:r>
              <a:r>
                <a:t>+ interne, est constituée de fibres de collagènes et  élastiques</a:t>
              </a:r>
            </a:p>
          </p:txBody>
        </p:sp>
        <p:sp>
          <p:nvSpPr>
            <p:cNvPr id="208" name="Shape 208"/>
            <p:cNvSpPr/>
            <p:nvPr/>
          </p:nvSpPr>
          <p:spPr>
            <a:xfrm>
              <a:off x="397973" y="3309311"/>
              <a:ext cx="1147496" cy="269229"/>
            </a:xfrm>
            <a:prstGeom prst="roundRect">
              <a:avLst>
                <a:gd name="adj" fmla="val 0"/>
              </a:avLst>
            </a:prstGeom>
            <a:noFill/>
            <a:ln w="76200" cap="flat">
              <a:solidFill>
                <a:srgbClr val="D38190"/>
              </a:solidFill>
              <a:prstDash val="solid"/>
              <a:round/>
            </a:ln>
            <a:effectLst/>
          </p:spPr>
          <p:txBody>
            <a:bodyPr wrap="square" lIns="45719" tIns="45719" rIns="45719" bIns="45719" numCol="1" anchor="ctr">
              <a:noAutofit/>
            </a:bodyPr>
            <a:lstStyle/>
            <a:p>
              <a:endParaRPr/>
            </a:p>
          </p:txBody>
        </p:sp>
      </p:grpSp>
      <p:grpSp>
        <p:nvGrpSpPr>
          <p:cNvPr id="212" name="Group 212"/>
          <p:cNvGrpSpPr/>
          <p:nvPr/>
        </p:nvGrpSpPr>
        <p:grpSpPr>
          <a:xfrm>
            <a:off x="284581" y="2767302"/>
            <a:ext cx="8749707" cy="3266216"/>
            <a:chOff x="0" y="0"/>
            <a:chExt cx="8749705" cy="3266215"/>
          </a:xfrm>
        </p:grpSpPr>
        <p:sp>
          <p:nvSpPr>
            <p:cNvPr id="210" name="Shape 210"/>
            <p:cNvSpPr txBox="1"/>
            <p:nvPr/>
          </p:nvSpPr>
          <p:spPr>
            <a:xfrm>
              <a:off x="65011" y="0"/>
              <a:ext cx="8684695" cy="66485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t">
              <a:spAutoFit/>
            </a:bodyPr>
            <a:lstStyle/>
            <a:p>
              <a:pPr defTabSz="457200">
                <a:defRPr sz="2000">
                  <a:latin typeface="Times New Roman"/>
                  <a:ea typeface="Times New Roman"/>
                  <a:cs typeface="Times New Roman"/>
                  <a:sym typeface="Times New Roman"/>
                </a:defRPr>
              </a:pPr>
              <a:r>
                <a:rPr b="1"/>
                <a:t>la couche choriocapillaire</a:t>
              </a:r>
              <a:r>
                <a:t>: contient des capillaires fenêtrés qui fournissent l’O2  et les nutriments aux couches ext de la rétine et de la fovéa</a:t>
              </a:r>
            </a:p>
          </p:txBody>
        </p:sp>
        <p:sp>
          <p:nvSpPr>
            <p:cNvPr id="211" name="Shape 211"/>
            <p:cNvSpPr/>
            <p:nvPr/>
          </p:nvSpPr>
          <p:spPr>
            <a:xfrm>
              <a:off x="0" y="2990290"/>
              <a:ext cx="1259116" cy="275926"/>
            </a:xfrm>
            <a:prstGeom prst="roundRect">
              <a:avLst>
                <a:gd name="adj" fmla="val 0"/>
              </a:avLst>
            </a:prstGeom>
            <a:noFill/>
            <a:ln w="76200" cap="flat">
              <a:solidFill>
                <a:srgbClr val="D38190"/>
              </a:solidFill>
              <a:prstDash val="solid"/>
              <a:round/>
            </a:ln>
            <a:effectLst/>
          </p:spPr>
          <p:txBody>
            <a:bodyPr wrap="square" lIns="45719" tIns="45719" rIns="45719" bIns="45719" numCol="1" anchor="ctr">
              <a:noAutofit/>
            </a:bodyPr>
            <a:lstStyle/>
            <a:p>
              <a:endParaRPr/>
            </a:p>
          </p:txBody>
        </p:sp>
      </p:grpSp>
      <p:grpSp>
        <p:nvGrpSpPr>
          <p:cNvPr id="215" name="Group 215"/>
          <p:cNvGrpSpPr/>
          <p:nvPr/>
        </p:nvGrpSpPr>
        <p:grpSpPr>
          <a:xfrm>
            <a:off x="473560" y="3678471"/>
            <a:ext cx="5707353" cy="2607604"/>
            <a:chOff x="0" y="0"/>
            <a:chExt cx="5707351" cy="2607603"/>
          </a:xfrm>
        </p:grpSpPr>
        <p:sp>
          <p:nvSpPr>
            <p:cNvPr id="213" name="Shape 213"/>
            <p:cNvSpPr txBox="1"/>
            <p:nvPr/>
          </p:nvSpPr>
          <p:spPr>
            <a:xfrm>
              <a:off x="369047" y="0"/>
              <a:ext cx="5338305" cy="95695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t">
              <a:spAutoFit/>
            </a:bodyPr>
            <a:lstStyle/>
            <a:p>
              <a:pPr defTabSz="457200">
                <a:defRPr sz="2000">
                  <a:latin typeface="Times New Roman"/>
                  <a:ea typeface="Times New Roman"/>
                  <a:cs typeface="Times New Roman"/>
                  <a:sym typeface="Times New Roman"/>
                </a:defRPr>
              </a:pPr>
              <a:r>
                <a:rPr b="1"/>
                <a:t>le stroma choroïdien</a:t>
              </a:r>
              <a:r>
                <a:t>:  est constitué de volumineuses artères et veines entourées de fibres de collagènes et élastiques</a:t>
              </a:r>
            </a:p>
          </p:txBody>
        </p:sp>
        <p:sp>
          <p:nvSpPr>
            <p:cNvPr id="214" name="Shape 214"/>
            <p:cNvSpPr/>
            <p:nvPr/>
          </p:nvSpPr>
          <p:spPr>
            <a:xfrm>
              <a:off x="0" y="2338375"/>
              <a:ext cx="1147495" cy="269229"/>
            </a:xfrm>
            <a:prstGeom prst="roundRect">
              <a:avLst>
                <a:gd name="adj" fmla="val 0"/>
              </a:avLst>
            </a:prstGeom>
            <a:noFill/>
            <a:ln w="76200" cap="flat">
              <a:solidFill>
                <a:srgbClr val="D38190"/>
              </a:solidFill>
              <a:prstDash val="solid"/>
              <a:round/>
            </a:ln>
            <a:effectLst/>
          </p:spPr>
          <p:txBody>
            <a:bodyPr wrap="square" lIns="45719" tIns="45719" rIns="45719" bIns="45719" numCol="1" anchor="ctr">
              <a:noAutofit/>
            </a:bodyPr>
            <a:lstStyle/>
            <a:p>
              <a:endParaRPr/>
            </a:p>
          </p:txBody>
        </p:sp>
      </p:grpSp>
      <p:sp>
        <p:nvSpPr>
          <p:cNvPr id="216" name="Shape 216"/>
          <p:cNvSpPr/>
          <p:nvPr/>
        </p:nvSpPr>
        <p:spPr>
          <a:xfrm>
            <a:off x="6890336" y="259247"/>
            <a:ext cx="705653" cy="245407"/>
          </a:xfrm>
          <a:prstGeom prst="rect">
            <a:avLst/>
          </a:prstGeom>
          <a:ln w="76200">
            <a:solidFill>
              <a:srgbClr val="D38190"/>
            </a:solidFill>
          </a:ln>
        </p:spPr>
        <p:txBody>
          <a:bodyPr lIns="45719" rIns="45719" anchor="ctr"/>
          <a:lstStyle/>
          <a:p>
            <a:endParaRP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xit" presetSubtype="0" fill="hold" grpId="1" nodeType="clickEffect">
                                  <p:stCondLst>
                                    <p:cond delay="0"/>
                                  </p:stCondLst>
                                  <p:iterate>
                                    <p:tmAbs val="0"/>
                                  </p:iterate>
                                  <p:childTnLst>
                                    <p:set>
                                      <p:cBhvr>
                                        <p:cTn id="6" fill="hold">
                                          <p:stCondLst>
                                            <p:cond delay="0"/>
                                          </p:stCondLst>
                                        </p:cTn>
                                        <p:tgtEl>
                                          <p:spTgt spid="197"/>
                                        </p:tgtEl>
                                        <p:attrNameLst>
                                          <p:attrName>style.visibility</p:attrName>
                                        </p:attrNameLst>
                                      </p:cBhvr>
                                      <p:to>
                                        <p:strVal val="hidden"/>
                                      </p:to>
                                    </p:set>
                                  </p:childTnLst>
                                </p:cTn>
                              </p:par>
                            </p:childTnLst>
                          </p:cTn>
                        </p:par>
                        <p:par>
                          <p:cTn id="7" fill="hold">
                            <p:stCondLst>
                              <p:cond delay="0"/>
                            </p:stCondLst>
                            <p:childTnLst>
                              <p:par>
                                <p:cTn id="8" presetID="1" presetClass="entr" presetSubtype="0" fill="hold" grpId="2" nodeType="afterEffect">
                                  <p:stCondLst>
                                    <p:cond delay="0"/>
                                  </p:stCondLst>
                                  <p:iterate>
                                    <p:tmAbs val="0"/>
                                  </p:iterate>
                                  <p:childTnLst>
                                    <p:set>
                                      <p:cBhvr>
                                        <p:cTn id="9" fill="hold"/>
                                        <p:tgtEl>
                                          <p:spTgt spid="206"/>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3" nodeType="clickEffect">
                                  <p:stCondLst>
                                    <p:cond delay="0"/>
                                  </p:stCondLst>
                                  <p:iterate>
                                    <p:tmAbs val="0"/>
                                  </p:iterate>
                                  <p:childTnLst>
                                    <p:set>
                                      <p:cBhvr>
                                        <p:cTn id="13" fill="hold"/>
                                        <p:tgtEl>
                                          <p:spTgt spid="209"/>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4" nodeType="clickEffect">
                                  <p:stCondLst>
                                    <p:cond delay="0"/>
                                  </p:stCondLst>
                                  <p:iterate>
                                    <p:tmAbs val="0"/>
                                  </p:iterate>
                                  <p:childTnLst>
                                    <p:set>
                                      <p:cBhvr>
                                        <p:cTn id="17" fill="hold"/>
                                        <p:tgtEl>
                                          <p:spTgt spid="212"/>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5" nodeType="clickEffect">
                                  <p:stCondLst>
                                    <p:cond delay="0"/>
                                  </p:stCondLst>
                                  <p:iterate>
                                    <p:tmAbs val="0"/>
                                  </p:iterate>
                                  <p:childTnLst>
                                    <p:set>
                                      <p:cBhvr>
                                        <p:cTn id="21" fill="hold"/>
                                        <p:tgtEl>
                                          <p:spTgt spid="2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7" grpId="1" animBg="1" advAuto="0"/>
      <p:bldP spid="206" grpId="2" animBg="1" advAuto="0"/>
      <p:bldP spid="209" grpId="3" animBg="1" advAuto="0"/>
      <p:bldP spid="212" grpId="4" animBg="1" advAuto="0"/>
      <p:bldP spid="215" grpId="5" animBg="1" advAuto="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8" name="Picture 2" descr="Picture 2"/>
          <p:cNvPicPr>
            <a:picLocks noChangeAspect="1"/>
          </p:cNvPicPr>
          <p:nvPr/>
        </p:nvPicPr>
        <p:blipFill>
          <a:blip r:embed="rId2">
            <a:extLst/>
          </a:blip>
          <a:srcRect/>
          <a:stretch>
            <a:fillRect/>
          </a:stretch>
        </p:blipFill>
        <p:spPr>
          <a:xfrm>
            <a:off x="66117" y="1841149"/>
            <a:ext cx="5189944" cy="4041044"/>
          </a:xfrm>
          <a:prstGeom prst="rect">
            <a:avLst/>
          </a:prstGeom>
          <a:ln w="12700">
            <a:miter lim="400000"/>
          </a:ln>
        </p:spPr>
      </p:pic>
      <p:pic>
        <p:nvPicPr>
          <p:cNvPr id="219" name="14CA8028-C266-4590-8F74-901C69F610C4-L0-001.png"/>
          <p:cNvPicPr>
            <a:picLocks/>
          </p:cNvPicPr>
          <p:nvPr/>
        </p:nvPicPr>
        <p:blipFill>
          <a:blip r:embed="rId3" cstate="email">
            <a:extLst/>
          </a:blip>
          <a:srcRect/>
          <a:stretch>
            <a:fillRect/>
          </a:stretch>
        </p:blipFill>
        <p:spPr>
          <a:xfrm>
            <a:off x="6970416" y="16848"/>
            <a:ext cx="2124436" cy="1951620"/>
          </a:xfrm>
          <a:prstGeom prst="rect">
            <a:avLst/>
          </a:prstGeom>
          <a:ln w="12700">
            <a:miter lim="400000"/>
          </a:ln>
        </p:spPr>
      </p:pic>
      <p:sp>
        <p:nvSpPr>
          <p:cNvPr id="220" name="Shape 220"/>
          <p:cNvSpPr txBox="1"/>
          <p:nvPr/>
        </p:nvSpPr>
        <p:spPr>
          <a:xfrm>
            <a:off x="30575" y="27358"/>
            <a:ext cx="3451248" cy="507056"/>
          </a:xfrm>
          <a:prstGeom prst="rect">
            <a:avLst/>
          </a:prstGeom>
          <a:solidFill>
            <a:schemeClr val="accent1">
              <a:lumOff val="23725"/>
            </a:schemeClr>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defTabSz="457200">
              <a:defRPr sz="3000" b="1" i="1" cap="small">
                <a:latin typeface="Times New Roman"/>
                <a:ea typeface="Times New Roman"/>
                <a:cs typeface="Times New Roman"/>
                <a:sym typeface="Times New Roman"/>
              </a:defRPr>
            </a:lvl1pPr>
          </a:lstStyle>
          <a:p>
            <a:r>
              <a:t>Les trois tuniques </a:t>
            </a:r>
          </a:p>
        </p:txBody>
      </p:sp>
      <p:sp>
        <p:nvSpPr>
          <p:cNvPr id="221" name="Shape 221"/>
          <p:cNvSpPr txBox="1"/>
          <p:nvPr/>
        </p:nvSpPr>
        <p:spPr>
          <a:xfrm>
            <a:off x="585337" y="660267"/>
            <a:ext cx="2610779" cy="433553"/>
          </a:xfrm>
          <a:prstGeom prst="rect">
            <a:avLst/>
          </a:prstGeom>
          <a:solidFill>
            <a:srgbClr val="D47387"/>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defTabSz="457200">
              <a:defRPr sz="2500" b="1" i="1" cap="small">
                <a:solidFill>
                  <a:srgbClr val="FFFFFF"/>
                </a:solidFill>
                <a:latin typeface="Times New Roman"/>
                <a:ea typeface="Times New Roman"/>
                <a:cs typeface="Times New Roman"/>
                <a:sym typeface="Times New Roman"/>
              </a:defRPr>
            </a:lvl1pPr>
          </a:lstStyle>
          <a:p>
            <a:r>
              <a:t>tunique moyenne</a:t>
            </a:r>
          </a:p>
        </p:txBody>
      </p:sp>
      <p:sp>
        <p:nvSpPr>
          <p:cNvPr id="222" name="Shape 222"/>
          <p:cNvSpPr txBox="1"/>
          <p:nvPr/>
        </p:nvSpPr>
        <p:spPr>
          <a:xfrm>
            <a:off x="-1496735" y="1147489"/>
            <a:ext cx="127001" cy="86427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z="2700" b="1">
                <a:latin typeface="Times New Roman"/>
                <a:ea typeface="Times New Roman"/>
                <a:cs typeface="Times New Roman"/>
                <a:sym typeface="Times New Roman"/>
              </a:defRPr>
            </a:lvl1pPr>
          </a:lstStyle>
          <a:p>
            <a:r>
              <a:t/>
            </a:r>
            <a:br/>
            <a:endParaRPr/>
          </a:p>
        </p:txBody>
      </p:sp>
      <p:sp>
        <p:nvSpPr>
          <p:cNvPr id="223" name="Shape 223"/>
          <p:cNvSpPr txBox="1"/>
          <p:nvPr/>
        </p:nvSpPr>
        <p:spPr>
          <a:xfrm>
            <a:off x="1071270" y="1281109"/>
            <a:ext cx="2182898" cy="372751"/>
          </a:xfrm>
          <a:prstGeom prst="rect">
            <a:avLst/>
          </a:prstGeom>
          <a:solidFill>
            <a:srgbClr val="D48593"/>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defTabSz="457200">
              <a:defRPr sz="2000" i="1">
                <a:solidFill>
                  <a:srgbClr val="FFFFFF"/>
                </a:solidFill>
                <a:latin typeface="Times New Roman"/>
                <a:ea typeface="Times New Roman"/>
                <a:cs typeface="Times New Roman"/>
                <a:sym typeface="Times New Roman"/>
              </a:defRPr>
            </a:lvl1pPr>
          </a:lstStyle>
          <a:p>
            <a:r>
              <a:t>2 - Le corps cilliaire</a:t>
            </a:r>
          </a:p>
        </p:txBody>
      </p:sp>
      <p:sp>
        <p:nvSpPr>
          <p:cNvPr id="224" name="Shape 224"/>
          <p:cNvSpPr/>
          <p:nvPr/>
        </p:nvSpPr>
        <p:spPr>
          <a:xfrm>
            <a:off x="7840571" y="30441"/>
            <a:ext cx="868082" cy="281942"/>
          </a:xfrm>
          <a:prstGeom prst="roundRect">
            <a:avLst>
              <a:gd name="adj" fmla="val 0"/>
            </a:avLst>
          </a:prstGeom>
          <a:ln w="76200">
            <a:solidFill>
              <a:srgbClr val="D38190"/>
            </a:solidFill>
          </a:ln>
        </p:spPr>
        <p:txBody>
          <a:bodyPr lIns="45719" rIns="45719" anchor="ctr"/>
          <a:lstStyle/>
          <a:p>
            <a:endParaRPr/>
          </a:p>
        </p:txBody>
      </p:sp>
      <p:sp>
        <p:nvSpPr>
          <p:cNvPr id="225" name="Shape 225"/>
          <p:cNvSpPr txBox="1"/>
          <p:nvPr/>
        </p:nvSpPr>
        <p:spPr>
          <a:xfrm>
            <a:off x="5821795" y="1820861"/>
            <a:ext cx="1127210" cy="37275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defTabSz="457200">
              <a:defRPr sz="2000">
                <a:latin typeface="Times New Roman"/>
                <a:ea typeface="Times New Roman"/>
                <a:cs typeface="Times New Roman"/>
                <a:sym typeface="Times New Roman"/>
              </a:defRPr>
            </a:lvl1pPr>
          </a:lstStyle>
          <a:p>
            <a:r>
              <a:t>2 portions</a:t>
            </a:r>
          </a:p>
        </p:txBody>
      </p:sp>
      <p:grpSp>
        <p:nvGrpSpPr>
          <p:cNvPr id="228" name="Group 228"/>
          <p:cNvGrpSpPr/>
          <p:nvPr/>
        </p:nvGrpSpPr>
        <p:grpSpPr>
          <a:xfrm>
            <a:off x="48834" y="2400554"/>
            <a:ext cx="9078082" cy="2430765"/>
            <a:chOff x="0" y="0"/>
            <a:chExt cx="9078081" cy="2430763"/>
          </a:xfrm>
        </p:grpSpPr>
        <p:sp>
          <p:nvSpPr>
            <p:cNvPr id="226" name="Shape 226"/>
            <p:cNvSpPr txBox="1"/>
            <p:nvPr/>
          </p:nvSpPr>
          <p:spPr>
            <a:xfrm>
              <a:off x="5678859" y="0"/>
              <a:ext cx="3399223" cy="1249050"/>
            </a:xfrm>
            <a:prstGeom prst="rect">
              <a:avLst/>
            </a:prstGeom>
            <a:solidFill>
              <a:schemeClr val="accent4">
                <a:lumOff val="12156"/>
              </a:schemeClr>
            </a:solid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t">
              <a:spAutoFit/>
            </a:bodyPr>
            <a:lstStyle/>
            <a:p>
              <a:pPr>
                <a:defRPr sz="2000">
                  <a:latin typeface="Times New Roman"/>
                  <a:ea typeface="Times New Roman"/>
                  <a:cs typeface="Times New Roman"/>
                  <a:sym typeface="Times New Roman"/>
                </a:defRPr>
              </a:pPr>
              <a:r>
                <a:rPr b="1"/>
                <a:t>une portion uvéale</a:t>
              </a:r>
              <a:r>
                <a:t> (le muscle lisse, une couche de capillaires fenêtrés assurant la vx sanguine du muscle ciliaire)  </a:t>
              </a:r>
            </a:p>
          </p:txBody>
        </p:sp>
        <p:sp>
          <p:nvSpPr>
            <p:cNvPr id="227" name="Shape 227"/>
            <p:cNvSpPr/>
            <p:nvPr/>
          </p:nvSpPr>
          <p:spPr>
            <a:xfrm>
              <a:off x="0" y="1129495"/>
              <a:ext cx="1458763" cy="1301269"/>
            </a:xfrm>
            <a:prstGeom prst="roundRect">
              <a:avLst>
                <a:gd name="adj" fmla="val 11210"/>
              </a:avLst>
            </a:prstGeom>
            <a:noFill/>
            <a:ln w="63500" cap="flat">
              <a:solidFill>
                <a:schemeClr val="accent4"/>
              </a:solidFill>
              <a:prstDash val="solid"/>
              <a:round/>
            </a:ln>
            <a:effectLst/>
          </p:spPr>
          <p:txBody>
            <a:bodyPr wrap="square" lIns="45719" tIns="45719" rIns="45719" bIns="45719" numCol="1" anchor="ctr">
              <a:noAutofit/>
            </a:bodyPr>
            <a:lstStyle/>
            <a:p>
              <a:endParaRPr/>
            </a:p>
          </p:txBody>
        </p:sp>
      </p:grpSp>
      <p:grpSp>
        <p:nvGrpSpPr>
          <p:cNvPr id="233" name="Group 233"/>
          <p:cNvGrpSpPr/>
          <p:nvPr/>
        </p:nvGrpSpPr>
        <p:grpSpPr>
          <a:xfrm>
            <a:off x="3269381" y="3796887"/>
            <a:ext cx="5882684" cy="2709551"/>
            <a:chOff x="0" y="0"/>
            <a:chExt cx="5882682" cy="2709549"/>
          </a:xfrm>
        </p:grpSpPr>
        <p:sp>
          <p:nvSpPr>
            <p:cNvPr id="229" name="Shape 229"/>
            <p:cNvSpPr/>
            <p:nvPr/>
          </p:nvSpPr>
          <p:spPr>
            <a:xfrm>
              <a:off x="0" y="949014"/>
              <a:ext cx="1878751" cy="461293"/>
            </a:xfrm>
            <a:prstGeom prst="roundRect">
              <a:avLst>
                <a:gd name="adj" fmla="val 31623"/>
              </a:avLst>
            </a:prstGeom>
            <a:noFill/>
            <a:ln w="63500" cap="flat">
              <a:solidFill>
                <a:schemeClr val="accent3"/>
              </a:solidFill>
              <a:prstDash val="solid"/>
              <a:round/>
            </a:ln>
            <a:effectLst/>
          </p:spPr>
          <p:txBody>
            <a:bodyPr wrap="square" lIns="45719" tIns="45719" rIns="45719" bIns="45719" numCol="1" anchor="ctr">
              <a:noAutofit/>
            </a:bodyPr>
            <a:lstStyle/>
            <a:p>
              <a:endParaRPr/>
            </a:p>
          </p:txBody>
        </p:sp>
        <p:grpSp>
          <p:nvGrpSpPr>
            <p:cNvPr id="232" name="Group 232"/>
            <p:cNvGrpSpPr/>
            <p:nvPr/>
          </p:nvGrpSpPr>
          <p:grpSpPr>
            <a:xfrm>
              <a:off x="0" y="0"/>
              <a:ext cx="5882683" cy="2709550"/>
              <a:chOff x="0" y="0"/>
              <a:chExt cx="5882682" cy="2709549"/>
            </a:xfrm>
          </p:grpSpPr>
          <p:sp>
            <p:nvSpPr>
              <p:cNvPr id="230" name="Shape 230"/>
              <p:cNvSpPr txBox="1"/>
              <p:nvPr/>
            </p:nvSpPr>
            <p:spPr>
              <a:xfrm>
                <a:off x="2408452" y="0"/>
                <a:ext cx="3474231" cy="2709550"/>
              </a:xfrm>
              <a:prstGeom prst="rect">
                <a:avLst/>
              </a:prstGeom>
              <a:solidFill>
                <a:schemeClr val="accent3"/>
              </a:solid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t">
                <a:spAutoFit/>
              </a:bodyPr>
              <a:lstStyle/>
              <a:p>
                <a:pPr>
                  <a:defRPr sz="2000">
                    <a:latin typeface="Times New Roman"/>
                    <a:ea typeface="Times New Roman"/>
                    <a:cs typeface="Times New Roman"/>
                    <a:sym typeface="Times New Roman"/>
                  </a:defRPr>
                </a:pPr>
                <a:r>
                  <a:rPr b="1"/>
                  <a:t>une portion neuro-épithéliale: </a:t>
                </a:r>
                <a:r>
                  <a:t>2 couches : </a:t>
                </a:r>
              </a:p>
              <a:p>
                <a:pPr marL="200526" indent="-200526">
                  <a:buSzPct val="100000"/>
                  <a:buChar char="•"/>
                  <a:defRPr sz="2000">
                    <a:latin typeface="Times New Roman"/>
                    <a:ea typeface="Times New Roman"/>
                    <a:cs typeface="Times New Roman"/>
                    <a:sym typeface="Times New Roman"/>
                  </a:defRPr>
                </a:pPr>
                <a:r>
                  <a:t>une couche épithéliale ext pigmenté repose sur une membrane basale en continuité avec la membrane de Bruch</a:t>
                </a:r>
              </a:p>
              <a:p>
                <a:pPr marL="200526" indent="-200526">
                  <a:buSzPct val="100000"/>
                  <a:buChar char="•"/>
                  <a:defRPr sz="2000">
                    <a:latin typeface="Times New Roman"/>
                    <a:ea typeface="Times New Roman"/>
                    <a:cs typeface="Times New Roman"/>
                    <a:sym typeface="Times New Roman"/>
                  </a:defRPr>
                </a:pPr>
                <a:r>
                  <a:t>couche int non pigmentée en continuité avec la rétine sensorielle</a:t>
                </a:r>
              </a:p>
            </p:txBody>
          </p:sp>
          <p:sp>
            <p:nvSpPr>
              <p:cNvPr id="231" name="Shape 231"/>
              <p:cNvSpPr/>
              <p:nvPr/>
            </p:nvSpPr>
            <p:spPr>
              <a:xfrm>
                <a:off x="0" y="1400018"/>
                <a:ext cx="1878751" cy="474417"/>
              </a:xfrm>
              <a:prstGeom prst="roundRect">
                <a:avLst>
                  <a:gd name="adj" fmla="val 30749"/>
                </a:avLst>
              </a:prstGeom>
              <a:noFill/>
              <a:ln w="63500" cap="flat">
                <a:solidFill>
                  <a:schemeClr val="accent3"/>
                </a:solidFill>
                <a:prstDash val="solid"/>
                <a:round/>
              </a:ln>
              <a:effectLst/>
            </p:spPr>
            <p:txBody>
              <a:bodyPr wrap="square" lIns="45719" tIns="45719" rIns="45719" bIns="45719" numCol="1" anchor="ctr">
                <a:noAutofit/>
              </a:bodyPr>
              <a:lstStyle/>
              <a:p>
                <a:endParaRPr/>
              </a:p>
            </p:txBody>
          </p:sp>
        </p:grpSp>
      </p:gr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2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2" nodeType="clickEffect">
                                  <p:stCondLst>
                                    <p:cond delay="0"/>
                                  </p:stCondLst>
                                  <p:iterate>
                                    <p:tmAbs val="0"/>
                                  </p:iterate>
                                  <p:childTnLst>
                                    <p:set>
                                      <p:cBhvr>
                                        <p:cTn id="10" fill="hold"/>
                                        <p:tgtEl>
                                          <p:spTgt spid="2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8" grpId="1" animBg="1" advAuto="0"/>
      <p:bldP spid="233" grpId="2" animBg="1" advAuto="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 name="14CA8028-C266-4590-8F74-901C69F610C4-L0-001.png"/>
          <p:cNvPicPr>
            <a:picLocks/>
          </p:cNvPicPr>
          <p:nvPr/>
        </p:nvPicPr>
        <p:blipFill>
          <a:blip r:embed="rId2" cstate="email">
            <a:extLst/>
          </a:blip>
          <a:srcRect/>
          <a:stretch>
            <a:fillRect/>
          </a:stretch>
        </p:blipFill>
        <p:spPr>
          <a:xfrm>
            <a:off x="6970416" y="16848"/>
            <a:ext cx="2124436" cy="1951620"/>
          </a:xfrm>
          <a:prstGeom prst="rect">
            <a:avLst/>
          </a:prstGeom>
          <a:ln w="12700">
            <a:miter lim="400000"/>
          </a:ln>
        </p:spPr>
      </p:pic>
      <p:sp>
        <p:nvSpPr>
          <p:cNvPr id="236" name="Shape 236"/>
          <p:cNvSpPr txBox="1"/>
          <p:nvPr/>
        </p:nvSpPr>
        <p:spPr>
          <a:xfrm>
            <a:off x="30575" y="27358"/>
            <a:ext cx="3451248" cy="507056"/>
          </a:xfrm>
          <a:prstGeom prst="rect">
            <a:avLst/>
          </a:prstGeom>
          <a:solidFill>
            <a:schemeClr val="accent1">
              <a:lumOff val="23725"/>
            </a:schemeClr>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defTabSz="457200">
              <a:defRPr sz="3000" b="1" i="1" cap="small">
                <a:latin typeface="Times New Roman"/>
                <a:ea typeface="Times New Roman"/>
                <a:cs typeface="Times New Roman"/>
                <a:sym typeface="Times New Roman"/>
              </a:defRPr>
            </a:lvl1pPr>
          </a:lstStyle>
          <a:p>
            <a:r>
              <a:t>Les trois tuniques </a:t>
            </a:r>
          </a:p>
        </p:txBody>
      </p:sp>
      <p:sp>
        <p:nvSpPr>
          <p:cNvPr id="237" name="Shape 237"/>
          <p:cNvSpPr txBox="1"/>
          <p:nvPr/>
        </p:nvSpPr>
        <p:spPr>
          <a:xfrm>
            <a:off x="585337" y="660267"/>
            <a:ext cx="2610779" cy="433553"/>
          </a:xfrm>
          <a:prstGeom prst="rect">
            <a:avLst/>
          </a:prstGeom>
          <a:solidFill>
            <a:srgbClr val="D47387"/>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defTabSz="457200">
              <a:defRPr sz="2500" b="1" i="1" cap="small">
                <a:solidFill>
                  <a:srgbClr val="FFFFFF"/>
                </a:solidFill>
                <a:latin typeface="Times New Roman"/>
                <a:ea typeface="Times New Roman"/>
                <a:cs typeface="Times New Roman"/>
                <a:sym typeface="Times New Roman"/>
              </a:defRPr>
            </a:lvl1pPr>
          </a:lstStyle>
          <a:p>
            <a:r>
              <a:t>tunique moyenne</a:t>
            </a:r>
          </a:p>
        </p:txBody>
      </p:sp>
      <p:sp>
        <p:nvSpPr>
          <p:cNvPr id="238" name="Shape 238"/>
          <p:cNvSpPr txBox="1"/>
          <p:nvPr/>
        </p:nvSpPr>
        <p:spPr>
          <a:xfrm>
            <a:off x="-1496735" y="1147489"/>
            <a:ext cx="127001" cy="86427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z="2700" b="1">
                <a:latin typeface="Times New Roman"/>
                <a:ea typeface="Times New Roman"/>
                <a:cs typeface="Times New Roman"/>
                <a:sym typeface="Times New Roman"/>
              </a:defRPr>
            </a:lvl1pPr>
          </a:lstStyle>
          <a:p>
            <a:r>
              <a:t/>
            </a:r>
            <a:br/>
            <a:endParaRPr/>
          </a:p>
        </p:txBody>
      </p:sp>
      <p:sp>
        <p:nvSpPr>
          <p:cNvPr id="239" name="Shape 239"/>
          <p:cNvSpPr/>
          <p:nvPr/>
        </p:nvSpPr>
        <p:spPr>
          <a:xfrm>
            <a:off x="8739140" y="226167"/>
            <a:ext cx="318226" cy="238816"/>
          </a:xfrm>
          <a:prstGeom prst="roundRect">
            <a:avLst>
              <a:gd name="adj" fmla="val 0"/>
            </a:avLst>
          </a:prstGeom>
          <a:ln w="76200">
            <a:solidFill>
              <a:srgbClr val="D38190"/>
            </a:solidFill>
          </a:ln>
        </p:spPr>
        <p:txBody>
          <a:bodyPr lIns="45719" rIns="45719" anchor="ctr"/>
          <a:lstStyle/>
          <a:p>
            <a:endParaRPr/>
          </a:p>
        </p:txBody>
      </p:sp>
      <p:sp>
        <p:nvSpPr>
          <p:cNvPr id="240" name="Shape 240"/>
          <p:cNvSpPr txBox="1"/>
          <p:nvPr/>
        </p:nvSpPr>
        <p:spPr>
          <a:xfrm>
            <a:off x="1250203" y="1281109"/>
            <a:ext cx="1011992" cy="372751"/>
          </a:xfrm>
          <a:prstGeom prst="rect">
            <a:avLst/>
          </a:prstGeom>
          <a:solidFill>
            <a:srgbClr val="D48593"/>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defTabSz="457200">
              <a:defRPr sz="2000" i="1">
                <a:solidFill>
                  <a:srgbClr val="FFFFFF"/>
                </a:solidFill>
                <a:latin typeface="Times New Roman"/>
                <a:ea typeface="Times New Roman"/>
                <a:cs typeface="Times New Roman"/>
                <a:sym typeface="Times New Roman"/>
              </a:defRPr>
            </a:lvl1pPr>
          </a:lstStyle>
          <a:p>
            <a:r>
              <a:t>3 - L’Iris</a:t>
            </a:r>
          </a:p>
        </p:txBody>
      </p:sp>
      <p:sp>
        <p:nvSpPr>
          <p:cNvPr id="241" name="Shape 241"/>
          <p:cNvSpPr txBox="1"/>
          <p:nvPr/>
        </p:nvSpPr>
        <p:spPr>
          <a:xfrm>
            <a:off x="2710746" y="1135059"/>
            <a:ext cx="4622370" cy="66485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spcBef>
                <a:spcPts val="300"/>
              </a:spcBef>
              <a:defRPr sz="2000">
                <a:latin typeface="Times New Roman"/>
                <a:ea typeface="Times New Roman"/>
                <a:cs typeface="Times New Roman"/>
                <a:sym typeface="Times New Roman"/>
              </a:defRPr>
            </a:lvl1pPr>
          </a:lstStyle>
          <a:p>
            <a:r>
              <a:t>est un prolongement du corps ciliaire et se situe devant le cristallin</a:t>
            </a:r>
          </a:p>
        </p:txBody>
      </p:sp>
      <p:pic>
        <p:nvPicPr>
          <p:cNvPr id="242" name="Picture 2" descr="Picture 2"/>
          <p:cNvPicPr>
            <a:picLocks noChangeAspect="1"/>
          </p:cNvPicPr>
          <p:nvPr/>
        </p:nvPicPr>
        <p:blipFill>
          <a:blip r:embed="rId3">
            <a:extLst/>
          </a:blip>
          <a:srcRect/>
          <a:stretch>
            <a:fillRect/>
          </a:stretch>
        </p:blipFill>
        <p:spPr>
          <a:xfrm>
            <a:off x="41237" y="2181492"/>
            <a:ext cx="6216748" cy="4302652"/>
          </a:xfrm>
          <a:prstGeom prst="rect">
            <a:avLst/>
          </a:prstGeom>
          <a:ln w="12700">
            <a:miter lim="400000"/>
          </a:ln>
        </p:spPr>
      </p:pic>
      <p:grpSp>
        <p:nvGrpSpPr>
          <p:cNvPr id="246" name="Group 246"/>
          <p:cNvGrpSpPr/>
          <p:nvPr/>
        </p:nvGrpSpPr>
        <p:grpSpPr>
          <a:xfrm>
            <a:off x="6125815" y="2400555"/>
            <a:ext cx="2895941" cy="4280234"/>
            <a:chOff x="0" y="0"/>
            <a:chExt cx="2895940" cy="4280233"/>
          </a:xfrm>
        </p:grpSpPr>
        <p:sp>
          <p:nvSpPr>
            <p:cNvPr id="243" name="Shape 243"/>
            <p:cNvSpPr txBox="1"/>
            <p:nvPr/>
          </p:nvSpPr>
          <p:spPr>
            <a:xfrm>
              <a:off x="257923" y="533517"/>
              <a:ext cx="2543866" cy="1871351"/>
            </a:xfrm>
            <a:prstGeom prst="rect">
              <a:avLst/>
            </a:prstGeom>
            <a:noFill/>
            <a:ln w="38100" cap="flat">
              <a:solidFill>
                <a:schemeClr val="accent4"/>
              </a:solidFill>
              <a:prstDash val="solid"/>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t">
              <a:spAutoFit/>
            </a:bodyPr>
            <a:lstStyle/>
            <a:p>
              <a:pPr>
                <a:spcBef>
                  <a:spcPts val="300"/>
                </a:spcBef>
                <a:defRPr sz="2000">
                  <a:latin typeface="Times New Roman"/>
                  <a:ea typeface="Times New Roman"/>
                  <a:cs typeface="Times New Roman"/>
                  <a:sym typeface="Times New Roman"/>
                </a:defRPr>
              </a:pPr>
              <a:r>
                <a:rPr b="1"/>
                <a:t>face ant ext uvéale </a:t>
              </a:r>
              <a:r>
                <a:t>formée de fibroblastes  et de mélanocytes pigmentées (déterminant la couleur de l’iris )</a:t>
              </a:r>
            </a:p>
          </p:txBody>
        </p:sp>
        <p:sp>
          <p:nvSpPr>
            <p:cNvPr id="244" name="Shape 244"/>
            <p:cNvSpPr txBox="1"/>
            <p:nvPr/>
          </p:nvSpPr>
          <p:spPr>
            <a:xfrm>
              <a:off x="163771" y="2700983"/>
              <a:ext cx="2732170" cy="1579251"/>
            </a:xfrm>
            <a:prstGeom prst="rect">
              <a:avLst/>
            </a:prstGeom>
            <a:noFill/>
            <a:ln w="38100" cap="flat">
              <a:solidFill>
                <a:schemeClr val="accent3"/>
              </a:solidFill>
              <a:prstDash val="solid"/>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t">
              <a:spAutoFit/>
            </a:bodyPr>
            <a:lstStyle/>
            <a:p>
              <a:pPr>
                <a:spcBef>
                  <a:spcPts val="300"/>
                </a:spcBef>
                <a:defRPr sz="2000">
                  <a:latin typeface="Times New Roman"/>
                  <a:ea typeface="Times New Roman"/>
                  <a:cs typeface="Times New Roman"/>
                  <a:sym typeface="Times New Roman"/>
                </a:defRPr>
              </a:pPr>
              <a:r>
                <a:rPr b="1"/>
                <a:t>face post: Int neuro épithéliale</a:t>
              </a:r>
              <a:r>
                <a:t> (constituée de 2 couches d’épithélium pigmentaire) .</a:t>
              </a:r>
              <a:br/>
              <a:endParaRPr/>
            </a:p>
          </p:txBody>
        </p:sp>
        <p:sp>
          <p:nvSpPr>
            <p:cNvPr id="245" name="Shape 245"/>
            <p:cNvSpPr txBox="1"/>
            <p:nvPr/>
          </p:nvSpPr>
          <p:spPr>
            <a:xfrm>
              <a:off x="0" y="0"/>
              <a:ext cx="886852" cy="37275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tIns="45719" rIns="45719" bIns="45719" numCol="1" anchor="t">
              <a:spAutoFit/>
            </a:bodyPr>
            <a:lstStyle>
              <a:lvl1pPr>
                <a:spcBef>
                  <a:spcPts val="300"/>
                </a:spcBef>
                <a:defRPr sz="2000">
                  <a:latin typeface="Times New Roman"/>
                  <a:ea typeface="Times New Roman"/>
                  <a:cs typeface="Times New Roman"/>
                  <a:sym typeface="Times New Roman"/>
                </a:defRPr>
              </a:lvl1pPr>
            </a:lstStyle>
            <a:p>
              <a:r>
                <a:t>2 faces:</a:t>
              </a:r>
            </a:p>
          </p:txBody>
        </p:sp>
      </p:gr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2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6" grpId="1" animBg="1" advAuto="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8" name="Picture 2" descr="Picture 2"/>
          <p:cNvPicPr>
            <a:picLocks/>
          </p:cNvPicPr>
          <p:nvPr/>
        </p:nvPicPr>
        <p:blipFill>
          <a:blip r:embed="rId2" cstate="email">
            <a:extLst/>
          </a:blip>
          <a:srcRect/>
          <a:stretch>
            <a:fillRect/>
          </a:stretch>
        </p:blipFill>
        <p:spPr>
          <a:xfrm>
            <a:off x="6986707" y="112792"/>
            <a:ext cx="2117634" cy="2117634"/>
          </a:xfrm>
          <a:prstGeom prst="rect">
            <a:avLst/>
          </a:prstGeom>
          <a:ln w="12700">
            <a:miter lim="400000"/>
          </a:ln>
        </p:spPr>
      </p:pic>
      <p:sp>
        <p:nvSpPr>
          <p:cNvPr id="249" name="Shape 249"/>
          <p:cNvSpPr txBox="1"/>
          <p:nvPr/>
        </p:nvSpPr>
        <p:spPr>
          <a:xfrm>
            <a:off x="30575" y="27358"/>
            <a:ext cx="3451248" cy="507056"/>
          </a:xfrm>
          <a:prstGeom prst="rect">
            <a:avLst/>
          </a:prstGeom>
          <a:solidFill>
            <a:schemeClr val="accent1">
              <a:lumOff val="23725"/>
            </a:schemeClr>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defTabSz="457200">
              <a:defRPr sz="3000" b="1" i="1" cap="small">
                <a:latin typeface="Times New Roman"/>
                <a:ea typeface="Times New Roman"/>
                <a:cs typeface="Times New Roman"/>
                <a:sym typeface="Times New Roman"/>
              </a:defRPr>
            </a:lvl1pPr>
          </a:lstStyle>
          <a:p>
            <a:r>
              <a:t>Les trois tuniques </a:t>
            </a:r>
          </a:p>
        </p:txBody>
      </p:sp>
      <p:sp>
        <p:nvSpPr>
          <p:cNvPr id="250" name="Shape 250"/>
          <p:cNvSpPr txBox="1"/>
          <p:nvPr/>
        </p:nvSpPr>
        <p:spPr>
          <a:xfrm>
            <a:off x="585337" y="660267"/>
            <a:ext cx="3600548" cy="433553"/>
          </a:xfrm>
          <a:prstGeom prst="rect">
            <a:avLst/>
          </a:prstGeom>
          <a:solidFill>
            <a:srgbClr val="855100"/>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defTabSz="457200">
              <a:defRPr sz="2500" b="1" i="1" cap="small">
                <a:solidFill>
                  <a:srgbClr val="FFFFFF"/>
                </a:solidFill>
                <a:latin typeface="Times New Roman"/>
                <a:ea typeface="Times New Roman"/>
                <a:cs typeface="Times New Roman"/>
                <a:sym typeface="Times New Roman"/>
              </a:defRPr>
            </a:lvl1pPr>
          </a:lstStyle>
          <a:p>
            <a:r>
              <a:t>tunique interne :retine</a:t>
            </a:r>
          </a:p>
        </p:txBody>
      </p:sp>
      <p:sp>
        <p:nvSpPr>
          <p:cNvPr id="251" name="Shape 251"/>
          <p:cNvSpPr txBox="1"/>
          <p:nvPr/>
        </p:nvSpPr>
        <p:spPr>
          <a:xfrm>
            <a:off x="2616113" y="1104143"/>
            <a:ext cx="2438882" cy="37275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defTabSz="457200">
              <a:defRPr sz="2000">
                <a:latin typeface="Times New Roman"/>
                <a:ea typeface="Times New Roman"/>
                <a:cs typeface="Times New Roman"/>
                <a:sym typeface="Times New Roman"/>
              </a:defRPr>
            </a:lvl1pPr>
          </a:lstStyle>
          <a:p>
            <a:r>
              <a:t>constituée de 2 régions</a:t>
            </a:r>
          </a:p>
        </p:txBody>
      </p:sp>
      <p:grpSp>
        <p:nvGrpSpPr>
          <p:cNvPr id="256" name="Group 256"/>
          <p:cNvGrpSpPr/>
          <p:nvPr/>
        </p:nvGrpSpPr>
        <p:grpSpPr>
          <a:xfrm>
            <a:off x="57344" y="1383039"/>
            <a:ext cx="9003978" cy="5384346"/>
            <a:chOff x="0" y="0"/>
            <a:chExt cx="9003977" cy="5384344"/>
          </a:xfrm>
        </p:grpSpPr>
        <p:pic>
          <p:nvPicPr>
            <p:cNvPr id="252" name="Picture 2" descr="Picture 2"/>
            <p:cNvPicPr>
              <a:picLocks noChangeAspect="1"/>
            </p:cNvPicPr>
            <p:nvPr/>
          </p:nvPicPr>
          <p:blipFill>
            <a:blip r:embed="rId3">
              <a:extLst/>
            </a:blip>
            <a:srcRect/>
            <a:stretch>
              <a:fillRect/>
            </a:stretch>
          </p:blipFill>
          <p:spPr>
            <a:xfrm>
              <a:off x="0" y="0"/>
              <a:ext cx="4656373" cy="5301820"/>
            </a:xfrm>
            <a:prstGeom prst="rect">
              <a:avLst/>
            </a:prstGeom>
            <a:ln w="12700" cap="flat">
              <a:noFill/>
              <a:miter lim="400000"/>
            </a:ln>
            <a:effectLst/>
          </p:spPr>
        </p:pic>
        <p:sp>
          <p:nvSpPr>
            <p:cNvPr id="253" name="Shape 253"/>
            <p:cNvSpPr txBox="1"/>
            <p:nvPr/>
          </p:nvSpPr>
          <p:spPr>
            <a:xfrm>
              <a:off x="1897283" y="1184351"/>
              <a:ext cx="7106695" cy="894530"/>
            </a:xfrm>
            <a:prstGeom prst="rect">
              <a:avLst/>
            </a:prstGeom>
            <a:solidFill>
              <a:srgbClr val="FEFECE"/>
            </a:solidFill>
            <a:ln w="12700" cap="flat">
              <a:solidFill>
                <a:srgbClr val="000000"/>
              </a:solidFill>
              <a:prstDash val="solid"/>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t">
              <a:spAutoFit/>
            </a:bodyPr>
            <a:lstStyle/>
            <a:p>
              <a:pPr defTabSz="457200">
                <a:defRPr>
                  <a:latin typeface="Times New Roman"/>
                  <a:ea typeface="Times New Roman"/>
                  <a:cs typeface="Times New Roman"/>
                  <a:sym typeface="Times New Roman"/>
                </a:defRPr>
              </a:pPr>
              <a:r>
                <a:t> </a:t>
              </a:r>
              <a:r>
                <a:rPr b="1" u="sng"/>
                <a:t>l’épithélium pigmentaire  rétinien non sensoriel externe</a:t>
              </a:r>
              <a:r>
                <a:t> : simple couche de cellules cubiques s’étendant de la périphérie du disque optique à </a:t>
              </a:r>
              <a:r>
                <a:rPr i="1"/>
                <a:t>l’Ora  serrata</a:t>
              </a:r>
              <a:r>
                <a:t> ou elle se continue par la couche pigmentée de l’épithélium ciliaire</a:t>
              </a:r>
            </a:p>
          </p:txBody>
        </p:sp>
        <p:sp>
          <p:nvSpPr>
            <p:cNvPr id="254" name="Shape 254"/>
            <p:cNvSpPr txBox="1"/>
            <p:nvPr/>
          </p:nvSpPr>
          <p:spPr>
            <a:xfrm>
              <a:off x="1919829" y="2165874"/>
              <a:ext cx="7061602" cy="969651"/>
            </a:xfrm>
            <a:prstGeom prst="rect">
              <a:avLst/>
            </a:prstGeom>
            <a:solidFill>
              <a:srgbClr val="FEFECE"/>
            </a:solidFill>
            <a:ln w="12700" cap="flat">
              <a:solidFill>
                <a:srgbClr val="000000"/>
              </a:solidFill>
              <a:prstDash val="solid"/>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t">
              <a:spAutoFit/>
            </a:bodyPr>
            <a:lstStyle/>
            <a:p>
              <a:pPr defTabSz="457200">
                <a:defRPr sz="2000">
                  <a:latin typeface="Times New Roman"/>
                  <a:ea typeface="Times New Roman"/>
                  <a:cs typeface="Times New Roman"/>
                  <a:sym typeface="Times New Roman"/>
                </a:defRPr>
              </a:pPr>
              <a:r>
                <a:rPr b="1" u="sng"/>
                <a:t>la rétine sensorielle Int </a:t>
              </a:r>
              <a:r>
                <a:t>: s’étend de la périphérie du disque optique à l’épithélium ciliaire </a:t>
              </a:r>
            </a:p>
            <a:p>
              <a:pPr defTabSz="457200">
                <a:defRPr sz="2000">
                  <a:latin typeface="Times New Roman"/>
                  <a:ea typeface="Times New Roman"/>
                  <a:cs typeface="Times New Roman"/>
                  <a:sym typeface="Times New Roman"/>
                </a:defRPr>
              </a:pPr>
              <a:r>
                <a:t>       2 zones importantes: la </a:t>
              </a:r>
              <a:r>
                <a:rPr i="1"/>
                <a:t>Fovéa centralis</a:t>
              </a:r>
              <a:r>
                <a:t> et la </a:t>
              </a:r>
              <a:r>
                <a:rPr i="1"/>
                <a:t>Macula lutea</a:t>
              </a:r>
            </a:p>
          </p:txBody>
        </p:sp>
        <p:sp>
          <p:nvSpPr>
            <p:cNvPr id="255" name="Shape 255"/>
            <p:cNvSpPr/>
            <p:nvPr/>
          </p:nvSpPr>
          <p:spPr>
            <a:xfrm>
              <a:off x="2058510" y="3552451"/>
              <a:ext cx="2817929" cy="1831894"/>
            </a:xfrm>
            <a:prstGeom prst="roundRect">
              <a:avLst>
                <a:gd name="adj" fmla="val 10399"/>
              </a:avLst>
            </a:prstGeom>
            <a:solidFill>
              <a:srgbClr val="FFFFFF"/>
            </a:solidFill>
            <a:ln w="12700" cap="flat">
              <a:noFill/>
              <a:miter lim="400000"/>
            </a:ln>
            <a:effectLst/>
          </p:spPr>
          <p:txBody>
            <a:bodyPr wrap="square" lIns="45719" tIns="45719" rIns="45719" bIns="45719" numCol="1" anchor="ctr">
              <a:noAutofit/>
            </a:bodyPr>
            <a:lstStyle/>
            <a:p>
              <a:endParaRPr/>
            </a:p>
          </p:txBody>
        </p:sp>
      </p:grpSp>
    </p:spTree>
  </p:cSld>
  <p:clrMapOvr>
    <a:masterClrMapping/>
  </p:clrMapOvr>
  <p:transition spd="med"/>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8" name="Picture 2" descr="Picture 2"/>
          <p:cNvPicPr>
            <a:picLocks noChangeAspect="1"/>
          </p:cNvPicPr>
          <p:nvPr/>
        </p:nvPicPr>
        <p:blipFill>
          <a:blip r:embed="rId3">
            <a:extLst/>
          </a:blip>
          <a:srcRect/>
          <a:stretch>
            <a:fillRect/>
          </a:stretch>
        </p:blipFill>
        <p:spPr>
          <a:xfrm>
            <a:off x="2462124" y="1219673"/>
            <a:ext cx="6578918" cy="5570079"/>
          </a:xfrm>
          <a:prstGeom prst="rect">
            <a:avLst/>
          </a:prstGeom>
          <a:ln w="12700">
            <a:miter lim="400000"/>
          </a:ln>
        </p:spPr>
      </p:pic>
      <p:sp>
        <p:nvSpPr>
          <p:cNvPr id="259" name="Shape 259"/>
          <p:cNvSpPr txBox="1"/>
          <p:nvPr/>
        </p:nvSpPr>
        <p:spPr>
          <a:xfrm>
            <a:off x="30575" y="27358"/>
            <a:ext cx="3451248" cy="507056"/>
          </a:xfrm>
          <a:prstGeom prst="rect">
            <a:avLst/>
          </a:prstGeom>
          <a:solidFill>
            <a:schemeClr val="accent1">
              <a:lumOff val="23725"/>
            </a:schemeClr>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defTabSz="457200">
              <a:defRPr sz="3000" b="1" i="1" cap="small">
                <a:latin typeface="Times New Roman"/>
                <a:ea typeface="Times New Roman"/>
                <a:cs typeface="Times New Roman"/>
                <a:sym typeface="Times New Roman"/>
              </a:defRPr>
            </a:lvl1pPr>
          </a:lstStyle>
          <a:p>
            <a:r>
              <a:t>Les trois tuniques </a:t>
            </a:r>
          </a:p>
        </p:txBody>
      </p:sp>
      <p:sp>
        <p:nvSpPr>
          <p:cNvPr id="260" name="Shape 260"/>
          <p:cNvSpPr txBox="1"/>
          <p:nvPr/>
        </p:nvSpPr>
        <p:spPr>
          <a:xfrm>
            <a:off x="585337" y="660267"/>
            <a:ext cx="3600548" cy="433553"/>
          </a:xfrm>
          <a:prstGeom prst="rect">
            <a:avLst/>
          </a:prstGeom>
          <a:solidFill>
            <a:srgbClr val="855100"/>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defTabSz="457200">
              <a:defRPr sz="2500" b="1" i="1" cap="small">
                <a:solidFill>
                  <a:srgbClr val="FFFFFF"/>
                </a:solidFill>
                <a:latin typeface="Times New Roman"/>
                <a:ea typeface="Times New Roman"/>
                <a:cs typeface="Times New Roman"/>
                <a:sym typeface="Times New Roman"/>
              </a:defRPr>
            </a:lvl1pPr>
          </a:lstStyle>
          <a:p>
            <a:r>
              <a:t>tunique interne :retine</a:t>
            </a:r>
          </a:p>
        </p:txBody>
      </p:sp>
      <p:sp>
        <p:nvSpPr>
          <p:cNvPr id="261" name="Shape 261"/>
          <p:cNvSpPr txBox="1"/>
          <p:nvPr/>
        </p:nvSpPr>
        <p:spPr>
          <a:xfrm>
            <a:off x="4243740" y="319750"/>
            <a:ext cx="5047992" cy="66485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defRPr sz="2000">
                <a:latin typeface="Times New Roman"/>
                <a:ea typeface="Times New Roman"/>
                <a:cs typeface="Times New Roman"/>
                <a:sym typeface="Times New Roman"/>
              </a:defRPr>
            </a:pPr>
            <a:r>
              <a:t>la rétine sensorielle comprend 4 types Cellules:</a:t>
            </a:r>
            <a:br/>
            <a:endParaRPr/>
          </a:p>
        </p:txBody>
      </p:sp>
      <p:sp>
        <p:nvSpPr>
          <p:cNvPr id="262" name="Shape 262"/>
          <p:cNvSpPr txBox="1"/>
          <p:nvPr/>
        </p:nvSpPr>
        <p:spPr>
          <a:xfrm>
            <a:off x="128255" y="1126401"/>
            <a:ext cx="2232823" cy="664851"/>
          </a:xfrm>
          <a:prstGeom prst="rect">
            <a:avLst/>
          </a:prstGeom>
          <a:solidFill>
            <a:srgbClr val="FFFF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defRPr sz="2000">
                <a:latin typeface="Times New Roman"/>
                <a:ea typeface="Times New Roman"/>
                <a:cs typeface="Times New Roman"/>
                <a:sym typeface="Times New Roman"/>
              </a:defRPr>
            </a:pPr>
            <a:r>
              <a:t>4 types de Cellules</a:t>
            </a:r>
            <a:br/>
            <a:endParaRPr/>
          </a:p>
        </p:txBody>
      </p:sp>
      <p:grpSp>
        <p:nvGrpSpPr>
          <p:cNvPr id="266" name="Group 266"/>
          <p:cNvGrpSpPr/>
          <p:nvPr/>
        </p:nvGrpSpPr>
        <p:grpSpPr>
          <a:xfrm>
            <a:off x="-68037" y="5023461"/>
            <a:ext cx="2623523" cy="906009"/>
            <a:chOff x="0" y="0"/>
            <a:chExt cx="2623522" cy="906007"/>
          </a:xfrm>
        </p:grpSpPr>
        <p:sp>
          <p:nvSpPr>
            <p:cNvPr id="263" name="Shape 263"/>
            <p:cNvSpPr/>
            <p:nvPr/>
          </p:nvSpPr>
          <p:spPr>
            <a:xfrm>
              <a:off x="0" y="0"/>
              <a:ext cx="2623523" cy="323016"/>
            </a:xfrm>
            <a:prstGeom prst="roundRect">
              <a:avLst>
                <a:gd name="adj" fmla="val 50000"/>
              </a:avLst>
            </a:prstGeom>
            <a:solidFill>
              <a:schemeClr val="accent4">
                <a:lumOff val="12156"/>
              </a:schemeClr>
            </a:solid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noAutofit/>
            </a:bodyPr>
            <a:lstStyle>
              <a:lvl1pPr>
                <a:lnSpc>
                  <a:spcPct val="50000"/>
                </a:lnSpc>
                <a:defRPr sz="1500" b="1" cap="small">
                  <a:latin typeface="Times New Roman"/>
                  <a:ea typeface="Times New Roman"/>
                  <a:cs typeface="Times New Roman"/>
                  <a:sym typeface="Times New Roman"/>
                </a:defRPr>
              </a:lvl1pPr>
            </a:lstStyle>
            <a:p>
              <a:r>
                <a:t>neurones photorecepteurs</a:t>
              </a:r>
            </a:p>
          </p:txBody>
        </p:sp>
        <p:sp>
          <p:nvSpPr>
            <p:cNvPr id="264" name="Shape 264"/>
            <p:cNvSpPr/>
            <p:nvPr/>
          </p:nvSpPr>
          <p:spPr>
            <a:xfrm>
              <a:off x="1569412" y="286820"/>
              <a:ext cx="991941" cy="307285"/>
            </a:xfrm>
            <a:custGeom>
              <a:avLst/>
              <a:gdLst/>
              <a:ahLst/>
              <a:cxnLst>
                <a:cxn ang="0">
                  <a:pos x="wd2" y="hd2"/>
                </a:cxn>
                <a:cxn ang="5400000">
                  <a:pos x="wd2" y="hd2"/>
                </a:cxn>
                <a:cxn ang="10800000">
                  <a:pos x="wd2" y="hd2"/>
                </a:cxn>
                <a:cxn ang="16200000">
                  <a:pos x="wd2" y="hd2"/>
                </a:cxn>
              </a:cxnLst>
              <a:rect l="0" t="0" r="r" b="b"/>
              <a:pathLst>
                <a:path w="21600" h="21600" extrusionOk="0">
                  <a:moveTo>
                    <a:pt x="3346" y="21600"/>
                  </a:moveTo>
                  <a:lnTo>
                    <a:pt x="18254" y="21600"/>
                  </a:lnTo>
                  <a:cubicBezTo>
                    <a:pt x="18254" y="21600"/>
                    <a:pt x="18254" y="21600"/>
                    <a:pt x="18254" y="21600"/>
                  </a:cubicBezTo>
                  <a:cubicBezTo>
                    <a:pt x="20102" y="21600"/>
                    <a:pt x="21600" y="16765"/>
                    <a:pt x="21600" y="10800"/>
                  </a:cubicBezTo>
                  <a:cubicBezTo>
                    <a:pt x="21600" y="10800"/>
                    <a:pt x="21600" y="10800"/>
                    <a:pt x="21600" y="10800"/>
                  </a:cubicBezTo>
                  <a:cubicBezTo>
                    <a:pt x="21600" y="10800"/>
                    <a:pt x="21600" y="10800"/>
                    <a:pt x="21600" y="10800"/>
                  </a:cubicBezTo>
                  <a:cubicBezTo>
                    <a:pt x="21600" y="4835"/>
                    <a:pt x="20102" y="0"/>
                    <a:pt x="18254" y="0"/>
                  </a:cubicBezTo>
                  <a:cubicBezTo>
                    <a:pt x="18254" y="0"/>
                    <a:pt x="18254" y="0"/>
                    <a:pt x="18254" y="0"/>
                  </a:cubicBezTo>
                  <a:lnTo>
                    <a:pt x="3346" y="0"/>
                  </a:lnTo>
                  <a:cubicBezTo>
                    <a:pt x="3346" y="0"/>
                    <a:pt x="3346" y="0"/>
                    <a:pt x="3346" y="0"/>
                  </a:cubicBezTo>
                  <a:cubicBezTo>
                    <a:pt x="1498" y="0"/>
                    <a:pt x="0" y="4835"/>
                    <a:pt x="0" y="10800"/>
                  </a:cubicBezTo>
                  <a:cubicBezTo>
                    <a:pt x="0" y="10800"/>
                    <a:pt x="0" y="10800"/>
                    <a:pt x="0" y="10800"/>
                  </a:cubicBezTo>
                  <a:cubicBezTo>
                    <a:pt x="0" y="10800"/>
                    <a:pt x="0" y="10800"/>
                    <a:pt x="0" y="10800"/>
                  </a:cubicBezTo>
                  <a:cubicBezTo>
                    <a:pt x="0" y="16765"/>
                    <a:pt x="1498" y="21600"/>
                    <a:pt x="3346" y="21600"/>
                  </a:cubicBezTo>
                  <a:cubicBezTo>
                    <a:pt x="3346" y="21600"/>
                    <a:pt x="3346" y="21600"/>
                    <a:pt x="3346" y="21600"/>
                  </a:cubicBezTo>
                  <a:close/>
                </a:path>
              </a:pathLst>
            </a:custGeom>
            <a:solidFill>
              <a:schemeClr val="accent4">
                <a:lumOff val="12156"/>
              </a:schemeClr>
            </a:solid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noAutofit/>
            </a:bodyPr>
            <a:lstStyle>
              <a:lvl1pPr algn="ctr">
                <a:defRPr sz="1500">
                  <a:latin typeface="Times New Roman"/>
                  <a:ea typeface="Times New Roman"/>
                  <a:cs typeface="Times New Roman"/>
                  <a:sym typeface="Times New Roman"/>
                </a:defRPr>
              </a:lvl1pPr>
            </a:lstStyle>
            <a:p>
              <a:r>
                <a:t>batonnet</a:t>
              </a:r>
            </a:p>
          </p:txBody>
        </p:sp>
        <p:sp>
          <p:nvSpPr>
            <p:cNvPr id="265" name="Shape 265"/>
            <p:cNvSpPr/>
            <p:nvPr/>
          </p:nvSpPr>
          <p:spPr>
            <a:xfrm>
              <a:off x="1569412" y="598723"/>
              <a:ext cx="991941" cy="307285"/>
            </a:xfrm>
            <a:custGeom>
              <a:avLst/>
              <a:gdLst/>
              <a:ahLst/>
              <a:cxnLst>
                <a:cxn ang="0">
                  <a:pos x="wd2" y="hd2"/>
                </a:cxn>
                <a:cxn ang="5400000">
                  <a:pos x="wd2" y="hd2"/>
                </a:cxn>
                <a:cxn ang="10800000">
                  <a:pos x="wd2" y="hd2"/>
                </a:cxn>
                <a:cxn ang="16200000">
                  <a:pos x="wd2" y="hd2"/>
                </a:cxn>
              </a:cxnLst>
              <a:rect l="0" t="0" r="r" b="b"/>
              <a:pathLst>
                <a:path w="21600" h="21600" extrusionOk="0">
                  <a:moveTo>
                    <a:pt x="3346" y="21600"/>
                  </a:moveTo>
                  <a:lnTo>
                    <a:pt x="18254" y="21600"/>
                  </a:lnTo>
                  <a:cubicBezTo>
                    <a:pt x="18254" y="21600"/>
                    <a:pt x="18254" y="21600"/>
                    <a:pt x="18254" y="21600"/>
                  </a:cubicBezTo>
                  <a:cubicBezTo>
                    <a:pt x="20102" y="21600"/>
                    <a:pt x="21600" y="16765"/>
                    <a:pt x="21600" y="10800"/>
                  </a:cubicBezTo>
                  <a:cubicBezTo>
                    <a:pt x="21600" y="10800"/>
                    <a:pt x="21600" y="10800"/>
                    <a:pt x="21600" y="10800"/>
                  </a:cubicBezTo>
                  <a:cubicBezTo>
                    <a:pt x="21600" y="10800"/>
                    <a:pt x="21600" y="10800"/>
                    <a:pt x="21600" y="10800"/>
                  </a:cubicBezTo>
                  <a:cubicBezTo>
                    <a:pt x="21600" y="4835"/>
                    <a:pt x="20102" y="0"/>
                    <a:pt x="18254" y="0"/>
                  </a:cubicBezTo>
                  <a:cubicBezTo>
                    <a:pt x="18254" y="0"/>
                    <a:pt x="18254" y="0"/>
                    <a:pt x="18254" y="0"/>
                  </a:cubicBezTo>
                  <a:lnTo>
                    <a:pt x="3346" y="0"/>
                  </a:lnTo>
                  <a:cubicBezTo>
                    <a:pt x="3346" y="0"/>
                    <a:pt x="3346" y="0"/>
                    <a:pt x="3346" y="0"/>
                  </a:cubicBezTo>
                  <a:cubicBezTo>
                    <a:pt x="1498" y="0"/>
                    <a:pt x="0" y="4835"/>
                    <a:pt x="0" y="10800"/>
                  </a:cubicBezTo>
                  <a:cubicBezTo>
                    <a:pt x="0" y="10800"/>
                    <a:pt x="0" y="10800"/>
                    <a:pt x="0" y="10800"/>
                  </a:cubicBezTo>
                  <a:cubicBezTo>
                    <a:pt x="0" y="10800"/>
                    <a:pt x="0" y="10800"/>
                    <a:pt x="0" y="10800"/>
                  </a:cubicBezTo>
                  <a:cubicBezTo>
                    <a:pt x="0" y="16765"/>
                    <a:pt x="1498" y="21600"/>
                    <a:pt x="3346" y="21600"/>
                  </a:cubicBezTo>
                  <a:cubicBezTo>
                    <a:pt x="3346" y="21600"/>
                    <a:pt x="3346" y="21600"/>
                    <a:pt x="3346" y="21600"/>
                  </a:cubicBezTo>
                  <a:close/>
                </a:path>
              </a:pathLst>
            </a:custGeom>
            <a:solidFill>
              <a:schemeClr val="accent4">
                <a:lumOff val="12156"/>
              </a:schemeClr>
            </a:solid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noAutofit/>
            </a:bodyPr>
            <a:lstStyle>
              <a:lvl1pPr algn="ctr">
                <a:defRPr sz="1500">
                  <a:latin typeface="Times New Roman"/>
                  <a:ea typeface="Times New Roman"/>
                  <a:cs typeface="Times New Roman"/>
                  <a:sym typeface="Times New Roman"/>
                </a:defRPr>
              </a:lvl1pPr>
            </a:lstStyle>
            <a:p>
              <a:r>
                <a:t>Cône</a:t>
              </a:r>
            </a:p>
          </p:txBody>
        </p:sp>
      </p:grpSp>
      <p:grpSp>
        <p:nvGrpSpPr>
          <p:cNvPr id="270" name="Group 270"/>
          <p:cNvGrpSpPr/>
          <p:nvPr/>
        </p:nvGrpSpPr>
        <p:grpSpPr>
          <a:xfrm>
            <a:off x="-68037" y="2390221"/>
            <a:ext cx="2558493" cy="1227122"/>
            <a:chOff x="0" y="0"/>
            <a:chExt cx="2558491" cy="1227121"/>
          </a:xfrm>
        </p:grpSpPr>
        <p:sp>
          <p:nvSpPr>
            <p:cNvPr id="267" name="Shape 267"/>
            <p:cNvSpPr/>
            <p:nvPr/>
          </p:nvSpPr>
          <p:spPr>
            <a:xfrm>
              <a:off x="561585" y="958729"/>
              <a:ext cx="1919150" cy="268393"/>
            </a:xfrm>
            <a:custGeom>
              <a:avLst/>
              <a:gdLst/>
              <a:ahLst/>
              <a:cxnLst>
                <a:cxn ang="0">
                  <a:pos x="wd2" y="hd2"/>
                </a:cxn>
                <a:cxn ang="5400000">
                  <a:pos x="wd2" y="hd2"/>
                </a:cxn>
                <a:cxn ang="10800000">
                  <a:pos x="wd2" y="hd2"/>
                </a:cxn>
                <a:cxn ang="16200000">
                  <a:pos x="wd2" y="hd2"/>
                </a:cxn>
              </a:cxnLst>
              <a:rect l="0" t="0" r="r" b="b"/>
              <a:pathLst>
                <a:path w="21600" h="21600" extrusionOk="0">
                  <a:moveTo>
                    <a:pt x="1510" y="21600"/>
                  </a:moveTo>
                  <a:lnTo>
                    <a:pt x="20090" y="21600"/>
                  </a:lnTo>
                  <a:cubicBezTo>
                    <a:pt x="20090" y="21600"/>
                    <a:pt x="20090" y="21600"/>
                    <a:pt x="20090" y="21600"/>
                  </a:cubicBezTo>
                  <a:cubicBezTo>
                    <a:pt x="20924" y="21600"/>
                    <a:pt x="21600" y="16765"/>
                    <a:pt x="21600" y="10800"/>
                  </a:cubicBezTo>
                  <a:cubicBezTo>
                    <a:pt x="21600" y="10800"/>
                    <a:pt x="21600" y="10800"/>
                    <a:pt x="21600" y="10800"/>
                  </a:cubicBezTo>
                  <a:cubicBezTo>
                    <a:pt x="21600" y="10800"/>
                    <a:pt x="21600" y="10800"/>
                    <a:pt x="21600" y="10800"/>
                  </a:cubicBezTo>
                  <a:cubicBezTo>
                    <a:pt x="21600" y="4835"/>
                    <a:pt x="20924" y="0"/>
                    <a:pt x="20090" y="0"/>
                  </a:cubicBezTo>
                  <a:cubicBezTo>
                    <a:pt x="20090" y="0"/>
                    <a:pt x="20090" y="0"/>
                    <a:pt x="20090" y="0"/>
                  </a:cubicBezTo>
                  <a:lnTo>
                    <a:pt x="1510" y="0"/>
                  </a:lnTo>
                  <a:cubicBezTo>
                    <a:pt x="1510" y="0"/>
                    <a:pt x="1510" y="0"/>
                    <a:pt x="1510" y="0"/>
                  </a:cubicBezTo>
                  <a:cubicBezTo>
                    <a:pt x="676" y="0"/>
                    <a:pt x="0" y="4835"/>
                    <a:pt x="0" y="10800"/>
                  </a:cubicBezTo>
                  <a:cubicBezTo>
                    <a:pt x="0" y="10800"/>
                    <a:pt x="0" y="10800"/>
                    <a:pt x="0" y="10800"/>
                  </a:cubicBezTo>
                  <a:cubicBezTo>
                    <a:pt x="0" y="10800"/>
                    <a:pt x="0" y="10800"/>
                    <a:pt x="0" y="10800"/>
                  </a:cubicBezTo>
                  <a:cubicBezTo>
                    <a:pt x="0" y="16765"/>
                    <a:pt x="676" y="21600"/>
                    <a:pt x="1510" y="21600"/>
                  </a:cubicBezTo>
                  <a:cubicBezTo>
                    <a:pt x="1510" y="21600"/>
                    <a:pt x="1510" y="21600"/>
                    <a:pt x="1510" y="21600"/>
                  </a:cubicBezTo>
                  <a:close/>
                </a:path>
              </a:pathLst>
            </a:custGeom>
            <a:solidFill>
              <a:schemeClr val="accent6"/>
            </a:solid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numCol="1" anchor="ctr">
              <a:noAutofit/>
            </a:bodyPr>
            <a:lstStyle>
              <a:lvl1pPr algn="ctr">
                <a:lnSpc>
                  <a:spcPct val="50000"/>
                </a:lnSpc>
                <a:defRPr sz="1500">
                  <a:solidFill>
                    <a:srgbClr val="FFFFFF"/>
                  </a:solidFill>
                  <a:latin typeface="Times New Roman"/>
                  <a:ea typeface="Times New Roman"/>
                  <a:cs typeface="Times New Roman"/>
                  <a:sym typeface="Times New Roman"/>
                </a:defRPr>
              </a:lvl1pPr>
            </a:lstStyle>
            <a:p>
              <a:r>
                <a:t>Cellule bipolaire</a:t>
              </a:r>
            </a:p>
          </p:txBody>
        </p:sp>
        <p:sp>
          <p:nvSpPr>
            <p:cNvPr id="268" name="Shape 268"/>
            <p:cNvSpPr/>
            <p:nvPr/>
          </p:nvSpPr>
          <p:spPr>
            <a:xfrm>
              <a:off x="387230" y="0"/>
              <a:ext cx="2093505" cy="343103"/>
            </a:xfrm>
            <a:custGeom>
              <a:avLst/>
              <a:gdLst/>
              <a:ahLst/>
              <a:cxnLst>
                <a:cxn ang="0">
                  <a:pos x="wd2" y="hd2"/>
                </a:cxn>
                <a:cxn ang="5400000">
                  <a:pos x="wd2" y="hd2"/>
                </a:cxn>
                <a:cxn ang="10800000">
                  <a:pos x="wd2" y="hd2"/>
                </a:cxn>
                <a:cxn ang="16200000">
                  <a:pos x="wd2" y="hd2"/>
                </a:cxn>
              </a:cxnLst>
              <a:rect l="0" t="0" r="r" b="b"/>
              <a:pathLst>
                <a:path w="21600" h="21600" extrusionOk="0">
                  <a:moveTo>
                    <a:pt x="1770" y="21600"/>
                  </a:moveTo>
                  <a:lnTo>
                    <a:pt x="19830" y="21600"/>
                  </a:lnTo>
                  <a:cubicBezTo>
                    <a:pt x="19830" y="21600"/>
                    <a:pt x="19830" y="21600"/>
                    <a:pt x="19830" y="21600"/>
                  </a:cubicBezTo>
                  <a:cubicBezTo>
                    <a:pt x="20808" y="21600"/>
                    <a:pt x="21600" y="16765"/>
                    <a:pt x="21600" y="10800"/>
                  </a:cubicBezTo>
                  <a:cubicBezTo>
                    <a:pt x="21600" y="10800"/>
                    <a:pt x="21600" y="10800"/>
                    <a:pt x="21600" y="10800"/>
                  </a:cubicBezTo>
                  <a:cubicBezTo>
                    <a:pt x="21600" y="10800"/>
                    <a:pt x="21600" y="10800"/>
                    <a:pt x="21600" y="10800"/>
                  </a:cubicBezTo>
                  <a:cubicBezTo>
                    <a:pt x="21600" y="4835"/>
                    <a:pt x="20808" y="0"/>
                    <a:pt x="19830" y="0"/>
                  </a:cubicBezTo>
                  <a:cubicBezTo>
                    <a:pt x="19830" y="0"/>
                    <a:pt x="19830" y="0"/>
                    <a:pt x="19830" y="0"/>
                  </a:cubicBezTo>
                  <a:lnTo>
                    <a:pt x="1770" y="0"/>
                  </a:lnTo>
                  <a:cubicBezTo>
                    <a:pt x="1770" y="0"/>
                    <a:pt x="1770" y="0"/>
                    <a:pt x="1770" y="0"/>
                  </a:cubicBezTo>
                  <a:cubicBezTo>
                    <a:pt x="792" y="0"/>
                    <a:pt x="0" y="4835"/>
                    <a:pt x="0" y="10800"/>
                  </a:cubicBezTo>
                  <a:cubicBezTo>
                    <a:pt x="0" y="10800"/>
                    <a:pt x="0" y="10800"/>
                    <a:pt x="0" y="10800"/>
                  </a:cubicBezTo>
                  <a:cubicBezTo>
                    <a:pt x="0" y="10800"/>
                    <a:pt x="0" y="10800"/>
                    <a:pt x="0" y="10800"/>
                  </a:cubicBezTo>
                  <a:cubicBezTo>
                    <a:pt x="0" y="16765"/>
                    <a:pt x="792" y="21600"/>
                    <a:pt x="1770" y="21600"/>
                  </a:cubicBezTo>
                  <a:cubicBezTo>
                    <a:pt x="1770" y="21600"/>
                    <a:pt x="1770" y="21600"/>
                    <a:pt x="1770" y="21600"/>
                  </a:cubicBezTo>
                  <a:close/>
                </a:path>
              </a:pathLst>
            </a:custGeom>
            <a:solidFill>
              <a:schemeClr val="accent6"/>
            </a:solid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numCol="1" anchor="ctr">
              <a:noAutofit/>
            </a:bodyPr>
            <a:lstStyle>
              <a:lvl1pPr algn="ctr">
                <a:lnSpc>
                  <a:spcPct val="50000"/>
                </a:lnSpc>
                <a:defRPr sz="1500">
                  <a:solidFill>
                    <a:srgbClr val="FFFFFF"/>
                  </a:solidFill>
                  <a:latin typeface="Times New Roman"/>
                  <a:ea typeface="Times New Roman"/>
                  <a:cs typeface="Times New Roman"/>
                  <a:sym typeface="Times New Roman"/>
                </a:defRPr>
              </a:lvl1pPr>
            </a:lstStyle>
            <a:p>
              <a:r>
                <a:t>Cellule ganglionnaire</a:t>
              </a:r>
            </a:p>
          </p:txBody>
        </p:sp>
        <p:sp>
          <p:nvSpPr>
            <p:cNvPr id="269" name="Shape 269"/>
            <p:cNvSpPr/>
            <p:nvPr/>
          </p:nvSpPr>
          <p:spPr>
            <a:xfrm>
              <a:off x="0" y="343102"/>
              <a:ext cx="2558492" cy="315010"/>
            </a:xfrm>
            <a:prstGeom prst="roundRect">
              <a:avLst>
                <a:gd name="adj" fmla="val 50000"/>
              </a:avLst>
            </a:prstGeom>
            <a:solidFill>
              <a:schemeClr val="accent6"/>
            </a:solid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noAutofit/>
            </a:bodyPr>
            <a:lstStyle>
              <a:lvl1pPr>
                <a:lnSpc>
                  <a:spcPct val="50000"/>
                </a:lnSpc>
                <a:defRPr sz="1500" b="1" cap="small">
                  <a:solidFill>
                    <a:srgbClr val="FFFFFF"/>
                  </a:solidFill>
                  <a:latin typeface="Times New Roman"/>
                  <a:ea typeface="Times New Roman"/>
                  <a:cs typeface="Times New Roman"/>
                  <a:sym typeface="Times New Roman"/>
                </a:defRPr>
              </a:lvl1pPr>
            </a:lstStyle>
            <a:p>
              <a:r>
                <a:t>neurones de conduction</a:t>
              </a:r>
            </a:p>
          </p:txBody>
        </p:sp>
      </p:grpSp>
      <p:grpSp>
        <p:nvGrpSpPr>
          <p:cNvPr id="274" name="Group 274"/>
          <p:cNvGrpSpPr/>
          <p:nvPr/>
        </p:nvGrpSpPr>
        <p:grpSpPr>
          <a:xfrm>
            <a:off x="-69165" y="3020732"/>
            <a:ext cx="2481864" cy="1355444"/>
            <a:chOff x="-311" y="0"/>
            <a:chExt cx="2481862" cy="1355442"/>
          </a:xfrm>
        </p:grpSpPr>
        <p:sp>
          <p:nvSpPr>
            <p:cNvPr id="271" name="Shape 271"/>
            <p:cNvSpPr/>
            <p:nvPr/>
          </p:nvSpPr>
          <p:spPr>
            <a:xfrm>
              <a:off x="562402" y="685985"/>
              <a:ext cx="1919150" cy="339139"/>
            </a:xfrm>
            <a:custGeom>
              <a:avLst/>
              <a:gdLst/>
              <a:ahLst/>
              <a:cxnLst>
                <a:cxn ang="0">
                  <a:pos x="wd2" y="hd2"/>
                </a:cxn>
                <a:cxn ang="5400000">
                  <a:pos x="wd2" y="hd2"/>
                </a:cxn>
                <a:cxn ang="10800000">
                  <a:pos x="wd2" y="hd2"/>
                </a:cxn>
                <a:cxn ang="16200000">
                  <a:pos x="wd2" y="hd2"/>
                </a:cxn>
              </a:cxnLst>
              <a:rect l="0" t="0" r="r" b="b"/>
              <a:pathLst>
                <a:path w="21600" h="21600" extrusionOk="0">
                  <a:moveTo>
                    <a:pt x="1908" y="21600"/>
                  </a:moveTo>
                  <a:lnTo>
                    <a:pt x="19692" y="21600"/>
                  </a:lnTo>
                  <a:cubicBezTo>
                    <a:pt x="19692" y="21600"/>
                    <a:pt x="19692" y="21600"/>
                    <a:pt x="19692" y="21600"/>
                  </a:cubicBezTo>
                  <a:cubicBezTo>
                    <a:pt x="20746" y="21600"/>
                    <a:pt x="21600" y="16765"/>
                    <a:pt x="21600" y="10800"/>
                  </a:cubicBezTo>
                  <a:cubicBezTo>
                    <a:pt x="21600" y="10800"/>
                    <a:pt x="21600" y="10800"/>
                    <a:pt x="21600" y="10800"/>
                  </a:cubicBezTo>
                  <a:cubicBezTo>
                    <a:pt x="21600" y="10800"/>
                    <a:pt x="21600" y="10800"/>
                    <a:pt x="21600" y="10800"/>
                  </a:cubicBezTo>
                  <a:cubicBezTo>
                    <a:pt x="21600" y="4835"/>
                    <a:pt x="20746" y="0"/>
                    <a:pt x="19692" y="0"/>
                  </a:cubicBezTo>
                  <a:cubicBezTo>
                    <a:pt x="19692" y="0"/>
                    <a:pt x="19692" y="0"/>
                    <a:pt x="19692" y="0"/>
                  </a:cubicBezTo>
                  <a:lnTo>
                    <a:pt x="1908" y="0"/>
                  </a:lnTo>
                  <a:cubicBezTo>
                    <a:pt x="1908" y="0"/>
                    <a:pt x="1908" y="0"/>
                    <a:pt x="1908" y="0"/>
                  </a:cubicBezTo>
                  <a:cubicBezTo>
                    <a:pt x="854" y="0"/>
                    <a:pt x="0" y="4835"/>
                    <a:pt x="0" y="10800"/>
                  </a:cubicBezTo>
                  <a:cubicBezTo>
                    <a:pt x="0" y="10800"/>
                    <a:pt x="0" y="10800"/>
                    <a:pt x="0" y="10800"/>
                  </a:cubicBezTo>
                  <a:cubicBezTo>
                    <a:pt x="0" y="10800"/>
                    <a:pt x="0" y="10800"/>
                    <a:pt x="0" y="10800"/>
                  </a:cubicBezTo>
                  <a:cubicBezTo>
                    <a:pt x="0" y="16765"/>
                    <a:pt x="854" y="21600"/>
                    <a:pt x="1908" y="21600"/>
                  </a:cubicBezTo>
                  <a:cubicBezTo>
                    <a:pt x="1908" y="21600"/>
                    <a:pt x="1908" y="21600"/>
                    <a:pt x="1908" y="21600"/>
                  </a:cubicBezTo>
                  <a:close/>
                </a:path>
              </a:pathLst>
            </a:custGeom>
            <a:solidFill>
              <a:schemeClr val="accent3"/>
            </a:solid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noAutofit/>
            </a:bodyPr>
            <a:lstStyle>
              <a:lvl1pPr algn="ctr">
                <a:defRPr sz="1500">
                  <a:latin typeface="Times New Roman"/>
                  <a:ea typeface="Times New Roman"/>
                  <a:cs typeface="Times New Roman"/>
                  <a:sym typeface="Times New Roman"/>
                </a:defRPr>
              </a:lvl1pPr>
            </a:lstStyle>
            <a:p>
              <a:r>
                <a:t>Cellule horizontale</a:t>
              </a:r>
            </a:p>
          </p:txBody>
        </p:sp>
        <p:sp>
          <p:nvSpPr>
            <p:cNvPr id="272" name="Shape 272"/>
            <p:cNvSpPr/>
            <p:nvPr/>
          </p:nvSpPr>
          <p:spPr>
            <a:xfrm>
              <a:off x="562402" y="0"/>
              <a:ext cx="1919150" cy="238843"/>
            </a:xfrm>
            <a:custGeom>
              <a:avLst/>
              <a:gdLst/>
              <a:ahLst/>
              <a:cxnLst>
                <a:cxn ang="0">
                  <a:pos x="wd2" y="hd2"/>
                </a:cxn>
                <a:cxn ang="5400000">
                  <a:pos x="wd2" y="hd2"/>
                </a:cxn>
                <a:cxn ang="10800000">
                  <a:pos x="wd2" y="hd2"/>
                </a:cxn>
                <a:cxn ang="16200000">
                  <a:pos x="wd2" y="hd2"/>
                </a:cxn>
              </a:cxnLst>
              <a:rect l="0" t="0" r="r" b="b"/>
              <a:pathLst>
                <a:path w="21600" h="21600" extrusionOk="0">
                  <a:moveTo>
                    <a:pt x="1344" y="21600"/>
                  </a:moveTo>
                  <a:lnTo>
                    <a:pt x="20256" y="21600"/>
                  </a:lnTo>
                  <a:cubicBezTo>
                    <a:pt x="20256" y="21600"/>
                    <a:pt x="20256" y="21600"/>
                    <a:pt x="20256" y="21600"/>
                  </a:cubicBezTo>
                  <a:cubicBezTo>
                    <a:pt x="20998" y="21600"/>
                    <a:pt x="21600" y="16765"/>
                    <a:pt x="21600" y="10800"/>
                  </a:cubicBezTo>
                  <a:cubicBezTo>
                    <a:pt x="21600" y="10800"/>
                    <a:pt x="21600" y="10800"/>
                    <a:pt x="21600" y="10800"/>
                  </a:cubicBezTo>
                  <a:cubicBezTo>
                    <a:pt x="21600" y="10800"/>
                    <a:pt x="21600" y="10800"/>
                    <a:pt x="21600" y="10800"/>
                  </a:cubicBezTo>
                  <a:cubicBezTo>
                    <a:pt x="21600" y="4835"/>
                    <a:pt x="20998" y="0"/>
                    <a:pt x="20256" y="0"/>
                  </a:cubicBezTo>
                  <a:cubicBezTo>
                    <a:pt x="20256" y="0"/>
                    <a:pt x="20256" y="0"/>
                    <a:pt x="20256" y="0"/>
                  </a:cubicBezTo>
                  <a:lnTo>
                    <a:pt x="1344" y="0"/>
                  </a:lnTo>
                  <a:cubicBezTo>
                    <a:pt x="1344" y="0"/>
                    <a:pt x="1344" y="0"/>
                    <a:pt x="1344" y="0"/>
                  </a:cubicBezTo>
                  <a:cubicBezTo>
                    <a:pt x="602" y="0"/>
                    <a:pt x="0" y="4835"/>
                    <a:pt x="0" y="10800"/>
                  </a:cubicBezTo>
                  <a:cubicBezTo>
                    <a:pt x="0" y="10800"/>
                    <a:pt x="0" y="10800"/>
                    <a:pt x="0" y="10800"/>
                  </a:cubicBezTo>
                  <a:cubicBezTo>
                    <a:pt x="0" y="10800"/>
                    <a:pt x="0" y="10800"/>
                    <a:pt x="0" y="10800"/>
                  </a:cubicBezTo>
                  <a:cubicBezTo>
                    <a:pt x="0" y="16765"/>
                    <a:pt x="602" y="21600"/>
                    <a:pt x="1344" y="21600"/>
                  </a:cubicBezTo>
                  <a:cubicBezTo>
                    <a:pt x="1344" y="21600"/>
                    <a:pt x="1344" y="21600"/>
                    <a:pt x="1344" y="21600"/>
                  </a:cubicBezTo>
                  <a:close/>
                </a:path>
              </a:pathLst>
            </a:custGeom>
            <a:solidFill>
              <a:schemeClr val="accent3"/>
            </a:solid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numCol="1" anchor="ctr">
              <a:noAutofit/>
            </a:bodyPr>
            <a:lstStyle>
              <a:lvl1pPr algn="ctr">
                <a:lnSpc>
                  <a:spcPct val="50000"/>
                </a:lnSpc>
                <a:defRPr sz="1500">
                  <a:latin typeface="Times New Roman"/>
                  <a:ea typeface="Times New Roman"/>
                  <a:cs typeface="Times New Roman"/>
                  <a:sym typeface="Times New Roman"/>
                </a:defRPr>
              </a:lvl1pPr>
            </a:lstStyle>
            <a:p>
              <a:r>
                <a:t>Cellule Amacrine</a:t>
              </a:r>
            </a:p>
          </p:txBody>
        </p:sp>
        <p:sp>
          <p:nvSpPr>
            <p:cNvPr id="273" name="Shape 273"/>
            <p:cNvSpPr/>
            <p:nvPr/>
          </p:nvSpPr>
          <p:spPr>
            <a:xfrm rot="20506">
              <a:off x="659" y="1015094"/>
              <a:ext cx="2469231" cy="332988"/>
            </a:xfrm>
            <a:prstGeom prst="roundRect">
              <a:avLst>
                <a:gd name="adj" fmla="val 50000"/>
              </a:avLst>
            </a:prstGeom>
            <a:solidFill>
              <a:schemeClr val="accent3"/>
            </a:solid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noAutofit/>
            </a:bodyPr>
            <a:lstStyle>
              <a:lvl1pPr>
                <a:lnSpc>
                  <a:spcPct val="50000"/>
                </a:lnSpc>
                <a:defRPr sz="1500" b="1" cap="small">
                  <a:latin typeface="Times New Roman"/>
                  <a:ea typeface="Times New Roman"/>
                  <a:cs typeface="Times New Roman"/>
                  <a:sym typeface="Times New Roman"/>
                </a:defRPr>
              </a:lvl1pPr>
            </a:lstStyle>
            <a:p>
              <a:r>
                <a:t>neurones d’association</a:t>
              </a:r>
            </a:p>
          </p:txBody>
        </p:sp>
      </p:grpSp>
      <p:grpSp>
        <p:nvGrpSpPr>
          <p:cNvPr id="277" name="Group 277"/>
          <p:cNvGrpSpPr/>
          <p:nvPr/>
        </p:nvGrpSpPr>
        <p:grpSpPr>
          <a:xfrm>
            <a:off x="-35692" y="1749147"/>
            <a:ext cx="2448391" cy="600439"/>
            <a:chOff x="32344" y="-10781"/>
            <a:chExt cx="2448389" cy="600437"/>
          </a:xfrm>
        </p:grpSpPr>
        <p:sp>
          <p:nvSpPr>
            <p:cNvPr id="275" name="Shape 275"/>
            <p:cNvSpPr/>
            <p:nvPr/>
          </p:nvSpPr>
          <p:spPr>
            <a:xfrm>
              <a:off x="561585" y="250519"/>
              <a:ext cx="1919150" cy="339138"/>
            </a:xfrm>
            <a:custGeom>
              <a:avLst/>
              <a:gdLst/>
              <a:ahLst/>
              <a:cxnLst>
                <a:cxn ang="0">
                  <a:pos x="wd2" y="hd2"/>
                </a:cxn>
                <a:cxn ang="5400000">
                  <a:pos x="wd2" y="hd2"/>
                </a:cxn>
                <a:cxn ang="10800000">
                  <a:pos x="wd2" y="hd2"/>
                </a:cxn>
                <a:cxn ang="16200000">
                  <a:pos x="wd2" y="hd2"/>
                </a:cxn>
              </a:cxnLst>
              <a:rect l="0" t="0" r="r" b="b"/>
              <a:pathLst>
                <a:path w="21600" h="21600" extrusionOk="0">
                  <a:moveTo>
                    <a:pt x="1908" y="21600"/>
                  </a:moveTo>
                  <a:lnTo>
                    <a:pt x="19692" y="21600"/>
                  </a:lnTo>
                  <a:cubicBezTo>
                    <a:pt x="19692" y="21600"/>
                    <a:pt x="19692" y="21600"/>
                    <a:pt x="19692" y="21600"/>
                  </a:cubicBezTo>
                  <a:cubicBezTo>
                    <a:pt x="20746" y="21600"/>
                    <a:pt x="21600" y="16765"/>
                    <a:pt x="21600" y="10800"/>
                  </a:cubicBezTo>
                  <a:cubicBezTo>
                    <a:pt x="21600" y="10800"/>
                    <a:pt x="21600" y="10800"/>
                    <a:pt x="21600" y="10800"/>
                  </a:cubicBezTo>
                  <a:cubicBezTo>
                    <a:pt x="21600" y="10800"/>
                    <a:pt x="21600" y="10800"/>
                    <a:pt x="21600" y="10800"/>
                  </a:cubicBezTo>
                  <a:cubicBezTo>
                    <a:pt x="21600" y="4835"/>
                    <a:pt x="20746" y="0"/>
                    <a:pt x="19692" y="0"/>
                  </a:cubicBezTo>
                  <a:cubicBezTo>
                    <a:pt x="19692" y="0"/>
                    <a:pt x="19692" y="0"/>
                    <a:pt x="19692" y="0"/>
                  </a:cubicBezTo>
                  <a:lnTo>
                    <a:pt x="1908" y="0"/>
                  </a:lnTo>
                  <a:cubicBezTo>
                    <a:pt x="1908" y="0"/>
                    <a:pt x="1908" y="0"/>
                    <a:pt x="1908" y="0"/>
                  </a:cubicBezTo>
                  <a:cubicBezTo>
                    <a:pt x="854" y="0"/>
                    <a:pt x="0" y="4835"/>
                    <a:pt x="0" y="10800"/>
                  </a:cubicBezTo>
                  <a:cubicBezTo>
                    <a:pt x="0" y="10800"/>
                    <a:pt x="0" y="10800"/>
                    <a:pt x="0" y="10800"/>
                  </a:cubicBezTo>
                  <a:cubicBezTo>
                    <a:pt x="0" y="10800"/>
                    <a:pt x="0" y="10800"/>
                    <a:pt x="0" y="10800"/>
                  </a:cubicBezTo>
                  <a:cubicBezTo>
                    <a:pt x="0" y="16765"/>
                    <a:pt x="854" y="21600"/>
                    <a:pt x="1908" y="21600"/>
                  </a:cubicBezTo>
                  <a:cubicBezTo>
                    <a:pt x="1908" y="21600"/>
                    <a:pt x="1908" y="21600"/>
                    <a:pt x="1908" y="21600"/>
                  </a:cubicBezTo>
                  <a:close/>
                </a:path>
              </a:pathLst>
            </a:custGeom>
            <a:solidFill>
              <a:schemeClr val="accent5"/>
            </a:solid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noAutofit/>
            </a:bodyPr>
            <a:lstStyle>
              <a:lvl1pPr algn="ctr">
                <a:defRPr sz="1500">
                  <a:solidFill>
                    <a:srgbClr val="FFFFFF"/>
                  </a:solidFill>
                  <a:latin typeface="Times New Roman"/>
                  <a:ea typeface="Times New Roman"/>
                  <a:cs typeface="Times New Roman"/>
                  <a:sym typeface="Times New Roman"/>
                </a:defRPr>
              </a:lvl1pPr>
            </a:lstStyle>
            <a:p>
              <a:r>
                <a:t>Cellule de Müller</a:t>
              </a:r>
            </a:p>
          </p:txBody>
        </p:sp>
        <p:sp>
          <p:nvSpPr>
            <p:cNvPr id="276" name="Shape 276"/>
            <p:cNvSpPr/>
            <p:nvPr/>
          </p:nvSpPr>
          <p:spPr>
            <a:xfrm>
              <a:off x="32344" y="-10782"/>
              <a:ext cx="2280398" cy="280770"/>
            </a:xfrm>
            <a:prstGeom prst="roundRect">
              <a:avLst>
                <a:gd name="adj" fmla="val 50000"/>
              </a:avLst>
            </a:prstGeom>
            <a:solidFill>
              <a:schemeClr val="accent5"/>
            </a:solid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noAutofit/>
            </a:bodyPr>
            <a:lstStyle>
              <a:lvl1pPr>
                <a:lnSpc>
                  <a:spcPct val="50000"/>
                </a:lnSpc>
                <a:defRPr sz="1500" b="1" cap="small">
                  <a:solidFill>
                    <a:srgbClr val="FFFFFF"/>
                  </a:solidFill>
                  <a:latin typeface="Times New Roman"/>
                  <a:ea typeface="Times New Roman"/>
                  <a:cs typeface="Times New Roman"/>
                  <a:sym typeface="Times New Roman"/>
                </a:defRPr>
              </a:lvl1pPr>
            </a:lstStyle>
            <a:p>
              <a:r>
                <a:t>nevroglie</a:t>
              </a:r>
            </a:p>
          </p:txBody>
        </p:sp>
      </p:gr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26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2" nodeType="clickEffect">
                                  <p:stCondLst>
                                    <p:cond delay="0"/>
                                  </p:stCondLst>
                                  <p:iterate>
                                    <p:tmAbs val="0"/>
                                  </p:iterate>
                                  <p:childTnLst>
                                    <p:set>
                                      <p:cBhvr>
                                        <p:cTn id="10" fill="hold"/>
                                        <p:tgtEl>
                                          <p:spTgt spid="27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3" nodeType="clickEffect">
                                  <p:stCondLst>
                                    <p:cond delay="0"/>
                                  </p:stCondLst>
                                  <p:iterate>
                                    <p:tmAbs val="0"/>
                                  </p:iterate>
                                  <p:childTnLst>
                                    <p:set>
                                      <p:cBhvr>
                                        <p:cTn id="14" fill="hold"/>
                                        <p:tgtEl>
                                          <p:spTgt spid="27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4" nodeType="clickEffect">
                                  <p:stCondLst>
                                    <p:cond delay="0"/>
                                  </p:stCondLst>
                                  <p:iterate>
                                    <p:tmAbs val="0"/>
                                  </p:iterate>
                                  <p:childTnLst>
                                    <p:set>
                                      <p:cBhvr>
                                        <p:cTn id="18" fill="hold"/>
                                        <p:tgtEl>
                                          <p:spTgt spid="2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 grpId="1" animBg="1" advAuto="0"/>
      <p:bldP spid="270" grpId="3" animBg="1" advAuto="0"/>
      <p:bldP spid="274" grpId="2" animBg="1" advAuto="0"/>
      <p:bldP spid="277" grpId="4" animBg="1" advAuto="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1" name="8552C7AA-F37B-4E34-A13A-1B70B208C2EE-L0-001.png"/>
          <p:cNvPicPr>
            <a:picLocks noChangeAspect="1"/>
          </p:cNvPicPr>
          <p:nvPr/>
        </p:nvPicPr>
        <p:blipFill>
          <a:blip r:embed="rId2" cstate="email">
            <a:extLst/>
          </a:blip>
          <a:srcRect/>
          <a:stretch>
            <a:fillRect/>
          </a:stretch>
        </p:blipFill>
        <p:spPr>
          <a:xfrm rot="21600000">
            <a:off x="226835" y="1546225"/>
            <a:ext cx="4871841" cy="3765693"/>
          </a:xfrm>
          <a:prstGeom prst="rect">
            <a:avLst/>
          </a:prstGeom>
          <a:ln w="12700">
            <a:miter lim="400000"/>
          </a:ln>
        </p:spPr>
      </p:pic>
      <p:pic>
        <p:nvPicPr>
          <p:cNvPr id="282" name="8C0843D1-837C-41F0-B3AD-87D2E220C0A7-L0-001.png"/>
          <p:cNvPicPr>
            <a:picLocks noChangeAspect="1"/>
          </p:cNvPicPr>
          <p:nvPr/>
        </p:nvPicPr>
        <p:blipFill>
          <a:blip r:embed="rId3" cstate="email">
            <a:extLst/>
          </a:blip>
          <a:srcRect/>
          <a:stretch>
            <a:fillRect/>
          </a:stretch>
        </p:blipFill>
        <p:spPr>
          <a:xfrm rot="10800000">
            <a:off x="5221123" y="511077"/>
            <a:ext cx="3705491" cy="5835749"/>
          </a:xfrm>
          <a:prstGeom prst="rect">
            <a:avLst/>
          </a:prstGeom>
          <a:ln w="12700">
            <a:miter lim="400000"/>
          </a:ln>
        </p:spPr>
      </p:pic>
    </p:spTree>
  </p:cSld>
  <p:clrMapOvr>
    <a:masterClrMapping/>
  </p:clrMapOvr>
  <p:transition spd="med"/>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 name="Shape 284"/>
          <p:cNvSpPr txBox="1"/>
          <p:nvPr/>
        </p:nvSpPr>
        <p:spPr>
          <a:xfrm>
            <a:off x="30575" y="27358"/>
            <a:ext cx="3451248" cy="507056"/>
          </a:xfrm>
          <a:prstGeom prst="rect">
            <a:avLst/>
          </a:prstGeom>
          <a:solidFill>
            <a:schemeClr val="accent1">
              <a:lumOff val="23725"/>
            </a:schemeClr>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defTabSz="457200">
              <a:defRPr sz="3000" b="1" i="1" cap="small">
                <a:latin typeface="Times New Roman"/>
                <a:ea typeface="Times New Roman"/>
                <a:cs typeface="Times New Roman"/>
                <a:sym typeface="Times New Roman"/>
              </a:defRPr>
            </a:lvl1pPr>
          </a:lstStyle>
          <a:p>
            <a:r>
              <a:t>Les trois tuniques </a:t>
            </a:r>
          </a:p>
        </p:txBody>
      </p:sp>
      <p:sp>
        <p:nvSpPr>
          <p:cNvPr id="285" name="Shape 285"/>
          <p:cNvSpPr txBox="1"/>
          <p:nvPr/>
        </p:nvSpPr>
        <p:spPr>
          <a:xfrm>
            <a:off x="585337" y="660267"/>
            <a:ext cx="3600548" cy="433553"/>
          </a:xfrm>
          <a:prstGeom prst="rect">
            <a:avLst/>
          </a:prstGeom>
          <a:solidFill>
            <a:srgbClr val="855100"/>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defTabSz="457200">
              <a:defRPr sz="2500" b="1" i="1" cap="small">
                <a:solidFill>
                  <a:srgbClr val="FFFFFF"/>
                </a:solidFill>
                <a:latin typeface="Times New Roman"/>
                <a:ea typeface="Times New Roman"/>
                <a:cs typeface="Times New Roman"/>
                <a:sym typeface="Times New Roman"/>
              </a:defRPr>
            </a:lvl1pPr>
          </a:lstStyle>
          <a:p>
            <a:r>
              <a:t>tunique interne :retine</a:t>
            </a:r>
          </a:p>
        </p:txBody>
      </p:sp>
      <p:sp>
        <p:nvSpPr>
          <p:cNvPr id="286" name="Shape 286"/>
          <p:cNvSpPr/>
          <p:nvPr/>
        </p:nvSpPr>
        <p:spPr>
          <a:xfrm>
            <a:off x="-22241" y="1219673"/>
            <a:ext cx="9188482" cy="432559"/>
          </a:xfrm>
          <a:prstGeom prst="roundRect">
            <a:avLst>
              <a:gd name="adj" fmla="val 50000"/>
            </a:avLst>
          </a:prstGeom>
          <a:solidFill>
            <a:schemeClr val="accent4">
              <a:lumOff val="12156"/>
            </a:schemeClr>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lstStyle>
            <a:lvl1pPr algn="ctr">
              <a:lnSpc>
                <a:spcPct val="50000"/>
              </a:lnSpc>
              <a:defRPr sz="2400" b="1" cap="all">
                <a:solidFill>
                  <a:srgbClr val="FFFFFF"/>
                </a:solidFill>
                <a:latin typeface="Times New Roman"/>
                <a:ea typeface="Times New Roman"/>
                <a:cs typeface="Times New Roman"/>
                <a:sym typeface="Times New Roman"/>
              </a:defRPr>
            </a:lvl1pPr>
          </a:lstStyle>
          <a:p>
            <a:r>
              <a:t>neurones photorecepteurs</a:t>
            </a:r>
          </a:p>
        </p:txBody>
      </p:sp>
      <p:sp>
        <p:nvSpPr>
          <p:cNvPr id="287" name="Shape 287"/>
          <p:cNvSpPr txBox="1"/>
          <p:nvPr/>
        </p:nvSpPr>
        <p:spPr>
          <a:xfrm>
            <a:off x="236606" y="2482991"/>
            <a:ext cx="4298010" cy="95695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defTabSz="457200">
              <a:defRPr sz="2000">
                <a:latin typeface="Times New Roman"/>
                <a:ea typeface="Times New Roman"/>
                <a:cs typeface="Times New Roman"/>
                <a:sym typeface="Times New Roman"/>
              </a:defRPr>
            </a:lvl1pPr>
          </a:lstStyle>
          <a:p>
            <a:r>
              <a:t>qui prédominent au niveau de la fovea centralis, perçoivent les couleurs et les détails</a:t>
            </a:r>
          </a:p>
        </p:txBody>
      </p:sp>
      <p:sp>
        <p:nvSpPr>
          <p:cNvPr id="288" name="Shape 288"/>
          <p:cNvSpPr txBox="1"/>
          <p:nvPr/>
        </p:nvSpPr>
        <p:spPr>
          <a:xfrm>
            <a:off x="4636427" y="2433985"/>
            <a:ext cx="4276390" cy="66485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defTabSz="457200">
              <a:defRPr sz="2000">
                <a:latin typeface="Times New Roman"/>
                <a:ea typeface="Times New Roman"/>
                <a:cs typeface="Times New Roman"/>
                <a:sym typeface="Times New Roman"/>
              </a:defRPr>
            </a:lvl1pPr>
          </a:lstStyle>
          <a:p>
            <a:r>
              <a:t>concentrés à la périphérie, jouent unrôle dans la vision périphérique et nocturne</a:t>
            </a:r>
          </a:p>
        </p:txBody>
      </p:sp>
      <p:sp>
        <p:nvSpPr>
          <p:cNvPr id="289" name="Shape 289"/>
          <p:cNvSpPr txBox="1"/>
          <p:nvPr/>
        </p:nvSpPr>
        <p:spPr>
          <a:xfrm>
            <a:off x="-16692" y="3551802"/>
            <a:ext cx="9177384" cy="329375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defTabSz="457200">
              <a:defRPr sz="2000">
                <a:latin typeface="Times New Roman"/>
                <a:ea typeface="Times New Roman"/>
                <a:cs typeface="Times New Roman"/>
                <a:sym typeface="Times New Roman"/>
              </a:defRPr>
            </a:pPr>
            <a:r>
              <a:t>ils sont constitués de 2 segments principaux :</a:t>
            </a:r>
          </a:p>
          <a:p>
            <a:pPr marL="581526" lvl="1" indent="-200526" defTabSz="457200">
              <a:buSzPct val="60000"/>
              <a:buBlip>
                <a:blip r:embed="rId2"/>
              </a:buBlip>
              <a:defRPr sz="2000">
                <a:latin typeface="Times New Roman"/>
                <a:ea typeface="Times New Roman"/>
                <a:cs typeface="Times New Roman"/>
                <a:sym typeface="Times New Roman"/>
              </a:defRPr>
            </a:pPr>
            <a:r>
              <a:t> </a:t>
            </a:r>
            <a:r>
              <a:rPr b="1"/>
              <a:t>segment (article ) externe </a:t>
            </a:r>
            <a:r>
              <a:t>: contient des disques membraneux aplaties contenant un photo pigment</a:t>
            </a:r>
          </a:p>
          <a:p>
            <a:pPr marL="581526" lvl="1" indent="-200526" defTabSz="457200">
              <a:buSzPct val="60000"/>
              <a:buBlip>
                <a:blip r:embed="rId3"/>
              </a:buBlip>
              <a:defRPr sz="2000">
                <a:latin typeface="Times New Roman"/>
                <a:ea typeface="Times New Roman"/>
                <a:cs typeface="Times New Roman"/>
                <a:sym typeface="Times New Roman"/>
              </a:defRPr>
            </a:pPr>
            <a:r>
              <a:rPr b="1"/>
              <a:t>segment interne</a:t>
            </a:r>
            <a:r>
              <a:t>: contient des mitochondries impliquées dans la synthèse: ATP, un appareil de golgi et REL et rugueux, </a:t>
            </a:r>
            <a:br/>
            <a:endParaRPr/>
          </a:p>
          <a:p>
            <a:pPr defTabSz="457200">
              <a:defRPr sz="2000">
                <a:latin typeface="Times New Roman"/>
                <a:ea typeface="Times New Roman"/>
                <a:cs typeface="Times New Roman"/>
                <a:sym typeface="Times New Roman"/>
              </a:defRPr>
            </a:pPr>
            <a:r>
              <a:rPr b="1"/>
              <a:t>un cil</a:t>
            </a:r>
            <a:r>
              <a:t>: zone d’union entre les 2 segment ( il est formé de 9 doublets de microtubules périphériques, pas de paire de microtubules centrale)</a:t>
            </a:r>
            <a:br/>
            <a:endParaRPr/>
          </a:p>
          <a:p>
            <a:pPr defTabSz="457200">
              <a:defRPr sz="2000">
                <a:latin typeface="Times New Roman"/>
                <a:ea typeface="Times New Roman"/>
                <a:cs typeface="Times New Roman"/>
                <a:sym typeface="Times New Roman"/>
              </a:defRPr>
            </a:pPr>
            <a:r>
              <a:rPr b="1"/>
              <a:t>une portion terminale des photorécepteurs</a:t>
            </a:r>
            <a:r>
              <a:t> (axone) étaler des contacts synaptiques avec les prolongements des c bipolaires et horizontales</a:t>
            </a:r>
          </a:p>
        </p:txBody>
      </p:sp>
      <p:sp>
        <p:nvSpPr>
          <p:cNvPr id="290" name="Shape 290"/>
          <p:cNvSpPr/>
          <p:nvPr/>
        </p:nvSpPr>
        <p:spPr>
          <a:xfrm>
            <a:off x="227799" y="1715086"/>
            <a:ext cx="991941" cy="656045"/>
          </a:xfrm>
          <a:custGeom>
            <a:avLst/>
            <a:gdLst/>
            <a:ahLst/>
            <a:cxnLst>
              <a:cxn ang="0">
                <a:pos x="wd2" y="hd2"/>
              </a:cxn>
              <a:cxn ang="5400000">
                <a:pos x="wd2" y="hd2"/>
              </a:cxn>
              <a:cxn ang="10800000">
                <a:pos x="wd2" y="hd2"/>
              </a:cxn>
              <a:cxn ang="16200000">
                <a:pos x="wd2" y="hd2"/>
              </a:cxn>
            </a:cxnLst>
            <a:rect l="0" t="0" r="r" b="b"/>
            <a:pathLst>
              <a:path w="21600" h="21600" extrusionOk="0">
                <a:moveTo>
                  <a:pt x="7143" y="21600"/>
                </a:moveTo>
                <a:lnTo>
                  <a:pt x="14457" y="21600"/>
                </a:lnTo>
                <a:cubicBezTo>
                  <a:pt x="15720" y="21600"/>
                  <a:pt x="16838" y="21600"/>
                  <a:pt x="17854" y="21219"/>
                </a:cubicBezTo>
                <a:cubicBezTo>
                  <a:pt x="19555" y="20517"/>
                  <a:pt x="20884" y="18508"/>
                  <a:pt x="21348" y="15935"/>
                </a:cubicBezTo>
                <a:cubicBezTo>
                  <a:pt x="21600" y="14400"/>
                  <a:pt x="21600" y="12709"/>
                  <a:pt x="21600" y="10800"/>
                </a:cubicBezTo>
                <a:cubicBezTo>
                  <a:pt x="21600" y="8891"/>
                  <a:pt x="21600" y="7200"/>
                  <a:pt x="21348" y="5665"/>
                </a:cubicBezTo>
                <a:cubicBezTo>
                  <a:pt x="20884" y="3092"/>
                  <a:pt x="19555" y="1083"/>
                  <a:pt x="17854" y="381"/>
                </a:cubicBezTo>
                <a:cubicBezTo>
                  <a:pt x="16838" y="0"/>
                  <a:pt x="15720" y="0"/>
                  <a:pt x="14457" y="0"/>
                </a:cubicBezTo>
                <a:lnTo>
                  <a:pt x="7143" y="0"/>
                </a:lnTo>
                <a:cubicBezTo>
                  <a:pt x="5880" y="0"/>
                  <a:pt x="4762" y="0"/>
                  <a:pt x="3746" y="381"/>
                </a:cubicBezTo>
                <a:cubicBezTo>
                  <a:pt x="2045" y="1083"/>
                  <a:pt x="716" y="3092"/>
                  <a:pt x="252" y="5665"/>
                </a:cubicBezTo>
                <a:cubicBezTo>
                  <a:pt x="0" y="7200"/>
                  <a:pt x="0" y="8891"/>
                  <a:pt x="0" y="10800"/>
                </a:cubicBezTo>
                <a:cubicBezTo>
                  <a:pt x="0" y="12709"/>
                  <a:pt x="0" y="14400"/>
                  <a:pt x="252" y="15935"/>
                </a:cubicBezTo>
                <a:cubicBezTo>
                  <a:pt x="716" y="18508"/>
                  <a:pt x="2045" y="20517"/>
                  <a:pt x="3746" y="21219"/>
                </a:cubicBezTo>
                <a:cubicBezTo>
                  <a:pt x="4762" y="21600"/>
                  <a:pt x="5880" y="21600"/>
                  <a:pt x="7143" y="21600"/>
                </a:cubicBezTo>
                <a:close/>
              </a:path>
            </a:pathLst>
          </a:custGeom>
          <a:solidFill>
            <a:schemeClr val="accent4">
              <a:lumOff val="12156"/>
            </a:schemeClr>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lstStyle>
            <a:lvl1pPr algn="ctr">
              <a:defRPr sz="2000">
                <a:solidFill>
                  <a:srgbClr val="FFFFFF"/>
                </a:solidFill>
                <a:latin typeface="Times New Roman"/>
                <a:ea typeface="Times New Roman"/>
                <a:cs typeface="Times New Roman"/>
                <a:sym typeface="Times New Roman"/>
              </a:defRPr>
            </a:lvl1pPr>
          </a:lstStyle>
          <a:p>
            <a:r>
              <a:t>Cône</a:t>
            </a:r>
          </a:p>
        </p:txBody>
      </p:sp>
      <p:sp>
        <p:nvSpPr>
          <p:cNvPr id="291" name="Shape 291"/>
          <p:cNvSpPr/>
          <p:nvPr/>
        </p:nvSpPr>
        <p:spPr>
          <a:xfrm>
            <a:off x="4636427" y="1738384"/>
            <a:ext cx="1437994" cy="609449"/>
          </a:xfrm>
          <a:custGeom>
            <a:avLst/>
            <a:gdLst/>
            <a:ahLst/>
            <a:cxnLst>
              <a:cxn ang="0">
                <a:pos x="wd2" y="hd2"/>
              </a:cxn>
              <a:cxn ang="5400000">
                <a:pos x="wd2" y="hd2"/>
              </a:cxn>
              <a:cxn ang="10800000">
                <a:pos x="wd2" y="hd2"/>
              </a:cxn>
              <a:cxn ang="16200000">
                <a:pos x="wd2" y="hd2"/>
              </a:cxn>
            </a:cxnLst>
            <a:rect l="0" t="0" r="r" b="b"/>
            <a:pathLst>
              <a:path w="21600" h="21600" extrusionOk="0">
                <a:moveTo>
                  <a:pt x="4577" y="21600"/>
                </a:moveTo>
                <a:lnTo>
                  <a:pt x="17023" y="21600"/>
                </a:lnTo>
                <a:cubicBezTo>
                  <a:pt x="17144" y="21600"/>
                  <a:pt x="17739" y="21600"/>
                  <a:pt x="18326" y="21429"/>
                </a:cubicBezTo>
                <a:cubicBezTo>
                  <a:pt x="19982" y="20851"/>
                  <a:pt x="21283" y="17783"/>
                  <a:pt x="21527" y="13875"/>
                </a:cubicBezTo>
                <a:cubicBezTo>
                  <a:pt x="21600" y="12491"/>
                  <a:pt x="21600" y="11085"/>
                  <a:pt x="21600" y="10800"/>
                </a:cubicBezTo>
                <a:cubicBezTo>
                  <a:pt x="21600" y="10515"/>
                  <a:pt x="21600" y="9109"/>
                  <a:pt x="21527" y="7725"/>
                </a:cubicBezTo>
                <a:cubicBezTo>
                  <a:pt x="21283" y="3817"/>
                  <a:pt x="19982" y="749"/>
                  <a:pt x="18326" y="171"/>
                </a:cubicBezTo>
                <a:cubicBezTo>
                  <a:pt x="17739" y="0"/>
                  <a:pt x="17144" y="0"/>
                  <a:pt x="17023" y="0"/>
                </a:cubicBezTo>
                <a:lnTo>
                  <a:pt x="4577" y="0"/>
                </a:lnTo>
                <a:cubicBezTo>
                  <a:pt x="4456" y="0"/>
                  <a:pt x="3861" y="0"/>
                  <a:pt x="3274" y="171"/>
                </a:cubicBezTo>
                <a:cubicBezTo>
                  <a:pt x="1618" y="749"/>
                  <a:pt x="317" y="3817"/>
                  <a:pt x="73" y="7725"/>
                </a:cubicBezTo>
                <a:cubicBezTo>
                  <a:pt x="0" y="9109"/>
                  <a:pt x="0" y="10515"/>
                  <a:pt x="0" y="10800"/>
                </a:cubicBezTo>
                <a:cubicBezTo>
                  <a:pt x="0" y="11085"/>
                  <a:pt x="0" y="12491"/>
                  <a:pt x="73" y="13875"/>
                </a:cubicBezTo>
                <a:cubicBezTo>
                  <a:pt x="317" y="17783"/>
                  <a:pt x="1618" y="20851"/>
                  <a:pt x="3274" y="21429"/>
                </a:cubicBezTo>
                <a:cubicBezTo>
                  <a:pt x="3861" y="21600"/>
                  <a:pt x="4456" y="21600"/>
                  <a:pt x="4577" y="21600"/>
                </a:cubicBezTo>
                <a:close/>
              </a:path>
            </a:pathLst>
          </a:custGeom>
          <a:solidFill>
            <a:schemeClr val="accent4">
              <a:lumOff val="12156"/>
            </a:schemeClr>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lstStyle>
            <a:lvl1pPr algn="ctr">
              <a:defRPr sz="2000">
                <a:solidFill>
                  <a:srgbClr val="FFFFFF"/>
                </a:solidFill>
                <a:latin typeface="Times New Roman"/>
                <a:ea typeface="Times New Roman"/>
                <a:cs typeface="Times New Roman"/>
                <a:sym typeface="Times New Roman"/>
              </a:defRPr>
            </a:lvl1pPr>
          </a:lstStyle>
          <a:p>
            <a:r>
              <a:t>batonnets</a:t>
            </a:r>
          </a:p>
        </p:txBody>
      </p:sp>
      <p:sp>
        <p:nvSpPr>
          <p:cNvPr id="292" name="Shape 292"/>
          <p:cNvSpPr/>
          <p:nvPr/>
        </p:nvSpPr>
        <p:spPr>
          <a:xfrm flipV="1">
            <a:off x="4430445" y="1800615"/>
            <a:ext cx="1" cy="1493261"/>
          </a:xfrm>
          <a:prstGeom prst="line">
            <a:avLst/>
          </a:prstGeom>
          <a:ln w="25400">
            <a:solidFill>
              <a:schemeClr val="accent1"/>
            </a:solidFill>
          </a:ln>
          <a:effectLst>
            <a:outerShdw blurRad="38100" dist="20000" dir="5400000" rotWithShape="0">
              <a:srgbClr val="000000">
                <a:alpha val="38000"/>
              </a:srgbClr>
            </a:outerShdw>
          </a:effectLst>
        </p:spPr>
        <p:txBody>
          <a:bodyPr lIns="45719" rIns="45719"/>
          <a:lstStyle/>
          <a:p>
            <a:endParaRPr/>
          </a:p>
        </p:txBody>
      </p:sp>
      <p:sp>
        <p:nvSpPr>
          <p:cNvPr id="293" name="Shape 293"/>
          <p:cNvSpPr/>
          <p:nvPr/>
        </p:nvSpPr>
        <p:spPr>
          <a:xfrm flipH="1" flipV="1">
            <a:off x="1146293" y="3564502"/>
            <a:ext cx="6568306" cy="1"/>
          </a:xfrm>
          <a:prstGeom prst="line">
            <a:avLst/>
          </a:prstGeom>
          <a:ln w="25400">
            <a:solidFill>
              <a:schemeClr val="accent1"/>
            </a:solidFill>
          </a:ln>
          <a:effectLst>
            <a:outerShdw blurRad="38100" dist="20000" dir="5400000" rotWithShape="0">
              <a:srgbClr val="000000">
                <a:alpha val="38000"/>
              </a:srgbClr>
            </a:outerShdw>
          </a:effectLst>
        </p:spPr>
        <p:txBody>
          <a:bodyPr lIns="45719" rIns="45719"/>
          <a:lstStyle/>
          <a:p>
            <a:endParaRPr/>
          </a:p>
        </p:txBody>
      </p:sp>
    </p:spTree>
  </p:cSld>
  <p:clrMapOvr>
    <a:masterClrMapping/>
  </p:clrMapOvr>
  <p:transition spd="med"/>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 name="Shape 295"/>
          <p:cNvSpPr/>
          <p:nvPr/>
        </p:nvSpPr>
        <p:spPr>
          <a:xfrm>
            <a:off x="-69949" y="11030"/>
            <a:ext cx="9283898" cy="428005"/>
          </a:xfrm>
          <a:custGeom>
            <a:avLst/>
            <a:gdLst/>
            <a:ahLst/>
            <a:cxnLst>
              <a:cxn ang="0">
                <a:pos x="wd2" y="hd2"/>
              </a:cxn>
              <a:cxn ang="5400000">
                <a:pos x="wd2" y="hd2"/>
              </a:cxn>
              <a:cxn ang="10800000">
                <a:pos x="wd2" y="hd2"/>
              </a:cxn>
              <a:cxn ang="16200000">
                <a:pos x="wd2" y="hd2"/>
              </a:cxn>
            </a:cxnLst>
            <a:rect l="0" t="0" r="r" b="b"/>
            <a:pathLst>
              <a:path w="21600" h="21600" extrusionOk="0">
                <a:moveTo>
                  <a:pt x="498" y="21600"/>
                </a:moveTo>
                <a:lnTo>
                  <a:pt x="21102" y="21600"/>
                </a:lnTo>
                <a:cubicBezTo>
                  <a:pt x="21102" y="21600"/>
                  <a:pt x="21102" y="21600"/>
                  <a:pt x="21102" y="21600"/>
                </a:cubicBezTo>
                <a:cubicBezTo>
                  <a:pt x="21377" y="21600"/>
                  <a:pt x="21600" y="16765"/>
                  <a:pt x="21600" y="10800"/>
                </a:cubicBezTo>
                <a:cubicBezTo>
                  <a:pt x="21600" y="10800"/>
                  <a:pt x="21600" y="10800"/>
                  <a:pt x="21600" y="10800"/>
                </a:cubicBezTo>
                <a:cubicBezTo>
                  <a:pt x="21600" y="10800"/>
                  <a:pt x="21600" y="10800"/>
                  <a:pt x="21600" y="10800"/>
                </a:cubicBezTo>
                <a:cubicBezTo>
                  <a:pt x="21600" y="4835"/>
                  <a:pt x="21377" y="0"/>
                  <a:pt x="21102" y="0"/>
                </a:cubicBezTo>
                <a:cubicBezTo>
                  <a:pt x="21102" y="0"/>
                  <a:pt x="21102" y="0"/>
                  <a:pt x="21102" y="0"/>
                </a:cubicBezTo>
                <a:lnTo>
                  <a:pt x="498" y="0"/>
                </a:lnTo>
                <a:cubicBezTo>
                  <a:pt x="498" y="0"/>
                  <a:pt x="498" y="0"/>
                  <a:pt x="498" y="0"/>
                </a:cubicBezTo>
                <a:cubicBezTo>
                  <a:pt x="223" y="0"/>
                  <a:pt x="0" y="4835"/>
                  <a:pt x="0" y="10800"/>
                </a:cubicBezTo>
                <a:cubicBezTo>
                  <a:pt x="0" y="10800"/>
                  <a:pt x="0" y="10800"/>
                  <a:pt x="0" y="10800"/>
                </a:cubicBezTo>
                <a:cubicBezTo>
                  <a:pt x="0" y="10800"/>
                  <a:pt x="0" y="10800"/>
                  <a:pt x="0" y="10800"/>
                </a:cubicBezTo>
                <a:cubicBezTo>
                  <a:pt x="0" y="16765"/>
                  <a:pt x="223" y="21600"/>
                  <a:pt x="498" y="21600"/>
                </a:cubicBezTo>
                <a:cubicBezTo>
                  <a:pt x="498" y="21600"/>
                  <a:pt x="498" y="21600"/>
                  <a:pt x="498" y="21600"/>
                </a:cubicBezTo>
                <a:close/>
              </a:path>
            </a:pathLst>
          </a:custGeom>
          <a:solidFill>
            <a:schemeClr val="accent4">
              <a:lumOff val="12156"/>
            </a:schemeClr>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lstStyle>
            <a:lvl1pPr algn="ctr">
              <a:defRPr sz="2400" b="1" cap="all">
                <a:solidFill>
                  <a:srgbClr val="FFFFFF"/>
                </a:solidFill>
                <a:latin typeface="Times New Roman"/>
                <a:ea typeface="Times New Roman"/>
                <a:cs typeface="Times New Roman"/>
                <a:sym typeface="Times New Roman"/>
              </a:defRPr>
            </a:lvl1pPr>
          </a:lstStyle>
          <a:p>
            <a:r>
              <a:t>batonnets</a:t>
            </a:r>
          </a:p>
        </p:txBody>
      </p:sp>
      <p:grpSp>
        <p:nvGrpSpPr>
          <p:cNvPr id="298" name="Group 298"/>
          <p:cNvGrpSpPr/>
          <p:nvPr/>
        </p:nvGrpSpPr>
        <p:grpSpPr>
          <a:xfrm>
            <a:off x="18481" y="529818"/>
            <a:ext cx="8772306" cy="6328183"/>
            <a:chOff x="0" y="0"/>
            <a:chExt cx="8772305" cy="6328181"/>
          </a:xfrm>
        </p:grpSpPr>
        <p:pic>
          <p:nvPicPr>
            <p:cNvPr id="296" name="Picture 2" descr="Picture 2"/>
            <p:cNvPicPr>
              <a:picLocks noChangeAspect="1"/>
            </p:cNvPicPr>
            <p:nvPr/>
          </p:nvPicPr>
          <p:blipFill>
            <a:blip r:embed="rId2">
              <a:extLst/>
            </a:blip>
            <a:srcRect/>
            <a:stretch>
              <a:fillRect/>
            </a:stretch>
          </p:blipFill>
          <p:spPr>
            <a:xfrm>
              <a:off x="334730" y="0"/>
              <a:ext cx="8437576" cy="6328182"/>
            </a:xfrm>
            <a:prstGeom prst="rect">
              <a:avLst/>
            </a:prstGeom>
            <a:ln w="12700" cap="flat">
              <a:noFill/>
              <a:miter lim="400000"/>
            </a:ln>
            <a:effectLst/>
          </p:spPr>
        </p:pic>
        <p:sp>
          <p:nvSpPr>
            <p:cNvPr id="297" name="Shape 297"/>
            <p:cNvSpPr/>
            <p:nvPr/>
          </p:nvSpPr>
          <p:spPr>
            <a:xfrm>
              <a:off x="0" y="3477653"/>
              <a:ext cx="1608509" cy="745990"/>
            </a:xfrm>
            <a:prstGeom prst="roundRect">
              <a:avLst>
                <a:gd name="adj" fmla="val 25537"/>
              </a:avLst>
            </a:prstGeom>
            <a:solidFill>
              <a:srgbClr val="FFFFFF"/>
            </a:solidFill>
            <a:ln w="12700" cap="flat">
              <a:noFill/>
              <a:miter lim="400000"/>
            </a:ln>
            <a:effectLst/>
          </p:spPr>
          <p:txBody>
            <a:bodyPr wrap="square" lIns="45719" tIns="45719" rIns="45719" bIns="45719" numCol="1" anchor="ctr">
              <a:noAutofit/>
            </a:bodyPr>
            <a:lstStyle/>
            <a:p>
              <a:endParaRPr/>
            </a:p>
          </p:txBody>
        </p:sp>
      </p:grpSp>
    </p:spTree>
  </p:cSld>
  <p:clrMapOvr>
    <a:masterClrMapping/>
  </p:clrMapOvr>
  <p:transition spd="med"/>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 name="Shape 300"/>
          <p:cNvSpPr/>
          <p:nvPr/>
        </p:nvSpPr>
        <p:spPr>
          <a:xfrm>
            <a:off x="-69949" y="11030"/>
            <a:ext cx="9283898" cy="428005"/>
          </a:xfrm>
          <a:custGeom>
            <a:avLst/>
            <a:gdLst/>
            <a:ahLst/>
            <a:cxnLst>
              <a:cxn ang="0">
                <a:pos x="wd2" y="hd2"/>
              </a:cxn>
              <a:cxn ang="5400000">
                <a:pos x="wd2" y="hd2"/>
              </a:cxn>
              <a:cxn ang="10800000">
                <a:pos x="wd2" y="hd2"/>
              </a:cxn>
              <a:cxn ang="16200000">
                <a:pos x="wd2" y="hd2"/>
              </a:cxn>
            </a:cxnLst>
            <a:rect l="0" t="0" r="r" b="b"/>
            <a:pathLst>
              <a:path w="21600" h="21600" extrusionOk="0">
                <a:moveTo>
                  <a:pt x="498" y="21600"/>
                </a:moveTo>
                <a:lnTo>
                  <a:pt x="21102" y="21600"/>
                </a:lnTo>
                <a:cubicBezTo>
                  <a:pt x="21102" y="21600"/>
                  <a:pt x="21102" y="21600"/>
                  <a:pt x="21102" y="21600"/>
                </a:cubicBezTo>
                <a:cubicBezTo>
                  <a:pt x="21377" y="21600"/>
                  <a:pt x="21600" y="16765"/>
                  <a:pt x="21600" y="10800"/>
                </a:cubicBezTo>
                <a:cubicBezTo>
                  <a:pt x="21600" y="10800"/>
                  <a:pt x="21600" y="10800"/>
                  <a:pt x="21600" y="10800"/>
                </a:cubicBezTo>
                <a:cubicBezTo>
                  <a:pt x="21600" y="10800"/>
                  <a:pt x="21600" y="10800"/>
                  <a:pt x="21600" y="10800"/>
                </a:cubicBezTo>
                <a:cubicBezTo>
                  <a:pt x="21600" y="4835"/>
                  <a:pt x="21377" y="0"/>
                  <a:pt x="21102" y="0"/>
                </a:cubicBezTo>
                <a:cubicBezTo>
                  <a:pt x="21102" y="0"/>
                  <a:pt x="21102" y="0"/>
                  <a:pt x="21102" y="0"/>
                </a:cubicBezTo>
                <a:lnTo>
                  <a:pt x="498" y="0"/>
                </a:lnTo>
                <a:cubicBezTo>
                  <a:pt x="498" y="0"/>
                  <a:pt x="498" y="0"/>
                  <a:pt x="498" y="0"/>
                </a:cubicBezTo>
                <a:cubicBezTo>
                  <a:pt x="223" y="0"/>
                  <a:pt x="0" y="4835"/>
                  <a:pt x="0" y="10800"/>
                </a:cubicBezTo>
                <a:cubicBezTo>
                  <a:pt x="0" y="10800"/>
                  <a:pt x="0" y="10800"/>
                  <a:pt x="0" y="10800"/>
                </a:cubicBezTo>
                <a:cubicBezTo>
                  <a:pt x="0" y="10800"/>
                  <a:pt x="0" y="10800"/>
                  <a:pt x="0" y="10800"/>
                </a:cubicBezTo>
                <a:cubicBezTo>
                  <a:pt x="0" y="16765"/>
                  <a:pt x="223" y="21600"/>
                  <a:pt x="498" y="21600"/>
                </a:cubicBezTo>
                <a:cubicBezTo>
                  <a:pt x="498" y="21600"/>
                  <a:pt x="498" y="21600"/>
                  <a:pt x="498" y="21600"/>
                </a:cubicBezTo>
                <a:close/>
              </a:path>
            </a:pathLst>
          </a:custGeom>
          <a:solidFill>
            <a:schemeClr val="accent4">
              <a:lumOff val="12156"/>
            </a:schemeClr>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lstStyle>
            <a:lvl1pPr algn="ctr">
              <a:defRPr sz="2300" b="1" cap="all">
                <a:solidFill>
                  <a:srgbClr val="FFFFFF"/>
                </a:solidFill>
                <a:latin typeface="Times New Roman"/>
                <a:ea typeface="Times New Roman"/>
                <a:cs typeface="Times New Roman"/>
                <a:sym typeface="Times New Roman"/>
              </a:defRPr>
            </a:lvl1pPr>
          </a:lstStyle>
          <a:p>
            <a:r>
              <a:t>Cônes</a:t>
            </a:r>
          </a:p>
        </p:txBody>
      </p:sp>
      <p:grpSp>
        <p:nvGrpSpPr>
          <p:cNvPr id="303" name="Group 303"/>
          <p:cNvGrpSpPr/>
          <p:nvPr/>
        </p:nvGrpSpPr>
        <p:grpSpPr>
          <a:xfrm>
            <a:off x="0" y="374368"/>
            <a:ext cx="9144000" cy="6492267"/>
            <a:chOff x="0" y="0"/>
            <a:chExt cx="9144000" cy="6492265"/>
          </a:xfrm>
        </p:grpSpPr>
        <p:pic>
          <p:nvPicPr>
            <p:cNvPr id="301" name="Picture 2" descr="Picture 2"/>
            <p:cNvPicPr>
              <a:picLocks noChangeAspect="1"/>
            </p:cNvPicPr>
            <p:nvPr/>
          </p:nvPicPr>
          <p:blipFill>
            <a:blip r:embed="rId2">
              <a:extLst/>
            </a:blip>
            <a:srcRect/>
            <a:stretch>
              <a:fillRect/>
            </a:stretch>
          </p:blipFill>
          <p:spPr>
            <a:xfrm>
              <a:off x="0" y="0"/>
              <a:ext cx="9144000" cy="6269342"/>
            </a:xfrm>
            <a:prstGeom prst="rect">
              <a:avLst/>
            </a:prstGeom>
            <a:ln w="12700" cap="flat">
              <a:noFill/>
              <a:miter lim="400000"/>
            </a:ln>
            <a:effectLst/>
          </p:spPr>
        </p:pic>
        <p:sp>
          <p:nvSpPr>
            <p:cNvPr id="302" name="Shape 302"/>
            <p:cNvSpPr/>
            <p:nvPr/>
          </p:nvSpPr>
          <p:spPr>
            <a:xfrm>
              <a:off x="6185495" y="107555"/>
              <a:ext cx="2929243" cy="6384711"/>
            </a:xfrm>
            <a:prstGeom prst="roundRect">
              <a:avLst>
                <a:gd name="adj" fmla="val 6503"/>
              </a:avLst>
            </a:prstGeom>
            <a:solidFill>
              <a:srgbClr val="FFFFFF"/>
            </a:solidFill>
            <a:ln w="12700" cap="flat">
              <a:noFill/>
              <a:miter lim="400000"/>
            </a:ln>
            <a:effectLst/>
          </p:spPr>
          <p:txBody>
            <a:bodyPr wrap="square" lIns="45719" tIns="45719" rIns="45719" bIns="45719" numCol="1" anchor="ctr">
              <a:noAutofit/>
            </a:bodyPr>
            <a:lstStyle/>
            <a:p>
              <a:endParaRPr/>
            </a:p>
          </p:txBody>
        </p:sp>
      </p:grpSp>
      <p:grpSp>
        <p:nvGrpSpPr>
          <p:cNvPr id="306" name="Group 306"/>
          <p:cNvGrpSpPr/>
          <p:nvPr/>
        </p:nvGrpSpPr>
        <p:grpSpPr>
          <a:xfrm>
            <a:off x="6237262" y="1493969"/>
            <a:ext cx="3890502" cy="4714448"/>
            <a:chOff x="5683305" y="-170783"/>
            <a:chExt cx="3890501" cy="4714446"/>
          </a:xfrm>
        </p:grpSpPr>
        <p:pic>
          <p:nvPicPr>
            <p:cNvPr id="304" name="Picture 2" descr="Picture 2"/>
            <p:cNvPicPr>
              <a:picLocks noChangeAspect="1"/>
            </p:cNvPicPr>
            <p:nvPr/>
          </p:nvPicPr>
          <p:blipFill>
            <a:blip r:embed="rId3">
              <a:extLst/>
            </a:blip>
            <a:srcRect/>
            <a:stretch>
              <a:fillRect/>
            </a:stretch>
          </p:blipFill>
          <p:spPr>
            <a:xfrm>
              <a:off x="5715324" y="-170784"/>
              <a:ext cx="3858483" cy="4714447"/>
            </a:xfrm>
            <a:prstGeom prst="rect">
              <a:avLst/>
            </a:prstGeom>
            <a:ln w="12700" cap="flat">
              <a:noFill/>
              <a:miter lim="400000"/>
            </a:ln>
            <a:effectLst/>
          </p:spPr>
        </p:pic>
        <p:sp>
          <p:nvSpPr>
            <p:cNvPr id="305" name="Shape 305"/>
            <p:cNvSpPr/>
            <p:nvPr/>
          </p:nvSpPr>
          <p:spPr>
            <a:xfrm>
              <a:off x="5683305" y="2797336"/>
              <a:ext cx="3086892" cy="1710819"/>
            </a:xfrm>
            <a:prstGeom prst="roundRect">
              <a:avLst>
                <a:gd name="adj" fmla="val 1773"/>
              </a:avLst>
            </a:prstGeom>
            <a:noFill/>
            <a:ln w="76200" cap="flat">
              <a:solidFill>
                <a:schemeClr val="accent4">
                  <a:lumOff val="12156"/>
                </a:schemeClr>
              </a:solidFill>
              <a:prstDash val="solid"/>
              <a:round/>
            </a:ln>
            <a:effectLst/>
          </p:spPr>
          <p:txBody>
            <a:bodyPr wrap="square" lIns="45719" tIns="45719" rIns="45719" bIns="45719" numCol="1" anchor="ctr">
              <a:noAutofit/>
            </a:bodyPr>
            <a:lstStyle/>
            <a:p>
              <a:endParaRPr/>
            </a:p>
          </p:txBody>
        </p:sp>
      </p:grpSp>
    </p:spTree>
  </p:cSld>
  <p:clrMapOvr>
    <a:masterClrMapping/>
  </p:clrMapOvr>
  <p:transition spd="med"/>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8" name="Table 308"/>
          <p:cNvGraphicFramePr/>
          <p:nvPr/>
        </p:nvGraphicFramePr>
        <p:xfrm>
          <a:off x="-7050" y="966758"/>
          <a:ext cx="9068118" cy="4207751"/>
        </p:xfrm>
        <a:graphic>
          <a:graphicData uri="http://schemas.openxmlformats.org/drawingml/2006/table">
            <a:tbl>
              <a:tblPr>
                <a:tableStyleId>{2708684C-4D16-4618-839F-0558EEFCDFE6}</a:tableStyleId>
              </a:tblPr>
              <a:tblGrid>
                <a:gridCol w="3022706">
                  <a:extLst>
                    <a:ext uri="{9D8B030D-6E8A-4147-A177-3AD203B41FA5}">
                      <a16:colId xmlns:a16="http://schemas.microsoft.com/office/drawing/2014/main" xmlns="" val="20000"/>
                    </a:ext>
                  </a:extLst>
                </a:gridCol>
                <a:gridCol w="3022706">
                  <a:extLst>
                    <a:ext uri="{9D8B030D-6E8A-4147-A177-3AD203B41FA5}">
                      <a16:colId xmlns:a16="http://schemas.microsoft.com/office/drawing/2014/main" xmlns="" val="20001"/>
                    </a:ext>
                  </a:extLst>
                </a:gridCol>
                <a:gridCol w="3022706">
                  <a:extLst>
                    <a:ext uri="{9D8B030D-6E8A-4147-A177-3AD203B41FA5}">
                      <a16:colId xmlns:a16="http://schemas.microsoft.com/office/drawing/2014/main" xmlns="" val="20002"/>
                    </a:ext>
                  </a:extLst>
                </a:gridCol>
              </a:tblGrid>
              <a:tr h="467311">
                <a:tc>
                  <a:txBody>
                    <a:bodyPr/>
                    <a:lstStyle/>
                    <a:p>
                      <a:pPr algn="ctr">
                        <a:defRPr sz="2500">
                          <a:solidFill>
                            <a:srgbClr val="FFFFFF"/>
                          </a:solidFill>
                        </a:defRPr>
                      </a:pPr>
                      <a:endParaRPr sz="2000">
                        <a:latin typeface="Times New Roman" pitchFamily="18" charset="0"/>
                        <a:cs typeface="Times New Roman" pitchFamily="18" charset="0"/>
                      </a:endParaRPr>
                    </a:p>
                  </a:txBody>
                  <a:tcPr marL="0" marR="0" marT="0" marB="0" anchor="ctr" horzOverflow="overflow">
                    <a:solidFill>
                      <a:schemeClr val="accent4">
                        <a:lumOff val="24313"/>
                      </a:schemeClr>
                    </a:solidFill>
                  </a:tcPr>
                </a:tc>
                <a:tc>
                  <a:txBody>
                    <a:bodyPr/>
                    <a:lstStyle/>
                    <a:p>
                      <a:pPr algn="ctr" defTabSz="457200">
                        <a:defRPr sz="1800"/>
                      </a:pPr>
                      <a:r>
                        <a:rPr sz="2000">
                          <a:solidFill>
                            <a:srgbClr val="FFFFFF"/>
                          </a:solidFill>
                          <a:latin typeface="Times New Roman" pitchFamily="18" charset="0"/>
                          <a:ea typeface="Times New Roman"/>
                          <a:cs typeface="Times New Roman" pitchFamily="18" charset="0"/>
                          <a:sym typeface="Times New Roman"/>
                        </a:rPr>
                        <a:t>bâtonnet</a:t>
                      </a:r>
                    </a:p>
                  </a:txBody>
                  <a:tcPr marL="0" marR="0" marT="0" marB="0" anchor="ctr" horzOverflow="overflow">
                    <a:solidFill>
                      <a:schemeClr val="accent4"/>
                    </a:solidFill>
                  </a:tcPr>
                </a:tc>
                <a:tc>
                  <a:txBody>
                    <a:bodyPr/>
                    <a:lstStyle/>
                    <a:p>
                      <a:pPr algn="ctr" defTabSz="457200">
                        <a:defRPr sz="1800"/>
                      </a:pPr>
                      <a:r>
                        <a:rPr sz="2000">
                          <a:solidFill>
                            <a:srgbClr val="FFFFFF"/>
                          </a:solidFill>
                          <a:latin typeface="Times New Roman" pitchFamily="18" charset="0"/>
                          <a:ea typeface="Times New Roman"/>
                          <a:cs typeface="Times New Roman" pitchFamily="18" charset="0"/>
                          <a:sym typeface="Times New Roman"/>
                        </a:rPr>
                        <a:t>cône</a:t>
                      </a:r>
                    </a:p>
                  </a:txBody>
                  <a:tcPr marL="0" marR="0" marT="0" marB="0" anchor="ctr" horzOverflow="overflow">
                    <a:solidFill>
                      <a:schemeClr val="accent4"/>
                    </a:solidFill>
                  </a:tcPr>
                </a:tc>
                <a:extLst>
                  <a:ext uri="{0D108BD9-81ED-4DB2-BD59-A6C34878D82A}">
                    <a16:rowId xmlns:a16="http://schemas.microsoft.com/office/drawing/2014/main" xmlns="" val="10000"/>
                  </a:ext>
                </a:extLst>
              </a:tr>
              <a:tr h="547146">
                <a:tc>
                  <a:txBody>
                    <a:bodyPr/>
                    <a:lstStyle/>
                    <a:p>
                      <a:pPr algn="ctr">
                        <a:defRPr sz="1800"/>
                      </a:pPr>
                      <a:r>
                        <a:rPr sz="2000">
                          <a:latin typeface="Times New Roman" pitchFamily="18" charset="0"/>
                          <a:cs typeface="Times New Roman" pitchFamily="18" charset="0"/>
                        </a:rPr>
                        <a:t>le segment extene </a:t>
                      </a:r>
                    </a:p>
                  </a:txBody>
                  <a:tcPr marL="0" marR="0" marT="0" marB="0" anchor="ctr" horzOverflow="overflow">
                    <a:solidFill>
                      <a:schemeClr val="accent4">
                        <a:lumOff val="24313"/>
                      </a:schemeClr>
                    </a:solidFill>
                  </a:tcPr>
                </a:tc>
                <a:tc>
                  <a:txBody>
                    <a:bodyPr/>
                    <a:lstStyle/>
                    <a:p>
                      <a:pPr algn="ctr">
                        <a:defRPr sz="1800"/>
                      </a:pPr>
                      <a:r>
                        <a:rPr sz="2000">
                          <a:latin typeface="Times New Roman" pitchFamily="18" charset="0"/>
                          <a:cs typeface="Times New Roman" pitchFamily="18" charset="0"/>
                        </a:rPr>
                        <a:t>cylindrique</a:t>
                      </a:r>
                    </a:p>
                  </a:txBody>
                  <a:tcPr marL="0" marR="0" marT="0" marB="0" anchor="ctr" horzOverflow="overflow">
                    <a:solidFill>
                      <a:srgbClr val="FFFFFF"/>
                    </a:solidFill>
                  </a:tcPr>
                </a:tc>
                <a:tc>
                  <a:txBody>
                    <a:bodyPr/>
                    <a:lstStyle/>
                    <a:p>
                      <a:pPr algn="ctr">
                        <a:defRPr sz="1800"/>
                      </a:pPr>
                      <a:r>
                        <a:rPr sz="2000">
                          <a:latin typeface="Times New Roman" pitchFamily="18" charset="0"/>
                          <a:cs typeface="Times New Roman" pitchFamily="18" charset="0"/>
                        </a:rPr>
                        <a:t> conique</a:t>
                      </a:r>
                    </a:p>
                  </a:txBody>
                  <a:tcPr marL="0" marR="0" marT="0" marB="0" anchor="ctr" horzOverflow="overflow">
                    <a:solidFill>
                      <a:srgbClr val="FFFFFF"/>
                    </a:solidFill>
                  </a:tcPr>
                </a:tc>
                <a:extLst>
                  <a:ext uri="{0D108BD9-81ED-4DB2-BD59-A6C34878D82A}">
                    <a16:rowId xmlns:a16="http://schemas.microsoft.com/office/drawing/2014/main" xmlns="" val="10001"/>
                  </a:ext>
                </a:extLst>
              </a:tr>
              <a:tr h="1840533">
                <a:tc>
                  <a:txBody>
                    <a:bodyPr/>
                    <a:lstStyle/>
                    <a:p>
                      <a:pPr algn="ctr">
                        <a:defRPr sz="1800"/>
                      </a:pPr>
                      <a:r>
                        <a:rPr sz="2000">
                          <a:latin typeface="Times New Roman" pitchFamily="18" charset="0"/>
                          <a:cs typeface="Times New Roman" pitchFamily="18" charset="0"/>
                        </a:rPr>
                        <a:t>terminaison</a:t>
                      </a:r>
                    </a:p>
                  </a:txBody>
                  <a:tcPr marL="0" marR="0" marT="0" marB="0" anchor="ctr" horzOverflow="overflow">
                    <a:solidFill>
                      <a:schemeClr val="accent4">
                        <a:lumOff val="24313"/>
                      </a:schemeClr>
                    </a:solidFill>
                  </a:tcPr>
                </a:tc>
                <a:tc>
                  <a:txBody>
                    <a:bodyPr/>
                    <a:lstStyle/>
                    <a:p>
                      <a:pPr algn="ctr" defTabSz="457200">
                        <a:defRPr sz="2500">
                          <a:latin typeface="Times New Roman"/>
                          <a:ea typeface="Times New Roman"/>
                          <a:cs typeface="Times New Roman"/>
                          <a:sym typeface="Times New Roman"/>
                        </a:defRPr>
                      </a:pPr>
                      <a:r>
                        <a:rPr sz="2000">
                          <a:latin typeface="Times New Roman" pitchFamily="18" charset="0"/>
                          <a:cs typeface="Times New Roman" pitchFamily="18" charset="0"/>
                        </a:rPr>
                        <a:t>petite protubérance appelée: </a:t>
                      </a:r>
                      <a:r>
                        <a:rPr sz="2000" b="1" u="sng">
                          <a:solidFill>
                            <a:srgbClr val="FF0000"/>
                          </a:solidFill>
                          <a:latin typeface="Times New Roman" pitchFamily="18" charset="0"/>
                          <a:cs typeface="Times New Roman" pitchFamily="18" charset="0"/>
                        </a:rPr>
                        <a:t>sphérule</a:t>
                      </a:r>
                      <a:r>
                        <a:rPr sz="2000">
                          <a:latin typeface="Times New Roman" pitchFamily="18" charset="0"/>
                          <a:cs typeface="Times New Roman" pitchFamily="18" charset="0"/>
                        </a:rPr>
                        <a:t>, en contact avec les cellules bipolaires et les neurites des horizontales</a:t>
                      </a:r>
                    </a:p>
                  </a:txBody>
                  <a:tcPr marL="0" marR="0" marT="0" marB="0" anchor="ctr" horzOverflow="overflow">
                    <a:solidFill>
                      <a:srgbClr val="FFFFFF"/>
                    </a:solidFill>
                  </a:tcPr>
                </a:tc>
                <a:tc>
                  <a:txBody>
                    <a:bodyPr/>
                    <a:lstStyle/>
                    <a:p>
                      <a:pPr algn="ctr" defTabSz="457200">
                        <a:defRPr sz="2500">
                          <a:latin typeface="Times New Roman"/>
                          <a:ea typeface="Times New Roman"/>
                          <a:cs typeface="Times New Roman"/>
                          <a:sym typeface="Times New Roman"/>
                        </a:defRPr>
                      </a:pPr>
                      <a:r>
                        <a:rPr sz="2000" b="1" u="sng">
                          <a:solidFill>
                            <a:srgbClr val="FF4015"/>
                          </a:solidFill>
                          <a:latin typeface="Times New Roman" pitchFamily="18" charset="0"/>
                          <a:cs typeface="Times New Roman" pitchFamily="18" charset="0"/>
                        </a:rPr>
                        <a:t>pédicule</a:t>
                      </a:r>
                      <a:r>
                        <a:rPr sz="2000">
                          <a:latin typeface="Times New Roman" pitchFamily="18" charset="0"/>
                          <a:cs typeface="Times New Roman" pitchFamily="18" charset="0"/>
                        </a:rPr>
                        <a:t> plus épais. Ce dernier établie des synapses avec les cellules bipolaires et horizontales</a:t>
                      </a:r>
                    </a:p>
                  </a:txBody>
                  <a:tcPr marL="0" marR="0" marT="0" marB="0" anchor="ctr" horzOverflow="overflow">
                    <a:solidFill>
                      <a:srgbClr val="FFFFFF"/>
                    </a:solidFill>
                  </a:tcPr>
                </a:tc>
                <a:extLst>
                  <a:ext uri="{0D108BD9-81ED-4DB2-BD59-A6C34878D82A}">
                    <a16:rowId xmlns:a16="http://schemas.microsoft.com/office/drawing/2014/main" xmlns="" val="10002"/>
                  </a:ext>
                </a:extLst>
              </a:tr>
              <a:tr h="1352761">
                <a:tc>
                  <a:txBody>
                    <a:bodyPr/>
                    <a:lstStyle/>
                    <a:p>
                      <a:pPr algn="ctr" defTabSz="457200">
                        <a:defRPr sz="1800"/>
                      </a:pPr>
                      <a:r>
                        <a:rPr sz="2000">
                          <a:latin typeface="Times New Roman" pitchFamily="18" charset="0"/>
                          <a:ea typeface="Times New Roman"/>
                          <a:cs typeface="Times New Roman" pitchFamily="18" charset="0"/>
                          <a:sym typeface="Times New Roman"/>
                        </a:rPr>
                        <a:t>photopigment</a:t>
                      </a:r>
                    </a:p>
                  </a:txBody>
                  <a:tcPr marL="0" marR="0" marT="0" marB="0" anchor="ctr" horzOverflow="overflow">
                    <a:solidFill>
                      <a:schemeClr val="accent4">
                        <a:lumOff val="24313"/>
                      </a:schemeClr>
                    </a:solidFill>
                  </a:tcPr>
                </a:tc>
                <a:tc>
                  <a:txBody>
                    <a:bodyPr/>
                    <a:lstStyle/>
                    <a:p>
                      <a:pPr algn="ctr" defTabSz="457200">
                        <a:defRPr sz="2500">
                          <a:latin typeface="Times New Roman"/>
                          <a:ea typeface="Times New Roman"/>
                          <a:cs typeface="Times New Roman"/>
                          <a:sym typeface="Times New Roman"/>
                        </a:defRPr>
                      </a:pPr>
                      <a:r>
                        <a:rPr sz="2000" b="1" u="sng">
                          <a:solidFill>
                            <a:srgbClr val="FF0000"/>
                          </a:solidFill>
                          <a:latin typeface="Times New Roman" pitchFamily="18" charset="0"/>
                          <a:cs typeface="Times New Roman" pitchFamily="18" charset="0"/>
                        </a:rPr>
                        <a:t>rhodopsine </a:t>
                      </a:r>
                      <a:r>
                        <a:rPr sz="2000">
                          <a:latin typeface="Times New Roman" pitchFamily="18" charset="0"/>
                          <a:cs typeface="Times New Roman" pitchFamily="18" charset="0"/>
                        </a:rPr>
                        <a:t>(intervient au cours de la vision nocturne)</a:t>
                      </a:r>
                    </a:p>
                  </a:txBody>
                  <a:tcPr marL="0" marR="0" marT="0" marB="0" anchor="ctr" horzOverflow="overflow">
                    <a:solidFill>
                      <a:srgbClr val="FFFFFF"/>
                    </a:solidFill>
                  </a:tcPr>
                </a:tc>
                <a:tc>
                  <a:txBody>
                    <a:bodyPr/>
                    <a:lstStyle/>
                    <a:p>
                      <a:pPr algn="ctr" defTabSz="457200">
                        <a:defRPr sz="2500">
                          <a:latin typeface="Times New Roman"/>
                          <a:ea typeface="Times New Roman"/>
                          <a:cs typeface="Times New Roman"/>
                          <a:sym typeface="Times New Roman"/>
                        </a:defRPr>
                      </a:pPr>
                      <a:r>
                        <a:rPr sz="2000" b="1" u="sng">
                          <a:solidFill>
                            <a:srgbClr val="FF0000"/>
                          </a:solidFill>
                          <a:latin typeface="Times New Roman" pitchFamily="18" charset="0"/>
                          <a:cs typeface="Times New Roman" pitchFamily="18" charset="0"/>
                        </a:rPr>
                        <a:t>iodopsine</a:t>
                      </a:r>
                      <a:r>
                        <a:rPr sz="2000">
                          <a:latin typeface="Times New Roman" pitchFamily="18" charset="0"/>
                          <a:cs typeface="Times New Roman" pitchFamily="18" charset="0"/>
                        </a:rPr>
                        <a:t> (permet de percevoir les détails et de distinguer les couleurs: bleu, vert et rouge)</a:t>
                      </a:r>
                    </a:p>
                  </a:txBody>
                  <a:tcPr marL="0" marR="0" marT="0" marB="0" anchor="ctr" horzOverflow="overflow">
                    <a:solidFill>
                      <a:srgbClr val="FFFFFF"/>
                    </a:solidFill>
                  </a:tcPr>
                </a:tc>
                <a:extLst>
                  <a:ext uri="{0D108BD9-81ED-4DB2-BD59-A6C34878D82A}">
                    <a16:rowId xmlns:a16="http://schemas.microsoft.com/office/drawing/2014/main" xmlns="" val="10003"/>
                  </a:ext>
                </a:extLst>
              </a:tr>
            </a:tbl>
          </a:graphicData>
        </a:graphic>
      </p:graphicFrame>
      <p:sp>
        <p:nvSpPr>
          <p:cNvPr id="309" name="Shape 309"/>
          <p:cNvSpPr txBox="1"/>
          <p:nvPr/>
        </p:nvSpPr>
        <p:spPr>
          <a:xfrm>
            <a:off x="247174" y="71836"/>
            <a:ext cx="5161855" cy="93885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defTabSz="457200">
              <a:defRPr sz="3000" cap="small">
                <a:solidFill>
                  <a:schemeClr val="accent4">
                    <a:satOff val="-1335"/>
                    <a:lumOff val="-10274"/>
                  </a:schemeClr>
                </a:solidFill>
                <a:latin typeface="Times New Roman"/>
                <a:ea typeface="Times New Roman"/>
                <a:cs typeface="Times New Roman"/>
                <a:sym typeface="Times New Roman"/>
              </a:defRPr>
            </a:pPr>
            <a:r>
              <a:rPr b="1" u="sng"/>
              <a:t>différences significatives</a:t>
            </a:r>
            <a:r>
              <a:t>:</a:t>
            </a:r>
            <a:br/>
            <a:endParaRPr/>
          </a:p>
        </p:txBody>
      </p:sp>
      <p:sp>
        <p:nvSpPr>
          <p:cNvPr id="310" name="Shape 310"/>
          <p:cNvSpPr txBox="1"/>
          <p:nvPr/>
        </p:nvSpPr>
        <p:spPr>
          <a:xfrm>
            <a:off x="420609" y="5988531"/>
            <a:ext cx="8642484" cy="66485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defTabSz="457200">
              <a:defRPr sz="2000" i="1">
                <a:latin typeface="Times New Roman"/>
                <a:ea typeface="Times New Roman"/>
                <a:cs typeface="Times New Roman"/>
                <a:sym typeface="Times New Roman"/>
              </a:defRPr>
            </a:lvl1pPr>
          </a:lstStyle>
          <a:p>
            <a:r>
              <a:t>remarques: les terminaisons synaptiques des cônes et bâtonnets – sphérules et pédicules- comprennent une synapse à ruban entourée de vésicules synaptiques</a:t>
            </a:r>
          </a:p>
        </p:txBody>
      </p:sp>
    </p:spTree>
  </p:cSld>
  <p:clrMapOvr>
    <a:masterClrMapping/>
  </p:clrMapOvr>
  <p:transition spd="med"/>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8" name="Group 318"/>
          <p:cNvGrpSpPr/>
          <p:nvPr/>
        </p:nvGrpSpPr>
        <p:grpSpPr>
          <a:xfrm>
            <a:off x="253519" y="2218269"/>
            <a:ext cx="8287208" cy="4583502"/>
            <a:chOff x="0" y="0"/>
            <a:chExt cx="8287207" cy="4583500"/>
          </a:xfrm>
        </p:grpSpPr>
        <p:grpSp>
          <p:nvGrpSpPr>
            <p:cNvPr id="316" name="Group 316"/>
            <p:cNvGrpSpPr/>
            <p:nvPr/>
          </p:nvGrpSpPr>
          <p:grpSpPr>
            <a:xfrm>
              <a:off x="0" y="-1"/>
              <a:ext cx="8287208" cy="4583502"/>
              <a:chOff x="0" y="0"/>
              <a:chExt cx="8287207" cy="4583500"/>
            </a:xfrm>
          </p:grpSpPr>
          <p:sp>
            <p:nvSpPr>
              <p:cNvPr id="312" name="Shape 312"/>
              <p:cNvSpPr txBox="1"/>
              <p:nvPr/>
            </p:nvSpPr>
            <p:spPr>
              <a:xfrm>
                <a:off x="0" y="0"/>
                <a:ext cx="1063462" cy="37275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tIns="45719" rIns="45719" bIns="45719" numCol="1" anchor="t">
                <a:spAutoFit/>
              </a:bodyPr>
              <a:lstStyle>
                <a:lvl1pPr defTabSz="457200">
                  <a:defRPr sz="2000">
                    <a:latin typeface="Times New Roman"/>
                    <a:ea typeface="Times New Roman"/>
                    <a:cs typeface="Times New Roman"/>
                    <a:sym typeface="Times New Roman"/>
                  </a:defRPr>
                </a:lvl1pPr>
              </a:lstStyle>
              <a:p>
                <a:r>
                  <a:t>2 classes </a:t>
                </a:r>
              </a:p>
            </p:txBody>
          </p:sp>
          <p:grpSp>
            <p:nvGrpSpPr>
              <p:cNvPr id="315" name="Group 315"/>
              <p:cNvGrpSpPr/>
              <p:nvPr/>
            </p:nvGrpSpPr>
            <p:grpSpPr>
              <a:xfrm>
                <a:off x="1730658" y="349416"/>
                <a:ext cx="6556550" cy="4234085"/>
                <a:chOff x="-10251" y="0"/>
                <a:chExt cx="6556548" cy="4234083"/>
              </a:xfrm>
            </p:grpSpPr>
            <p:pic>
              <p:nvPicPr>
                <p:cNvPr id="313" name="Picture 2" descr="Picture 2"/>
                <p:cNvPicPr>
                  <a:picLocks noChangeAspect="1"/>
                </p:cNvPicPr>
                <p:nvPr/>
              </p:nvPicPr>
              <p:blipFill>
                <a:blip r:embed="rId2">
                  <a:extLst/>
                </a:blip>
                <a:srcRect/>
                <a:stretch>
                  <a:fillRect/>
                </a:stretch>
              </p:blipFill>
              <p:spPr>
                <a:xfrm>
                  <a:off x="-10252" y="241532"/>
                  <a:ext cx="6440946" cy="3992552"/>
                </a:xfrm>
                <a:prstGeom prst="rect">
                  <a:avLst/>
                </a:prstGeom>
                <a:ln w="12700" cap="flat">
                  <a:noFill/>
                  <a:miter lim="400000"/>
                </a:ln>
                <a:effectLst/>
              </p:spPr>
            </p:pic>
            <p:sp>
              <p:nvSpPr>
                <p:cNvPr id="314" name="Shape 314"/>
                <p:cNvSpPr/>
                <p:nvPr/>
              </p:nvSpPr>
              <p:spPr>
                <a:xfrm>
                  <a:off x="5060530" y="0"/>
                  <a:ext cx="1485768" cy="1949874"/>
                </a:xfrm>
                <a:prstGeom prst="rect">
                  <a:avLst/>
                </a:prstGeom>
                <a:solidFill>
                  <a:srgbClr val="FFFFFF"/>
                </a:solidFill>
                <a:ln w="12700" cap="flat">
                  <a:noFill/>
                  <a:miter lim="400000"/>
                </a:ln>
                <a:effectLst/>
              </p:spPr>
              <p:txBody>
                <a:bodyPr wrap="square" lIns="45719" tIns="45719" rIns="45719" bIns="45719" numCol="1" anchor="ctr">
                  <a:noAutofit/>
                </a:bodyPr>
                <a:lstStyle/>
                <a:p>
                  <a:endParaRPr/>
                </a:p>
              </p:txBody>
            </p:sp>
          </p:grpSp>
        </p:grpSp>
        <p:pic>
          <p:nvPicPr>
            <p:cNvPr id="317" name="Picture 2" descr="Picture 2"/>
            <p:cNvPicPr>
              <a:picLocks noChangeAspect="1"/>
            </p:cNvPicPr>
            <p:nvPr/>
          </p:nvPicPr>
          <p:blipFill>
            <a:blip r:embed="rId3">
              <a:extLst/>
            </a:blip>
            <a:srcRect/>
            <a:stretch>
              <a:fillRect/>
            </a:stretch>
          </p:blipFill>
          <p:spPr>
            <a:xfrm>
              <a:off x="322934" y="2450691"/>
              <a:ext cx="1418448" cy="923011"/>
            </a:xfrm>
            <a:prstGeom prst="rect">
              <a:avLst/>
            </a:prstGeom>
            <a:ln w="12700" cap="flat">
              <a:noFill/>
              <a:miter lim="400000"/>
            </a:ln>
            <a:effectLst/>
          </p:spPr>
        </p:pic>
      </p:grpSp>
      <p:sp>
        <p:nvSpPr>
          <p:cNvPr id="319" name="Shape 319"/>
          <p:cNvSpPr txBox="1"/>
          <p:nvPr/>
        </p:nvSpPr>
        <p:spPr>
          <a:xfrm>
            <a:off x="30575" y="27358"/>
            <a:ext cx="3451248" cy="507056"/>
          </a:xfrm>
          <a:prstGeom prst="rect">
            <a:avLst/>
          </a:prstGeom>
          <a:solidFill>
            <a:schemeClr val="accent1">
              <a:lumOff val="23725"/>
            </a:schemeClr>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defTabSz="457200">
              <a:defRPr sz="3000" b="1" i="1" cap="small">
                <a:latin typeface="Times New Roman"/>
                <a:ea typeface="Times New Roman"/>
                <a:cs typeface="Times New Roman"/>
                <a:sym typeface="Times New Roman"/>
              </a:defRPr>
            </a:lvl1pPr>
          </a:lstStyle>
          <a:p>
            <a:r>
              <a:t>Les trois tuniques </a:t>
            </a:r>
          </a:p>
        </p:txBody>
      </p:sp>
      <p:sp>
        <p:nvSpPr>
          <p:cNvPr id="320" name="Shape 320"/>
          <p:cNvSpPr txBox="1"/>
          <p:nvPr/>
        </p:nvSpPr>
        <p:spPr>
          <a:xfrm>
            <a:off x="585337" y="660267"/>
            <a:ext cx="3600548" cy="433553"/>
          </a:xfrm>
          <a:prstGeom prst="rect">
            <a:avLst/>
          </a:prstGeom>
          <a:solidFill>
            <a:srgbClr val="855100"/>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defTabSz="457200">
              <a:defRPr sz="2500" b="1" i="1" cap="small">
                <a:solidFill>
                  <a:srgbClr val="FFFFFF"/>
                </a:solidFill>
                <a:latin typeface="Times New Roman"/>
                <a:ea typeface="Times New Roman"/>
                <a:cs typeface="Times New Roman"/>
                <a:sym typeface="Times New Roman"/>
              </a:defRPr>
            </a:lvl1pPr>
          </a:lstStyle>
          <a:p>
            <a:r>
              <a:t>tunique interne :retine</a:t>
            </a:r>
          </a:p>
        </p:txBody>
      </p:sp>
      <p:sp>
        <p:nvSpPr>
          <p:cNvPr id="321" name="Shape 321"/>
          <p:cNvSpPr/>
          <p:nvPr/>
        </p:nvSpPr>
        <p:spPr>
          <a:xfrm>
            <a:off x="987078" y="1664753"/>
            <a:ext cx="2625266" cy="414285"/>
          </a:xfrm>
          <a:custGeom>
            <a:avLst/>
            <a:gdLst/>
            <a:ahLst/>
            <a:cxnLst>
              <a:cxn ang="0">
                <a:pos x="wd2" y="hd2"/>
              </a:cxn>
              <a:cxn ang="5400000">
                <a:pos x="wd2" y="hd2"/>
              </a:cxn>
              <a:cxn ang="10800000">
                <a:pos x="wd2" y="hd2"/>
              </a:cxn>
              <a:cxn ang="16200000">
                <a:pos x="wd2" y="hd2"/>
              </a:cxn>
            </a:cxnLst>
            <a:rect l="0" t="0" r="r" b="b"/>
            <a:pathLst>
              <a:path w="21600" h="21600" extrusionOk="0">
                <a:moveTo>
                  <a:pt x="1704" y="21600"/>
                </a:moveTo>
                <a:lnTo>
                  <a:pt x="19896" y="21600"/>
                </a:lnTo>
                <a:cubicBezTo>
                  <a:pt x="19896" y="21600"/>
                  <a:pt x="19896" y="21600"/>
                  <a:pt x="19896" y="21600"/>
                </a:cubicBezTo>
                <a:cubicBezTo>
                  <a:pt x="20837" y="21600"/>
                  <a:pt x="21600" y="16765"/>
                  <a:pt x="21600" y="10800"/>
                </a:cubicBezTo>
                <a:cubicBezTo>
                  <a:pt x="21600" y="10800"/>
                  <a:pt x="21600" y="10800"/>
                  <a:pt x="21600" y="10800"/>
                </a:cubicBezTo>
                <a:cubicBezTo>
                  <a:pt x="21600" y="10800"/>
                  <a:pt x="21600" y="10800"/>
                  <a:pt x="21600" y="10800"/>
                </a:cubicBezTo>
                <a:cubicBezTo>
                  <a:pt x="21600" y="4835"/>
                  <a:pt x="20837" y="0"/>
                  <a:pt x="19896" y="0"/>
                </a:cubicBezTo>
                <a:cubicBezTo>
                  <a:pt x="19896" y="0"/>
                  <a:pt x="19896" y="0"/>
                  <a:pt x="19896" y="0"/>
                </a:cubicBezTo>
                <a:lnTo>
                  <a:pt x="1704" y="0"/>
                </a:lnTo>
                <a:cubicBezTo>
                  <a:pt x="1704" y="0"/>
                  <a:pt x="1704" y="0"/>
                  <a:pt x="1704" y="0"/>
                </a:cubicBezTo>
                <a:cubicBezTo>
                  <a:pt x="763" y="0"/>
                  <a:pt x="0" y="4835"/>
                  <a:pt x="0" y="10800"/>
                </a:cubicBezTo>
                <a:cubicBezTo>
                  <a:pt x="0" y="10800"/>
                  <a:pt x="0" y="10800"/>
                  <a:pt x="0" y="10800"/>
                </a:cubicBezTo>
                <a:cubicBezTo>
                  <a:pt x="0" y="10800"/>
                  <a:pt x="0" y="10800"/>
                  <a:pt x="0" y="10800"/>
                </a:cubicBezTo>
                <a:cubicBezTo>
                  <a:pt x="0" y="16765"/>
                  <a:pt x="763" y="21600"/>
                  <a:pt x="1704" y="21600"/>
                </a:cubicBezTo>
                <a:cubicBezTo>
                  <a:pt x="1704" y="21600"/>
                  <a:pt x="1704" y="21600"/>
                  <a:pt x="1704" y="21600"/>
                </a:cubicBezTo>
                <a:close/>
              </a:path>
            </a:pathLst>
          </a:custGeom>
          <a:solidFill>
            <a:schemeClr val="accent6"/>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12700" tIns="12700" rIns="12700" bIns="12700" anchor="ctr"/>
          <a:lstStyle>
            <a:lvl1pPr algn="ctr" rtl="1">
              <a:lnSpc>
                <a:spcPct val="50000"/>
              </a:lnSpc>
              <a:defRPr sz="2000">
                <a:solidFill>
                  <a:srgbClr val="FFFFFF"/>
                </a:solidFill>
                <a:latin typeface="Times New Roman"/>
                <a:ea typeface="Times New Roman"/>
                <a:cs typeface="Times New Roman"/>
                <a:sym typeface="Times New Roman"/>
              </a:defRPr>
            </a:lvl1pPr>
          </a:lstStyle>
          <a:p>
            <a:r>
              <a:t>Cellule bipolaire</a:t>
            </a:r>
          </a:p>
        </p:txBody>
      </p:sp>
      <p:sp>
        <p:nvSpPr>
          <p:cNvPr id="322" name="Shape 322"/>
          <p:cNvSpPr/>
          <p:nvPr/>
        </p:nvSpPr>
        <p:spPr>
          <a:xfrm>
            <a:off x="-32318" y="1148719"/>
            <a:ext cx="9280074" cy="461136"/>
          </a:xfrm>
          <a:custGeom>
            <a:avLst/>
            <a:gdLst/>
            <a:ahLst/>
            <a:cxnLst>
              <a:cxn ang="0">
                <a:pos x="wd2" y="hd2"/>
              </a:cxn>
              <a:cxn ang="5400000">
                <a:pos x="wd2" y="hd2"/>
              </a:cxn>
              <a:cxn ang="10800000">
                <a:pos x="wd2" y="hd2"/>
              </a:cxn>
              <a:cxn ang="16200000">
                <a:pos x="wd2" y="hd2"/>
              </a:cxn>
            </a:cxnLst>
            <a:rect l="0" t="0" r="r" b="b"/>
            <a:pathLst>
              <a:path w="21600" h="21600" extrusionOk="0">
                <a:moveTo>
                  <a:pt x="537" y="21600"/>
                </a:moveTo>
                <a:lnTo>
                  <a:pt x="21063" y="21600"/>
                </a:lnTo>
                <a:cubicBezTo>
                  <a:pt x="21063" y="21600"/>
                  <a:pt x="21063" y="21600"/>
                  <a:pt x="21063" y="21600"/>
                </a:cubicBezTo>
                <a:cubicBezTo>
                  <a:pt x="21360" y="21600"/>
                  <a:pt x="21600" y="16765"/>
                  <a:pt x="21600" y="10800"/>
                </a:cubicBezTo>
                <a:cubicBezTo>
                  <a:pt x="21600" y="10800"/>
                  <a:pt x="21600" y="10800"/>
                  <a:pt x="21600" y="10800"/>
                </a:cubicBezTo>
                <a:cubicBezTo>
                  <a:pt x="21600" y="10800"/>
                  <a:pt x="21600" y="10800"/>
                  <a:pt x="21600" y="10800"/>
                </a:cubicBezTo>
                <a:cubicBezTo>
                  <a:pt x="21600" y="4835"/>
                  <a:pt x="21360" y="0"/>
                  <a:pt x="21063" y="0"/>
                </a:cubicBezTo>
                <a:cubicBezTo>
                  <a:pt x="21063" y="0"/>
                  <a:pt x="21063" y="0"/>
                  <a:pt x="21063" y="0"/>
                </a:cubicBezTo>
                <a:lnTo>
                  <a:pt x="537" y="0"/>
                </a:lnTo>
                <a:cubicBezTo>
                  <a:pt x="537" y="0"/>
                  <a:pt x="537" y="0"/>
                  <a:pt x="537" y="0"/>
                </a:cubicBezTo>
                <a:cubicBezTo>
                  <a:pt x="240" y="0"/>
                  <a:pt x="0" y="4835"/>
                  <a:pt x="0" y="10800"/>
                </a:cubicBezTo>
                <a:cubicBezTo>
                  <a:pt x="0" y="10800"/>
                  <a:pt x="0" y="10800"/>
                  <a:pt x="0" y="10800"/>
                </a:cubicBezTo>
                <a:cubicBezTo>
                  <a:pt x="0" y="10800"/>
                  <a:pt x="0" y="10800"/>
                  <a:pt x="0" y="10800"/>
                </a:cubicBezTo>
                <a:cubicBezTo>
                  <a:pt x="0" y="16765"/>
                  <a:pt x="240" y="21600"/>
                  <a:pt x="537" y="21600"/>
                </a:cubicBezTo>
                <a:cubicBezTo>
                  <a:pt x="537" y="21600"/>
                  <a:pt x="537" y="21600"/>
                  <a:pt x="537" y="21600"/>
                </a:cubicBezTo>
                <a:close/>
              </a:path>
            </a:pathLst>
          </a:custGeom>
          <a:solidFill>
            <a:schemeClr val="accent6"/>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lstStyle>
            <a:lvl1pPr algn="ctr">
              <a:lnSpc>
                <a:spcPct val="50000"/>
              </a:lnSpc>
              <a:defRPr sz="2500" b="1" cap="all">
                <a:solidFill>
                  <a:srgbClr val="FFFFFF"/>
                </a:solidFill>
                <a:latin typeface="Times New Roman"/>
                <a:ea typeface="Times New Roman"/>
                <a:cs typeface="Times New Roman"/>
                <a:sym typeface="Times New Roman"/>
              </a:defRPr>
            </a:lvl1pPr>
          </a:lstStyle>
          <a:p>
            <a:r>
              <a:t>neurones de conduction</a:t>
            </a:r>
          </a:p>
        </p:txBody>
      </p:sp>
      <p:grpSp>
        <p:nvGrpSpPr>
          <p:cNvPr id="325" name="Group 325"/>
          <p:cNvGrpSpPr/>
          <p:nvPr/>
        </p:nvGrpSpPr>
        <p:grpSpPr>
          <a:xfrm>
            <a:off x="5193549" y="169028"/>
            <a:ext cx="3732878" cy="1887369"/>
            <a:chOff x="3749611" y="-1518366"/>
            <a:chExt cx="3732876" cy="1887367"/>
          </a:xfrm>
        </p:grpSpPr>
        <p:sp>
          <p:nvSpPr>
            <p:cNvPr id="323" name="Shape 323"/>
            <p:cNvSpPr txBox="1"/>
            <p:nvPr/>
          </p:nvSpPr>
          <p:spPr>
            <a:xfrm>
              <a:off x="3749611" y="-1518367"/>
              <a:ext cx="3732878" cy="66485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t">
              <a:spAutoFit/>
            </a:bodyPr>
            <a:lstStyle>
              <a:lvl1pPr defTabSz="457200">
                <a:defRPr sz="2000">
                  <a:latin typeface="Times New Roman"/>
                  <a:ea typeface="Times New Roman"/>
                  <a:cs typeface="Times New Roman"/>
                  <a:sym typeface="Times New Roman"/>
                </a:defRPr>
              </a:lvl1pPr>
            </a:lstStyle>
            <a:p>
              <a:r>
                <a:t>elles conduisent l’impulsion reçue des cellules photoréceptrices</a:t>
              </a:r>
            </a:p>
          </p:txBody>
        </p:sp>
        <p:sp>
          <p:nvSpPr>
            <p:cNvPr id="324" name="Shape 324"/>
            <p:cNvSpPr/>
            <p:nvPr/>
          </p:nvSpPr>
          <p:spPr>
            <a:xfrm>
              <a:off x="3975861" y="0"/>
              <a:ext cx="3318996" cy="369002"/>
            </a:xfrm>
            <a:custGeom>
              <a:avLst/>
              <a:gdLst/>
              <a:ahLst/>
              <a:cxnLst>
                <a:cxn ang="0">
                  <a:pos x="wd2" y="hd2"/>
                </a:cxn>
                <a:cxn ang="5400000">
                  <a:pos x="wd2" y="hd2"/>
                </a:cxn>
                <a:cxn ang="10800000">
                  <a:pos x="wd2" y="hd2"/>
                </a:cxn>
                <a:cxn ang="16200000">
                  <a:pos x="wd2" y="hd2"/>
                </a:cxn>
              </a:cxnLst>
              <a:rect l="0" t="0" r="r" b="b"/>
              <a:pathLst>
                <a:path w="21600" h="21600" extrusionOk="0">
                  <a:moveTo>
                    <a:pt x="1201" y="21600"/>
                  </a:moveTo>
                  <a:lnTo>
                    <a:pt x="20399" y="21600"/>
                  </a:lnTo>
                  <a:cubicBezTo>
                    <a:pt x="20399" y="21600"/>
                    <a:pt x="20399" y="21600"/>
                    <a:pt x="20399" y="21600"/>
                  </a:cubicBezTo>
                  <a:cubicBezTo>
                    <a:pt x="21062" y="21600"/>
                    <a:pt x="21600" y="16765"/>
                    <a:pt x="21600" y="10800"/>
                  </a:cubicBezTo>
                  <a:cubicBezTo>
                    <a:pt x="21600" y="10800"/>
                    <a:pt x="21600" y="10800"/>
                    <a:pt x="21600" y="10800"/>
                  </a:cubicBezTo>
                  <a:cubicBezTo>
                    <a:pt x="21600" y="10800"/>
                    <a:pt x="21600" y="10800"/>
                    <a:pt x="21600" y="10800"/>
                  </a:cubicBezTo>
                  <a:cubicBezTo>
                    <a:pt x="21600" y="4835"/>
                    <a:pt x="21062" y="0"/>
                    <a:pt x="20399" y="0"/>
                  </a:cubicBezTo>
                  <a:cubicBezTo>
                    <a:pt x="20399" y="0"/>
                    <a:pt x="20399" y="0"/>
                    <a:pt x="20399" y="0"/>
                  </a:cubicBezTo>
                  <a:lnTo>
                    <a:pt x="1201" y="0"/>
                  </a:lnTo>
                  <a:cubicBezTo>
                    <a:pt x="1201" y="0"/>
                    <a:pt x="1201" y="0"/>
                    <a:pt x="1201" y="0"/>
                  </a:cubicBezTo>
                  <a:cubicBezTo>
                    <a:pt x="538" y="0"/>
                    <a:pt x="0" y="4835"/>
                    <a:pt x="0" y="10800"/>
                  </a:cubicBezTo>
                  <a:cubicBezTo>
                    <a:pt x="0" y="10800"/>
                    <a:pt x="0" y="10800"/>
                    <a:pt x="0" y="10800"/>
                  </a:cubicBezTo>
                  <a:cubicBezTo>
                    <a:pt x="0" y="10800"/>
                    <a:pt x="0" y="10800"/>
                    <a:pt x="0" y="10800"/>
                  </a:cubicBezTo>
                  <a:cubicBezTo>
                    <a:pt x="0" y="16765"/>
                    <a:pt x="538" y="21600"/>
                    <a:pt x="1201" y="21600"/>
                  </a:cubicBezTo>
                  <a:cubicBezTo>
                    <a:pt x="1201" y="21600"/>
                    <a:pt x="1201" y="21600"/>
                    <a:pt x="1201" y="21600"/>
                  </a:cubicBezTo>
                  <a:close/>
                </a:path>
              </a:pathLst>
            </a:custGeom>
            <a:solidFill>
              <a:schemeClr val="accent6"/>
            </a:solid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numCol="1" anchor="ctr">
              <a:noAutofit/>
            </a:bodyPr>
            <a:lstStyle>
              <a:lvl1pPr algn="ctr">
                <a:lnSpc>
                  <a:spcPct val="50000"/>
                </a:lnSpc>
                <a:defRPr sz="2000">
                  <a:solidFill>
                    <a:srgbClr val="FFFFFF"/>
                  </a:solidFill>
                  <a:latin typeface="Times New Roman"/>
                  <a:ea typeface="Times New Roman"/>
                  <a:cs typeface="Times New Roman"/>
                  <a:sym typeface="Times New Roman"/>
                </a:defRPr>
              </a:lvl1pPr>
            </a:lstStyle>
            <a:p>
              <a:r>
                <a:t>Cellule ganglionnaire</a:t>
              </a:r>
            </a:p>
          </p:txBody>
        </p:sp>
      </p:grpSp>
      <p:sp>
        <p:nvSpPr>
          <p:cNvPr id="326" name="Shape 326"/>
          <p:cNvSpPr txBox="1"/>
          <p:nvPr/>
        </p:nvSpPr>
        <p:spPr>
          <a:xfrm>
            <a:off x="2213201" y="2224483"/>
            <a:ext cx="2872218" cy="515148"/>
          </a:xfrm>
          <a:prstGeom prst="rect">
            <a:avLst/>
          </a:prstGeom>
          <a:gradFill>
            <a:gsLst>
              <a:gs pos="0">
                <a:srgbClr val="FB999B"/>
              </a:gs>
              <a:gs pos="100000">
                <a:srgbClr val="F6DD82"/>
              </a:gs>
            </a:gsLst>
          </a:gra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defTabSz="457200">
              <a:defRPr sz="1500">
                <a:latin typeface="Times New Roman"/>
                <a:ea typeface="Times New Roman"/>
                <a:cs typeface="Times New Roman"/>
                <a:sym typeface="Times New Roman"/>
              </a:defRPr>
            </a:pPr>
            <a:r>
              <a:t>les c bipolaires de cônes , </a:t>
            </a:r>
            <a:r>
              <a:rPr b="1" u="sng"/>
              <a:t>reliées aux pédicules des cônes</a:t>
            </a:r>
            <a:r>
              <a:t> </a:t>
            </a:r>
          </a:p>
        </p:txBody>
      </p:sp>
      <p:grpSp>
        <p:nvGrpSpPr>
          <p:cNvPr id="329" name="Group 329"/>
          <p:cNvGrpSpPr/>
          <p:nvPr/>
        </p:nvGrpSpPr>
        <p:grpSpPr>
          <a:xfrm>
            <a:off x="5408976" y="2224483"/>
            <a:ext cx="3069675" cy="4172122"/>
            <a:chOff x="0" y="0"/>
            <a:chExt cx="3069673" cy="4172121"/>
          </a:xfrm>
        </p:grpSpPr>
        <p:sp>
          <p:nvSpPr>
            <p:cNvPr id="327" name="Shape 327"/>
            <p:cNvSpPr/>
            <p:nvPr/>
          </p:nvSpPr>
          <p:spPr>
            <a:xfrm>
              <a:off x="38460" y="427901"/>
              <a:ext cx="1763400" cy="3744221"/>
            </a:xfrm>
            <a:prstGeom prst="roundRect">
              <a:avLst>
                <a:gd name="adj" fmla="val 10803"/>
              </a:avLst>
            </a:prstGeom>
            <a:noFill/>
            <a:ln w="76200" cap="flat">
              <a:solidFill>
                <a:srgbClr val="FCFF91"/>
              </a:solidFill>
              <a:prstDash val="solid"/>
              <a:round/>
            </a:ln>
            <a:effectLst/>
          </p:spPr>
          <p:txBody>
            <a:bodyPr wrap="square" lIns="45719" tIns="45719" rIns="45719" bIns="45719" numCol="1" anchor="ctr">
              <a:noAutofit/>
            </a:bodyPr>
            <a:lstStyle/>
            <a:p>
              <a:endParaRPr/>
            </a:p>
          </p:txBody>
        </p:sp>
        <p:sp>
          <p:nvSpPr>
            <p:cNvPr id="328" name="Shape 328"/>
            <p:cNvSpPr txBox="1"/>
            <p:nvPr/>
          </p:nvSpPr>
          <p:spPr>
            <a:xfrm>
              <a:off x="0" y="0"/>
              <a:ext cx="3069674" cy="515148"/>
            </a:xfrm>
            <a:prstGeom prst="rect">
              <a:avLst/>
            </a:prstGeom>
            <a:solidFill>
              <a:srgbClr val="FCFF91"/>
            </a:solid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t">
              <a:spAutoFit/>
            </a:bodyPr>
            <a:lstStyle/>
            <a:p>
              <a:pPr algn="ctr" defTabSz="457200">
                <a:defRPr sz="1500">
                  <a:latin typeface="Times New Roman"/>
                  <a:ea typeface="Times New Roman"/>
                  <a:cs typeface="Times New Roman"/>
                  <a:sym typeface="Times New Roman"/>
                </a:defRPr>
              </a:pPr>
              <a:r>
                <a:t>les c bipolaires de bâtonnets, </a:t>
              </a:r>
              <a:r>
                <a:rPr b="1" u="sng"/>
                <a:t>reliées aux sphérules des bâtonnets</a:t>
              </a:r>
            </a:p>
          </p:txBody>
        </p:sp>
      </p:grpSp>
      <p:grpSp>
        <p:nvGrpSpPr>
          <p:cNvPr id="332" name="Group 332"/>
          <p:cNvGrpSpPr/>
          <p:nvPr/>
        </p:nvGrpSpPr>
        <p:grpSpPr>
          <a:xfrm>
            <a:off x="2258685" y="2228761"/>
            <a:ext cx="6771397" cy="4128548"/>
            <a:chOff x="0" y="193052"/>
            <a:chExt cx="6771396" cy="4128547"/>
          </a:xfrm>
        </p:grpSpPr>
        <p:sp>
          <p:nvSpPr>
            <p:cNvPr id="330" name="Shape 330"/>
            <p:cNvSpPr/>
            <p:nvPr/>
          </p:nvSpPr>
          <p:spPr>
            <a:xfrm>
              <a:off x="0" y="790560"/>
              <a:ext cx="1293542" cy="3531041"/>
            </a:xfrm>
            <a:prstGeom prst="roundRect">
              <a:avLst>
                <a:gd name="adj" fmla="val 14727"/>
              </a:avLst>
            </a:prstGeom>
            <a:noFill/>
            <a:ln w="76200" cap="flat">
              <a:solidFill>
                <a:srgbClr val="FB999B"/>
              </a:solidFill>
              <a:prstDash val="solid"/>
              <a:round/>
            </a:ln>
            <a:effectLst/>
          </p:spPr>
          <p:txBody>
            <a:bodyPr wrap="square" lIns="45719" tIns="45719" rIns="45719" bIns="45719" numCol="1" anchor="ctr">
              <a:noAutofit/>
            </a:bodyPr>
            <a:lstStyle/>
            <a:p>
              <a:endParaRPr/>
            </a:p>
          </p:txBody>
        </p:sp>
        <p:sp>
          <p:nvSpPr>
            <p:cNvPr id="331" name="Shape 331"/>
            <p:cNvSpPr txBox="1"/>
            <p:nvPr/>
          </p:nvSpPr>
          <p:spPr>
            <a:xfrm>
              <a:off x="3161116" y="193052"/>
              <a:ext cx="3610281" cy="2482030"/>
            </a:xfrm>
            <a:prstGeom prst="rect">
              <a:avLst/>
            </a:prstGeom>
            <a:solidFill>
              <a:srgbClr val="FB999B"/>
            </a:solid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t">
              <a:spAutoFit/>
            </a:bodyPr>
            <a:lstStyle/>
            <a:p>
              <a:pPr algn="ctr" defTabSz="457200">
                <a:defRPr>
                  <a:latin typeface="Times New Roman"/>
                  <a:ea typeface="Times New Roman"/>
                  <a:cs typeface="Times New Roman"/>
                  <a:sym typeface="Times New Roman"/>
                </a:defRPr>
              </a:pPr>
              <a:endParaRPr/>
            </a:p>
            <a:p>
              <a:pPr algn="ctr" defTabSz="457200">
                <a:defRPr>
                  <a:latin typeface="Times New Roman"/>
                  <a:ea typeface="Times New Roman"/>
                  <a:cs typeface="Times New Roman"/>
                  <a:sym typeface="Times New Roman"/>
                </a:defRPr>
              </a:pPr>
              <a:r>
                <a:t>avec des dendrites se ramifiant dans la couche plexiforme ext et entrent en contact avec </a:t>
              </a:r>
              <a:r>
                <a:rPr b="1"/>
                <a:t>plusieurs</a:t>
              </a:r>
              <a:r>
                <a:t> pédicules de cônes et au pôle opposé, l’axone  s’étend dans la couche plexiforme interne  et entre en contact avec les dendrites de c ganglionnaires</a:t>
              </a:r>
            </a:p>
          </p:txBody>
        </p:sp>
      </p:grpSp>
      <p:grpSp>
        <p:nvGrpSpPr>
          <p:cNvPr id="335" name="Group 335"/>
          <p:cNvGrpSpPr/>
          <p:nvPr/>
        </p:nvGrpSpPr>
        <p:grpSpPr>
          <a:xfrm>
            <a:off x="4058804" y="2771974"/>
            <a:ext cx="5019014" cy="3971898"/>
            <a:chOff x="0" y="0"/>
            <a:chExt cx="5019012" cy="3971896"/>
          </a:xfrm>
        </p:grpSpPr>
        <p:sp>
          <p:nvSpPr>
            <p:cNvPr id="333" name="Shape 333"/>
            <p:cNvSpPr/>
            <p:nvPr/>
          </p:nvSpPr>
          <p:spPr>
            <a:xfrm>
              <a:off x="0" y="0"/>
              <a:ext cx="1293542" cy="3639885"/>
            </a:xfrm>
            <a:prstGeom prst="roundRect">
              <a:avLst>
                <a:gd name="adj" fmla="val 14727"/>
              </a:avLst>
            </a:prstGeom>
            <a:noFill/>
            <a:ln w="76200" cap="flat">
              <a:solidFill>
                <a:srgbClr val="F6DD82"/>
              </a:solidFill>
              <a:prstDash val="solid"/>
              <a:round/>
            </a:ln>
            <a:effectLst/>
          </p:spPr>
          <p:txBody>
            <a:bodyPr wrap="square" lIns="45719" tIns="45719" rIns="45719" bIns="45719" numCol="1" anchor="ctr">
              <a:noAutofit/>
            </a:bodyPr>
            <a:lstStyle/>
            <a:p>
              <a:endParaRPr/>
            </a:p>
          </p:txBody>
        </p:sp>
        <p:sp>
          <p:nvSpPr>
            <p:cNvPr id="334" name="Shape 334"/>
            <p:cNvSpPr txBox="1"/>
            <p:nvPr/>
          </p:nvSpPr>
          <p:spPr>
            <a:xfrm>
              <a:off x="1386324" y="1934907"/>
              <a:ext cx="3632689" cy="2036990"/>
            </a:xfrm>
            <a:prstGeom prst="rect">
              <a:avLst/>
            </a:prstGeom>
            <a:solidFill>
              <a:srgbClr val="F6DD82"/>
            </a:solid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t">
              <a:spAutoFit/>
            </a:bodyPr>
            <a:lstStyle/>
            <a:p>
              <a:pPr algn="ctr" defTabSz="457200">
                <a:defRPr sz="1900">
                  <a:latin typeface="Times New Roman"/>
                  <a:ea typeface="Times New Roman"/>
                  <a:cs typeface="Times New Roman"/>
                  <a:sym typeface="Times New Roman"/>
                </a:defRPr>
              </a:pPr>
              <a:endParaRPr/>
            </a:p>
            <a:p>
              <a:pPr algn="ctr" defTabSz="457200">
                <a:defRPr sz="1900">
                  <a:latin typeface="Times New Roman"/>
                  <a:ea typeface="Times New Roman"/>
                  <a:cs typeface="Times New Roman"/>
                  <a:sym typeface="Times New Roman"/>
                </a:defRPr>
              </a:pPr>
              <a:r>
                <a:t>n’établissent une synapse qu’avec le pédicule d’un </a:t>
              </a:r>
              <a:r>
                <a:rPr b="1"/>
                <a:t>seul</a:t>
              </a:r>
              <a:r>
                <a:t> cône  et n’ont qu’un axone en contact avec une seule c ganglionnaire .</a:t>
              </a:r>
            </a:p>
            <a:p>
              <a:pPr algn="ctr" defTabSz="457200">
                <a:defRPr sz="1900">
                  <a:latin typeface="Times New Roman"/>
                  <a:ea typeface="Times New Roman"/>
                  <a:cs typeface="Times New Roman"/>
                  <a:sym typeface="Times New Roman"/>
                </a:defRPr>
              </a:pPr>
              <a:r>
                <a:t/>
              </a:r>
              <a:br/>
              <a:endParaRPr/>
            </a:p>
          </p:txBody>
        </p:sp>
      </p:gr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xit" presetSubtype="0" fill="hold" grpId="1" nodeType="clickEffect">
                                  <p:stCondLst>
                                    <p:cond delay="0"/>
                                  </p:stCondLst>
                                  <p:iterate>
                                    <p:tmAbs val="0"/>
                                  </p:iterate>
                                  <p:childTnLst>
                                    <p:set>
                                      <p:cBhvr>
                                        <p:cTn id="6" fill="hold">
                                          <p:stCondLst>
                                            <p:cond delay="0"/>
                                          </p:stCondLst>
                                        </p:cTn>
                                        <p:tgtEl>
                                          <p:spTgt spid="325"/>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2" nodeType="clickEffect">
                                  <p:stCondLst>
                                    <p:cond delay="0"/>
                                  </p:stCondLst>
                                  <p:iterate>
                                    <p:tmAbs val="0"/>
                                  </p:iterate>
                                  <p:childTnLst>
                                    <p:set>
                                      <p:cBhvr>
                                        <p:cTn id="10" fill="hold"/>
                                        <p:tgtEl>
                                          <p:spTgt spid="3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3" nodeType="clickEffect">
                                  <p:stCondLst>
                                    <p:cond delay="0"/>
                                  </p:stCondLst>
                                  <p:iterate>
                                    <p:tmAbs val="0"/>
                                  </p:iterate>
                                  <p:childTnLst>
                                    <p:set>
                                      <p:cBhvr>
                                        <p:cTn id="14" fill="hold"/>
                                        <p:tgtEl>
                                          <p:spTgt spid="32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4" nodeType="clickEffect">
                                  <p:stCondLst>
                                    <p:cond delay="0"/>
                                  </p:stCondLst>
                                  <p:iterate>
                                    <p:tmAbs val="0"/>
                                  </p:iterate>
                                  <p:childTnLst>
                                    <p:set>
                                      <p:cBhvr>
                                        <p:cTn id="18" fill="hold"/>
                                        <p:tgtEl>
                                          <p:spTgt spid="32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5" nodeType="clickEffect">
                                  <p:stCondLst>
                                    <p:cond delay="0"/>
                                  </p:stCondLst>
                                  <p:iterate>
                                    <p:tmAbs val="0"/>
                                  </p:iterate>
                                  <p:childTnLst>
                                    <p:set>
                                      <p:cBhvr>
                                        <p:cTn id="22" fill="hold"/>
                                        <p:tgtEl>
                                          <p:spTgt spid="33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6" nodeType="clickEffect">
                                  <p:stCondLst>
                                    <p:cond delay="0"/>
                                  </p:stCondLst>
                                  <p:iterate>
                                    <p:tmAbs val="0"/>
                                  </p:iterate>
                                  <p:childTnLst>
                                    <p:set>
                                      <p:cBhvr>
                                        <p:cTn id="26" fill="hold"/>
                                        <p:tgtEl>
                                          <p:spTgt spid="3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8" grpId="2" animBg="1" advAuto="0"/>
      <p:bldP spid="325" grpId="1" animBg="1" advAuto="0"/>
      <p:bldP spid="326" grpId="4" animBg="1" advAuto="0"/>
      <p:bldP spid="329" grpId="3" animBg="1" advAuto="0"/>
      <p:bldP spid="332" grpId="5" animBg="1" advAuto="0"/>
      <p:bldP spid="335" grpId="6" animBg="1" advAuto="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0" name="Group 340"/>
          <p:cNvGrpSpPr/>
          <p:nvPr/>
        </p:nvGrpSpPr>
        <p:grpSpPr>
          <a:xfrm>
            <a:off x="553957" y="1664753"/>
            <a:ext cx="8107524" cy="5231960"/>
            <a:chOff x="0" y="0"/>
            <a:chExt cx="8107523" cy="5231958"/>
          </a:xfrm>
        </p:grpSpPr>
        <p:sp>
          <p:nvSpPr>
            <p:cNvPr id="337" name="Shape 337"/>
            <p:cNvSpPr txBox="1"/>
            <p:nvPr/>
          </p:nvSpPr>
          <p:spPr>
            <a:xfrm>
              <a:off x="0" y="1803747"/>
              <a:ext cx="4172565" cy="1002623"/>
            </a:xfrm>
            <a:prstGeom prst="rect">
              <a:avLst/>
            </a:prstGeom>
            <a:solidFill>
              <a:schemeClr val="accent6"/>
            </a:solid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t">
              <a:noAutofit/>
            </a:bodyPr>
            <a:lstStyle>
              <a:lvl1pPr algn="ctr">
                <a:defRPr sz="2000">
                  <a:latin typeface="Times New Roman"/>
                  <a:ea typeface="Times New Roman"/>
                  <a:cs typeface="Times New Roman"/>
                  <a:sym typeface="Times New Roman"/>
                </a:defRPr>
              </a:lvl1pPr>
            </a:lstStyle>
            <a:p>
              <a:r>
                <a:t>Les noyaux des c bipolaires contribuent à la formation de la couche granulaire interne de la rétine</a:t>
              </a:r>
            </a:p>
          </p:txBody>
        </p:sp>
        <p:pic>
          <p:nvPicPr>
            <p:cNvPr id="338" name="Picture 2" descr="Picture 2"/>
            <p:cNvPicPr>
              <a:picLocks noChangeAspect="1"/>
            </p:cNvPicPr>
            <p:nvPr/>
          </p:nvPicPr>
          <p:blipFill>
            <a:blip r:embed="rId2">
              <a:extLst/>
            </a:blip>
            <a:srcRect/>
            <a:stretch>
              <a:fillRect/>
            </a:stretch>
          </p:blipFill>
          <p:spPr>
            <a:xfrm>
              <a:off x="4249041" y="0"/>
              <a:ext cx="3858483" cy="5231959"/>
            </a:xfrm>
            <a:prstGeom prst="rect">
              <a:avLst/>
            </a:prstGeom>
            <a:ln w="12700" cap="flat">
              <a:noFill/>
              <a:miter lim="400000"/>
            </a:ln>
            <a:effectLst/>
          </p:spPr>
        </p:pic>
        <p:sp>
          <p:nvSpPr>
            <p:cNvPr id="339" name="Shape 339"/>
            <p:cNvSpPr/>
            <p:nvPr/>
          </p:nvSpPr>
          <p:spPr>
            <a:xfrm>
              <a:off x="4204730" y="1875518"/>
              <a:ext cx="3814644" cy="859081"/>
            </a:xfrm>
            <a:prstGeom prst="roundRect">
              <a:avLst>
                <a:gd name="adj" fmla="val 3531"/>
              </a:avLst>
            </a:prstGeom>
            <a:noFill/>
            <a:ln w="76200" cap="flat">
              <a:solidFill>
                <a:schemeClr val="accent6"/>
              </a:solidFill>
              <a:prstDash val="solid"/>
              <a:round/>
            </a:ln>
            <a:effectLst/>
          </p:spPr>
          <p:txBody>
            <a:bodyPr wrap="square" lIns="45719" tIns="45719" rIns="45719" bIns="45719" numCol="1" anchor="ctr">
              <a:noAutofit/>
            </a:bodyPr>
            <a:lstStyle/>
            <a:p>
              <a:endParaRPr/>
            </a:p>
          </p:txBody>
        </p:sp>
      </p:grpSp>
      <p:sp>
        <p:nvSpPr>
          <p:cNvPr id="341" name="Shape 341"/>
          <p:cNvSpPr txBox="1"/>
          <p:nvPr/>
        </p:nvSpPr>
        <p:spPr>
          <a:xfrm>
            <a:off x="30575" y="27358"/>
            <a:ext cx="3451248" cy="507056"/>
          </a:xfrm>
          <a:prstGeom prst="rect">
            <a:avLst/>
          </a:prstGeom>
          <a:solidFill>
            <a:schemeClr val="accent1">
              <a:lumOff val="23725"/>
            </a:schemeClr>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defTabSz="457200">
              <a:defRPr sz="3000" b="1" i="1" cap="small">
                <a:latin typeface="Times New Roman"/>
                <a:ea typeface="Times New Roman"/>
                <a:cs typeface="Times New Roman"/>
                <a:sym typeface="Times New Roman"/>
              </a:defRPr>
            </a:lvl1pPr>
          </a:lstStyle>
          <a:p>
            <a:r>
              <a:t>Les trois tuniques </a:t>
            </a:r>
          </a:p>
        </p:txBody>
      </p:sp>
      <p:sp>
        <p:nvSpPr>
          <p:cNvPr id="342" name="Shape 342"/>
          <p:cNvSpPr txBox="1"/>
          <p:nvPr/>
        </p:nvSpPr>
        <p:spPr>
          <a:xfrm>
            <a:off x="585337" y="660267"/>
            <a:ext cx="3600548" cy="433553"/>
          </a:xfrm>
          <a:prstGeom prst="rect">
            <a:avLst/>
          </a:prstGeom>
          <a:solidFill>
            <a:srgbClr val="855100"/>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defTabSz="457200">
              <a:defRPr sz="2500" b="1" i="1" cap="small">
                <a:solidFill>
                  <a:srgbClr val="FFFFFF"/>
                </a:solidFill>
                <a:latin typeface="Times New Roman"/>
                <a:ea typeface="Times New Roman"/>
                <a:cs typeface="Times New Roman"/>
                <a:sym typeface="Times New Roman"/>
              </a:defRPr>
            </a:lvl1pPr>
          </a:lstStyle>
          <a:p>
            <a:r>
              <a:t>tunique interne :retine</a:t>
            </a:r>
          </a:p>
        </p:txBody>
      </p:sp>
      <p:sp>
        <p:nvSpPr>
          <p:cNvPr id="343" name="Shape 343"/>
          <p:cNvSpPr/>
          <p:nvPr/>
        </p:nvSpPr>
        <p:spPr>
          <a:xfrm>
            <a:off x="987078" y="1664753"/>
            <a:ext cx="2625266" cy="414285"/>
          </a:xfrm>
          <a:custGeom>
            <a:avLst/>
            <a:gdLst/>
            <a:ahLst/>
            <a:cxnLst>
              <a:cxn ang="0">
                <a:pos x="wd2" y="hd2"/>
              </a:cxn>
              <a:cxn ang="5400000">
                <a:pos x="wd2" y="hd2"/>
              </a:cxn>
              <a:cxn ang="10800000">
                <a:pos x="wd2" y="hd2"/>
              </a:cxn>
              <a:cxn ang="16200000">
                <a:pos x="wd2" y="hd2"/>
              </a:cxn>
            </a:cxnLst>
            <a:rect l="0" t="0" r="r" b="b"/>
            <a:pathLst>
              <a:path w="21600" h="21600" extrusionOk="0">
                <a:moveTo>
                  <a:pt x="1704" y="21600"/>
                </a:moveTo>
                <a:lnTo>
                  <a:pt x="19896" y="21600"/>
                </a:lnTo>
                <a:cubicBezTo>
                  <a:pt x="19896" y="21600"/>
                  <a:pt x="19896" y="21600"/>
                  <a:pt x="19896" y="21600"/>
                </a:cubicBezTo>
                <a:cubicBezTo>
                  <a:pt x="20837" y="21600"/>
                  <a:pt x="21600" y="16765"/>
                  <a:pt x="21600" y="10800"/>
                </a:cubicBezTo>
                <a:cubicBezTo>
                  <a:pt x="21600" y="10800"/>
                  <a:pt x="21600" y="10800"/>
                  <a:pt x="21600" y="10800"/>
                </a:cubicBezTo>
                <a:cubicBezTo>
                  <a:pt x="21600" y="10800"/>
                  <a:pt x="21600" y="10800"/>
                  <a:pt x="21600" y="10800"/>
                </a:cubicBezTo>
                <a:cubicBezTo>
                  <a:pt x="21600" y="4835"/>
                  <a:pt x="20837" y="0"/>
                  <a:pt x="19896" y="0"/>
                </a:cubicBezTo>
                <a:cubicBezTo>
                  <a:pt x="19896" y="0"/>
                  <a:pt x="19896" y="0"/>
                  <a:pt x="19896" y="0"/>
                </a:cubicBezTo>
                <a:lnTo>
                  <a:pt x="1704" y="0"/>
                </a:lnTo>
                <a:cubicBezTo>
                  <a:pt x="1704" y="0"/>
                  <a:pt x="1704" y="0"/>
                  <a:pt x="1704" y="0"/>
                </a:cubicBezTo>
                <a:cubicBezTo>
                  <a:pt x="763" y="0"/>
                  <a:pt x="0" y="4835"/>
                  <a:pt x="0" y="10800"/>
                </a:cubicBezTo>
                <a:cubicBezTo>
                  <a:pt x="0" y="10800"/>
                  <a:pt x="0" y="10800"/>
                  <a:pt x="0" y="10800"/>
                </a:cubicBezTo>
                <a:cubicBezTo>
                  <a:pt x="0" y="10800"/>
                  <a:pt x="0" y="10800"/>
                  <a:pt x="0" y="10800"/>
                </a:cubicBezTo>
                <a:cubicBezTo>
                  <a:pt x="0" y="16765"/>
                  <a:pt x="763" y="21600"/>
                  <a:pt x="1704" y="21600"/>
                </a:cubicBezTo>
                <a:cubicBezTo>
                  <a:pt x="1704" y="21600"/>
                  <a:pt x="1704" y="21600"/>
                  <a:pt x="1704" y="21600"/>
                </a:cubicBezTo>
                <a:close/>
              </a:path>
            </a:pathLst>
          </a:custGeom>
          <a:solidFill>
            <a:schemeClr val="accent6"/>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12700" tIns="12700" rIns="12700" bIns="12700" anchor="ctr"/>
          <a:lstStyle>
            <a:lvl1pPr algn="ctr" rtl="1">
              <a:lnSpc>
                <a:spcPct val="50000"/>
              </a:lnSpc>
              <a:defRPr sz="2000">
                <a:solidFill>
                  <a:srgbClr val="FFFFFF"/>
                </a:solidFill>
                <a:latin typeface="Times New Roman"/>
                <a:ea typeface="Times New Roman"/>
                <a:cs typeface="Times New Roman"/>
                <a:sym typeface="Times New Roman"/>
              </a:defRPr>
            </a:lvl1pPr>
          </a:lstStyle>
          <a:p>
            <a:r>
              <a:t>Cellule bipolaire</a:t>
            </a:r>
          </a:p>
        </p:txBody>
      </p:sp>
      <p:sp>
        <p:nvSpPr>
          <p:cNvPr id="344" name="Shape 344"/>
          <p:cNvSpPr/>
          <p:nvPr/>
        </p:nvSpPr>
        <p:spPr>
          <a:xfrm>
            <a:off x="-32318" y="1148719"/>
            <a:ext cx="9280074" cy="461136"/>
          </a:xfrm>
          <a:custGeom>
            <a:avLst/>
            <a:gdLst/>
            <a:ahLst/>
            <a:cxnLst>
              <a:cxn ang="0">
                <a:pos x="wd2" y="hd2"/>
              </a:cxn>
              <a:cxn ang="5400000">
                <a:pos x="wd2" y="hd2"/>
              </a:cxn>
              <a:cxn ang="10800000">
                <a:pos x="wd2" y="hd2"/>
              </a:cxn>
              <a:cxn ang="16200000">
                <a:pos x="wd2" y="hd2"/>
              </a:cxn>
            </a:cxnLst>
            <a:rect l="0" t="0" r="r" b="b"/>
            <a:pathLst>
              <a:path w="21600" h="21600" extrusionOk="0">
                <a:moveTo>
                  <a:pt x="537" y="21600"/>
                </a:moveTo>
                <a:lnTo>
                  <a:pt x="21063" y="21600"/>
                </a:lnTo>
                <a:cubicBezTo>
                  <a:pt x="21063" y="21600"/>
                  <a:pt x="21063" y="21600"/>
                  <a:pt x="21063" y="21600"/>
                </a:cubicBezTo>
                <a:cubicBezTo>
                  <a:pt x="21360" y="21600"/>
                  <a:pt x="21600" y="16765"/>
                  <a:pt x="21600" y="10800"/>
                </a:cubicBezTo>
                <a:cubicBezTo>
                  <a:pt x="21600" y="10800"/>
                  <a:pt x="21600" y="10800"/>
                  <a:pt x="21600" y="10800"/>
                </a:cubicBezTo>
                <a:cubicBezTo>
                  <a:pt x="21600" y="10800"/>
                  <a:pt x="21600" y="10800"/>
                  <a:pt x="21600" y="10800"/>
                </a:cubicBezTo>
                <a:cubicBezTo>
                  <a:pt x="21600" y="4835"/>
                  <a:pt x="21360" y="0"/>
                  <a:pt x="21063" y="0"/>
                </a:cubicBezTo>
                <a:cubicBezTo>
                  <a:pt x="21063" y="0"/>
                  <a:pt x="21063" y="0"/>
                  <a:pt x="21063" y="0"/>
                </a:cubicBezTo>
                <a:lnTo>
                  <a:pt x="537" y="0"/>
                </a:lnTo>
                <a:cubicBezTo>
                  <a:pt x="537" y="0"/>
                  <a:pt x="537" y="0"/>
                  <a:pt x="537" y="0"/>
                </a:cubicBezTo>
                <a:cubicBezTo>
                  <a:pt x="240" y="0"/>
                  <a:pt x="0" y="4835"/>
                  <a:pt x="0" y="10800"/>
                </a:cubicBezTo>
                <a:cubicBezTo>
                  <a:pt x="0" y="10800"/>
                  <a:pt x="0" y="10800"/>
                  <a:pt x="0" y="10800"/>
                </a:cubicBezTo>
                <a:cubicBezTo>
                  <a:pt x="0" y="10800"/>
                  <a:pt x="0" y="10800"/>
                  <a:pt x="0" y="10800"/>
                </a:cubicBezTo>
                <a:cubicBezTo>
                  <a:pt x="0" y="16765"/>
                  <a:pt x="240" y="21600"/>
                  <a:pt x="537" y="21600"/>
                </a:cubicBezTo>
                <a:cubicBezTo>
                  <a:pt x="537" y="21600"/>
                  <a:pt x="537" y="21600"/>
                  <a:pt x="537" y="21600"/>
                </a:cubicBezTo>
                <a:close/>
              </a:path>
            </a:pathLst>
          </a:custGeom>
          <a:solidFill>
            <a:schemeClr val="accent6"/>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lstStyle>
            <a:lvl1pPr algn="ctr">
              <a:lnSpc>
                <a:spcPct val="50000"/>
              </a:lnSpc>
              <a:defRPr sz="2500" b="1" cap="all">
                <a:solidFill>
                  <a:srgbClr val="FFFFFF"/>
                </a:solidFill>
                <a:latin typeface="Times New Roman"/>
                <a:ea typeface="Times New Roman"/>
                <a:cs typeface="Times New Roman"/>
                <a:sym typeface="Times New Roman"/>
              </a:defRPr>
            </a:lvl1pPr>
          </a:lstStyle>
          <a:p>
            <a:r>
              <a:t>neurones de conduction</a:t>
            </a:r>
          </a:p>
        </p:txBody>
      </p:sp>
    </p:spTree>
  </p:cSld>
  <p:clrMapOvr>
    <a:masterClrMapping/>
  </p:clrMapOvr>
  <p:transition spd="med"/>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6" name="Shape 346"/>
          <p:cNvSpPr txBox="1"/>
          <p:nvPr/>
        </p:nvSpPr>
        <p:spPr>
          <a:xfrm>
            <a:off x="30575" y="27358"/>
            <a:ext cx="3451248" cy="507056"/>
          </a:xfrm>
          <a:prstGeom prst="rect">
            <a:avLst/>
          </a:prstGeom>
          <a:solidFill>
            <a:schemeClr val="accent1">
              <a:lumOff val="23725"/>
            </a:schemeClr>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defTabSz="457200">
              <a:defRPr sz="3000" b="1" i="1" cap="small">
                <a:latin typeface="Times New Roman"/>
                <a:ea typeface="Times New Roman"/>
                <a:cs typeface="Times New Roman"/>
                <a:sym typeface="Times New Roman"/>
              </a:defRPr>
            </a:lvl1pPr>
          </a:lstStyle>
          <a:p>
            <a:r>
              <a:t>Les trois tuniques </a:t>
            </a:r>
          </a:p>
        </p:txBody>
      </p:sp>
      <p:sp>
        <p:nvSpPr>
          <p:cNvPr id="347" name="Shape 347"/>
          <p:cNvSpPr txBox="1"/>
          <p:nvPr/>
        </p:nvSpPr>
        <p:spPr>
          <a:xfrm>
            <a:off x="585337" y="660267"/>
            <a:ext cx="3600548" cy="433553"/>
          </a:xfrm>
          <a:prstGeom prst="rect">
            <a:avLst/>
          </a:prstGeom>
          <a:solidFill>
            <a:srgbClr val="855100"/>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defTabSz="457200">
              <a:defRPr sz="2500" b="1" i="1" cap="small">
                <a:solidFill>
                  <a:srgbClr val="FFFFFF"/>
                </a:solidFill>
                <a:latin typeface="Times New Roman"/>
                <a:ea typeface="Times New Roman"/>
                <a:cs typeface="Times New Roman"/>
                <a:sym typeface="Times New Roman"/>
              </a:defRPr>
            </a:lvl1pPr>
          </a:lstStyle>
          <a:p>
            <a:r>
              <a:t>tunique interne :retine</a:t>
            </a:r>
          </a:p>
        </p:txBody>
      </p:sp>
      <p:sp>
        <p:nvSpPr>
          <p:cNvPr id="348" name="Shape 348"/>
          <p:cNvSpPr/>
          <p:nvPr/>
        </p:nvSpPr>
        <p:spPr>
          <a:xfrm>
            <a:off x="-32318" y="1148719"/>
            <a:ext cx="9280074" cy="461136"/>
          </a:xfrm>
          <a:custGeom>
            <a:avLst/>
            <a:gdLst/>
            <a:ahLst/>
            <a:cxnLst>
              <a:cxn ang="0">
                <a:pos x="wd2" y="hd2"/>
              </a:cxn>
              <a:cxn ang="5400000">
                <a:pos x="wd2" y="hd2"/>
              </a:cxn>
              <a:cxn ang="10800000">
                <a:pos x="wd2" y="hd2"/>
              </a:cxn>
              <a:cxn ang="16200000">
                <a:pos x="wd2" y="hd2"/>
              </a:cxn>
            </a:cxnLst>
            <a:rect l="0" t="0" r="r" b="b"/>
            <a:pathLst>
              <a:path w="21600" h="21600" extrusionOk="0">
                <a:moveTo>
                  <a:pt x="537" y="21600"/>
                </a:moveTo>
                <a:lnTo>
                  <a:pt x="21063" y="21600"/>
                </a:lnTo>
                <a:cubicBezTo>
                  <a:pt x="21063" y="21600"/>
                  <a:pt x="21063" y="21600"/>
                  <a:pt x="21063" y="21600"/>
                </a:cubicBezTo>
                <a:cubicBezTo>
                  <a:pt x="21360" y="21600"/>
                  <a:pt x="21600" y="16765"/>
                  <a:pt x="21600" y="10800"/>
                </a:cubicBezTo>
                <a:cubicBezTo>
                  <a:pt x="21600" y="10800"/>
                  <a:pt x="21600" y="10800"/>
                  <a:pt x="21600" y="10800"/>
                </a:cubicBezTo>
                <a:cubicBezTo>
                  <a:pt x="21600" y="10800"/>
                  <a:pt x="21600" y="10800"/>
                  <a:pt x="21600" y="10800"/>
                </a:cubicBezTo>
                <a:cubicBezTo>
                  <a:pt x="21600" y="4835"/>
                  <a:pt x="21360" y="0"/>
                  <a:pt x="21063" y="0"/>
                </a:cubicBezTo>
                <a:cubicBezTo>
                  <a:pt x="21063" y="0"/>
                  <a:pt x="21063" y="0"/>
                  <a:pt x="21063" y="0"/>
                </a:cubicBezTo>
                <a:lnTo>
                  <a:pt x="537" y="0"/>
                </a:lnTo>
                <a:cubicBezTo>
                  <a:pt x="537" y="0"/>
                  <a:pt x="537" y="0"/>
                  <a:pt x="537" y="0"/>
                </a:cubicBezTo>
                <a:cubicBezTo>
                  <a:pt x="240" y="0"/>
                  <a:pt x="0" y="4835"/>
                  <a:pt x="0" y="10800"/>
                </a:cubicBezTo>
                <a:cubicBezTo>
                  <a:pt x="0" y="10800"/>
                  <a:pt x="0" y="10800"/>
                  <a:pt x="0" y="10800"/>
                </a:cubicBezTo>
                <a:cubicBezTo>
                  <a:pt x="0" y="10800"/>
                  <a:pt x="0" y="10800"/>
                  <a:pt x="0" y="10800"/>
                </a:cubicBezTo>
                <a:cubicBezTo>
                  <a:pt x="0" y="16765"/>
                  <a:pt x="240" y="21600"/>
                  <a:pt x="537" y="21600"/>
                </a:cubicBezTo>
                <a:cubicBezTo>
                  <a:pt x="537" y="21600"/>
                  <a:pt x="537" y="21600"/>
                  <a:pt x="537" y="21600"/>
                </a:cubicBezTo>
                <a:close/>
              </a:path>
            </a:pathLst>
          </a:custGeom>
          <a:solidFill>
            <a:schemeClr val="accent6"/>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lstStyle>
            <a:lvl1pPr algn="ctr">
              <a:lnSpc>
                <a:spcPct val="50000"/>
              </a:lnSpc>
              <a:defRPr sz="2500" b="1" cap="all">
                <a:solidFill>
                  <a:srgbClr val="FFFFFF"/>
                </a:solidFill>
                <a:latin typeface="Times New Roman"/>
                <a:ea typeface="Times New Roman"/>
                <a:cs typeface="Times New Roman"/>
                <a:sym typeface="Times New Roman"/>
              </a:defRPr>
            </a:lvl1pPr>
          </a:lstStyle>
          <a:p>
            <a:r>
              <a:t>neurones de conduction</a:t>
            </a:r>
          </a:p>
        </p:txBody>
      </p:sp>
      <p:sp>
        <p:nvSpPr>
          <p:cNvPr id="349" name="Shape 349"/>
          <p:cNvSpPr/>
          <p:nvPr/>
        </p:nvSpPr>
        <p:spPr>
          <a:xfrm>
            <a:off x="233111" y="1812677"/>
            <a:ext cx="3318997" cy="369003"/>
          </a:xfrm>
          <a:custGeom>
            <a:avLst/>
            <a:gdLst/>
            <a:ahLst/>
            <a:cxnLst>
              <a:cxn ang="0">
                <a:pos x="wd2" y="hd2"/>
              </a:cxn>
              <a:cxn ang="5400000">
                <a:pos x="wd2" y="hd2"/>
              </a:cxn>
              <a:cxn ang="10800000">
                <a:pos x="wd2" y="hd2"/>
              </a:cxn>
              <a:cxn ang="16200000">
                <a:pos x="wd2" y="hd2"/>
              </a:cxn>
            </a:cxnLst>
            <a:rect l="0" t="0" r="r" b="b"/>
            <a:pathLst>
              <a:path w="21600" h="21600" extrusionOk="0">
                <a:moveTo>
                  <a:pt x="1201" y="21600"/>
                </a:moveTo>
                <a:lnTo>
                  <a:pt x="20399" y="21600"/>
                </a:lnTo>
                <a:cubicBezTo>
                  <a:pt x="20399" y="21600"/>
                  <a:pt x="20399" y="21600"/>
                  <a:pt x="20399" y="21600"/>
                </a:cubicBezTo>
                <a:cubicBezTo>
                  <a:pt x="21062" y="21600"/>
                  <a:pt x="21600" y="16765"/>
                  <a:pt x="21600" y="10800"/>
                </a:cubicBezTo>
                <a:cubicBezTo>
                  <a:pt x="21600" y="10800"/>
                  <a:pt x="21600" y="10800"/>
                  <a:pt x="21600" y="10800"/>
                </a:cubicBezTo>
                <a:cubicBezTo>
                  <a:pt x="21600" y="10800"/>
                  <a:pt x="21600" y="10800"/>
                  <a:pt x="21600" y="10800"/>
                </a:cubicBezTo>
                <a:cubicBezTo>
                  <a:pt x="21600" y="4835"/>
                  <a:pt x="21062" y="0"/>
                  <a:pt x="20399" y="0"/>
                </a:cubicBezTo>
                <a:cubicBezTo>
                  <a:pt x="20399" y="0"/>
                  <a:pt x="20399" y="0"/>
                  <a:pt x="20399" y="0"/>
                </a:cubicBezTo>
                <a:lnTo>
                  <a:pt x="1201" y="0"/>
                </a:lnTo>
                <a:cubicBezTo>
                  <a:pt x="1201" y="0"/>
                  <a:pt x="1201" y="0"/>
                  <a:pt x="1201" y="0"/>
                </a:cubicBezTo>
                <a:cubicBezTo>
                  <a:pt x="538" y="0"/>
                  <a:pt x="0" y="4835"/>
                  <a:pt x="0" y="10800"/>
                </a:cubicBezTo>
                <a:cubicBezTo>
                  <a:pt x="0" y="10800"/>
                  <a:pt x="0" y="10800"/>
                  <a:pt x="0" y="10800"/>
                </a:cubicBezTo>
                <a:cubicBezTo>
                  <a:pt x="0" y="10800"/>
                  <a:pt x="0" y="10800"/>
                  <a:pt x="0" y="10800"/>
                </a:cubicBezTo>
                <a:cubicBezTo>
                  <a:pt x="0" y="16765"/>
                  <a:pt x="538" y="21600"/>
                  <a:pt x="1201" y="21600"/>
                </a:cubicBezTo>
                <a:cubicBezTo>
                  <a:pt x="1201" y="21600"/>
                  <a:pt x="1201" y="21600"/>
                  <a:pt x="1201" y="21600"/>
                </a:cubicBezTo>
                <a:close/>
              </a:path>
            </a:pathLst>
          </a:custGeom>
          <a:solidFill>
            <a:schemeClr val="accent6"/>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12700" tIns="12700" rIns="12700" bIns="12700" anchor="ctr"/>
          <a:lstStyle>
            <a:lvl1pPr algn="ctr">
              <a:lnSpc>
                <a:spcPct val="50000"/>
              </a:lnSpc>
              <a:defRPr sz="2000">
                <a:solidFill>
                  <a:srgbClr val="FFFFFF"/>
                </a:solidFill>
                <a:latin typeface="Times New Roman"/>
                <a:ea typeface="Times New Roman"/>
                <a:cs typeface="Times New Roman"/>
                <a:sym typeface="Times New Roman"/>
              </a:defRPr>
            </a:lvl1pPr>
          </a:lstStyle>
          <a:p>
            <a:r>
              <a:t>Cellule ganglionnaire</a:t>
            </a:r>
          </a:p>
        </p:txBody>
      </p:sp>
      <p:sp>
        <p:nvSpPr>
          <p:cNvPr id="350" name="Shape 350"/>
          <p:cNvSpPr txBox="1"/>
          <p:nvPr/>
        </p:nvSpPr>
        <p:spPr>
          <a:xfrm>
            <a:off x="369111" y="2291895"/>
            <a:ext cx="4217291" cy="95695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ctr" defTabSz="457200">
              <a:defRPr sz="2000">
                <a:latin typeface="Times New Roman"/>
                <a:ea typeface="Times New Roman"/>
                <a:cs typeface="Times New Roman"/>
                <a:sym typeface="Times New Roman"/>
              </a:defRPr>
            </a:pPr>
            <a:r>
              <a:t> étendent leurs dendrites dans la couche </a:t>
            </a:r>
            <a:r>
              <a:rPr b="1"/>
              <a:t>plexiforme Int,</a:t>
            </a:r>
            <a:r>
              <a:t> leurs axones forment une partie du nerf optique</a:t>
            </a:r>
          </a:p>
        </p:txBody>
      </p:sp>
      <p:sp>
        <p:nvSpPr>
          <p:cNvPr id="351" name="Shape 351"/>
          <p:cNvSpPr txBox="1"/>
          <p:nvPr/>
        </p:nvSpPr>
        <p:spPr>
          <a:xfrm>
            <a:off x="55892" y="3213200"/>
            <a:ext cx="3038288" cy="37275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defTabSz="457200">
              <a:defRPr sz="2000">
                <a:latin typeface="Times New Roman"/>
                <a:ea typeface="Times New Roman"/>
                <a:cs typeface="Times New Roman"/>
                <a:sym typeface="Times New Roman"/>
              </a:defRPr>
            </a:lvl1pPr>
          </a:lstStyle>
          <a:p>
            <a:r>
              <a:t>2 classes de c ganglionnaires</a:t>
            </a:r>
          </a:p>
        </p:txBody>
      </p:sp>
      <p:pic>
        <p:nvPicPr>
          <p:cNvPr id="352" name="Picture 2" descr="Picture 2"/>
          <p:cNvPicPr>
            <a:picLocks noChangeAspect="1"/>
          </p:cNvPicPr>
          <p:nvPr/>
        </p:nvPicPr>
        <p:blipFill>
          <a:blip r:embed="rId2">
            <a:extLst/>
          </a:blip>
          <a:srcRect/>
          <a:stretch>
            <a:fillRect/>
          </a:stretch>
        </p:blipFill>
        <p:spPr>
          <a:xfrm>
            <a:off x="5083317" y="1664753"/>
            <a:ext cx="3858483" cy="5231960"/>
          </a:xfrm>
          <a:prstGeom prst="rect">
            <a:avLst/>
          </a:prstGeom>
          <a:ln w="12700">
            <a:miter lim="400000"/>
          </a:ln>
        </p:spPr>
      </p:pic>
      <p:sp>
        <p:nvSpPr>
          <p:cNvPr id="353" name="Shape 353"/>
          <p:cNvSpPr/>
          <p:nvPr/>
        </p:nvSpPr>
        <p:spPr>
          <a:xfrm>
            <a:off x="5105205" y="2262259"/>
            <a:ext cx="3814643" cy="1328076"/>
          </a:xfrm>
          <a:prstGeom prst="roundRect">
            <a:avLst>
              <a:gd name="adj" fmla="val 2284"/>
            </a:avLst>
          </a:prstGeom>
          <a:ln w="76200">
            <a:solidFill>
              <a:schemeClr val="accent6"/>
            </a:solidFill>
          </a:ln>
        </p:spPr>
        <p:txBody>
          <a:bodyPr lIns="45719" rIns="45719" anchor="ctr"/>
          <a:lstStyle/>
          <a:p>
            <a:endParaRPr/>
          </a:p>
        </p:txBody>
      </p:sp>
      <p:sp>
        <p:nvSpPr>
          <p:cNvPr id="354" name="Shape 354"/>
          <p:cNvSpPr txBox="1"/>
          <p:nvPr/>
        </p:nvSpPr>
        <p:spPr>
          <a:xfrm>
            <a:off x="175858" y="3687347"/>
            <a:ext cx="3938056" cy="715650"/>
          </a:xfrm>
          <a:prstGeom prst="rect">
            <a:avLst/>
          </a:prstGeom>
          <a:ln w="50800">
            <a:solidFill>
              <a:schemeClr val="accent6"/>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ctr" defTabSz="457200">
              <a:defRPr sz="2000">
                <a:latin typeface="Times New Roman"/>
                <a:ea typeface="Times New Roman"/>
                <a:cs typeface="Times New Roman"/>
                <a:sym typeface="Times New Roman"/>
              </a:defRPr>
            </a:pPr>
            <a:r>
              <a:t>les c ganglionnaires diffuses, en contact avec </a:t>
            </a:r>
            <a:r>
              <a:rPr b="1"/>
              <a:t>plusieurs c bipolaires </a:t>
            </a:r>
          </a:p>
        </p:txBody>
      </p:sp>
      <p:sp>
        <p:nvSpPr>
          <p:cNvPr id="355" name="Shape 355"/>
          <p:cNvSpPr txBox="1"/>
          <p:nvPr/>
        </p:nvSpPr>
        <p:spPr>
          <a:xfrm>
            <a:off x="1054591" y="4642872"/>
            <a:ext cx="3625310" cy="1299850"/>
          </a:xfrm>
          <a:prstGeom prst="rect">
            <a:avLst/>
          </a:prstGeom>
          <a:ln w="50800">
            <a:solidFill>
              <a:schemeClr val="accent6"/>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ctr" defTabSz="457200">
              <a:defRPr sz="2000">
                <a:latin typeface="Times New Roman"/>
                <a:ea typeface="Times New Roman"/>
                <a:cs typeface="Times New Roman"/>
                <a:sym typeface="Times New Roman"/>
              </a:defRPr>
            </a:pPr>
            <a:r>
              <a:t>les c ganglionnaires naines dont les dendrites n’entrent en contact qu’avec </a:t>
            </a:r>
            <a:r>
              <a:rPr b="1"/>
              <a:t>une seule c bipolaire</a:t>
            </a:r>
            <a:br>
              <a:rPr b="1"/>
            </a:br>
            <a:endParaRPr b="1"/>
          </a:p>
        </p:txBody>
      </p:sp>
    </p:spTree>
  </p:cSld>
  <p:clrMapOvr>
    <a:masterClrMapping/>
  </p:clrMapOvr>
  <p:transition spd="med"/>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7" name="Shape 357"/>
          <p:cNvSpPr/>
          <p:nvPr/>
        </p:nvSpPr>
        <p:spPr>
          <a:xfrm>
            <a:off x="-22241" y="1219673"/>
            <a:ext cx="9188482" cy="432559"/>
          </a:xfrm>
          <a:prstGeom prst="roundRect">
            <a:avLst>
              <a:gd name="adj" fmla="val 50000"/>
            </a:avLst>
          </a:prstGeom>
          <a:solidFill>
            <a:schemeClr val="accent3"/>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lstStyle>
            <a:lvl1pPr algn="ctr">
              <a:lnSpc>
                <a:spcPct val="50000"/>
              </a:lnSpc>
              <a:defRPr sz="2400" b="1" cap="all">
                <a:latin typeface="Times New Roman"/>
                <a:ea typeface="Times New Roman"/>
                <a:cs typeface="Times New Roman"/>
                <a:sym typeface="Times New Roman"/>
              </a:defRPr>
            </a:lvl1pPr>
          </a:lstStyle>
          <a:p>
            <a:r>
              <a:t>neurones d’association</a:t>
            </a:r>
          </a:p>
        </p:txBody>
      </p:sp>
      <p:sp>
        <p:nvSpPr>
          <p:cNvPr id="358" name="Shape 358"/>
          <p:cNvSpPr txBox="1"/>
          <p:nvPr/>
        </p:nvSpPr>
        <p:spPr>
          <a:xfrm>
            <a:off x="30575" y="27358"/>
            <a:ext cx="3451248" cy="507056"/>
          </a:xfrm>
          <a:prstGeom prst="rect">
            <a:avLst/>
          </a:prstGeom>
          <a:solidFill>
            <a:schemeClr val="accent1">
              <a:lumOff val="23725"/>
            </a:schemeClr>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defTabSz="457200">
              <a:defRPr sz="3000" b="1" i="1" cap="small">
                <a:latin typeface="Times New Roman"/>
                <a:ea typeface="Times New Roman"/>
                <a:cs typeface="Times New Roman"/>
                <a:sym typeface="Times New Roman"/>
              </a:defRPr>
            </a:lvl1pPr>
          </a:lstStyle>
          <a:p>
            <a:r>
              <a:t>Les trois tuniques </a:t>
            </a:r>
          </a:p>
        </p:txBody>
      </p:sp>
      <p:sp>
        <p:nvSpPr>
          <p:cNvPr id="359" name="Shape 359"/>
          <p:cNvSpPr txBox="1"/>
          <p:nvPr/>
        </p:nvSpPr>
        <p:spPr>
          <a:xfrm>
            <a:off x="585337" y="660267"/>
            <a:ext cx="3600548" cy="433553"/>
          </a:xfrm>
          <a:prstGeom prst="rect">
            <a:avLst/>
          </a:prstGeom>
          <a:solidFill>
            <a:srgbClr val="855100"/>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defTabSz="457200">
              <a:defRPr sz="2500" b="1" i="1" cap="small">
                <a:solidFill>
                  <a:srgbClr val="FFFFFF"/>
                </a:solidFill>
                <a:latin typeface="Times New Roman"/>
                <a:ea typeface="Times New Roman"/>
                <a:cs typeface="Times New Roman"/>
                <a:sym typeface="Times New Roman"/>
              </a:defRPr>
            </a:lvl1pPr>
          </a:lstStyle>
          <a:p>
            <a:r>
              <a:t>tunique interne :retine</a:t>
            </a:r>
          </a:p>
        </p:txBody>
      </p:sp>
      <p:sp>
        <p:nvSpPr>
          <p:cNvPr id="360" name="Shape 360"/>
          <p:cNvSpPr txBox="1"/>
          <p:nvPr/>
        </p:nvSpPr>
        <p:spPr>
          <a:xfrm>
            <a:off x="25843" y="1778084"/>
            <a:ext cx="4977452" cy="66485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gn="ctr" defTabSz="457200">
              <a:defRPr sz="2000">
                <a:latin typeface="Times New Roman"/>
                <a:ea typeface="Times New Roman"/>
                <a:cs typeface="Times New Roman"/>
                <a:sym typeface="Times New Roman"/>
              </a:defRPr>
            </a:lvl1pPr>
          </a:lstStyle>
          <a:p>
            <a:r>
              <a:t>Les noyaux des  c horizontales et amacrines forment une partie de la couche granulaire Int</a:t>
            </a:r>
          </a:p>
        </p:txBody>
      </p:sp>
      <p:pic>
        <p:nvPicPr>
          <p:cNvPr id="361" name="Picture 2" descr="Picture 2"/>
          <p:cNvPicPr>
            <a:picLocks noChangeAspect="1"/>
          </p:cNvPicPr>
          <p:nvPr/>
        </p:nvPicPr>
        <p:blipFill>
          <a:blip r:embed="rId2">
            <a:extLst/>
          </a:blip>
          <a:srcRect/>
          <a:stretch>
            <a:fillRect/>
          </a:stretch>
        </p:blipFill>
        <p:spPr>
          <a:xfrm>
            <a:off x="5083317" y="1786510"/>
            <a:ext cx="3858483" cy="4737770"/>
          </a:xfrm>
          <a:prstGeom prst="rect">
            <a:avLst/>
          </a:prstGeom>
          <a:ln w="12700">
            <a:miter lim="400000"/>
          </a:ln>
        </p:spPr>
      </p:pic>
      <p:sp>
        <p:nvSpPr>
          <p:cNvPr id="362" name="Shape 362"/>
          <p:cNvSpPr/>
          <p:nvPr/>
        </p:nvSpPr>
        <p:spPr>
          <a:xfrm>
            <a:off x="5105205" y="3084520"/>
            <a:ext cx="3814643" cy="1710502"/>
          </a:xfrm>
          <a:prstGeom prst="roundRect">
            <a:avLst>
              <a:gd name="adj" fmla="val 1773"/>
            </a:avLst>
          </a:prstGeom>
          <a:ln w="76200">
            <a:solidFill>
              <a:schemeClr val="accent3"/>
            </a:solidFill>
          </a:ln>
        </p:spPr>
        <p:txBody>
          <a:bodyPr lIns="45719" rIns="45719" anchor="ctr"/>
          <a:lstStyle/>
          <a:p>
            <a:endParaRPr/>
          </a:p>
        </p:txBody>
      </p:sp>
      <p:grpSp>
        <p:nvGrpSpPr>
          <p:cNvPr id="366" name="Group 366"/>
          <p:cNvGrpSpPr/>
          <p:nvPr/>
        </p:nvGrpSpPr>
        <p:grpSpPr>
          <a:xfrm>
            <a:off x="141183" y="2511242"/>
            <a:ext cx="2625266" cy="3948087"/>
            <a:chOff x="0" y="0"/>
            <a:chExt cx="2625264" cy="3948086"/>
          </a:xfrm>
        </p:grpSpPr>
        <p:sp>
          <p:nvSpPr>
            <p:cNvPr id="363" name="Shape 363"/>
            <p:cNvSpPr/>
            <p:nvPr/>
          </p:nvSpPr>
          <p:spPr>
            <a:xfrm>
              <a:off x="0" y="0"/>
              <a:ext cx="2625265" cy="414284"/>
            </a:xfrm>
            <a:custGeom>
              <a:avLst/>
              <a:gdLst/>
              <a:ahLst/>
              <a:cxnLst>
                <a:cxn ang="0">
                  <a:pos x="wd2" y="hd2"/>
                </a:cxn>
                <a:cxn ang="5400000">
                  <a:pos x="wd2" y="hd2"/>
                </a:cxn>
                <a:cxn ang="10800000">
                  <a:pos x="wd2" y="hd2"/>
                </a:cxn>
                <a:cxn ang="16200000">
                  <a:pos x="wd2" y="hd2"/>
                </a:cxn>
              </a:cxnLst>
              <a:rect l="0" t="0" r="r" b="b"/>
              <a:pathLst>
                <a:path w="21600" h="21600" extrusionOk="0">
                  <a:moveTo>
                    <a:pt x="1704" y="21600"/>
                  </a:moveTo>
                  <a:lnTo>
                    <a:pt x="19896" y="21600"/>
                  </a:lnTo>
                  <a:cubicBezTo>
                    <a:pt x="19896" y="21600"/>
                    <a:pt x="19896" y="21600"/>
                    <a:pt x="19896" y="21600"/>
                  </a:cubicBezTo>
                  <a:cubicBezTo>
                    <a:pt x="20837" y="21600"/>
                    <a:pt x="21600" y="16765"/>
                    <a:pt x="21600" y="10800"/>
                  </a:cubicBezTo>
                  <a:cubicBezTo>
                    <a:pt x="21600" y="10800"/>
                    <a:pt x="21600" y="10800"/>
                    <a:pt x="21600" y="10800"/>
                  </a:cubicBezTo>
                  <a:cubicBezTo>
                    <a:pt x="21600" y="10800"/>
                    <a:pt x="21600" y="10800"/>
                    <a:pt x="21600" y="10800"/>
                  </a:cubicBezTo>
                  <a:cubicBezTo>
                    <a:pt x="21600" y="4835"/>
                    <a:pt x="20837" y="0"/>
                    <a:pt x="19896" y="0"/>
                  </a:cubicBezTo>
                  <a:cubicBezTo>
                    <a:pt x="19896" y="0"/>
                    <a:pt x="19896" y="0"/>
                    <a:pt x="19896" y="0"/>
                  </a:cubicBezTo>
                  <a:lnTo>
                    <a:pt x="1704" y="0"/>
                  </a:lnTo>
                  <a:cubicBezTo>
                    <a:pt x="1704" y="0"/>
                    <a:pt x="1704" y="0"/>
                    <a:pt x="1704" y="0"/>
                  </a:cubicBezTo>
                  <a:cubicBezTo>
                    <a:pt x="763" y="0"/>
                    <a:pt x="0" y="4835"/>
                    <a:pt x="0" y="10800"/>
                  </a:cubicBezTo>
                  <a:cubicBezTo>
                    <a:pt x="0" y="10800"/>
                    <a:pt x="0" y="10800"/>
                    <a:pt x="0" y="10800"/>
                  </a:cubicBezTo>
                  <a:cubicBezTo>
                    <a:pt x="0" y="10800"/>
                    <a:pt x="0" y="10800"/>
                    <a:pt x="0" y="10800"/>
                  </a:cubicBezTo>
                  <a:cubicBezTo>
                    <a:pt x="0" y="16765"/>
                    <a:pt x="763" y="21600"/>
                    <a:pt x="1704" y="21600"/>
                  </a:cubicBezTo>
                  <a:cubicBezTo>
                    <a:pt x="1704" y="21600"/>
                    <a:pt x="1704" y="21600"/>
                    <a:pt x="1704" y="21600"/>
                  </a:cubicBezTo>
                  <a:close/>
                </a:path>
              </a:pathLst>
            </a:custGeom>
            <a:solidFill>
              <a:schemeClr val="accent3"/>
            </a:solid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numCol="1" anchor="ctr">
              <a:noAutofit/>
            </a:bodyPr>
            <a:lstStyle>
              <a:lvl1pPr algn="ctr" rtl="1">
                <a:lnSpc>
                  <a:spcPct val="50000"/>
                </a:lnSpc>
                <a:defRPr sz="2000">
                  <a:solidFill>
                    <a:srgbClr val="FFFFFF"/>
                  </a:solidFill>
                  <a:latin typeface="Times New Roman"/>
                  <a:ea typeface="Times New Roman"/>
                  <a:cs typeface="Times New Roman"/>
                  <a:sym typeface="Times New Roman"/>
                </a:defRPr>
              </a:lvl1pPr>
            </a:lstStyle>
            <a:p>
              <a:r>
                <a:t>Cellule Amacrine</a:t>
              </a:r>
            </a:p>
          </p:txBody>
        </p:sp>
        <p:sp>
          <p:nvSpPr>
            <p:cNvPr id="364" name="Shape 364"/>
            <p:cNvSpPr/>
            <p:nvPr/>
          </p:nvSpPr>
          <p:spPr>
            <a:xfrm rot="5400000">
              <a:off x="-305178" y="1772004"/>
              <a:ext cx="2976865" cy="423440"/>
            </a:xfrm>
            <a:prstGeom prst="rightArrow">
              <a:avLst>
                <a:gd name="adj1" fmla="val 43063"/>
                <a:gd name="adj2" fmla="val 225547"/>
              </a:avLst>
            </a:prstGeom>
            <a:solidFill>
              <a:schemeClr val="accent3"/>
            </a:solidFill>
            <a:ln w="12700" cap="flat">
              <a:noFill/>
              <a:miter lim="400000"/>
            </a:ln>
            <a:effectLst/>
          </p:spPr>
          <p:txBody>
            <a:bodyPr wrap="square" lIns="45719" tIns="45719" rIns="45719" bIns="45719" numCol="1" anchor="ctr">
              <a:noAutofit/>
            </a:bodyPr>
            <a:lstStyle/>
            <a:p>
              <a:endParaRPr/>
            </a:p>
          </p:txBody>
        </p:sp>
        <p:pic>
          <p:nvPicPr>
            <p:cNvPr id="365" name="Picture 2" descr="Picture 2"/>
            <p:cNvPicPr>
              <a:picLocks noChangeAspect="1"/>
            </p:cNvPicPr>
            <p:nvPr/>
          </p:nvPicPr>
          <p:blipFill>
            <a:blip r:embed="rId3">
              <a:extLst/>
            </a:blip>
            <a:srcRect/>
            <a:stretch>
              <a:fillRect/>
            </a:stretch>
          </p:blipFill>
          <p:spPr>
            <a:xfrm>
              <a:off x="750065" y="3571847"/>
              <a:ext cx="866293" cy="376240"/>
            </a:xfrm>
            <a:prstGeom prst="rect">
              <a:avLst/>
            </a:prstGeom>
            <a:ln w="12700" cap="flat">
              <a:noFill/>
              <a:miter lim="400000"/>
            </a:ln>
            <a:effectLst/>
          </p:spPr>
        </p:pic>
      </p:grpSp>
      <p:grpSp>
        <p:nvGrpSpPr>
          <p:cNvPr id="370" name="Group 370"/>
          <p:cNvGrpSpPr/>
          <p:nvPr/>
        </p:nvGrpSpPr>
        <p:grpSpPr>
          <a:xfrm>
            <a:off x="1724517" y="3046420"/>
            <a:ext cx="2625266" cy="3412774"/>
            <a:chOff x="0" y="0"/>
            <a:chExt cx="2625264" cy="3412773"/>
          </a:xfrm>
        </p:grpSpPr>
        <p:sp>
          <p:nvSpPr>
            <p:cNvPr id="367" name="Shape 367"/>
            <p:cNvSpPr/>
            <p:nvPr/>
          </p:nvSpPr>
          <p:spPr>
            <a:xfrm>
              <a:off x="0" y="0"/>
              <a:ext cx="2625265" cy="414284"/>
            </a:xfrm>
            <a:custGeom>
              <a:avLst/>
              <a:gdLst/>
              <a:ahLst/>
              <a:cxnLst>
                <a:cxn ang="0">
                  <a:pos x="wd2" y="hd2"/>
                </a:cxn>
                <a:cxn ang="5400000">
                  <a:pos x="wd2" y="hd2"/>
                </a:cxn>
                <a:cxn ang="10800000">
                  <a:pos x="wd2" y="hd2"/>
                </a:cxn>
                <a:cxn ang="16200000">
                  <a:pos x="wd2" y="hd2"/>
                </a:cxn>
              </a:cxnLst>
              <a:rect l="0" t="0" r="r" b="b"/>
              <a:pathLst>
                <a:path w="21600" h="21600" extrusionOk="0">
                  <a:moveTo>
                    <a:pt x="1704" y="21600"/>
                  </a:moveTo>
                  <a:lnTo>
                    <a:pt x="19896" y="21600"/>
                  </a:lnTo>
                  <a:cubicBezTo>
                    <a:pt x="19896" y="21600"/>
                    <a:pt x="19896" y="21600"/>
                    <a:pt x="19896" y="21600"/>
                  </a:cubicBezTo>
                  <a:cubicBezTo>
                    <a:pt x="20837" y="21600"/>
                    <a:pt x="21600" y="16765"/>
                    <a:pt x="21600" y="10800"/>
                  </a:cubicBezTo>
                  <a:cubicBezTo>
                    <a:pt x="21600" y="10800"/>
                    <a:pt x="21600" y="10800"/>
                    <a:pt x="21600" y="10800"/>
                  </a:cubicBezTo>
                  <a:cubicBezTo>
                    <a:pt x="21600" y="10800"/>
                    <a:pt x="21600" y="10800"/>
                    <a:pt x="21600" y="10800"/>
                  </a:cubicBezTo>
                  <a:cubicBezTo>
                    <a:pt x="21600" y="4835"/>
                    <a:pt x="20837" y="0"/>
                    <a:pt x="19896" y="0"/>
                  </a:cubicBezTo>
                  <a:cubicBezTo>
                    <a:pt x="19896" y="0"/>
                    <a:pt x="19896" y="0"/>
                    <a:pt x="19896" y="0"/>
                  </a:cubicBezTo>
                  <a:lnTo>
                    <a:pt x="1704" y="0"/>
                  </a:lnTo>
                  <a:cubicBezTo>
                    <a:pt x="1704" y="0"/>
                    <a:pt x="1704" y="0"/>
                    <a:pt x="1704" y="0"/>
                  </a:cubicBezTo>
                  <a:cubicBezTo>
                    <a:pt x="763" y="0"/>
                    <a:pt x="0" y="4835"/>
                    <a:pt x="0" y="10800"/>
                  </a:cubicBezTo>
                  <a:cubicBezTo>
                    <a:pt x="0" y="10800"/>
                    <a:pt x="0" y="10800"/>
                    <a:pt x="0" y="10800"/>
                  </a:cubicBezTo>
                  <a:cubicBezTo>
                    <a:pt x="0" y="10800"/>
                    <a:pt x="0" y="10800"/>
                    <a:pt x="0" y="10800"/>
                  </a:cubicBezTo>
                  <a:cubicBezTo>
                    <a:pt x="0" y="16765"/>
                    <a:pt x="763" y="21600"/>
                    <a:pt x="1704" y="21600"/>
                  </a:cubicBezTo>
                  <a:cubicBezTo>
                    <a:pt x="1704" y="21600"/>
                    <a:pt x="1704" y="21600"/>
                    <a:pt x="1704" y="21600"/>
                  </a:cubicBezTo>
                  <a:close/>
                </a:path>
              </a:pathLst>
            </a:custGeom>
            <a:solidFill>
              <a:schemeClr val="accent3"/>
            </a:solid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numCol="1" anchor="ctr">
              <a:noAutofit/>
            </a:bodyPr>
            <a:lstStyle>
              <a:lvl1pPr algn="ctr" rtl="1">
                <a:lnSpc>
                  <a:spcPct val="50000"/>
                </a:lnSpc>
                <a:defRPr sz="2000">
                  <a:solidFill>
                    <a:srgbClr val="FFFFFF"/>
                  </a:solidFill>
                  <a:latin typeface="Times New Roman"/>
                  <a:ea typeface="Times New Roman"/>
                  <a:cs typeface="Times New Roman"/>
                  <a:sym typeface="Times New Roman"/>
                </a:defRPr>
              </a:lvl1pPr>
            </a:lstStyle>
            <a:p>
              <a:r>
                <a:t>Cellule Horizontale</a:t>
              </a:r>
            </a:p>
          </p:txBody>
        </p:sp>
        <p:sp>
          <p:nvSpPr>
            <p:cNvPr id="368" name="Shape 368"/>
            <p:cNvSpPr/>
            <p:nvPr/>
          </p:nvSpPr>
          <p:spPr>
            <a:xfrm rot="5400000">
              <a:off x="148497" y="1461776"/>
              <a:ext cx="2453964" cy="428830"/>
            </a:xfrm>
            <a:prstGeom prst="rightArrow">
              <a:avLst>
                <a:gd name="adj1" fmla="val 43063"/>
                <a:gd name="adj2" fmla="val 222712"/>
              </a:avLst>
            </a:prstGeom>
            <a:solidFill>
              <a:schemeClr val="accent3"/>
            </a:solidFill>
            <a:ln w="12700" cap="flat">
              <a:noFill/>
              <a:miter lim="400000"/>
            </a:ln>
            <a:effectLst/>
          </p:spPr>
          <p:txBody>
            <a:bodyPr wrap="square" lIns="45719" tIns="45719" rIns="45719" bIns="45719" numCol="1" anchor="ctr">
              <a:noAutofit/>
            </a:bodyPr>
            <a:lstStyle/>
            <a:p>
              <a:endParaRPr/>
            </a:p>
          </p:txBody>
        </p:sp>
        <p:pic>
          <p:nvPicPr>
            <p:cNvPr id="369" name="Picture 2" descr="Picture 2"/>
            <p:cNvPicPr>
              <a:picLocks/>
            </p:cNvPicPr>
            <p:nvPr/>
          </p:nvPicPr>
          <p:blipFill>
            <a:blip r:embed="rId4">
              <a:extLst/>
            </a:blip>
            <a:srcRect/>
            <a:stretch>
              <a:fillRect/>
            </a:stretch>
          </p:blipFill>
          <p:spPr>
            <a:xfrm>
              <a:off x="984357" y="3036670"/>
              <a:ext cx="782219" cy="376104"/>
            </a:xfrm>
            <a:prstGeom prst="rect">
              <a:avLst/>
            </a:prstGeom>
            <a:ln w="12700" cap="flat">
              <a:noFill/>
              <a:miter lim="400000"/>
            </a:ln>
            <a:effectLst/>
          </p:spPr>
        </p:pic>
      </p:grpSp>
      <p:sp>
        <p:nvSpPr>
          <p:cNvPr id="371" name="Shape 371"/>
          <p:cNvSpPr txBox="1"/>
          <p:nvPr/>
        </p:nvSpPr>
        <p:spPr>
          <a:xfrm>
            <a:off x="134252" y="3784537"/>
            <a:ext cx="4760633" cy="956951"/>
          </a:xfrm>
          <a:prstGeom prst="rect">
            <a:avLst/>
          </a:prstGeom>
          <a:solidFill>
            <a:srgbClr val="FFFF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defTabSz="457200">
              <a:defRPr sz="2000">
                <a:latin typeface="Times New Roman"/>
                <a:ea typeface="Times New Roman"/>
                <a:cs typeface="Times New Roman"/>
                <a:sym typeface="Times New Roman"/>
              </a:defRPr>
            </a:pPr>
            <a:r>
              <a:t>n’ont ni dendrites , ni  axones mais seulement des </a:t>
            </a:r>
            <a:r>
              <a:rPr b="1" u="sng"/>
              <a:t>neurites</a:t>
            </a:r>
            <a:r>
              <a:t> </a:t>
            </a:r>
            <a:r>
              <a:rPr b="1" u="sng"/>
              <a:t>de conduction</a:t>
            </a:r>
            <a:r>
              <a:t> qui s’étendent dans des directions opposées</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37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1" fill="hold" grpId="2" nodeType="clickEffect">
                                  <p:stCondLst>
                                    <p:cond delay="0"/>
                                  </p:stCondLst>
                                  <p:iterate>
                                    <p:tmAbs val="0"/>
                                  </p:iterate>
                                  <p:childTnLst>
                                    <p:set>
                                      <p:cBhvr>
                                        <p:cTn id="10" fill="hold"/>
                                        <p:tgtEl>
                                          <p:spTgt spid="366"/>
                                        </p:tgtEl>
                                        <p:attrNameLst>
                                          <p:attrName>style.visibility</p:attrName>
                                        </p:attrNameLst>
                                      </p:cBhvr>
                                      <p:to>
                                        <p:strVal val="visible"/>
                                      </p:to>
                                    </p:set>
                                    <p:anim calcmode="lin" valueType="num">
                                      <p:cBhvr>
                                        <p:cTn id="11" dur="1000" fill="hold"/>
                                        <p:tgtEl>
                                          <p:spTgt spid="366"/>
                                        </p:tgtEl>
                                        <p:attrNameLst>
                                          <p:attrName>ppt_x</p:attrName>
                                        </p:attrNameLst>
                                      </p:cBhvr>
                                      <p:tavLst>
                                        <p:tav tm="0">
                                          <p:val>
                                            <p:strVal val="#ppt_x"/>
                                          </p:val>
                                        </p:tav>
                                        <p:tav tm="100000">
                                          <p:val>
                                            <p:strVal val="#ppt_x"/>
                                          </p:val>
                                        </p:tav>
                                      </p:tavLst>
                                    </p:anim>
                                    <p:anim calcmode="lin" valueType="num">
                                      <p:cBhvr>
                                        <p:cTn id="12" dur="1000" fill="hold"/>
                                        <p:tgtEl>
                                          <p:spTgt spid="366"/>
                                        </p:tgtEl>
                                        <p:attrNameLst>
                                          <p:attrName>ppt_y</p:attrName>
                                        </p:attrNameLst>
                                      </p:cBhvr>
                                      <p:tavLst>
                                        <p:tav tm="0">
                                          <p:val>
                                            <p:strVal val="0-#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1" fill="hold" grpId="3" nodeType="clickEffect">
                                  <p:stCondLst>
                                    <p:cond delay="0"/>
                                  </p:stCondLst>
                                  <p:iterate>
                                    <p:tmAbs val="0"/>
                                  </p:iterate>
                                  <p:childTnLst>
                                    <p:set>
                                      <p:cBhvr>
                                        <p:cTn id="16" fill="hold"/>
                                        <p:tgtEl>
                                          <p:spTgt spid="370"/>
                                        </p:tgtEl>
                                        <p:attrNameLst>
                                          <p:attrName>style.visibility</p:attrName>
                                        </p:attrNameLst>
                                      </p:cBhvr>
                                      <p:to>
                                        <p:strVal val="visible"/>
                                      </p:to>
                                    </p:set>
                                    <p:anim calcmode="lin" valueType="num">
                                      <p:cBhvr>
                                        <p:cTn id="17" dur="1000" fill="hold"/>
                                        <p:tgtEl>
                                          <p:spTgt spid="370"/>
                                        </p:tgtEl>
                                        <p:attrNameLst>
                                          <p:attrName>ppt_x</p:attrName>
                                        </p:attrNameLst>
                                      </p:cBhvr>
                                      <p:tavLst>
                                        <p:tav tm="0">
                                          <p:val>
                                            <p:strVal val="#ppt_x"/>
                                          </p:val>
                                        </p:tav>
                                        <p:tav tm="100000">
                                          <p:val>
                                            <p:strVal val="#ppt_x"/>
                                          </p:val>
                                        </p:tav>
                                      </p:tavLst>
                                    </p:anim>
                                    <p:anim calcmode="lin" valueType="num">
                                      <p:cBhvr>
                                        <p:cTn id="18" dur="1000" fill="hold"/>
                                        <p:tgtEl>
                                          <p:spTgt spid="370"/>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6" grpId="2" animBg="1" advAuto="0"/>
      <p:bldP spid="370" grpId="3" animBg="1" advAuto="0"/>
      <p:bldP spid="371" grpId="1" animBg="1" advAuto="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3" name="Shape 373"/>
          <p:cNvSpPr/>
          <p:nvPr/>
        </p:nvSpPr>
        <p:spPr>
          <a:xfrm>
            <a:off x="-22241" y="1219673"/>
            <a:ext cx="9188482" cy="432559"/>
          </a:xfrm>
          <a:prstGeom prst="roundRect">
            <a:avLst>
              <a:gd name="adj" fmla="val 50000"/>
            </a:avLst>
          </a:prstGeom>
          <a:solidFill>
            <a:schemeClr val="accent3"/>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lstStyle>
            <a:lvl1pPr algn="ctr">
              <a:lnSpc>
                <a:spcPct val="50000"/>
              </a:lnSpc>
              <a:defRPr sz="2400" b="1" cap="all">
                <a:latin typeface="Times New Roman"/>
                <a:ea typeface="Times New Roman"/>
                <a:cs typeface="Times New Roman"/>
                <a:sym typeface="Times New Roman"/>
              </a:defRPr>
            </a:lvl1pPr>
          </a:lstStyle>
          <a:p>
            <a:r>
              <a:t>neurones d’association</a:t>
            </a:r>
          </a:p>
        </p:txBody>
      </p:sp>
      <p:sp>
        <p:nvSpPr>
          <p:cNvPr id="374" name="Shape 374"/>
          <p:cNvSpPr txBox="1"/>
          <p:nvPr/>
        </p:nvSpPr>
        <p:spPr>
          <a:xfrm>
            <a:off x="30575" y="27358"/>
            <a:ext cx="3451248" cy="507056"/>
          </a:xfrm>
          <a:prstGeom prst="rect">
            <a:avLst/>
          </a:prstGeom>
          <a:solidFill>
            <a:schemeClr val="accent1">
              <a:lumOff val="23725"/>
            </a:schemeClr>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defTabSz="457200">
              <a:defRPr sz="3000" b="1" i="1" cap="small">
                <a:latin typeface="Times New Roman"/>
                <a:ea typeface="Times New Roman"/>
                <a:cs typeface="Times New Roman"/>
                <a:sym typeface="Times New Roman"/>
              </a:defRPr>
            </a:lvl1pPr>
          </a:lstStyle>
          <a:p>
            <a:r>
              <a:t>Les trois tuniques </a:t>
            </a:r>
          </a:p>
        </p:txBody>
      </p:sp>
      <p:sp>
        <p:nvSpPr>
          <p:cNvPr id="375" name="Shape 375"/>
          <p:cNvSpPr txBox="1"/>
          <p:nvPr/>
        </p:nvSpPr>
        <p:spPr>
          <a:xfrm>
            <a:off x="585337" y="660267"/>
            <a:ext cx="3600548" cy="433553"/>
          </a:xfrm>
          <a:prstGeom prst="rect">
            <a:avLst/>
          </a:prstGeom>
          <a:solidFill>
            <a:srgbClr val="855100"/>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defTabSz="457200">
              <a:defRPr sz="2500" b="1" i="1" cap="small">
                <a:solidFill>
                  <a:srgbClr val="FFFFFF"/>
                </a:solidFill>
                <a:latin typeface="Times New Roman"/>
                <a:ea typeface="Times New Roman"/>
                <a:cs typeface="Times New Roman"/>
                <a:sym typeface="Times New Roman"/>
              </a:defRPr>
            </a:lvl1pPr>
          </a:lstStyle>
          <a:p>
            <a:r>
              <a:t>tunique interne :retine</a:t>
            </a:r>
          </a:p>
        </p:txBody>
      </p:sp>
      <p:sp>
        <p:nvSpPr>
          <p:cNvPr id="376" name="Shape 376"/>
          <p:cNvSpPr/>
          <p:nvPr/>
        </p:nvSpPr>
        <p:spPr>
          <a:xfrm>
            <a:off x="153716" y="1984851"/>
            <a:ext cx="2625266" cy="414285"/>
          </a:xfrm>
          <a:custGeom>
            <a:avLst/>
            <a:gdLst/>
            <a:ahLst/>
            <a:cxnLst>
              <a:cxn ang="0">
                <a:pos x="wd2" y="hd2"/>
              </a:cxn>
              <a:cxn ang="5400000">
                <a:pos x="wd2" y="hd2"/>
              </a:cxn>
              <a:cxn ang="10800000">
                <a:pos x="wd2" y="hd2"/>
              </a:cxn>
              <a:cxn ang="16200000">
                <a:pos x="wd2" y="hd2"/>
              </a:cxn>
            </a:cxnLst>
            <a:rect l="0" t="0" r="r" b="b"/>
            <a:pathLst>
              <a:path w="21600" h="21600" extrusionOk="0">
                <a:moveTo>
                  <a:pt x="1704" y="21600"/>
                </a:moveTo>
                <a:lnTo>
                  <a:pt x="19896" y="21600"/>
                </a:lnTo>
                <a:cubicBezTo>
                  <a:pt x="19896" y="21600"/>
                  <a:pt x="19896" y="21600"/>
                  <a:pt x="19896" y="21600"/>
                </a:cubicBezTo>
                <a:cubicBezTo>
                  <a:pt x="20837" y="21600"/>
                  <a:pt x="21600" y="16765"/>
                  <a:pt x="21600" y="10800"/>
                </a:cubicBezTo>
                <a:cubicBezTo>
                  <a:pt x="21600" y="10800"/>
                  <a:pt x="21600" y="10800"/>
                  <a:pt x="21600" y="10800"/>
                </a:cubicBezTo>
                <a:cubicBezTo>
                  <a:pt x="21600" y="10800"/>
                  <a:pt x="21600" y="10800"/>
                  <a:pt x="21600" y="10800"/>
                </a:cubicBezTo>
                <a:cubicBezTo>
                  <a:pt x="21600" y="4835"/>
                  <a:pt x="20837" y="0"/>
                  <a:pt x="19896" y="0"/>
                </a:cubicBezTo>
                <a:cubicBezTo>
                  <a:pt x="19896" y="0"/>
                  <a:pt x="19896" y="0"/>
                  <a:pt x="19896" y="0"/>
                </a:cubicBezTo>
                <a:lnTo>
                  <a:pt x="1704" y="0"/>
                </a:lnTo>
                <a:cubicBezTo>
                  <a:pt x="1704" y="0"/>
                  <a:pt x="1704" y="0"/>
                  <a:pt x="1704" y="0"/>
                </a:cubicBezTo>
                <a:cubicBezTo>
                  <a:pt x="763" y="0"/>
                  <a:pt x="0" y="4835"/>
                  <a:pt x="0" y="10800"/>
                </a:cubicBezTo>
                <a:cubicBezTo>
                  <a:pt x="0" y="10800"/>
                  <a:pt x="0" y="10800"/>
                  <a:pt x="0" y="10800"/>
                </a:cubicBezTo>
                <a:cubicBezTo>
                  <a:pt x="0" y="10800"/>
                  <a:pt x="0" y="10800"/>
                  <a:pt x="0" y="10800"/>
                </a:cubicBezTo>
                <a:cubicBezTo>
                  <a:pt x="0" y="16765"/>
                  <a:pt x="763" y="21600"/>
                  <a:pt x="1704" y="21600"/>
                </a:cubicBezTo>
                <a:cubicBezTo>
                  <a:pt x="1704" y="21600"/>
                  <a:pt x="1704" y="21600"/>
                  <a:pt x="1704" y="21600"/>
                </a:cubicBezTo>
                <a:close/>
              </a:path>
            </a:pathLst>
          </a:custGeom>
          <a:solidFill>
            <a:schemeClr val="accent3"/>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12700" tIns="12700" rIns="12700" bIns="12700" anchor="ctr"/>
          <a:lstStyle>
            <a:lvl1pPr algn="ctr" rtl="1">
              <a:lnSpc>
                <a:spcPct val="50000"/>
              </a:lnSpc>
              <a:defRPr sz="2000">
                <a:solidFill>
                  <a:srgbClr val="FFFFFF"/>
                </a:solidFill>
                <a:latin typeface="Times New Roman"/>
                <a:ea typeface="Times New Roman"/>
                <a:cs typeface="Times New Roman"/>
                <a:sym typeface="Times New Roman"/>
              </a:defRPr>
            </a:lvl1pPr>
          </a:lstStyle>
          <a:p>
            <a:r>
              <a:t>Cellule Amacrine</a:t>
            </a:r>
          </a:p>
        </p:txBody>
      </p:sp>
      <p:grpSp>
        <p:nvGrpSpPr>
          <p:cNvPr id="381" name="Group 381"/>
          <p:cNvGrpSpPr/>
          <p:nvPr/>
        </p:nvGrpSpPr>
        <p:grpSpPr>
          <a:xfrm>
            <a:off x="460173" y="2110900"/>
            <a:ext cx="8790491" cy="4487811"/>
            <a:chOff x="0" y="0"/>
            <a:chExt cx="8790490" cy="4487809"/>
          </a:xfrm>
        </p:grpSpPr>
        <p:grpSp>
          <p:nvGrpSpPr>
            <p:cNvPr id="379" name="Group 379"/>
            <p:cNvGrpSpPr/>
            <p:nvPr/>
          </p:nvGrpSpPr>
          <p:grpSpPr>
            <a:xfrm>
              <a:off x="3317550" y="0"/>
              <a:ext cx="5472941" cy="4008201"/>
              <a:chOff x="0" y="0"/>
              <a:chExt cx="5472939" cy="4008200"/>
            </a:xfrm>
          </p:grpSpPr>
          <p:pic>
            <p:nvPicPr>
              <p:cNvPr id="377" name="Picture 2" descr="Picture 2"/>
              <p:cNvPicPr>
                <a:picLocks noChangeAspect="1"/>
              </p:cNvPicPr>
              <p:nvPr/>
            </p:nvPicPr>
            <p:blipFill>
              <a:blip r:embed="rId2">
                <a:extLst/>
              </a:blip>
              <a:srcRect/>
              <a:stretch>
                <a:fillRect/>
              </a:stretch>
            </p:blipFill>
            <p:spPr>
              <a:xfrm>
                <a:off x="0" y="0"/>
                <a:ext cx="5319049" cy="3648422"/>
              </a:xfrm>
              <a:prstGeom prst="rect">
                <a:avLst/>
              </a:prstGeom>
              <a:ln w="12700" cap="flat">
                <a:noFill/>
                <a:miter lim="400000"/>
              </a:ln>
              <a:effectLst/>
            </p:spPr>
          </p:pic>
          <p:sp>
            <p:nvSpPr>
              <p:cNvPr id="378" name="Shape 378"/>
              <p:cNvSpPr/>
              <p:nvPr/>
            </p:nvSpPr>
            <p:spPr>
              <a:xfrm>
                <a:off x="3207279" y="2083089"/>
                <a:ext cx="2265661" cy="1925112"/>
              </a:xfrm>
              <a:prstGeom prst="rect">
                <a:avLst/>
              </a:prstGeom>
              <a:solidFill>
                <a:srgbClr val="FFFFFF"/>
              </a:solidFill>
              <a:ln w="12700" cap="flat">
                <a:noFill/>
                <a:miter lim="400000"/>
              </a:ln>
              <a:effectLst/>
            </p:spPr>
            <p:txBody>
              <a:bodyPr wrap="square" lIns="45719" tIns="45719" rIns="45719" bIns="45719" numCol="1" anchor="ctr">
                <a:noAutofit/>
              </a:bodyPr>
              <a:lstStyle/>
              <a:p>
                <a:endParaRPr/>
              </a:p>
            </p:txBody>
          </p:sp>
        </p:grpSp>
        <p:sp>
          <p:nvSpPr>
            <p:cNvPr id="380" name="Shape 380"/>
            <p:cNvSpPr txBox="1"/>
            <p:nvPr/>
          </p:nvSpPr>
          <p:spPr>
            <a:xfrm>
              <a:off x="0" y="1194059"/>
              <a:ext cx="3366027" cy="329375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t">
              <a:spAutoFit/>
            </a:bodyPr>
            <a:lstStyle/>
            <a:p>
              <a:pPr algn="ctr" defTabSz="457200">
                <a:defRPr sz="2000">
                  <a:latin typeface="Times New Roman"/>
                  <a:ea typeface="Times New Roman"/>
                  <a:cs typeface="Times New Roman"/>
                  <a:sym typeface="Times New Roman"/>
                </a:defRPr>
              </a:pPr>
              <a:r>
                <a:t>on trouve les c amacrines dans la partie Int de la couche granulaire Int .</a:t>
              </a:r>
              <a:br/>
              <a:r>
                <a:t/>
              </a:r>
              <a:br/>
              <a:r>
                <a:t>Elles ne possèdent qu’un  seul prolongement neuritique  qui se ramifie pour s’unir aux terminaisons axoniques des cellules bipolaires et ramifications dendritiques des c ganglionnaires</a:t>
              </a:r>
            </a:p>
          </p:txBody>
        </p:sp>
      </p:grpSp>
    </p:spTree>
  </p:cSld>
  <p:clrMapOvr>
    <a:masterClrMapping/>
  </p:clrMapOvr>
  <p:transition spd="med"/>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3" name="Shape 383"/>
          <p:cNvSpPr/>
          <p:nvPr/>
        </p:nvSpPr>
        <p:spPr>
          <a:xfrm>
            <a:off x="-22241" y="1219673"/>
            <a:ext cx="9188482" cy="432559"/>
          </a:xfrm>
          <a:prstGeom prst="roundRect">
            <a:avLst>
              <a:gd name="adj" fmla="val 50000"/>
            </a:avLst>
          </a:prstGeom>
          <a:solidFill>
            <a:schemeClr val="accent3"/>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lstStyle>
            <a:lvl1pPr algn="ctr">
              <a:lnSpc>
                <a:spcPct val="50000"/>
              </a:lnSpc>
              <a:defRPr sz="2400" b="1" cap="all">
                <a:latin typeface="Times New Roman"/>
                <a:ea typeface="Times New Roman"/>
                <a:cs typeface="Times New Roman"/>
                <a:sym typeface="Times New Roman"/>
              </a:defRPr>
            </a:lvl1pPr>
          </a:lstStyle>
          <a:p>
            <a:r>
              <a:t>neurones d’association</a:t>
            </a:r>
          </a:p>
        </p:txBody>
      </p:sp>
      <p:sp>
        <p:nvSpPr>
          <p:cNvPr id="384" name="Shape 384"/>
          <p:cNvSpPr txBox="1"/>
          <p:nvPr/>
        </p:nvSpPr>
        <p:spPr>
          <a:xfrm>
            <a:off x="30575" y="27358"/>
            <a:ext cx="3451248" cy="507056"/>
          </a:xfrm>
          <a:prstGeom prst="rect">
            <a:avLst/>
          </a:prstGeom>
          <a:solidFill>
            <a:schemeClr val="accent1">
              <a:lumOff val="23725"/>
            </a:schemeClr>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defTabSz="457200">
              <a:defRPr sz="3000" b="1" i="1" cap="small">
                <a:latin typeface="Times New Roman"/>
                <a:ea typeface="Times New Roman"/>
                <a:cs typeface="Times New Roman"/>
                <a:sym typeface="Times New Roman"/>
              </a:defRPr>
            </a:lvl1pPr>
          </a:lstStyle>
          <a:p>
            <a:r>
              <a:t>Les trois tuniques </a:t>
            </a:r>
          </a:p>
        </p:txBody>
      </p:sp>
      <p:sp>
        <p:nvSpPr>
          <p:cNvPr id="385" name="Shape 385"/>
          <p:cNvSpPr txBox="1"/>
          <p:nvPr/>
        </p:nvSpPr>
        <p:spPr>
          <a:xfrm>
            <a:off x="585337" y="660267"/>
            <a:ext cx="3600548" cy="433553"/>
          </a:xfrm>
          <a:prstGeom prst="rect">
            <a:avLst/>
          </a:prstGeom>
          <a:solidFill>
            <a:srgbClr val="855100"/>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defTabSz="457200">
              <a:defRPr sz="2500" b="1" i="1" cap="small">
                <a:solidFill>
                  <a:srgbClr val="FFFFFF"/>
                </a:solidFill>
                <a:latin typeface="Times New Roman"/>
                <a:ea typeface="Times New Roman"/>
                <a:cs typeface="Times New Roman"/>
                <a:sym typeface="Times New Roman"/>
              </a:defRPr>
            </a:lvl1pPr>
          </a:lstStyle>
          <a:p>
            <a:r>
              <a:t>tunique interne :retine</a:t>
            </a:r>
          </a:p>
        </p:txBody>
      </p:sp>
      <p:sp>
        <p:nvSpPr>
          <p:cNvPr id="386" name="Shape 386"/>
          <p:cNvSpPr txBox="1"/>
          <p:nvPr/>
        </p:nvSpPr>
        <p:spPr>
          <a:xfrm>
            <a:off x="135326" y="2543978"/>
            <a:ext cx="3557833" cy="124905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ctr" defTabSz="457200">
              <a:defRPr sz="2000">
                <a:latin typeface="Times New Roman"/>
                <a:ea typeface="Times New Roman"/>
                <a:cs typeface="Times New Roman"/>
                <a:sym typeface="Times New Roman"/>
              </a:defRPr>
            </a:pPr>
            <a:r>
              <a:t>une seule neurite ramifiée établit </a:t>
            </a:r>
            <a:r>
              <a:rPr b="1"/>
              <a:t>des synapses avec à la fois</a:t>
            </a:r>
            <a:r>
              <a:t> des sphérules de bâtonnets et des pédicules de cônes </a:t>
            </a:r>
          </a:p>
        </p:txBody>
      </p:sp>
      <p:sp>
        <p:nvSpPr>
          <p:cNvPr id="387" name="Shape 387"/>
          <p:cNvSpPr/>
          <p:nvPr/>
        </p:nvSpPr>
        <p:spPr>
          <a:xfrm>
            <a:off x="443566" y="1903367"/>
            <a:ext cx="2625266" cy="414285"/>
          </a:xfrm>
          <a:custGeom>
            <a:avLst/>
            <a:gdLst/>
            <a:ahLst/>
            <a:cxnLst>
              <a:cxn ang="0">
                <a:pos x="wd2" y="hd2"/>
              </a:cxn>
              <a:cxn ang="5400000">
                <a:pos x="wd2" y="hd2"/>
              </a:cxn>
              <a:cxn ang="10800000">
                <a:pos x="wd2" y="hd2"/>
              </a:cxn>
              <a:cxn ang="16200000">
                <a:pos x="wd2" y="hd2"/>
              </a:cxn>
            </a:cxnLst>
            <a:rect l="0" t="0" r="r" b="b"/>
            <a:pathLst>
              <a:path w="21600" h="21600" extrusionOk="0">
                <a:moveTo>
                  <a:pt x="1704" y="21600"/>
                </a:moveTo>
                <a:lnTo>
                  <a:pt x="19896" y="21600"/>
                </a:lnTo>
                <a:cubicBezTo>
                  <a:pt x="19896" y="21600"/>
                  <a:pt x="19896" y="21600"/>
                  <a:pt x="19896" y="21600"/>
                </a:cubicBezTo>
                <a:cubicBezTo>
                  <a:pt x="20837" y="21600"/>
                  <a:pt x="21600" y="16765"/>
                  <a:pt x="21600" y="10800"/>
                </a:cubicBezTo>
                <a:cubicBezTo>
                  <a:pt x="21600" y="10800"/>
                  <a:pt x="21600" y="10800"/>
                  <a:pt x="21600" y="10800"/>
                </a:cubicBezTo>
                <a:cubicBezTo>
                  <a:pt x="21600" y="10800"/>
                  <a:pt x="21600" y="10800"/>
                  <a:pt x="21600" y="10800"/>
                </a:cubicBezTo>
                <a:cubicBezTo>
                  <a:pt x="21600" y="4835"/>
                  <a:pt x="20837" y="0"/>
                  <a:pt x="19896" y="0"/>
                </a:cubicBezTo>
                <a:cubicBezTo>
                  <a:pt x="19896" y="0"/>
                  <a:pt x="19896" y="0"/>
                  <a:pt x="19896" y="0"/>
                </a:cubicBezTo>
                <a:lnTo>
                  <a:pt x="1704" y="0"/>
                </a:lnTo>
                <a:cubicBezTo>
                  <a:pt x="1704" y="0"/>
                  <a:pt x="1704" y="0"/>
                  <a:pt x="1704" y="0"/>
                </a:cubicBezTo>
                <a:cubicBezTo>
                  <a:pt x="763" y="0"/>
                  <a:pt x="0" y="4835"/>
                  <a:pt x="0" y="10800"/>
                </a:cubicBezTo>
                <a:cubicBezTo>
                  <a:pt x="0" y="10800"/>
                  <a:pt x="0" y="10800"/>
                  <a:pt x="0" y="10800"/>
                </a:cubicBezTo>
                <a:cubicBezTo>
                  <a:pt x="0" y="10800"/>
                  <a:pt x="0" y="10800"/>
                  <a:pt x="0" y="10800"/>
                </a:cubicBezTo>
                <a:cubicBezTo>
                  <a:pt x="0" y="16765"/>
                  <a:pt x="763" y="21600"/>
                  <a:pt x="1704" y="21600"/>
                </a:cubicBezTo>
                <a:cubicBezTo>
                  <a:pt x="1704" y="21600"/>
                  <a:pt x="1704" y="21600"/>
                  <a:pt x="1704" y="21600"/>
                </a:cubicBezTo>
                <a:close/>
              </a:path>
            </a:pathLst>
          </a:custGeom>
          <a:solidFill>
            <a:schemeClr val="accent3"/>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12700" tIns="12700" rIns="12700" bIns="12700" anchor="ctr"/>
          <a:lstStyle>
            <a:lvl1pPr algn="ctr" rtl="1">
              <a:lnSpc>
                <a:spcPct val="50000"/>
              </a:lnSpc>
              <a:defRPr sz="2000">
                <a:solidFill>
                  <a:srgbClr val="FFFFFF"/>
                </a:solidFill>
                <a:latin typeface="Times New Roman"/>
                <a:ea typeface="Times New Roman"/>
                <a:cs typeface="Times New Roman"/>
                <a:sym typeface="Times New Roman"/>
              </a:defRPr>
            </a:lvl1pPr>
          </a:lstStyle>
          <a:p>
            <a:r>
              <a:t>Cellule Horizontale</a:t>
            </a:r>
          </a:p>
        </p:txBody>
      </p:sp>
      <p:sp>
        <p:nvSpPr>
          <p:cNvPr id="388" name="Shape 388"/>
          <p:cNvSpPr txBox="1"/>
          <p:nvPr/>
        </p:nvSpPr>
        <p:spPr>
          <a:xfrm>
            <a:off x="1385747" y="5802593"/>
            <a:ext cx="7329065" cy="66485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defTabSz="457200">
              <a:defRPr sz="2000">
                <a:latin typeface="Times New Roman"/>
                <a:ea typeface="Times New Roman"/>
                <a:cs typeface="Times New Roman"/>
                <a:sym typeface="Times New Roman"/>
              </a:defRPr>
            </a:lvl1pPr>
          </a:lstStyle>
          <a:p>
            <a:r>
              <a:t>Cette distribution de neurites et axones indique que les c horizontales intègrent les cônes et les bâtonnets des régions voisines de la rétine</a:t>
            </a:r>
          </a:p>
        </p:txBody>
      </p:sp>
      <p:grpSp>
        <p:nvGrpSpPr>
          <p:cNvPr id="391" name="Group 391"/>
          <p:cNvGrpSpPr/>
          <p:nvPr/>
        </p:nvGrpSpPr>
        <p:grpSpPr>
          <a:xfrm>
            <a:off x="3517822" y="2181202"/>
            <a:ext cx="5633381" cy="3308687"/>
            <a:chOff x="255997" y="0"/>
            <a:chExt cx="5633379" cy="3308686"/>
          </a:xfrm>
        </p:grpSpPr>
        <p:pic>
          <p:nvPicPr>
            <p:cNvPr id="389" name="Picture 2" descr="Picture 2"/>
            <p:cNvPicPr>
              <a:picLocks noChangeAspect="1"/>
            </p:cNvPicPr>
            <p:nvPr/>
          </p:nvPicPr>
          <p:blipFill>
            <a:blip r:embed="rId2">
              <a:extLst/>
            </a:blip>
            <a:srcRect/>
            <a:stretch>
              <a:fillRect/>
            </a:stretch>
          </p:blipFill>
          <p:spPr>
            <a:xfrm>
              <a:off x="255997" y="0"/>
              <a:ext cx="5019042" cy="3308687"/>
            </a:xfrm>
            <a:prstGeom prst="rect">
              <a:avLst/>
            </a:prstGeom>
            <a:ln w="12700" cap="flat">
              <a:noFill/>
              <a:miter lim="400000"/>
            </a:ln>
            <a:effectLst/>
          </p:spPr>
        </p:pic>
        <p:pic>
          <p:nvPicPr>
            <p:cNvPr id="390" name="Picture 2" descr="Picture 2"/>
            <p:cNvPicPr>
              <a:picLocks/>
            </p:cNvPicPr>
            <p:nvPr/>
          </p:nvPicPr>
          <p:blipFill>
            <a:blip r:embed="rId3">
              <a:extLst/>
            </a:blip>
            <a:srcRect/>
            <a:stretch>
              <a:fillRect/>
            </a:stretch>
          </p:blipFill>
          <p:spPr>
            <a:xfrm>
              <a:off x="5107190" y="1227665"/>
              <a:ext cx="782187" cy="520862"/>
            </a:xfrm>
            <a:prstGeom prst="rect">
              <a:avLst/>
            </a:prstGeom>
            <a:ln w="12700" cap="flat">
              <a:noFill/>
              <a:miter lim="400000"/>
            </a:ln>
            <a:effectLst/>
          </p:spPr>
        </p:pic>
      </p:grpSp>
      <p:sp>
        <p:nvSpPr>
          <p:cNvPr id="392" name="Shape 392"/>
          <p:cNvSpPr txBox="1"/>
          <p:nvPr/>
        </p:nvSpPr>
        <p:spPr>
          <a:xfrm>
            <a:off x="329371" y="4019355"/>
            <a:ext cx="3169743" cy="95695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ctr" defTabSz="457200">
              <a:defRPr sz="2000">
                <a:latin typeface="Times New Roman"/>
                <a:ea typeface="Times New Roman"/>
                <a:cs typeface="Times New Roman"/>
                <a:sym typeface="Times New Roman"/>
              </a:defRPr>
            </a:pPr>
            <a:r>
              <a:t>Ces synapses neuritiques s’établissent ds la couche </a:t>
            </a:r>
            <a:r>
              <a:rPr b="1"/>
              <a:t>plexiforme ext</a:t>
            </a:r>
            <a:r>
              <a:t> de la rétine</a:t>
            </a:r>
          </a:p>
        </p:txBody>
      </p:sp>
    </p:spTree>
  </p:cSld>
  <p:clrMapOvr>
    <a:masterClrMapping/>
  </p:clrMapOvr>
  <p:transition spd="med"/>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Shape 394"/>
          <p:cNvSpPr txBox="1"/>
          <p:nvPr/>
        </p:nvSpPr>
        <p:spPr>
          <a:xfrm>
            <a:off x="30575" y="27358"/>
            <a:ext cx="3451248" cy="507056"/>
          </a:xfrm>
          <a:prstGeom prst="rect">
            <a:avLst/>
          </a:prstGeom>
          <a:solidFill>
            <a:schemeClr val="accent1">
              <a:lumOff val="23725"/>
            </a:schemeClr>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defTabSz="457200">
              <a:defRPr sz="3000" b="1" i="1" cap="small">
                <a:latin typeface="Times New Roman"/>
                <a:ea typeface="Times New Roman"/>
                <a:cs typeface="Times New Roman"/>
                <a:sym typeface="Times New Roman"/>
              </a:defRPr>
            </a:lvl1pPr>
          </a:lstStyle>
          <a:p>
            <a:r>
              <a:t>Les trois tuniques </a:t>
            </a:r>
          </a:p>
        </p:txBody>
      </p:sp>
      <p:sp>
        <p:nvSpPr>
          <p:cNvPr id="395" name="Shape 395"/>
          <p:cNvSpPr txBox="1"/>
          <p:nvPr/>
        </p:nvSpPr>
        <p:spPr>
          <a:xfrm>
            <a:off x="585337" y="660267"/>
            <a:ext cx="3600548" cy="433553"/>
          </a:xfrm>
          <a:prstGeom prst="rect">
            <a:avLst/>
          </a:prstGeom>
          <a:solidFill>
            <a:srgbClr val="855100"/>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defTabSz="457200">
              <a:defRPr sz="2500" b="1" i="1" cap="small">
                <a:solidFill>
                  <a:srgbClr val="FFFFFF"/>
                </a:solidFill>
                <a:latin typeface="Times New Roman"/>
                <a:ea typeface="Times New Roman"/>
                <a:cs typeface="Times New Roman"/>
                <a:sym typeface="Times New Roman"/>
              </a:defRPr>
            </a:lvl1pPr>
          </a:lstStyle>
          <a:p>
            <a:r>
              <a:t>tunique interne :retine</a:t>
            </a:r>
          </a:p>
        </p:txBody>
      </p:sp>
      <p:sp>
        <p:nvSpPr>
          <p:cNvPr id="396" name="Shape 396"/>
          <p:cNvSpPr/>
          <p:nvPr/>
        </p:nvSpPr>
        <p:spPr>
          <a:xfrm>
            <a:off x="56278" y="1286901"/>
            <a:ext cx="9031442" cy="469998"/>
          </a:xfrm>
          <a:prstGeom prst="roundRect">
            <a:avLst>
              <a:gd name="adj" fmla="val 48890"/>
            </a:avLst>
          </a:prstGeom>
          <a:solidFill>
            <a:schemeClr val="accent5"/>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lstStyle>
            <a:lvl1pPr algn="ctr">
              <a:lnSpc>
                <a:spcPct val="50000"/>
              </a:lnSpc>
              <a:defRPr sz="2400" b="1" cap="all">
                <a:solidFill>
                  <a:srgbClr val="FFFFFF"/>
                </a:solidFill>
                <a:latin typeface="Times New Roman"/>
                <a:ea typeface="Times New Roman"/>
                <a:cs typeface="Times New Roman"/>
                <a:sym typeface="Times New Roman"/>
              </a:defRPr>
            </a:lvl1pPr>
          </a:lstStyle>
          <a:p>
            <a:r>
              <a:t>nevroglie : Cellule Gliale</a:t>
            </a:r>
          </a:p>
        </p:txBody>
      </p:sp>
      <p:pic>
        <p:nvPicPr>
          <p:cNvPr id="397" name="Picture 2" descr="Picture 2"/>
          <p:cNvPicPr>
            <a:picLocks noChangeAspect="1"/>
          </p:cNvPicPr>
          <p:nvPr/>
        </p:nvPicPr>
        <p:blipFill>
          <a:blip r:embed="rId2">
            <a:extLst/>
          </a:blip>
          <a:srcRect/>
          <a:stretch>
            <a:fillRect/>
          </a:stretch>
        </p:blipFill>
        <p:spPr>
          <a:xfrm>
            <a:off x="6066568" y="1881787"/>
            <a:ext cx="3042667" cy="4956350"/>
          </a:xfrm>
          <a:prstGeom prst="rect">
            <a:avLst/>
          </a:prstGeom>
          <a:ln w="12700">
            <a:miter lim="400000"/>
          </a:ln>
        </p:spPr>
      </p:pic>
      <p:sp>
        <p:nvSpPr>
          <p:cNvPr id="398" name="Shape 398"/>
          <p:cNvSpPr txBox="1"/>
          <p:nvPr/>
        </p:nvSpPr>
        <p:spPr>
          <a:xfrm>
            <a:off x="210266" y="2331817"/>
            <a:ext cx="5652549" cy="1871351"/>
          </a:xfrm>
          <a:prstGeom prst="rect">
            <a:avLst/>
          </a:prstGeom>
          <a:ln w="38100">
            <a:solidFill>
              <a:schemeClr val="accent5"/>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ctr" defTabSz="457200">
              <a:defRPr sz="2000">
                <a:latin typeface="Times New Roman"/>
                <a:ea typeface="Times New Roman"/>
                <a:cs typeface="Times New Roman"/>
                <a:sym typeface="Times New Roman"/>
              </a:defRPr>
            </a:pPr>
            <a:r>
              <a:t>Leurs </a:t>
            </a:r>
            <a:r>
              <a:rPr b="1"/>
              <a:t>prolongements cytoplasmiques</a:t>
            </a:r>
            <a:r>
              <a:t> s’étendent vers les membranes limitantes externe et interne </a:t>
            </a:r>
          </a:p>
          <a:p>
            <a:pPr algn="ctr" defTabSz="457200">
              <a:defRPr sz="2000">
                <a:latin typeface="Times New Roman"/>
                <a:ea typeface="Times New Roman"/>
                <a:cs typeface="Times New Roman"/>
                <a:sym typeface="Times New Roman"/>
              </a:defRPr>
            </a:pPr>
            <a:endParaRPr/>
          </a:p>
          <a:p>
            <a:pPr algn="ctr" defTabSz="457200">
              <a:defRPr sz="2000">
                <a:latin typeface="Times New Roman"/>
                <a:ea typeface="Times New Roman"/>
                <a:cs typeface="Times New Roman"/>
                <a:sym typeface="Times New Roman"/>
              </a:defRPr>
            </a:pPr>
            <a:r>
              <a:t>les prolongements des c de Müller remplissent les espaces situés entre les photorécepteurs et les c bipolaires et ganglionnaires</a:t>
            </a:r>
          </a:p>
        </p:txBody>
      </p:sp>
      <p:sp>
        <p:nvSpPr>
          <p:cNvPr id="399" name="Shape 399"/>
          <p:cNvSpPr txBox="1"/>
          <p:nvPr/>
        </p:nvSpPr>
        <p:spPr>
          <a:xfrm>
            <a:off x="849413" y="5327011"/>
            <a:ext cx="4714329" cy="66485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ctr" defTabSz="457200">
              <a:defRPr sz="2000">
                <a:latin typeface="Times New Roman"/>
                <a:ea typeface="Times New Roman"/>
                <a:cs typeface="Times New Roman"/>
                <a:sym typeface="Times New Roman"/>
              </a:defRPr>
            </a:pPr>
            <a:r>
              <a:t>en plus des c  gliales de muller on trouve des c de la </a:t>
            </a:r>
            <a:r>
              <a:rPr b="1"/>
              <a:t>microglie</a:t>
            </a:r>
            <a:r>
              <a:t> dans toutes les couches</a:t>
            </a:r>
          </a:p>
        </p:txBody>
      </p:sp>
      <p:sp>
        <p:nvSpPr>
          <p:cNvPr id="400" name="Shape 400"/>
          <p:cNvSpPr/>
          <p:nvPr/>
        </p:nvSpPr>
        <p:spPr>
          <a:xfrm>
            <a:off x="7010785" y="1352331"/>
            <a:ext cx="1919149" cy="339138"/>
          </a:xfrm>
          <a:custGeom>
            <a:avLst/>
            <a:gdLst/>
            <a:ahLst/>
            <a:cxnLst>
              <a:cxn ang="0">
                <a:pos x="wd2" y="hd2"/>
              </a:cxn>
              <a:cxn ang="5400000">
                <a:pos x="wd2" y="hd2"/>
              </a:cxn>
              <a:cxn ang="10800000">
                <a:pos x="wd2" y="hd2"/>
              </a:cxn>
              <a:cxn ang="16200000">
                <a:pos x="wd2" y="hd2"/>
              </a:cxn>
            </a:cxnLst>
            <a:rect l="0" t="0" r="r" b="b"/>
            <a:pathLst>
              <a:path w="21600" h="21600" extrusionOk="0">
                <a:moveTo>
                  <a:pt x="1908" y="21600"/>
                </a:moveTo>
                <a:lnTo>
                  <a:pt x="19692" y="21600"/>
                </a:lnTo>
                <a:cubicBezTo>
                  <a:pt x="19692" y="21600"/>
                  <a:pt x="19692" y="21600"/>
                  <a:pt x="19692" y="21600"/>
                </a:cubicBezTo>
                <a:cubicBezTo>
                  <a:pt x="20746" y="21600"/>
                  <a:pt x="21600" y="16765"/>
                  <a:pt x="21600" y="10800"/>
                </a:cubicBezTo>
                <a:cubicBezTo>
                  <a:pt x="21600" y="10800"/>
                  <a:pt x="21600" y="10800"/>
                  <a:pt x="21600" y="10800"/>
                </a:cubicBezTo>
                <a:cubicBezTo>
                  <a:pt x="21600" y="10800"/>
                  <a:pt x="21600" y="10800"/>
                  <a:pt x="21600" y="10800"/>
                </a:cubicBezTo>
                <a:cubicBezTo>
                  <a:pt x="21600" y="4835"/>
                  <a:pt x="20746" y="0"/>
                  <a:pt x="19692" y="0"/>
                </a:cubicBezTo>
                <a:cubicBezTo>
                  <a:pt x="19692" y="0"/>
                  <a:pt x="19692" y="0"/>
                  <a:pt x="19692" y="0"/>
                </a:cubicBezTo>
                <a:lnTo>
                  <a:pt x="1908" y="0"/>
                </a:lnTo>
                <a:cubicBezTo>
                  <a:pt x="1908" y="0"/>
                  <a:pt x="1908" y="0"/>
                  <a:pt x="1908" y="0"/>
                </a:cubicBezTo>
                <a:cubicBezTo>
                  <a:pt x="854" y="0"/>
                  <a:pt x="0" y="4835"/>
                  <a:pt x="0" y="10800"/>
                </a:cubicBezTo>
                <a:cubicBezTo>
                  <a:pt x="0" y="10800"/>
                  <a:pt x="0" y="10800"/>
                  <a:pt x="0" y="10800"/>
                </a:cubicBezTo>
                <a:cubicBezTo>
                  <a:pt x="0" y="10800"/>
                  <a:pt x="0" y="10800"/>
                  <a:pt x="0" y="10800"/>
                </a:cubicBezTo>
                <a:cubicBezTo>
                  <a:pt x="0" y="16765"/>
                  <a:pt x="854" y="21600"/>
                  <a:pt x="1908" y="21600"/>
                </a:cubicBezTo>
                <a:cubicBezTo>
                  <a:pt x="1908" y="21600"/>
                  <a:pt x="1908" y="21600"/>
                  <a:pt x="1908" y="21600"/>
                </a:cubicBezTo>
                <a:close/>
              </a:path>
            </a:pathLst>
          </a:custGeom>
          <a:solidFill>
            <a:schemeClr val="accent5"/>
          </a:solidFill>
          <a:ln w="12700">
            <a:solidFill>
              <a:srgbClr val="FFFFFF"/>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lstStyle>
            <a:lvl1pPr algn="ctr">
              <a:defRPr sz="1500">
                <a:solidFill>
                  <a:srgbClr val="FFFFFF"/>
                </a:solidFill>
                <a:latin typeface="Times New Roman"/>
                <a:ea typeface="Times New Roman"/>
                <a:cs typeface="Times New Roman"/>
                <a:sym typeface="Times New Roman"/>
              </a:defRPr>
            </a:lvl1pPr>
          </a:lstStyle>
          <a:p>
            <a:r>
              <a:t>Cellule de Müller</a:t>
            </a:r>
          </a:p>
        </p:txBody>
      </p:sp>
      <p:sp>
        <p:nvSpPr>
          <p:cNvPr id="401" name="Shape 401"/>
          <p:cNvSpPr/>
          <p:nvPr/>
        </p:nvSpPr>
        <p:spPr>
          <a:xfrm flipV="1">
            <a:off x="6360094" y="1679502"/>
            <a:ext cx="1451887" cy="935622"/>
          </a:xfrm>
          <a:prstGeom prst="line">
            <a:avLst/>
          </a:prstGeom>
          <a:ln w="50800">
            <a:solidFill>
              <a:schemeClr val="accent5"/>
            </a:solidFill>
            <a:headEnd type="diamond"/>
          </a:ln>
        </p:spPr>
        <p:txBody>
          <a:bodyPr lIns="45719" rIns="45719"/>
          <a:lstStyle/>
          <a:p>
            <a:endParaRPr/>
          </a:p>
        </p:txBody>
      </p:sp>
      <p:grpSp>
        <p:nvGrpSpPr>
          <p:cNvPr id="404" name="Group 404"/>
          <p:cNvGrpSpPr/>
          <p:nvPr/>
        </p:nvGrpSpPr>
        <p:grpSpPr>
          <a:xfrm>
            <a:off x="7646052" y="1788744"/>
            <a:ext cx="1484457" cy="2077801"/>
            <a:chOff x="0" y="0"/>
            <a:chExt cx="1484455" cy="2077799"/>
          </a:xfrm>
        </p:grpSpPr>
        <p:sp>
          <p:nvSpPr>
            <p:cNvPr id="402" name="Shape 402"/>
            <p:cNvSpPr/>
            <p:nvPr/>
          </p:nvSpPr>
          <p:spPr>
            <a:xfrm flipH="1">
              <a:off x="1399951" y="193760"/>
              <a:ext cx="1" cy="1884040"/>
            </a:xfrm>
            <a:prstGeom prst="line">
              <a:avLst/>
            </a:prstGeom>
            <a:noFill/>
            <a:ln w="50800" cap="flat">
              <a:solidFill>
                <a:schemeClr val="accent5"/>
              </a:solidFill>
              <a:prstDash val="solid"/>
              <a:round/>
              <a:headEnd type="stealth" w="med" len="med"/>
            </a:ln>
            <a:effectLst/>
          </p:spPr>
          <p:txBody>
            <a:bodyPr wrap="square" lIns="45719" tIns="45719" rIns="45719" bIns="45719" numCol="1" anchor="t">
              <a:noAutofit/>
            </a:bodyPr>
            <a:lstStyle/>
            <a:p>
              <a:endParaRPr/>
            </a:p>
          </p:txBody>
        </p:sp>
        <p:sp>
          <p:nvSpPr>
            <p:cNvPr id="403" name="Shape 403"/>
            <p:cNvSpPr/>
            <p:nvPr/>
          </p:nvSpPr>
          <p:spPr>
            <a:xfrm>
              <a:off x="0" y="0"/>
              <a:ext cx="1484456" cy="410120"/>
            </a:xfrm>
            <a:prstGeom prst="roundRect">
              <a:avLst>
                <a:gd name="adj" fmla="val 35310"/>
              </a:avLst>
            </a:prstGeom>
            <a:noFill/>
            <a:ln w="25400" cap="flat">
              <a:solidFill>
                <a:schemeClr val="accent5"/>
              </a:solidFill>
              <a:prstDash val="solid"/>
              <a:round/>
            </a:ln>
            <a:effectLst>
              <a:outerShdw blurRad="38100" dist="23000" dir="5400000" rotWithShape="0">
                <a:srgbClr val="000000">
                  <a:alpha val="35000"/>
                </a:srgbClr>
              </a:outerShdw>
            </a:effectLst>
          </p:spPr>
          <p:txBody>
            <a:bodyPr wrap="square" lIns="45719" tIns="45719" rIns="45719" bIns="45719" numCol="1" anchor="ctr">
              <a:noAutofit/>
            </a:bodyPr>
            <a:lstStyle/>
            <a:p>
              <a:endParaRPr/>
            </a:p>
          </p:txBody>
        </p:sp>
      </p:grpSp>
      <p:grpSp>
        <p:nvGrpSpPr>
          <p:cNvPr id="407" name="Group 407"/>
          <p:cNvGrpSpPr/>
          <p:nvPr/>
        </p:nvGrpSpPr>
        <p:grpSpPr>
          <a:xfrm>
            <a:off x="7668305" y="4188771"/>
            <a:ext cx="1439951" cy="1720161"/>
            <a:chOff x="0" y="0"/>
            <a:chExt cx="1439950" cy="1720159"/>
          </a:xfrm>
        </p:grpSpPr>
        <p:sp>
          <p:nvSpPr>
            <p:cNvPr id="405" name="Shape 405"/>
            <p:cNvSpPr/>
            <p:nvPr/>
          </p:nvSpPr>
          <p:spPr>
            <a:xfrm flipV="1">
              <a:off x="1377698" y="-1"/>
              <a:ext cx="1" cy="1419729"/>
            </a:xfrm>
            <a:prstGeom prst="line">
              <a:avLst/>
            </a:prstGeom>
            <a:noFill/>
            <a:ln w="50800" cap="flat">
              <a:solidFill>
                <a:schemeClr val="accent5"/>
              </a:solidFill>
              <a:prstDash val="solid"/>
              <a:round/>
              <a:headEnd type="stealth" w="med" len="med"/>
            </a:ln>
            <a:effectLst/>
          </p:spPr>
          <p:txBody>
            <a:bodyPr wrap="square" lIns="45719" tIns="45719" rIns="45719" bIns="45719" numCol="1" anchor="t">
              <a:noAutofit/>
            </a:bodyPr>
            <a:lstStyle/>
            <a:p>
              <a:endParaRPr/>
            </a:p>
          </p:txBody>
        </p:sp>
        <p:sp>
          <p:nvSpPr>
            <p:cNvPr id="406" name="Shape 406"/>
            <p:cNvSpPr/>
            <p:nvPr/>
          </p:nvSpPr>
          <p:spPr>
            <a:xfrm>
              <a:off x="0" y="1221550"/>
              <a:ext cx="1439951" cy="498610"/>
            </a:xfrm>
            <a:prstGeom prst="roundRect">
              <a:avLst>
                <a:gd name="adj" fmla="val 25607"/>
              </a:avLst>
            </a:prstGeom>
            <a:noFill/>
            <a:ln w="25400" cap="flat">
              <a:solidFill>
                <a:schemeClr val="accent5"/>
              </a:solidFill>
              <a:prstDash val="solid"/>
              <a:round/>
            </a:ln>
            <a:effectLst>
              <a:outerShdw blurRad="38100" dist="23000" dir="5400000" rotWithShape="0">
                <a:srgbClr val="000000">
                  <a:alpha val="35000"/>
                </a:srgbClr>
              </a:outerShdw>
            </a:effectLst>
          </p:spPr>
          <p:txBody>
            <a:bodyPr wrap="square" lIns="45719" tIns="45719" rIns="45719" bIns="45719" numCol="1" anchor="ctr">
              <a:noAutofit/>
            </a:bodyPr>
            <a:lstStyle/>
            <a:p>
              <a:endParaRPr/>
            </a:p>
          </p:txBody>
        </p:sp>
      </p:grpSp>
      <p:sp>
        <p:nvSpPr>
          <p:cNvPr id="408" name="Shape 408"/>
          <p:cNvSpPr txBox="1"/>
          <p:nvPr/>
        </p:nvSpPr>
        <p:spPr>
          <a:xfrm>
            <a:off x="22239" y="4310932"/>
            <a:ext cx="5670630" cy="66485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ctr" defTabSz="457200">
              <a:defRPr sz="2000">
                <a:latin typeface="Times New Roman"/>
                <a:ea typeface="Times New Roman"/>
                <a:cs typeface="Times New Roman"/>
                <a:sym typeface="Times New Roman"/>
              </a:defRPr>
            </a:pPr>
            <a:r>
              <a:t>La membrane limitante Int représente la </a:t>
            </a:r>
            <a:r>
              <a:rPr b="1"/>
              <a:t>lame basale </a:t>
            </a:r>
            <a:r>
              <a:t>des c de Müller et sépare la rétine du corps vitré</a:t>
            </a:r>
          </a:p>
        </p:txBody>
      </p:sp>
      <p:grpSp>
        <p:nvGrpSpPr>
          <p:cNvPr id="411" name="Group 411"/>
          <p:cNvGrpSpPr/>
          <p:nvPr/>
        </p:nvGrpSpPr>
        <p:grpSpPr>
          <a:xfrm>
            <a:off x="-6219" y="1854520"/>
            <a:ext cx="9097884" cy="2449278"/>
            <a:chOff x="-1014255" y="-95459"/>
            <a:chExt cx="9097883" cy="2449276"/>
          </a:xfrm>
        </p:grpSpPr>
        <p:sp>
          <p:nvSpPr>
            <p:cNvPr id="409" name="Shape 409"/>
            <p:cNvSpPr/>
            <p:nvPr/>
          </p:nvSpPr>
          <p:spPr>
            <a:xfrm>
              <a:off x="5076276" y="1745854"/>
              <a:ext cx="3007353" cy="607964"/>
            </a:xfrm>
            <a:prstGeom prst="roundRect">
              <a:avLst>
                <a:gd name="adj" fmla="val 31334"/>
              </a:avLst>
            </a:prstGeom>
            <a:noFill/>
            <a:ln w="25400" cap="flat">
              <a:solidFill>
                <a:schemeClr val="accent5"/>
              </a:solidFill>
              <a:prstDash val="solid"/>
              <a:round/>
            </a:ln>
            <a:effectLst>
              <a:outerShdw blurRad="38100" dist="23000" dir="5400000" rotWithShape="0">
                <a:srgbClr val="000000">
                  <a:alpha val="35000"/>
                </a:srgbClr>
              </a:outerShdw>
            </a:effectLst>
          </p:spPr>
          <p:txBody>
            <a:bodyPr wrap="square" lIns="45719" tIns="45719" rIns="45719" bIns="45719" numCol="1" anchor="ctr">
              <a:noAutofit/>
            </a:bodyPr>
            <a:lstStyle/>
            <a:p>
              <a:endParaRPr/>
            </a:p>
          </p:txBody>
        </p:sp>
        <p:sp>
          <p:nvSpPr>
            <p:cNvPr id="410" name="Shape 410"/>
            <p:cNvSpPr txBox="1"/>
            <p:nvPr/>
          </p:nvSpPr>
          <p:spPr>
            <a:xfrm>
              <a:off x="-1014256" y="-95460"/>
              <a:ext cx="4166529" cy="37275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tIns="45719" rIns="45719" bIns="45719" numCol="1" anchor="t">
              <a:spAutoFit/>
            </a:bodyPr>
            <a:lstStyle>
              <a:lvl1pPr defTabSz="457200">
                <a:defRPr sz="2000">
                  <a:latin typeface="Times New Roman"/>
                  <a:ea typeface="Times New Roman"/>
                  <a:cs typeface="Times New Roman"/>
                  <a:sym typeface="Times New Roman"/>
                </a:defRPr>
              </a:lvl1pPr>
            </a:lstStyle>
            <a:p>
              <a:r>
                <a:t>situés dans la couche granulaire interne </a:t>
              </a:r>
            </a:p>
          </p:txBody>
        </p:sp>
      </p:gr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4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2" nodeType="clickEffect">
                                  <p:stCondLst>
                                    <p:cond delay="0"/>
                                  </p:stCondLst>
                                  <p:iterate>
                                    <p:tmAbs val="0"/>
                                  </p:iterate>
                                  <p:childTnLst>
                                    <p:set>
                                      <p:cBhvr>
                                        <p:cTn id="10" fill="hold"/>
                                        <p:tgtEl>
                                          <p:spTgt spid="398"/>
                                        </p:tgtEl>
                                        <p:attrNameLst>
                                          <p:attrName>style.visibility</p:attrName>
                                        </p:attrNameLst>
                                      </p:cBhvr>
                                      <p:to>
                                        <p:strVal val="visible"/>
                                      </p:to>
                                    </p:set>
                                  </p:childTnLst>
                                </p:cTn>
                              </p:par>
                            </p:childTnLst>
                          </p:cTn>
                        </p:par>
                        <p:par>
                          <p:cTn id="11" fill="hold">
                            <p:stCondLst>
                              <p:cond delay="0"/>
                            </p:stCondLst>
                            <p:childTnLst>
                              <p:par>
                                <p:cTn id="12" presetID="7" presetClass="entr" presetSubtype="1" fill="hold" grpId="3" nodeType="afterEffect">
                                  <p:stCondLst>
                                    <p:cond delay="0"/>
                                  </p:stCondLst>
                                  <p:iterate>
                                    <p:tmAbs val="0"/>
                                  </p:iterate>
                                  <p:childTnLst>
                                    <p:set>
                                      <p:cBhvr>
                                        <p:cTn id="13" fill="hold"/>
                                        <p:tgtEl>
                                          <p:spTgt spid="407"/>
                                        </p:tgtEl>
                                        <p:attrNameLst>
                                          <p:attrName>style.visibility</p:attrName>
                                        </p:attrNameLst>
                                      </p:cBhvr>
                                      <p:to>
                                        <p:strVal val="visible"/>
                                      </p:to>
                                    </p:set>
                                    <p:anim calcmode="lin" valueType="num">
                                      <p:cBhvr>
                                        <p:cTn id="14" dur="3250" fill="hold"/>
                                        <p:tgtEl>
                                          <p:spTgt spid="407"/>
                                        </p:tgtEl>
                                        <p:attrNameLst>
                                          <p:attrName>ppt_x</p:attrName>
                                        </p:attrNameLst>
                                      </p:cBhvr>
                                      <p:tavLst>
                                        <p:tav tm="0">
                                          <p:val>
                                            <p:strVal val="#ppt_x"/>
                                          </p:val>
                                        </p:tav>
                                        <p:tav tm="100000">
                                          <p:val>
                                            <p:strVal val="#ppt_x"/>
                                          </p:val>
                                        </p:tav>
                                      </p:tavLst>
                                    </p:anim>
                                    <p:anim calcmode="lin" valueType="num">
                                      <p:cBhvr>
                                        <p:cTn id="15" dur="3250" fill="hold"/>
                                        <p:tgtEl>
                                          <p:spTgt spid="407"/>
                                        </p:tgtEl>
                                        <p:attrNameLst>
                                          <p:attrName>ppt_y</p:attrName>
                                        </p:attrNameLst>
                                      </p:cBhvr>
                                      <p:tavLst>
                                        <p:tav tm="0">
                                          <p:val>
                                            <p:strVal val="0-#ppt_h/2"/>
                                          </p:val>
                                        </p:tav>
                                        <p:tav tm="100000">
                                          <p:val>
                                            <p:strVal val="#ppt_y"/>
                                          </p:val>
                                        </p:tav>
                                      </p:tavLst>
                                    </p:anim>
                                  </p:childTnLst>
                                </p:cTn>
                              </p:par>
                            </p:childTnLst>
                          </p:cTn>
                        </p:par>
                        <p:par>
                          <p:cTn id="16" fill="hold">
                            <p:stCondLst>
                              <p:cond delay="3250"/>
                            </p:stCondLst>
                            <p:childTnLst>
                              <p:par>
                                <p:cTn id="17" presetID="7" presetClass="entr" presetSubtype="4" fill="hold" grpId="4" nodeType="afterEffect">
                                  <p:stCondLst>
                                    <p:cond delay="0"/>
                                  </p:stCondLst>
                                  <p:iterate>
                                    <p:tmAbs val="0"/>
                                  </p:iterate>
                                  <p:childTnLst>
                                    <p:set>
                                      <p:cBhvr>
                                        <p:cTn id="18" fill="hold"/>
                                        <p:tgtEl>
                                          <p:spTgt spid="404"/>
                                        </p:tgtEl>
                                        <p:attrNameLst>
                                          <p:attrName>style.visibility</p:attrName>
                                        </p:attrNameLst>
                                      </p:cBhvr>
                                      <p:to>
                                        <p:strVal val="visible"/>
                                      </p:to>
                                    </p:set>
                                    <p:anim calcmode="lin" valueType="num">
                                      <p:cBhvr>
                                        <p:cTn id="19" dur="3000" fill="hold"/>
                                        <p:tgtEl>
                                          <p:spTgt spid="404"/>
                                        </p:tgtEl>
                                        <p:attrNameLst>
                                          <p:attrName>ppt_x</p:attrName>
                                        </p:attrNameLst>
                                      </p:cBhvr>
                                      <p:tavLst>
                                        <p:tav tm="0">
                                          <p:val>
                                            <p:strVal val="#ppt_x"/>
                                          </p:val>
                                        </p:tav>
                                        <p:tav tm="100000">
                                          <p:val>
                                            <p:strVal val="#ppt_x"/>
                                          </p:val>
                                        </p:tav>
                                      </p:tavLst>
                                    </p:anim>
                                    <p:anim calcmode="lin" valueType="num">
                                      <p:cBhvr>
                                        <p:cTn id="20" dur="3000" fill="hold"/>
                                        <p:tgtEl>
                                          <p:spTgt spid="40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5" nodeType="clickEffect">
                                  <p:stCondLst>
                                    <p:cond delay="0"/>
                                  </p:stCondLst>
                                  <p:iterate>
                                    <p:tmAbs val="0"/>
                                  </p:iterate>
                                  <p:childTnLst>
                                    <p:set>
                                      <p:cBhvr>
                                        <p:cTn id="24" fill="hold"/>
                                        <p:tgtEl>
                                          <p:spTgt spid="40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6" nodeType="clickEffect">
                                  <p:stCondLst>
                                    <p:cond delay="0"/>
                                  </p:stCondLst>
                                  <p:iterate>
                                    <p:tmAbs val="0"/>
                                  </p:iterate>
                                  <p:childTnLst>
                                    <p:set>
                                      <p:cBhvr>
                                        <p:cTn id="28" fill="hold"/>
                                        <p:tgtEl>
                                          <p:spTgt spid="3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8" grpId="2" animBg="1" advAuto="0"/>
      <p:bldP spid="399" grpId="6" animBg="1" advAuto="0"/>
      <p:bldP spid="404" grpId="4" animBg="1" advAuto="0"/>
      <p:bldP spid="407" grpId="3" animBg="1" advAuto="0"/>
      <p:bldP spid="408" grpId="5" animBg="1" advAuto="0"/>
      <p:bldP spid="411" grpId="1" animBg="1" advAuto="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3" name="Shape 413"/>
          <p:cNvSpPr txBox="1"/>
          <p:nvPr/>
        </p:nvSpPr>
        <p:spPr>
          <a:xfrm>
            <a:off x="30575" y="27358"/>
            <a:ext cx="3451248" cy="507056"/>
          </a:xfrm>
          <a:prstGeom prst="rect">
            <a:avLst/>
          </a:prstGeom>
          <a:solidFill>
            <a:schemeClr val="accent1">
              <a:lumOff val="23725"/>
            </a:schemeClr>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defTabSz="457200">
              <a:defRPr sz="3000" b="1" i="1" cap="small">
                <a:latin typeface="Times New Roman"/>
                <a:ea typeface="Times New Roman"/>
                <a:cs typeface="Times New Roman"/>
                <a:sym typeface="Times New Roman"/>
              </a:defRPr>
            </a:lvl1pPr>
          </a:lstStyle>
          <a:p>
            <a:r>
              <a:t>Les trois tuniques </a:t>
            </a:r>
          </a:p>
        </p:txBody>
      </p:sp>
      <p:sp>
        <p:nvSpPr>
          <p:cNvPr id="414" name="Shape 414"/>
          <p:cNvSpPr txBox="1"/>
          <p:nvPr/>
        </p:nvSpPr>
        <p:spPr>
          <a:xfrm>
            <a:off x="585337" y="660267"/>
            <a:ext cx="3600548" cy="433553"/>
          </a:xfrm>
          <a:prstGeom prst="rect">
            <a:avLst/>
          </a:prstGeom>
          <a:solidFill>
            <a:srgbClr val="855100"/>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defTabSz="457200">
              <a:defRPr sz="2500" b="1" i="1" cap="small">
                <a:solidFill>
                  <a:srgbClr val="FFFFFF"/>
                </a:solidFill>
                <a:latin typeface="Times New Roman"/>
                <a:ea typeface="Times New Roman"/>
                <a:cs typeface="Times New Roman"/>
                <a:sym typeface="Times New Roman"/>
              </a:defRPr>
            </a:lvl1pPr>
          </a:lstStyle>
          <a:p>
            <a:r>
              <a:t>tunique interne :retine</a:t>
            </a:r>
          </a:p>
        </p:txBody>
      </p:sp>
      <p:sp>
        <p:nvSpPr>
          <p:cNvPr id="415" name="Shape 415"/>
          <p:cNvSpPr txBox="1"/>
          <p:nvPr/>
        </p:nvSpPr>
        <p:spPr>
          <a:xfrm>
            <a:off x="2749893" y="1219673"/>
            <a:ext cx="2354359" cy="409771"/>
          </a:xfrm>
          <a:prstGeom prst="rect">
            <a:avLst/>
          </a:prstGeom>
          <a:solidFill>
            <a:srgbClr val="D38100"/>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gn="ctr">
              <a:defRPr sz="2200" b="1">
                <a:latin typeface="Times New Roman"/>
                <a:ea typeface="Times New Roman"/>
                <a:cs typeface="Times New Roman"/>
                <a:sym typeface="Times New Roman"/>
              </a:defRPr>
            </a:lvl1pPr>
          </a:lstStyle>
          <a:p>
            <a:r>
              <a:t>Zone de la rétine</a:t>
            </a:r>
          </a:p>
        </p:txBody>
      </p:sp>
      <p:sp>
        <p:nvSpPr>
          <p:cNvPr id="416" name="Shape 416"/>
          <p:cNvSpPr txBox="1"/>
          <p:nvPr/>
        </p:nvSpPr>
        <p:spPr>
          <a:xfrm>
            <a:off x="154525" y="2112824"/>
            <a:ext cx="5524346" cy="183325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ctr" defTabSz="457200">
              <a:defRPr sz="2000">
                <a:latin typeface="Times New Roman"/>
                <a:ea typeface="Times New Roman"/>
                <a:cs typeface="Times New Roman"/>
                <a:sym typeface="Times New Roman"/>
              </a:defRPr>
            </a:pPr>
            <a:r>
              <a:t>région de la rétine spécialisée dans la </a:t>
            </a:r>
            <a:r>
              <a:rPr b="1"/>
              <a:t>vision précise</a:t>
            </a:r>
            <a:r>
              <a:t> , </a:t>
            </a:r>
            <a:br/>
            <a:r>
              <a:t>le disque optique n’est pas adapté à cette vision</a:t>
            </a:r>
            <a:br/>
            <a:endParaRPr/>
          </a:p>
          <a:p>
            <a:pPr algn="ctr" defTabSz="457200">
              <a:defRPr sz="2000">
                <a:latin typeface="Times New Roman"/>
                <a:ea typeface="Times New Roman"/>
                <a:cs typeface="Times New Roman"/>
                <a:sym typeface="Times New Roman"/>
              </a:defRPr>
            </a:pPr>
            <a:r>
              <a:t>de très nombreux cônes établissant des synapses avec des c bipolaires</a:t>
            </a:r>
          </a:p>
          <a:p>
            <a:pPr algn="ctr" defTabSz="457200">
              <a:defRPr sz="2000">
                <a:latin typeface="Times New Roman"/>
                <a:ea typeface="Times New Roman"/>
                <a:cs typeface="Times New Roman"/>
                <a:sym typeface="Times New Roman"/>
              </a:defRPr>
            </a:pPr>
            <a:r>
              <a:t>Sans bâtonnets et capillaires</a:t>
            </a:r>
          </a:p>
        </p:txBody>
      </p:sp>
      <p:sp>
        <p:nvSpPr>
          <p:cNvPr id="417" name="Shape 417"/>
          <p:cNvSpPr txBox="1"/>
          <p:nvPr/>
        </p:nvSpPr>
        <p:spPr>
          <a:xfrm>
            <a:off x="182410" y="4562198"/>
            <a:ext cx="5468576" cy="66485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defTabSz="457200">
              <a:defRPr sz="2000">
                <a:latin typeface="Times New Roman"/>
                <a:ea typeface="Times New Roman"/>
                <a:cs typeface="Times New Roman"/>
                <a:sym typeface="Times New Roman"/>
              </a:defRPr>
            </a:pPr>
            <a:r>
              <a:t>caracterisé par un pigment jaune </a:t>
            </a:r>
            <a:r>
              <a:rPr b="1"/>
              <a:t>xanthophylles</a:t>
            </a:r>
            <a:r>
              <a:t> des couches int entourant la petit dépression de la fovea</a:t>
            </a:r>
          </a:p>
        </p:txBody>
      </p:sp>
      <p:pic>
        <p:nvPicPr>
          <p:cNvPr id="418" name="D26A031D-D78C-48C6-B618-22EBC563F16E-L0-001.png"/>
          <p:cNvPicPr>
            <a:picLocks noChangeAspect="1"/>
          </p:cNvPicPr>
          <p:nvPr/>
        </p:nvPicPr>
        <p:blipFill>
          <a:blip r:embed="rId2" cstate="email">
            <a:extLst/>
          </a:blip>
          <a:srcRect/>
          <a:stretch>
            <a:fillRect/>
          </a:stretch>
        </p:blipFill>
        <p:spPr>
          <a:xfrm>
            <a:off x="5692685" y="21647"/>
            <a:ext cx="3429451" cy="3127810"/>
          </a:xfrm>
          <a:prstGeom prst="rect">
            <a:avLst/>
          </a:prstGeom>
          <a:ln w="12700">
            <a:miter lim="400000"/>
          </a:ln>
        </p:spPr>
      </p:pic>
      <p:sp>
        <p:nvSpPr>
          <p:cNvPr id="419" name="Shape 419"/>
          <p:cNvSpPr txBox="1"/>
          <p:nvPr/>
        </p:nvSpPr>
        <p:spPr>
          <a:xfrm>
            <a:off x="-225296" y="1772646"/>
            <a:ext cx="2225975" cy="385451"/>
          </a:xfrm>
          <a:prstGeom prst="rect">
            <a:avLst/>
          </a:prstGeom>
          <a:ln w="12700">
            <a:solidFill>
              <a:srgbClr val="00000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gn="ctr">
              <a:defRPr sz="2000" b="1" i="1">
                <a:latin typeface="Times New Roman"/>
                <a:ea typeface="Times New Roman"/>
                <a:cs typeface="Times New Roman"/>
                <a:sym typeface="Times New Roman"/>
              </a:defRPr>
            </a:lvl1pPr>
          </a:lstStyle>
          <a:p>
            <a:r>
              <a:t>Fovea centralis</a:t>
            </a:r>
          </a:p>
        </p:txBody>
      </p:sp>
      <p:sp>
        <p:nvSpPr>
          <p:cNvPr id="420" name="Shape 420"/>
          <p:cNvSpPr txBox="1"/>
          <p:nvPr/>
        </p:nvSpPr>
        <p:spPr>
          <a:xfrm>
            <a:off x="86203" y="4092619"/>
            <a:ext cx="1602977" cy="385451"/>
          </a:xfrm>
          <a:prstGeom prst="rect">
            <a:avLst/>
          </a:prstGeom>
          <a:ln w="12700">
            <a:solidFill>
              <a:srgbClr val="00000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gn="ctr">
              <a:defRPr sz="2000" b="1" i="1">
                <a:latin typeface="Times New Roman"/>
                <a:ea typeface="Times New Roman"/>
                <a:cs typeface="Times New Roman"/>
                <a:sym typeface="Times New Roman"/>
              </a:defRPr>
            </a:lvl1pPr>
          </a:lstStyle>
          <a:p>
            <a:r>
              <a:t>Macula lunea</a:t>
            </a:r>
          </a:p>
        </p:txBody>
      </p:sp>
      <p:grpSp>
        <p:nvGrpSpPr>
          <p:cNvPr id="423" name="Group 423"/>
          <p:cNvGrpSpPr/>
          <p:nvPr/>
        </p:nvGrpSpPr>
        <p:grpSpPr>
          <a:xfrm>
            <a:off x="42528" y="5304827"/>
            <a:ext cx="5748340" cy="1330460"/>
            <a:chOff x="0" y="0"/>
            <a:chExt cx="5748338" cy="1330459"/>
          </a:xfrm>
        </p:grpSpPr>
        <p:sp>
          <p:nvSpPr>
            <p:cNvPr id="421" name="Shape 421"/>
            <p:cNvSpPr txBox="1"/>
            <p:nvPr/>
          </p:nvSpPr>
          <p:spPr>
            <a:xfrm>
              <a:off x="42371" y="373509"/>
              <a:ext cx="5705968" cy="95695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t">
              <a:spAutoFit/>
            </a:bodyPr>
            <a:lstStyle/>
            <a:p>
              <a:pPr defTabSz="457200">
                <a:defRPr sz="2000">
                  <a:latin typeface="Times New Roman"/>
                  <a:ea typeface="Times New Roman"/>
                  <a:cs typeface="Times New Roman"/>
                  <a:sym typeface="Times New Roman"/>
                </a:defRPr>
              </a:pPr>
              <a:r>
                <a:t>comprend</a:t>
              </a:r>
            </a:p>
            <a:p>
              <a:pPr marL="200526" indent="-200526" defTabSz="457200">
                <a:buSzPct val="100000"/>
                <a:buChar char="-"/>
                <a:defRPr sz="2000">
                  <a:latin typeface="Times New Roman"/>
                  <a:ea typeface="Times New Roman"/>
                  <a:cs typeface="Times New Roman"/>
                  <a:sym typeface="Times New Roman"/>
                </a:defRPr>
              </a:pPr>
              <a:r>
                <a:t>la papille optique et la lame criblée de la sclérotique</a:t>
              </a:r>
            </a:p>
            <a:p>
              <a:pPr marL="200526" indent="-200526" defTabSz="457200">
                <a:buSzPct val="100000"/>
                <a:buChar char="-"/>
                <a:defRPr sz="2000">
                  <a:latin typeface="Times New Roman"/>
                  <a:ea typeface="Times New Roman"/>
                  <a:cs typeface="Times New Roman"/>
                  <a:sym typeface="Times New Roman"/>
                </a:defRPr>
              </a:pPr>
              <a:r>
                <a:t>l’artère et la veine centrales de la rétine le traversent</a:t>
              </a:r>
            </a:p>
          </p:txBody>
        </p:sp>
        <p:sp>
          <p:nvSpPr>
            <p:cNvPr id="422" name="Shape 422"/>
            <p:cNvSpPr txBox="1"/>
            <p:nvPr/>
          </p:nvSpPr>
          <p:spPr>
            <a:xfrm>
              <a:off x="0" y="0"/>
              <a:ext cx="1690326" cy="385450"/>
            </a:xfrm>
            <a:prstGeom prst="rect">
              <a:avLst/>
            </a:prstGeom>
            <a:noFill/>
            <a:ln w="12700" cap="flat">
              <a:solidFill>
                <a:srgbClr val="000000"/>
              </a:solidFill>
              <a:prstDash val="solid"/>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tIns="45719" rIns="45719" bIns="45719" numCol="1" anchor="t">
              <a:spAutoFit/>
            </a:bodyPr>
            <a:lstStyle>
              <a:lvl1pPr defTabSz="457200">
                <a:defRPr sz="2000" b="1" i="1">
                  <a:latin typeface="Times New Roman"/>
                  <a:ea typeface="Times New Roman"/>
                  <a:cs typeface="Times New Roman"/>
                  <a:sym typeface="Times New Roman"/>
                </a:defRPr>
              </a:lvl1pPr>
            </a:lstStyle>
            <a:p>
              <a:r>
                <a:t>Disque optique</a:t>
              </a:r>
            </a:p>
          </p:txBody>
        </p:sp>
      </p:grpSp>
      <p:grpSp>
        <p:nvGrpSpPr>
          <p:cNvPr id="427" name="Group 427"/>
          <p:cNvGrpSpPr/>
          <p:nvPr/>
        </p:nvGrpSpPr>
        <p:grpSpPr>
          <a:xfrm>
            <a:off x="5667293" y="30354"/>
            <a:ext cx="3675630" cy="3110396"/>
            <a:chOff x="0" y="0"/>
            <a:chExt cx="3675628" cy="3110394"/>
          </a:xfrm>
        </p:grpSpPr>
        <p:pic>
          <p:nvPicPr>
            <p:cNvPr id="424" name="D26A031D-D78C-48C6-B618-22EBC563F16E-L0-001.png"/>
            <p:cNvPicPr>
              <a:picLocks noChangeAspect="1"/>
            </p:cNvPicPr>
            <p:nvPr/>
          </p:nvPicPr>
          <p:blipFill>
            <a:blip r:embed="rId3">
              <a:extLst/>
            </a:blip>
            <a:srcRect/>
            <a:stretch>
              <a:fillRect/>
            </a:stretch>
          </p:blipFill>
          <p:spPr>
            <a:xfrm>
              <a:off x="0" y="0"/>
              <a:ext cx="3675629" cy="3110395"/>
            </a:xfrm>
            <a:prstGeom prst="rect">
              <a:avLst/>
            </a:prstGeom>
            <a:ln w="12700" cap="flat">
              <a:noFill/>
              <a:miter lim="400000"/>
            </a:ln>
            <a:effectLst/>
          </p:spPr>
        </p:pic>
        <p:sp>
          <p:nvSpPr>
            <p:cNvPr id="425" name="Shape 425"/>
            <p:cNvSpPr txBox="1"/>
            <p:nvPr/>
          </p:nvSpPr>
          <p:spPr>
            <a:xfrm>
              <a:off x="2503715" y="1839745"/>
              <a:ext cx="1031309" cy="474518"/>
            </a:xfrm>
            <a:prstGeom prst="rect">
              <a:avLst/>
            </a:prstGeom>
            <a:noFill/>
            <a:ln w="12700" cap="flat">
              <a:solidFill>
                <a:srgbClr val="000000"/>
              </a:solidFill>
              <a:prstDash val="solid"/>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t">
              <a:noAutofit/>
            </a:bodyPr>
            <a:lstStyle>
              <a:lvl1pPr algn="ctr">
                <a:defRPr sz="1000" b="1" i="1">
                  <a:solidFill>
                    <a:srgbClr val="FFFFFF"/>
                  </a:solidFill>
                  <a:latin typeface="Times New Roman"/>
                  <a:ea typeface="Times New Roman"/>
                  <a:cs typeface="Times New Roman"/>
                  <a:sym typeface="Times New Roman"/>
                </a:defRPr>
              </a:lvl1pPr>
            </a:lstStyle>
            <a:p>
              <a:r>
                <a:t>Fovea centralis</a:t>
              </a:r>
            </a:p>
          </p:txBody>
        </p:sp>
        <p:sp>
          <p:nvSpPr>
            <p:cNvPr id="426" name="Shape 426"/>
            <p:cNvSpPr txBox="1"/>
            <p:nvPr/>
          </p:nvSpPr>
          <p:spPr>
            <a:xfrm>
              <a:off x="157302" y="1839745"/>
              <a:ext cx="910663" cy="474518"/>
            </a:xfrm>
            <a:prstGeom prst="rect">
              <a:avLst/>
            </a:prstGeom>
            <a:noFill/>
            <a:ln w="12700" cap="flat">
              <a:solidFill>
                <a:srgbClr val="000000"/>
              </a:solidFill>
              <a:prstDash val="solid"/>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t">
              <a:noAutofit/>
            </a:bodyPr>
            <a:lstStyle>
              <a:lvl1pPr algn="ctr">
                <a:defRPr sz="1000" b="1" i="1">
                  <a:latin typeface="Times New Roman"/>
                  <a:ea typeface="Times New Roman"/>
                  <a:cs typeface="Times New Roman"/>
                  <a:sym typeface="Times New Roman"/>
                </a:defRPr>
              </a:lvl1pPr>
            </a:lstStyle>
            <a:p>
              <a:r>
                <a:t>Macula lunea</a:t>
              </a:r>
            </a:p>
          </p:txBody>
        </p:sp>
      </p:grpSp>
      <p:pic>
        <p:nvPicPr>
          <p:cNvPr id="428" name="Picture 2" descr="Picture 2"/>
          <p:cNvPicPr>
            <a:picLocks/>
          </p:cNvPicPr>
          <p:nvPr/>
        </p:nvPicPr>
        <p:blipFill>
          <a:blip r:embed="rId4">
            <a:extLst/>
          </a:blip>
          <a:srcRect/>
          <a:stretch>
            <a:fillRect/>
          </a:stretch>
        </p:blipFill>
        <p:spPr>
          <a:xfrm>
            <a:off x="5865712" y="5239051"/>
            <a:ext cx="3129209" cy="1505583"/>
          </a:xfrm>
          <a:prstGeom prst="rect">
            <a:avLst/>
          </a:prstGeom>
          <a:ln w="12700">
            <a:solidFill>
              <a:srgbClr val="000000"/>
            </a:solidFill>
            <a:miter lim="400000"/>
          </a:ln>
        </p:spPr>
      </p:pic>
      <p:pic>
        <p:nvPicPr>
          <p:cNvPr id="429" name="Picture 2" descr="Picture 2"/>
          <p:cNvPicPr>
            <a:picLocks/>
          </p:cNvPicPr>
          <p:nvPr/>
        </p:nvPicPr>
        <p:blipFill>
          <a:blip r:embed="rId5">
            <a:extLst/>
          </a:blip>
          <a:srcRect/>
          <a:stretch>
            <a:fillRect/>
          </a:stretch>
        </p:blipFill>
        <p:spPr>
          <a:xfrm>
            <a:off x="5869784" y="3195104"/>
            <a:ext cx="3270652" cy="1922865"/>
          </a:xfrm>
          <a:prstGeom prst="rect">
            <a:avLst/>
          </a:prstGeom>
          <a:ln w="12700">
            <a:solidFill>
              <a:srgbClr val="000000"/>
            </a:solidFill>
            <a:miter lim="400000"/>
          </a:ln>
        </p:spPr>
      </p:pic>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xit" presetSubtype="0" fill="hold" grpId="1" nodeType="clickEffect">
                                  <p:stCondLst>
                                    <p:cond delay="0"/>
                                  </p:stCondLst>
                                  <p:iterate>
                                    <p:tmAbs val="0"/>
                                  </p:iterate>
                                  <p:childTnLst>
                                    <p:set>
                                      <p:cBhvr>
                                        <p:cTn id="6" fill="hold">
                                          <p:stCondLst>
                                            <p:cond delay="0"/>
                                          </p:stCondLst>
                                        </p:cTn>
                                        <p:tgtEl>
                                          <p:spTgt spid="427"/>
                                        </p:tgtEl>
                                        <p:attrNameLst>
                                          <p:attrName>style.visibility</p:attrName>
                                        </p:attrNameLst>
                                      </p:cBhvr>
                                      <p:to>
                                        <p:strVal val="hidden"/>
                                      </p:to>
                                    </p:set>
                                  </p:childTnLst>
                                </p:cTn>
                              </p:par>
                            </p:childTnLst>
                          </p:cTn>
                        </p:par>
                        <p:par>
                          <p:cTn id="7" fill="hold">
                            <p:stCondLst>
                              <p:cond delay="0"/>
                            </p:stCondLst>
                            <p:childTnLst>
                              <p:par>
                                <p:cTn id="8" presetID="1" presetClass="entr" presetSubtype="0" fill="hold" grpId="2" nodeType="afterEffect">
                                  <p:stCondLst>
                                    <p:cond delay="0"/>
                                  </p:stCondLst>
                                  <p:iterate>
                                    <p:tmAbs val="0"/>
                                  </p:iterate>
                                  <p:childTnLst>
                                    <p:set>
                                      <p:cBhvr>
                                        <p:cTn id="9" fill="hold"/>
                                        <p:tgtEl>
                                          <p:spTgt spid="4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3" grpId="2" animBg="1" advAuto="0"/>
      <p:bldP spid="427" grpId="1" animBg="1" advAuto="0"/>
    </p:bldLst>
  </p:timing>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31" name="Picture 2" descr="Picture 2"/>
          <p:cNvPicPr>
            <a:picLocks noChangeAspect="1"/>
          </p:cNvPicPr>
          <p:nvPr/>
        </p:nvPicPr>
        <p:blipFill>
          <a:blip r:embed="rId2">
            <a:extLst/>
          </a:blip>
          <a:srcRect/>
          <a:stretch>
            <a:fillRect/>
          </a:stretch>
        </p:blipFill>
        <p:spPr>
          <a:xfrm>
            <a:off x="226038" y="71437"/>
            <a:ext cx="9144001" cy="6715149"/>
          </a:xfrm>
          <a:prstGeom prst="rect">
            <a:avLst/>
          </a:prstGeom>
          <a:ln w="12700">
            <a:miter lim="400000"/>
          </a:ln>
        </p:spPr>
      </p:pic>
    </p:spTree>
  </p:cSld>
  <p:clrMapOvr>
    <a:masterClrMapping/>
  </p:clrMapOvr>
  <p:transition spd="med"/>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3" name="Shape 433"/>
          <p:cNvSpPr txBox="1"/>
          <p:nvPr/>
        </p:nvSpPr>
        <p:spPr>
          <a:xfrm>
            <a:off x="30575" y="27358"/>
            <a:ext cx="3451248" cy="507056"/>
          </a:xfrm>
          <a:prstGeom prst="rect">
            <a:avLst/>
          </a:prstGeom>
          <a:solidFill>
            <a:schemeClr val="accent1">
              <a:lumOff val="23725"/>
            </a:schemeClr>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defTabSz="457200">
              <a:defRPr sz="3000" b="1" i="1" cap="small">
                <a:latin typeface="Times New Roman"/>
                <a:ea typeface="Times New Roman"/>
                <a:cs typeface="Times New Roman"/>
                <a:sym typeface="Times New Roman"/>
              </a:defRPr>
            </a:lvl1pPr>
          </a:lstStyle>
          <a:p>
            <a:r>
              <a:t>Les trois tuniques </a:t>
            </a:r>
          </a:p>
        </p:txBody>
      </p:sp>
      <p:sp>
        <p:nvSpPr>
          <p:cNvPr id="434" name="Shape 434"/>
          <p:cNvSpPr txBox="1"/>
          <p:nvPr/>
        </p:nvSpPr>
        <p:spPr>
          <a:xfrm>
            <a:off x="585337" y="660267"/>
            <a:ext cx="3600548" cy="433553"/>
          </a:xfrm>
          <a:prstGeom prst="rect">
            <a:avLst/>
          </a:prstGeom>
          <a:solidFill>
            <a:srgbClr val="855100"/>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defTabSz="457200">
              <a:defRPr sz="2500" b="1" i="1" cap="small">
                <a:solidFill>
                  <a:srgbClr val="FFFFFF"/>
                </a:solidFill>
                <a:latin typeface="Times New Roman"/>
                <a:ea typeface="Times New Roman"/>
                <a:cs typeface="Times New Roman"/>
                <a:sym typeface="Times New Roman"/>
              </a:defRPr>
            </a:lvl1pPr>
          </a:lstStyle>
          <a:p>
            <a:r>
              <a:t>tunique interne :retine</a:t>
            </a:r>
          </a:p>
        </p:txBody>
      </p:sp>
      <p:sp>
        <p:nvSpPr>
          <p:cNvPr id="435" name="Shape 435"/>
          <p:cNvSpPr txBox="1"/>
          <p:nvPr/>
        </p:nvSpPr>
        <p:spPr>
          <a:xfrm>
            <a:off x="57876" y="1201162"/>
            <a:ext cx="5818198" cy="409772"/>
          </a:xfrm>
          <a:prstGeom prst="rect">
            <a:avLst/>
          </a:prstGeom>
          <a:solidFill>
            <a:srgbClr val="D38100"/>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gn="ctr">
              <a:defRPr sz="2200" b="1">
                <a:latin typeface="Times New Roman"/>
                <a:ea typeface="Times New Roman"/>
                <a:cs typeface="Times New Roman"/>
                <a:sym typeface="Times New Roman"/>
              </a:defRPr>
            </a:lvl1pPr>
          </a:lstStyle>
          <a:p>
            <a:r>
              <a:t>les paupières, conjonctive et glandes lacrymales</a:t>
            </a:r>
          </a:p>
        </p:txBody>
      </p:sp>
      <p:sp>
        <p:nvSpPr>
          <p:cNvPr id="436" name="Shape 436"/>
          <p:cNvSpPr txBox="1"/>
          <p:nvPr/>
        </p:nvSpPr>
        <p:spPr>
          <a:xfrm>
            <a:off x="66559" y="2094749"/>
            <a:ext cx="5406284" cy="3306451"/>
          </a:xfrm>
          <a:prstGeom prst="rect">
            <a:avLst/>
          </a:prstGeom>
          <a:ln w="12700">
            <a:solidFill>
              <a:srgbClr val="00000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defTabSz="457200">
              <a:defRPr sz="2000">
                <a:latin typeface="Times New Roman"/>
                <a:ea typeface="Times New Roman"/>
                <a:cs typeface="Times New Roman"/>
                <a:sym typeface="Times New Roman"/>
              </a:defRPr>
            </a:pPr>
            <a:r>
              <a:t/>
            </a:r>
            <a:br/>
            <a:r>
              <a:t>- </a:t>
            </a:r>
            <a:r>
              <a:rPr b="1"/>
              <a:t>une portion cutanée ext</a:t>
            </a:r>
            <a:r>
              <a:t> recouverte d’un épiderme pavimenteux stratifié reposant sur un TCL (derme) et du muscle orbiculaire de l’œil, contient  - des glandes sudoripares et sébacées</a:t>
            </a:r>
          </a:p>
          <a:p>
            <a:pPr defTabSz="457200">
              <a:defRPr sz="2000">
                <a:latin typeface="Times New Roman"/>
                <a:ea typeface="Times New Roman"/>
                <a:cs typeface="Times New Roman"/>
                <a:sym typeface="Times New Roman"/>
              </a:defRPr>
            </a:pPr>
            <a:r>
              <a:t>- 3 ou 4 rangées de poils rigides, les cils, en bordure des paupières  </a:t>
            </a:r>
            <a:r>
              <a:rPr sz="1600"/>
              <a:t>(cils associés à des gld sudoripares : glandes de Moll)</a:t>
            </a:r>
            <a:r>
              <a:t/>
            </a:r>
            <a:br/>
            <a:endParaRPr/>
          </a:p>
          <a:p>
            <a:pPr defTabSz="457200">
              <a:defRPr sz="2000">
                <a:latin typeface="Times New Roman"/>
                <a:ea typeface="Times New Roman"/>
                <a:cs typeface="Times New Roman"/>
                <a:sym typeface="Times New Roman"/>
              </a:defRPr>
            </a:pPr>
            <a:r>
              <a:t>- </a:t>
            </a:r>
            <a:r>
              <a:rPr b="1"/>
              <a:t>une portion conjonctive Int</a:t>
            </a:r>
            <a:r>
              <a:t> bordée par une fine membrane muqueuse :la conjonctive</a:t>
            </a:r>
          </a:p>
        </p:txBody>
      </p:sp>
      <p:sp>
        <p:nvSpPr>
          <p:cNvPr id="437" name="Shape 437"/>
          <p:cNvSpPr txBox="1"/>
          <p:nvPr/>
        </p:nvSpPr>
        <p:spPr>
          <a:xfrm>
            <a:off x="33588" y="2088439"/>
            <a:ext cx="4704046" cy="37275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defTabSz="457200">
              <a:defRPr sz="2000" b="1" i="1">
                <a:latin typeface="Times New Roman"/>
                <a:ea typeface="Times New Roman"/>
                <a:cs typeface="Times New Roman"/>
                <a:sym typeface="Times New Roman"/>
              </a:defRPr>
            </a:lvl1pPr>
          </a:lstStyle>
          <a:p>
            <a:r>
              <a:t>chaque paupière est constituée de 02 parties</a:t>
            </a:r>
          </a:p>
        </p:txBody>
      </p:sp>
      <p:grpSp>
        <p:nvGrpSpPr>
          <p:cNvPr id="445" name="Group 445"/>
          <p:cNvGrpSpPr/>
          <p:nvPr/>
        </p:nvGrpSpPr>
        <p:grpSpPr>
          <a:xfrm>
            <a:off x="5894499" y="36411"/>
            <a:ext cx="3216063" cy="3519038"/>
            <a:chOff x="-145727" y="26495"/>
            <a:chExt cx="3216062" cy="3519036"/>
          </a:xfrm>
        </p:grpSpPr>
        <p:grpSp>
          <p:nvGrpSpPr>
            <p:cNvPr id="443" name="Group 443"/>
            <p:cNvGrpSpPr/>
            <p:nvPr/>
          </p:nvGrpSpPr>
          <p:grpSpPr>
            <a:xfrm>
              <a:off x="81976" y="325657"/>
              <a:ext cx="2952484" cy="3219876"/>
              <a:chOff x="0" y="465714"/>
              <a:chExt cx="2952482" cy="3219874"/>
            </a:xfrm>
          </p:grpSpPr>
          <p:pic>
            <p:nvPicPr>
              <p:cNvPr id="438" name="Picture 2" descr="Picture 2"/>
              <p:cNvPicPr>
                <a:picLocks noChangeAspect="1"/>
              </p:cNvPicPr>
              <p:nvPr/>
            </p:nvPicPr>
            <p:blipFill>
              <a:blip r:embed="rId2">
                <a:extLst/>
              </a:blip>
              <a:srcRect/>
              <a:stretch>
                <a:fillRect/>
              </a:stretch>
            </p:blipFill>
            <p:spPr>
              <a:xfrm>
                <a:off x="0" y="552937"/>
                <a:ext cx="2796481" cy="2928814"/>
              </a:xfrm>
              <a:prstGeom prst="rect">
                <a:avLst/>
              </a:prstGeom>
              <a:ln w="12700" cap="flat">
                <a:noFill/>
                <a:miter lim="400000"/>
              </a:ln>
              <a:effectLst/>
            </p:spPr>
          </p:pic>
          <p:sp>
            <p:nvSpPr>
              <p:cNvPr id="439" name="Shape 439"/>
              <p:cNvSpPr txBox="1"/>
              <p:nvPr/>
            </p:nvSpPr>
            <p:spPr>
              <a:xfrm>
                <a:off x="1490381" y="2543124"/>
                <a:ext cx="1397827" cy="200985"/>
              </a:xfrm>
              <a:prstGeom prst="rect">
                <a:avLst/>
              </a:prstGeom>
              <a:solidFill>
                <a:srgbClr val="FFFFFF"/>
              </a:solid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t">
                <a:noAutofit/>
              </a:bodyPr>
              <a:lstStyle>
                <a:lvl1pPr defTabSz="457200">
                  <a:defRPr sz="1000">
                    <a:latin typeface="Georgia"/>
                    <a:ea typeface="Georgia"/>
                    <a:cs typeface="Georgia"/>
                    <a:sym typeface="Georgia"/>
                  </a:defRPr>
                </a:lvl1pPr>
              </a:lstStyle>
              <a:p>
                <a:r>
                  <a:t>Conjonctive</a:t>
                </a:r>
              </a:p>
            </p:txBody>
          </p:sp>
          <p:sp>
            <p:nvSpPr>
              <p:cNvPr id="440" name="Shape 440"/>
              <p:cNvSpPr/>
              <p:nvPr/>
            </p:nvSpPr>
            <p:spPr>
              <a:xfrm>
                <a:off x="2228819" y="2029124"/>
                <a:ext cx="723664" cy="1656466"/>
              </a:xfrm>
              <a:prstGeom prst="roundRect">
                <a:avLst>
                  <a:gd name="adj" fmla="val 22890"/>
                </a:avLst>
              </a:prstGeom>
              <a:solidFill>
                <a:srgbClr val="FFFFFF"/>
              </a:solidFill>
              <a:ln w="12700" cap="flat">
                <a:noFill/>
                <a:miter lim="400000"/>
              </a:ln>
              <a:effectLst/>
            </p:spPr>
            <p:txBody>
              <a:bodyPr wrap="square" lIns="45719" tIns="45719" rIns="45719" bIns="45719" numCol="1" anchor="ctr">
                <a:noAutofit/>
              </a:bodyPr>
              <a:lstStyle/>
              <a:p>
                <a:endParaRPr/>
              </a:p>
            </p:txBody>
          </p:sp>
          <p:sp>
            <p:nvSpPr>
              <p:cNvPr id="441" name="Shape 441"/>
              <p:cNvSpPr/>
              <p:nvPr/>
            </p:nvSpPr>
            <p:spPr>
              <a:xfrm>
                <a:off x="1816037" y="465714"/>
                <a:ext cx="1056473" cy="1103348"/>
              </a:xfrm>
              <a:prstGeom prst="roundRect">
                <a:avLst>
                  <a:gd name="adj" fmla="val 15679"/>
                </a:avLst>
              </a:prstGeom>
              <a:solidFill>
                <a:srgbClr val="FFFFFF"/>
              </a:solidFill>
              <a:ln w="12700" cap="flat">
                <a:noFill/>
                <a:miter lim="400000"/>
              </a:ln>
              <a:effectLst/>
            </p:spPr>
            <p:txBody>
              <a:bodyPr wrap="square" lIns="45719" tIns="45719" rIns="45719" bIns="45719" numCol="1" anchor="ctr">
                <a:noAutofit/>
              </a:bodyPr>
              <a:lstStyle/>
              <a:p>
                <a:endParaRPr/>
              </a:p>
            </p:txBody>
          </p:sp>
          <p:sp>
            <p:nvSpPr>
              <p:cNvPr id="442" name="Shape 442"/>
              <p:cNvSpPr txBox="1"/>
              <p:nvPr/>
            </p:nvSpPr>
            <p:spPr>
              <a:xfrm>
                <a:off x="1464920" y="842788"/>
                <a:ext cx="1348153" cy="200985"/>
              </a:xfrm>
              <a:prstGeom prst="rect">
                <a:avLst/>
              </a:prstGeom>
              <a:solidFill>
                <a:srgbClr val="FFFFFF"/>
              </a:solid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t">
                <a:noAutofit/>
              </a:bodyPr>
              <a:lstStyle>
                <a:lvl1pPr defTabSz="457200">
                  <a:defRPr sz="1000">
                    <a:latin typeface="Georgia"/>
                    <a:ea typeface="Georgia"/>
                    <a:cs typeface="Georgia"/>
                    <a:sym typeface="Georgia"/>
                  </a:defRPr>
                </a:lvl1pPr>
              </a:lstStyle>
              <a:p>
                <a:r>
                  <a:t>gld de Meibomius</a:t>
                </a:r>
              </a:p>
            </p:txBody>
          </p:sp>
        </p:grpSp>
        <p:pic>
          <p:nvPicPr>
            <p:cNvPr id="444" name="Picture 2" descr="Picture 2"/>
            <p:cNvPicPr>
              <a:picLocks noChangeAspect="1"/>
            </p:cNvPicPr>
            <p:nvPr/>
          </p:nvPicPr>
          <p:blipFill>
            <a:blip r:embed="rId3">
              <a:extLst/>
            </a:blip>
            <a:srcRect/>
            <a:stretch>
              <a:fillRect/>
            </a:stretch>
          </p:blipFill>
          <p:spPr>
            <a:xfrm>
              <a:off x="-145728" y="26495"/>
              <a:ext cx="3216063" cy="387469"/>
            </a:xfrm>
            <a:prstGeom prst="rect">
              <a:avLst/>
            </a:prstGeom>
            <a:ln w="12700" cap="flat">
              <a:noFill/>
              <a:miter lim="400000"/>
            </a:ln>
            <a:effectLst/>
          </p:spPr>
        </p:pic>
      </p:grpSp>
      <p:sp>
        <p:nvSpPr>
          <p:cNvPr id="446" name="Shape 446"/>
          <p:cNvSpPr txBox="1"/>
          <p:nvPr/>
        </p:nvSpPr>
        <p:spPr>
          <a:xfrm>
            <a:off x="-18490" y="5580215"/>
            <a:ext cx="5576382" cy="124905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defTabSz="457200">
              <a:defRPr sz="2000">
                <a:latin typeface="Times New Roman"/>
                <a:ea typeface="Times New Roman"/>
                <a:cs typeface="Times New Roman"/>
                <a:sym typeface="Times New Roman"/>
              </a:defRPr>
            </a:lvl1pPr>
          </a:lstStyle>
          <a:p>
            <a:r>
              <a:t>En regard de la conjonctive , on trouve le tarse: un tissu conjonctif  fibro- élastique dense contenant de glandes sébacées appelées glandes de meibomius(glandes tarsales)</a:t>
            </a:r>
          </a:p>
        </p:txBody>
      </p:sp>
      <p:grpSp>
        <p:nvGrpSpPr>
          <p:cNvPr id="456" name="Group 456"/>
          <p:cNvGrpSpPr/>
          <p:nvPr/>
        </p:nvGrpSpPr>
        <p:grpSpPr>
          <a:xfrm>
            <a:off x="5371839" y="3186363"/>
            <a:ext cx="3754722" cy="3876094"/>
            <a:chOff x="0" y="657706"/>
            <a:chExt cx="3754720" cy="3876092"/>
          </a:xfrm>
        </p:grpSpPr>
        <p:grpSp>
          <p:nvGrpSpPr>
            <p:cNvPr id="454" name="Group 454"/>
            <p:cNvGrpSpPr/>
            <p:nvPr/>
          </p:nvGrpSpPr>
          <p:grpSpPr>
            <a:xfrm>
              <a:off x="0" y="657706"/>
              <a:ext cx="3754721" cy="3876093"/>
              <a:chOff x="0" y="1231318"/>
              <a:chExt cx="3754720" cy="3876092"/>
            </a:xfrm>
          </p:grpSpPr>
          <p:pic>
            <p:nvPicPr>
              <p:cNvPr id="447" name="Picture 2" descr="Picture 2"/>
              <p:cNvPicPr>
                <a:picLocks noChangeAspect="1"/>
              </p:cNvPicPr>
              <p:nvPr/>
            </p:nvPicPr>
            <p:blipFill>
              <a:blip r:embed="rId4">
                <a:extLst/>
              </a:blip>
              <a:srcRect/>
              <a:stretch>
                <a:fillRect/>
              </a:stretch>
            </p:blipFill>
            <p:spPr>
              <a:xfrm>
                <a:off x="348278" y="1360064"/>
                <a:ext cx="3406443" cy="3566559"/>
              </a:xfrm>
              <a:prstGeom prst="rect">
                <a:avLst/>
              </a:prstGeom>
              <a:ln w="12700" cap="flat">
                <a:noFill/>
                <a:miter lim="400000"/>
              </a:ln>
              <a:effectLst/>
            </p:spPr>
          </p:pic>
          <p:sp>
            <p:nvSpPr>
              <p:cNvPr id="448" name="Shape 448"/>
              <p:cNvSpPr/>
              <p:nvPr/>
            </p:nvSpPr>
            <p:spPr>
              <a:xfrm>
                <a:off x="170223" y="2360080"/>
                <a:ext cx="1382790" cy="2747332"/>
              </a:xfrm>
              <a:prstGeom prst="roundRect">
                <a:avLst>
                  <a:gd name="adj" fmla="val 13783"/>
                </a:avLst>
              </a:prstGeom>
              <a:solidFill>
                <a:srgbClr val="FFFFFF"/>
              </a:solidFill>
              <a:ln w="12700" cap="flat">
                <a:noFill/>
                <a:miter lim="400000"/>
              </a:ln>
              <a:effectLst/>
            </p:spPr>
            <p:txBody>
              <a:bodyPr wrap="square" lIns="45719" tIns="45719" rIns="45719" bIns="45719" numCol="1" anchor="ctr">
                <a:noAutofit/>
              </a:bodyPr>
              <a:lstStyle/>
              <a:p>
                <a:endParaRPr/>
              </a:p>
            </p:txBody>
          </p:sp>
          <p:sp>
            <p:nvSpPr>
              <p:cNvPr id="449" name="Shape 449"/>
              <p:cNvSpPr/>
              <p:nvPr/>
            </p:nvSpPr>
            <p:spPr>
              <a:xfrm>
                <a:off x="0" y="1241920"/>
                <a:ext cx="1382790" cy="525712"/>
              </a:xfrm>
              <a:prstGeom prst="roundRect">
                <a:avLst>
                  <a:gd name="adj" fmla="val 36255"/>
                </a:avLst>
              </a:prstGeom>
              <a:solidFill>
                <a:srgbClr val="FFFFFF"/>
              </a:solidFill>
              <a:ln w="12700" cap="flat">
                <a:noFill/>
                <a:miter lim="400000"/>
              </a:ln>
              <a:effectLst/>
            </p:spPr>
            <p:txBody>
              <a:bodyPr wrap="square" lIns="45719" tIns="45719" rIns="45719" bIns="45719" numCol="1" anchor="ctr">
                <a:noAutofit/>
              </a:bodyPr>
              <a:lstStyle/>
              <a:p>
                <a:endParaRPr/>
              </a:p>
            </p:txBody>
          </p:sp>
          <p:sp>
            <p:nvSpPr>
              <p:cNvPr id="450" name="Shape 450"/>
              <p:cNvSpPr txBox="1"/>
              <p:nvPr/>
            </p:nvSpPr>
            <p:spPr>
              <a:xfrm>
                <a:off x="766202" y="2994643"/>
                <a:ext cx="773324" cy="231257"/>
              </a:xfrm>
              <a:prstGeom prst="rect">
                <a:avLst/>
              </a:prstGeom>
              <a:solidFill>
                <a:srgbClr val="FFFFFF"/>
              </a:solid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t">
                <a:noAutofit/>
              </a:bodyPr>
              <a:lstStyle>
                <a:lvl1pPr defTabSz="457200">
                  <a:defRPr sz="1000">
                    <a:latin typeface="Georgia"/>
                    <a:ea typeface="Georgia"/>
                    <a:cs typeface="Georgia"/>
                    <a:sym typeface="Georgia"/>
                  </a:defRPr>
                </a:lvl1pPr>
              </a:lstStyle>
              <a:p>
                <a:r>
                  <a:t>Conjonctive</a:t>
                </a:r>
              </a:p>
            </p:txBody>
          </p:sp>
          <p:sp>
            <p:nvSpPr>
              <p:cNvPr id="451" name="Shape 451"/>
              <p:cNvSpPr txBox="1"/>
              <p:nvPr/>
            </p:nvSpPr>
            <p:spPr>
              <a:xfrm>
                <a:off x="137806" y="1503915"/>
                <a:ext cx="1107177" cy="301605"/>
              </a:xfrm>
              <a:prstGeom prst="rect">
                <a:avLst/>
              </a:prstGeom>
              <a:solidFill>
                <a:srgbClr val="FFFFFF"/>
              </a:solid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t">
                <a:noAutofit/>
              </a:bodyPr>
              <a:lstStyle>
                <a:lvl1pPr defTabSz="457200">
                  <a:defRPr sz="1000">
                    <a:latin typeface="Georgia"/>
                    <a:ea typeface="Georgia"/>
                    <a:cs typeface="Georgia"/>
                    <a:sym typeface="Georgia"/>
                  </a:defRPr>
                </a:lvl1pPr>
              </a:lstStyle>
              <a:p>
                <a:r>
                  <a:t>gld de Meibomius</a:t>
                </a:r>
              </a:p>
            </p:txBody>
          </p:sp>
          <p:sp>
            <p:nvSpPr>
              <p:cNvPr id="452" name="Shape 452"/>
              <p:cNvSpPr txBox="1"/>
              <p:nvPr/>
            </p:nvSpPr>
            <p:spPr>
              <a:xfrm>
                <a:off x="117922" y="1231318"/>
                <a:ext cx="1146946" cy="231257"/>
              </a:xfrm>
              <a:prstGeom prst="rect">
                <a:avLst/>
              </a:prstGeom>
              <a:solidFill>
                <a:srgbClr val="FFFFFF"/>
              </a:solid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t">
                <a:noAutofit/>
              </a:bodyPr>
              <a:lstStyle>
                <a:lvl1pPr defTabSz="457200">
                  <a:defRPr sz="1000">
                    <a:latin typeface="Georgia"/>
                    <a:ea typeface="Georgia"/>
                    <a:cs typeface="Georgia"/>
                    <a:sym typeface="Georgia"/>
                  </a:defRPr>
                </a:lvl1pPr>
              </a:lstStyle>
              <a:p>
                <a:r>
                  <a:t>Muscle orbiculaire</a:t>
                </a:r>
              </a:p>
            </p:txBody>
          </p:sp>
          <p:sp>
            <p:nvSpPr>
              <p:cNvPr id="453" name="Shape 453"/>
              <p:cNvSpPr/>
              <p:nvPr/>
            </p:nvSpPr>
            <p:spPr>
              <a:xfrm>
                <a:off x="1190558" y="1644364"/>
                <a:ext cx="1624736" cy="1"/>
              </a:xfrm>
              <a:prstGeom prst="line">
                <a:avLst/>
              </a:prstGeom>
              <a:noFill/>
              <a:ln w="12700" cap="flat">
                <a:solidFill>
                  <a:srgbClr val="000000"/>
                </a:solidFill>
                <a:prstDash val="solid"/>
                <a:round/>
                <a:tailEnd type="stealth" w="med" len="med"/>
              </a:ln>
              <a:effectLst/>
            </p:spPr>
            <p:txBody>
              <a:bodyPr wrap="square" lIns="45719" tIns="45719" rIns="45719" bIns="45719" numCol="1" anchor="t">
                <a:noAutofit/>
              </a:bodyPr>
              <a:lstStyle/>
              <a:p>
                <a:endParaRPr/>
              </a:p>
            </p:txBody>
          </p:sp>
        </p:grpSp>
        <p:sp>
          <p:nvSpPr>
            <p:cNvPr id="455" name="Shape 455"/>
            <p:cNvSpPr/>
            <p:nvPr/>
          </p:nvSpPr>
          <p:spPr>
            <a:xfrm>
              <a:off x="1205869" y="867134"/>
              <a:ext cx="2264104" cy="1"/>
            </a:xfrm>
            <a:prstGeom prst="line">
              <a:avLst/>
            </a:prstGeom>
            <a:noFill/>
            <a:ln w="12700" cap="flat">
              <a:solidFill>
                <a:srgbClr val="000000"/>
              </a:solidFill>
              <a:prstDash val="solid"/>
              <a:round/>
              <a:tailEnd type="stealth" w="med" len="med"/>
            </a:ln>
            <a:effectLst/>
          </p:spPr>
          <p:txBody>
            <a:bodyPr wrap="square" lIns="45719" tIns="45719" rIns="45719" bIns="45719" numCol="1" anchor="t">
              <a:noAutofit/>
            </a:bodyPr>
            <a:lstStyle/>
            <a:p>
              <a:endParaRPr/>
            </a:p>
          </p:txBody>
        </p:sp>
      </p:grpSp>
      <p:sp>
        <p:nvSpPr>
          <p:cNvPr id="457" name="Shape 457"/>
          <p:cNvSpPr/>
          <p:nvPr/>
        </p:nvSpPr>
        <p:spPr>
          <a:xfrm>
            <a:off x="5928157" y="3245980"/>
            <a:ext cx="2894334" cy="1"/>
          </a:xfrm>
          <a:prstGeom prst="line">
            <a:avLst/>
          </a:prstGeom>
          <a:ln w="38100">
            <a:solidFill>
              <a:srgbClr val="000000"/>
            </a:solidFill>
          </a:ln>
        </p:spPr>
        <p:txBody>
          <a:bodyPr lIns="45719" rIns="45719"/>
          <a:lstStyle/>
          <a:p>
            <a:endParaRPr/>
          </a:p>
        </p:txBody>
      </p:sp>
      <p:sp>
        <p:nvSpPr>
          <p:cNvPr id="458" name="Shape 458"/>
          <p:cNvSpPr/>
          <p:nvPr/>
        </p:nvSpPr>
        <p:spPr>
          <a:xfrm flipV="1">
            <a:off x="5470700" y="2104496"/>
            <a:ext cx="1" cy="3286956"/>
          </a:xfrm>
          <a:prstGeom prst="line">
            <a:avLst/>
          </a:prstGeom>
          <a:ln w="38100">
            <a:solidFill>
              <a:srgbClr val="000000"/>
            </a:solidFill>
          </a:ln>
        </p:spPr>
        <p:txBody>
          <a:bodyPr lIns="45719" rIns="45719"/>
          <a:lstStyle/>
          <a:p>
            <a:endParaRPr/>
          </a:p>
        </p:txBody>
      </p:sp>
    </p:spTree>
  </p:cSld>
  <p:clrMapOvr>
    <a:masterClrMapping/>
  </p:clrMapOvr>
  <p:transition spd="med"/>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 name="Shape 460"/>
          <p:cNvSpPr txBox="1"/>
          <p:nvPr/>
        </p:nvSpPr>
        <p:spPr>
          <a:xfrm>
            <a:off x="116191" y="68045"/>
            <a:ext cx="2594296" cy="507056"/>
          </a:xfrm>
          <a:prstGeom prst="rect">
            <a:avLst/>
          </a:prstGeom>
          <a:solidFill>
            <a:schemeClr val="accent1">
              <a:lumOff val="23725"/>
            </a:schemeClr>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defTabSz="457200">
              <a:defRPr sz="3000" b="1" i="1" cap="small">
                <a:latin typeface="Times New Roman"/>
                <a:ea typeface="Times New Roman"/>
                <a:cs typeface="Times New Roman"/>
                <a:sym typeface="Times New Roman"/>
              </a:defRPr>
            </a:lvl1pPr>
          </a:lstStyle>
          <a:p>
            <a:r>
              <a:t>Les chambres </a:t>
            </a:r>
          </a:p>
        </p:txBody>
      </p:sp>
      <p:pic>
        <p:nvPicPr>
          <p:cNvPr id="461" name="Picture 2" descr="Picture 2"/>
          <p:cNvPicPr>
            <a:picLocks noChangeAspect="1"/>
          </p:cNvPicPr>
          <p:nvPr/>
        </p:nvPicPr>
        <p:blipFill>
          <a:blip r:embed="rId2">
            <a:extLst/>
          </a:blip>
          <a:srcRect/>
          <a:stretch>
            <a:fillRect/>
          </a:stretch>
        </p:blipFill>
        <p:spPr>
          <a:xfrm>
            <a:off x="6044450" y="46870"/>
            <a:ext cx="3153505" cy="6764093"/>
          </a:xfrm>
          <a:prstGeom prst="rect">
            <a:avLst/>
          </a:prstGeom>
          <a:ln w="12700">
            <a:solidFill>
              <a:srgbClr val="000000"/>
            </a:solidFill>
            <a:miter lim="400000"/>
          </a:ln>
        </p:spPr>
      </p:pic>
      <p:sp>
        <p:nvSpPr>
          <p:cNvPr id="462" name="Shape 462"/>
          <p:cNvSpPr txBox="1"/>
          <p:nvPr/>
        </p:nvSpPr>
        <p:spPr>
          <a:xfrm>
            <a:off x="2771550" y="242109"/>
            <a:ext cx="2544550" cy="37275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defTabSz="457200">
              <a:defRPr sz="2000">
                <a:latin typeface="Times New Roman"/>
                <a:ea typeface="Times New Roman"/>
                <a:cs typeface="Times New Roman"/>
                <a:sym typeface="Times New Roman"/>
              </a:defRPr>
            </a:lvl1pPr>
          </a:lstStyle>
          <a:p>
            <a:r>
              <a:t>Les 3 chambres de l’œil</a:t>
            </a:r>
          </a:p>
        </p:txBody>
      </p:sp>
      <p:sp>
        <p:nvSpPr>
          <p:cNvPr id="463" name="Shape 463"/>
          <p:cNvSpPr txBox="1"/>
          <p:nvPr/>
        </p:nvSpPr>
        <p:spPr>
          <a:xfrm>
            <a:off x="5596" y="1560037"/>
            <a:ext cx="5711626" cy="956951"/>
          </a:xfrm>
          <a:prstGeom prst="rect">
            <a:avLst/>
          </a:prstGeom>
          <a:gradFill>
            <a:gsLst>
              <a:gs pos="0">
                <a:schemeClr val="accent1">
                  <a:hueOff val="357503"/>
                  <a:satOff val="54545"/>
                  <a:lumOff val="29273"/>
                </a:schemeClr>
              </a:gs>
              <a:gs pos="35000">
                <a:srgbClr val="BDD4FF"/>
              </a:gs>
              <a:gs pos="100000">
                <a:schemeClr val="accent1">
                  <a:hueOff val="418253"/>
                  <a:satOff val="54545"/>
                  <a:lumOff val="42493"/>
                </a:schemeClr>
              </a:gs>
            </a:gsLst>
            <a:lin ang="16200000"/>
          </a:gra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defTabSz="457200">
              <a:defRPr sz="2000">
                <a:latin typeface="Times New Roman"/>
                <a:ea typeface="Times New Roman"/>
                <a:cs typeface="Times New Roman"/>
                <a:sym typeface="Times New Roman"/>
              </a:defRPr>
            </a:pPr>
            <a:r>
              <a:rPr b="1"/>
              <a:t>La chambre ant</a:t>
            </a:r>
            <a:r>
              <a:t>: occupe l’espace entre l’endothélium cornéen et la face ant de l’iris, la portion pupillaire du cristallin  et la base du corps ciliaire</a:t>
            </a:r>
          </a:p>
        </p:txBody>
      </p:sp>
      <p:sp>
        <p:nvSpPr>
          <p:cNvPr id="464" name="Shape 464"/>
          <p:cNvSpPr txBox="1"/>
          <p:nvPr/>
        </p:nvSpPr>
        <p:spPr>
          <a:xfrm>
            <a:off x="132970" y="3039094"/>
            <a:ext cx="5871971" cy="664851"/>
          </a:xfrm>
          <a:prstGeom prst="rect">
            <a:avLst/>
          </a:prstGeom>
          <a:gradFill>
            <a:gsLst>
              <a:gs pos="0">
                <a:schemeClr val="accent3">
                  <a:hueOff val="263624"/>
                  <a:satOff val="55948"/>
                  <a:lumOff val="27907"/>
                </a:schemeClr>
              </a:gs>
              <a:gs pos="35000">
                <a:srgbClr val="E4FDBF"/>
              </a:gs>
              <a:gs pos="100000">
                <a:schemeClr val="accent3">
                  <a:hueOff val="321486"/>
                  <a:satOff val="58119"/>
                  <a:lumOff val="40966"/>
                </a:schemeClr>
              </a:gs>
            </a:gsLst>
            <a:lin ang="16200000"/>
          </a:gra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defTabSz="457200">
              <a:defRPr sz="2000">
                <a:latin typeface="Times New Roman"/>
                <a:ea typeface="Times New Roman"/>
                <a:cs typeface="Times New Roman"/>
                <a:sym typeface="Times New Roman"/>
              </a:defRPr>
            </a:pPr>
            <a:r>
              <a:rPr b="1"/>
              <a:t>la chambre post</a:t>
            </a:r>
            <a:r>
              <a:t>: est limité en avant par la face post de l’iris et en arrière par le cristallin et les fibres zonulaires </a:t>
            </a:r>
          </a:p>
        </p:txBody>
      </p:sp>
      <p:sp>
        <p:nvSpPr>
          <p:cNvPr id="465" name="Shape 465"/>
          <p:cNvSpPr txBox="1"/>
          <p:nvPr/>
        </p:nvSpPr>
        <p:spPr>
          <a:xfrm>
            <a:off x="499163" y="4394298"/>
            <a:ext cx="5487729" cy="664851"/>
          </a:xfrm>
          <a:prstGeom prst="rect">
            <a:avLst/>
          </a:prstGeom>
          <a:gradFill>
            <a:gsLst>
              <a:gs pos="0">
                <a:schemeClr val="accent6">
                  <a:hueOff val="-456778"/>
                  <a:satOff val="8290"/>
                  <a:lumOff val="24503"/>
                </a:schemeClr>
              </a:gs>
              <a:gs pos="35000">
                <a:srgbClr val="FFDECF"/>
              </a:gs>
              <a:gs pos="100000">
                <a:schemeClr val="accent6">
                  <a:hueOff val="-556026"/>
                  <a:satOff val="8290"/>
                  <a:lumOff val="34267"/>
                </a:schemeClr>
              </a:gs>
            </a:gsLst>
            <a:lin ang="16200000"/>
          </a:gra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defTabSz="457200">
              <a:defRPr sz="2000">
                <a:latin typeface="Times New Roman"/>
                <a:ea typeface="Times New Roman"/>
                <a:cs typeface="Times New Roman"/>
                <a:sym typeface="Times New Roman"/>
              </a:defRPr>
            </a:pPr>
            <a:r>
              <a:rPr b="1"/>
              <a:t>la cavité vitrée</a:t>
            </a:r>
            <a:r>
              <a:t>: ou corps vitré est occupé par une substance gélatineuse transparente : l’humeur vitrée</a:t>
            </a:r>
          </a:p>
        </p:txBody>
      </p:sp>
      <p:sp>
        <p:nvSpPr>
          <p:cNvPr id="466" name="Shape 466"/>
          <p:cNvSpPr txBox="1"/>
          <p:nvPr/>
        </p:nvSpPr>
        <p:spPr>
          <a:xfrm>
            <a:off x="6483610" y="391678"/>
            <a:ext cx="1487034" cy="372751"/>
          </a:xfrm>
          <a:prstGeom prst="rect">
            <a:avLst/>
          </a:prstGeom>
          <a:gradFill>
            <a:gsLst>
              <a:gs pos="0">
                <a:schemeClr val="accent1">
                  <a:hueOff val="357503"/>
                  <a:satOff val="54545"/>
                  <a:lumOff val="29273"/>
                </a:schemeClr>
              </a:gs>
              <a:gs pos="35000">
                <a:srgbClr val="BDD4FF"/>
              </a:gs>
              <a:gs pos="100000">
                <a:schemeClr val="accent1">
                  <a:hueOff val="418253"/>
                  <a:satOff val="54545"/>
                  <a:lumOff val="42493"/>
                </a:schemeClr>
              </a:gs>
            </a:gsLst>
            <a:lin ang="16200000"/>
          </a:gra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defTabSz="457200">
              <a:defRPr sz="2000" b="1">
                <a:latin typeface="Times New Roman"/>
                <a:ea typeface="Times New Roman"/>
                <a:cs typeface="Times New Roman"/>
                <a:sym typeface="Times New Roman"/>
              </a:defRPr>
            </a:lvl1pPr>
          </a:lstStyle>
          <a:p>
            <a:pPr>
              <a:defRPr b="0"/>
            </a:pPr>
            <a:r>
              <a:rPr b="1"/>
              <a:t>chambre ant</a:t>
            </a:r>
          </a:p>
        </p:txBody>
      </p:sp>
      <p:sp>
        <p:nvSpPr>
          <p:cNvPr id="467" name="Shape 467"/>
          <p:cNvSpPr txBox="1"/>
          <p:nvPr/>
        </p:nvSpPr>
        <p:spPr>
          <a:xfrm>
            <a:off x="6082074" y="765360"/>
            <a:ext cx="1600513" cy="372751"/>
          </a:xfrm>
          <a:prstGeom prst="rect">
            <a:avLst/>
          </a:prstGeom>
          <a:gradFill>
            <a:gsLst>
              <a:gs pos="0">
                <a:schemeClr val="accent3">
                  <a:hueOff val="263624"/>
                  <a:satOff val="55948"/>
                  <a:lumOff val="27907"/>
                </a:schemeClr>
              </a:gs>
              <a:gs pos="35000">
                <a:srgbClr val="E4FDBF"/>
              </a:gs>
              <a:gs pos="100000">
                <a:schemeClr val="accent3">
                  <a:hueOff val="321486"/>
                  <a:satOff val="58119"/>
                  <a:lumOff val="40966"/>
                </a:schemeClr>
              </a:gs>
            </a:gsLst>
            <a:lin ang="16200000"/>
          </a:gra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defTabSz="457200">
              <a:defRPr sz="2000">
                <a:latin typeface="Times New Roman"/>
                <a:ea typeface="Times New Roman"/>
                <a:cs typeface="Times New Roman"/>
                <a:sym typeface="Times New Roman"/>
              </a:defRPr>
            </a:pPr>
            <a:r>
              <a:t>c</a:t>
            </a:r>
            <a:r>
              <a:rPr b="1"/>
              <a:t>hambre post</a:t>
            </a:r>
            <a:r>
              <a:t> </a:t>
            </a:r>
          </a:p>
        </p:txBody>
      </p:sp>
      <p:sp>
        <p:nvSpPr>
          <p:cNvPr id="468" name="Shape 468"/>
          <p:cNvSpPr txBox="1"/>
          <p:nvPr/>
        </p:nvSpPr>
        <p:spPr>
          <a:xfrm>
            <a:off x="7947963" y="2499385"/>
            <a:ext cx="807872" cy="664851"/>
          </a:xfrm>
          <a:prstGeom prst="rect">
            <a:avLst/>
          </a:prstGeom>
          <a:gradFill>
            <a:gsLst>
              <a:gs pos="0">
                <a:schemeClr val="accent6">
                  <a:hueOff val="-456778"/>
                  <a:satOff val="8290"/>
                  <a:lumOff val="24503"/>
                </a:schemeClr>
              </a:gs>
              <a:gs pos="35000">
                <a:srgbClr val="FFDECF"/>
              </a:gs>
              <a:gs pos="100000">
                <a:schemeClr val="accent6">
                  <a:hueOff val="-556026"/>
                  <a:satOff val="8290"/>
                  <a:lumOff val="34267"/>
                </a:schemeClr>
              </a:gs>
            </a:gsLst>
            <a:lin ang="16200000"/>
          </a:gra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gn="ctr" defTabSz="457200">
              <a:defRPr sz="2000" b="1">
                <a:latin typeface="Times New Roman"/>
                <a:ea typeface="Times New Roman"/>
                <a:cs typeface="Times New Roman"/>
                <a:sym typeface="Times New Roman"/>
              </a:defRPr>
            </a:lvl1pPr>
          </a:lstStyle>
          <a:p>
            <a:pPr>
              <a:defRPr b="0"/>
            </a:pPr>
            <a:r>
              <a:rPr b="1"/>
              <a:t>cavité vitrée</a:t>
            </a:r>
          </a:p>
        </p:txBody>
      </p:sp>
    </p:spTree>
  </p:cSld>
  <p:clrMapOvr>
    <a:masterClrMapping/>
  </p:clrMapOvr>
  <p:transition spd="med"/>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0" name="Picture 2" descr="Picture 2"/>
          <p:cNvPicPr>
            <a:picLocks noChangeAspect="1"/>
          </p:cNvPicPr>
          <p:nvPr/>
        </p:nvPicPr>
        <p:blipFill>
          <a:blip r:embed="rId2">
            <a:extLst/>
          </a:blip>
          <a:srcRect/>
          <a:stretch>
            <a:fillRect/>
          </a:stretch>
        </p:blipFill>
        <p:spPr>
          <a:xfrm>
            <a:off x="1" y="0"/>
            <a:ext cx="9144000" cy="6858000"/>
          </a:xfrm>
          <a:prstGeom prst="rect">
            <a:avLst/>
          </a:prstGeom>
          <a:ln w="12700">
            <a:miter lim="400000"/>
          </a:ln>
        </p:spPr>
      </p:pic>
      <p:sp>
        <p:nvSpPr>
          <p:cNvPr id="471" name="Shape 471"/>
          <p:cNvSpPr txBox="1"/>
          <p:nvPr/>
        </p:nvSpPr>
        <p:spPr>
          <a:xfrm>
            <a:off x="4488478" y="2627833"/>
            <a:ext cx="1487034" cy="372751"/>
          </a:xfrm>
          <a:prstGeom prst="rect">
            <a:avLst/>
          </a:prstGeom>
          <a:gradFill>
            <a:gsLst>
              <a:gs pos="0">
                <a:schemeClr val="accent1">
                  <a:hueOff val="357503"/>
                  <a:satOff val="54545"/>
                  <a:lumOff val="29273"/>
                </a:schemeClr>
              </a:gs>
              <a:gs pos="35000">
                <a:srgbClr val="BDD4FF"/>
              </a:gs>
              <a:gs pos="100000">
                <a:schemeClr val="accent1">
                  <a:hueOff val="418253"/>
                  <a:satOff val="54545"/>
                  <a:lumOff val="42493"/>
                </a:schemeClr>
              </a:gs>
            </a:gsLst>
            <a:lin ang="16200000"/>
          </a:gra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defTabSz="457200">
              <a:defRPr sz="2000" b="1">
                <a:latin typeface="Times New Roman"/>
                <a:ea typeface="Times New Roman"/>
                <a:cs typeface="Times New Roman"/>
                <a:sym typeface="Times New Roman"/>
              </a:defRPr>
            </a:lvl1pPr>
          </a:lstStyle>
          <a:p>
            <a:pPr>
              <a:defRPr b="0"/>
            </a:pPr>
            <a:r>
              <a:rPr b="1"/>
              <a:t>chambre ant</a:t>
            </a:r>
          </a:p>
        </p:txBody>
      </p:sp>
      <p:sp>
        <p:nvSpPr>
          <p:cNvPr id="472" name="Shape 472"/>
          <p:cNvSpPr txBox="1"/>
          <p:nvPr/>
        </p:nvSpPr>
        <p:spPr>
          <a:xfrm>
            <a:off x="5024253" y="5652765"/>
            <a:ext cx="1600513" cy="372751"/>
          </a:xfrm>
          <a:prstGeom prst="rect">
            <a:avLst/>
          </a:prstGeom>
          <a:gradFill>
            <a:gsLst>
              <a:gs pos="0">
                <a:schemeClr val="accent3">
                  <a:hueOff val="263624"/>
                  <a:satOff val="55948"/>
                  <a:lumOff val="27907"/>
                </a:schemeClr>
              </a:gs>
              <a:gs pos="35000">
                <a:srgbClr val="E4FDBF"/>
              </a:gs>
              <a:gs pos="100000">
                <a:schemeClr val="accent3">
                  <a:hueOff val="321486"/>
                  <a:satOff val="58119"/>
                  <a:lumOff val="40966"/>
                </a:schemeClr>
              </a:gs>
            </a:gsLst>
            <a:lin ang="16200000"/>
          </a:gra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defTabSz="457200">
              <a:defRPr sz="2000">
                <a:latin typeface="Times New Roman"/>
                <a:ea typeface="Times New Roman"/>
                <a:cs typeface="Times New Roman"/>
                <a:sym typeface="Times New Roman"/>
              </a:defRPr>
            </a:pPr>
            <a:r>
              <a:t>c</a:t>
            </a:r>
            <a:r>
              <a:rPr b="1"/>
              <a:t>hambre post</a:t>
            </a:r>
            <a:r>
              <a:t> </a:t>
            </a:r>
          </a:p>
        </p:txBody>
      </p:sp>
      <p:sp>
        <p:nvSpPr>
          <p:cNvPr id="473" name="Shape 473"/>
          <p:cNvSpPr txBox="1"/>
          <p:nvPr/>
        </p:nvSpPr>
        <p:spPr>
          <a:xfrm>
            <a:off x="5952831" y="6302187"/>
            <a:ext cx="1504160" cy="372751"/>
          </a:xfrm>
          <a:prstGeom prst="rect">
            <a:avLst/>
          </a:prstGeom>
          <a:gradFill>
            <a:gsLst>
              <a:gs pos="0">
                <a:schemeClr val="accent6">
                  <a:hueOff val="-456778"/>
                  <a:satOff val="8290"/>
                  <a:lumOff val="24503"/>
                </a:schemeClr>
              </a:gs>
              <a:gs pos="35000">
                <a:srgbClr val="FFDECF"/>
              </a:gs>
              <a:gs pos="100000">
                <a:schemeClr val="accent6">
                  <a:hueOff val="-556026"/>
                  <a:satOff val="8290"/>
                  <a:lumOff val="34267"/>
                </a:schemeClr>
              </a:gs>
            </a:gsLst>
            <a:lin ang="16200000"/>
          </a:gra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gn="ctr" defTabSz="457200">
              <a:defRPr sz="2000" b="1">
                <a:latin typeface="Times New Roman"/>
                <a:ea typeface="Times New Roman"/>
                <a:cs typeface="Times New Roman"/>
                <a:sym typeface="Times New Roman"/>
              </a:defRPr>
            </a:lvl1pPr>
          </a:lstStyle>
          <a:p>
            <a:pPr>
              <a:defRPr b="0"/>
            </a:pPr>
            <a:r>
              <a:rPr b="1"/>
              <a:t>cavité vitrée</a:t>
            </a:r>
          </a:p>
        </p:txBody>
      </p:sp>
    </p:spTree>
  </p:cSld>
  <p:clrMapOvr>
    <a:masterClrMapping/>
  </p:clrMapOvr>
  <p:transition spd="med"/>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5" name="0DC6710F-63C7-4931-96FA-E72D0CF5BE8A-L0-001.png"/>
          <p:cNvPicPr>
            <a:picLocks noChangeAspect="1"/>
          </p:cNvPicPr>
          <p:nvPr/>
        </p:nvPicPr>
        <p:blipFill>
          <a:blip r:embed="rId2" cstate="email">
            <a:extLst/>
          </a:blip>
          <a:srcRect/>
          <a:stretch>
            <a:fillRect/>
          </a:stretch>
        </p:blipFill>
        <p:spPr>
          <a:xfrm>
            <a:off x="1396671" y="3148262"/>
            <a:ext cx="5265964" cy="3602540"/>
          </a:xfrm>
          <a:prstGeom prst="rect">
            <a:avLst/>
          </a:prstGeom>
          <a:ln w="12700">
            <a:miter lim="400000"/>
          </a:ln>
        </p:spPr>
      </p:pic>
      <p:sp>
        <p:nvSpPr>
          <p:cNvPr id="476" name="Shape 476"/>
          <p:cNvSpPr txBox="1"/>
          <p:nvPr/>
        </p:nvSpPr>
        <p:spPr>
          <a:xfrm>
            <a:off x="48670" y="21783"/>
            <a:ext cx="2509167" cy="507056"/>
          </a:xfrm>
          <a:prstGeom prst="rect">
            <a:avLst/>
          </a:prstGeom>
          <a:solidFill>
            <a:schemeClr val="accent1">
              <a:lumOff val="23725"/>
            </a:schemeClr>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defTabSz="457200">
              <a:defRPr sz="3000" b="1" i="1" cap="small">
                <a:latin typeface="Times New Roman"/>
                <a:ea typeface="Times New Roman"/>
                <a:cs typeface="Times New Roman"/>
                <a:sym typeface="Times New Roman"/>
              </a:defRPr>
            </a:lvl1pPr>
          </a:lstStyle>
          <a:p>
            <a:r>
              <a:t>Le cristallin </a:t>
            </a:r>
          </a:p>
        </p:txBody>
      </p:sp>
      <p:sp>
        <p:nvSpPr>
          <p:cNvPr id="477" name="Shape 477"/>
          <p:cNvSpPr txBox="1"/>
          <p:nvPr/>
        </p:nvSpPr>
        <p:spPr>
          <a:xfrm>
            <a:off x="2632758" y="70100"/>
            <a:ext cx="7433569" cy="37275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defTabSz="457200">
              <a:defRPr sz="2000">
                <a:latin typeface="Times New Roman"/>
                <a:ea typeface="Times New Roman"/>
                <a:cs typeface="Times New Roman"/>
                <a:sym typeface="Times New Roman"/>
              </a:defRPr>
            </a:pPr>
            <a:r>
              <a:t>structure </a:t>
            </a:r>
            <a:r>
              <a:rPr b="1"/>
              <a:t>transparente</a:t>
            </a:r>
            <a:r>
              <a:t>, biconvexe, élastique et avasculaire</a:t>
            </a:r>
          </a:p>
        </p:txBody>
      </p:sp>
      <p:sp>
        <p:nvSpPr>
          <p:cNvPr id="478" name="Shape 478"/>
          <p:cNvSpPr txBox="1"/>
          <p:nvPr/>
        </p:nvSpPr>
        <p:spPr>
          <a:xfrm>
            <a:off x="103935" y="521422"/>
            <a:ext cx="971685" cy="66485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p>
            <a:pPr defTabSz="457200">
              <a:defRPr sz="2000">
                <a:latin typeface="Times New Roman"/>
                <a:ea typeface="Times New Roman"/>
                <a:cs typeface="Times New Roman"/>
                <a:sym typeface="Times New Roman"/>
              </a:defRPr>
            </a:pPr>
            <a:r>
              <a:t>3 parties</a:t>
            </a:r>
            <a:br/>
            <a:endParaRPr/>
          </a:p>
        </p:txBody>
      </p:sp>
      <p:sp>
        <p:nvSpPr>
          <p:cNvPr id="479" name="Shape 479"/>
          <p:cNvSpPr txBox="1"/>
          <p:nvPr/>
        </p:nvSpPr>
        <p:spPr>
          <a:xfrm>
            <a:off x="162023" y="6322537"/>
            <a:ext cx="3201502" cy="37275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p>
            <a:pPr defTabSz="457200">
              <a:defRPr sz="2000">
                <a:latin typeface="Times New Roman"/>
                <a:ea typeface="Times New Roman"/>
                <a:cs typeface="Times New Roman"/>
                <a:sym typeface="Times New Roman"/>
              </a:defRPr>
            </a:pPr>
            <a:r>
              <a:t>* la </a:t>
            </a:r>
            <a:r>
              <a:rPr b="1"/>
              <a:t>substance cristallinienne</a:t>
            </a:r>
          </a:p>
        </p:txBody>
      </p:sp>
      <p:sp>
        <p:nvSpPr>
          <p:cNvPr id="480" name="Shape 480"/>
          <p:cNvSpPr txBox="1"/>
          <p:nvPr/>
        </p:nvSpPr>
        <p:spPr>
          <a:xfrm>
            <a:off x="191211" y="1566251"/>
            <a:ext cx="6942120" cy="15411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defTabSz="457200">
              <a:defRPr sz="2000">
                <a:latin typeface="Times New Roman"/>
                <a:ea typeface="Times New Roman"/>
                <a:cs typeface="Times New Roman"/>
                <a:sym typeface="Times New Roman"/>
              </a:defRPr>
            </a:pPr>
            <a:r>
              <a:t>* </a:t>
            </a:r>
            <a:r>
              <a:rPr b="1"/>
              <a:t>l’épithélium cristallinien</a:t>
            </a:r>
          </a:p>
          <a:p>
            <a:pPr defTabSz="457200">
              <a:defRPr sz="2000">
                <a:latin typeface="Times New Roman"/>
                <a:ea typeface="Times New Roman"/>
                <a:cs typeface="Times New Roman"/>
                <a:sym typeface="Times New Roman"/>
              </a:defRPr>
            </a:pPr>
            <a:r>
              <a:t>sous la </a:t>
            </a:r>
            <a:r>
              <a:rPr i="1"/>
              <a:t>portion ant</a:t>
            </a:r>
            <a:r>
              <a:t> de la capsule on trouve une simple couche de cellules épithéliales cubiques</a:t>
            </a:r>
            <a:br/>
            <a:r>
              <a:t>dans la </a:t>
            </a:r>
            <a:r>
              <a:rPr i="1"/>
              <a:t>région corticale</a:t>
            </a:r>
            <a:r>
              <a:t> des cellules allongées disposées concentriquement (fibres cristalliniennes corticales)</a:t>
            </a:r>
          </a:p>
        </p:txBody>
      </p:sp>
      <p:sp>
        <p:nvSpPr>
          <p:cNvPr id="481" name="Shape 481"/>
          <p:cNvSpPr txBox="1"/>
          <p:nvPr/>
        </p:nvSpPr>
        <p:spPr>
          <a:xfrm>
            <a:off x="175306" y="860540"/>
            <a:ext cx="6973929" cy="6648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defTabSz="457200">
              <a:defRPr sz="2000">
                <a:latin typeface="Times New Roman"/>
                <a:ea typeface="Times New Roman"/>
                <a:cs typeface="Times New Roman"/>
                <a:sym typeface="Times New Roman"/>
              </a:defRPr>
            </a:pPr>
            <a:r>
              <a:t>* la </a:t>
            </a:r>
            <a:r>
              <a:rPr b="1"/>
              <a:t>capsule cristallinienne</a:t>
            </a:r>
            <a:r>
              <a:t>: une épaisse membrane basale transparente, entourant le cristallin)</a:t>
            </a:r>
          </a:p>
        </p:txBody>
      </p:sp>
      <p:pic>
        <p:nvPicPr>
          <p:cNvPr id="482" name="253EE041-6AD4-409C-942C-34F32A4FFEFF-L0-001.png"/>
          <p:cNvPicPr>
            <a:picLocks noChangeAspect="1"/>
          </p:cNvPicPr>
          <p:nvPr/>
        </p:nvPicPr>
        <p:blipFill>
          <a:blip r:embed="rId3" cstate="email">
            <a:extLst/>
          </a:blip>
          <a:srcRect/>
          <a:stretch>
            <a:fillRect/>
          </a:stretch>
        </p:blipFill>
        <p:spPr>
          <a:xfrm>
            <a:off x="7146602" y="473576"/>
            <a:ext cx="1809392" cy="6403901"/>
          </a:xfrm>
          <a:prstGeom prst="rect">
            <a:avLst/>
          </a:prstGeom>
          <a:ln w="12700">
            <a:miter lim="400000"/>
          </a:ln>
        </p:spPr>
      </p:pic>
    </p:spTree>
  </p:cSld>
  <p:clrMapOvr>
    <a:masterClrMapping/>
  </p:clrMapOvr>
  <p:transition spd="med"/>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4" name="Picture 2" descr="Picture 2"/>
          <p:cNvPicPr>
            <a:picLocks noChangeAspect="1"/>
          </p:cNvPicPr>
          <p:nvPr/>
        </p:nvPicPr>
        <p:blipFill>
          <a:blip r:embed="rId2">
            <a:extLst/>
          </a:blip>
          <a:srcRect/>
          <a:stretch>
            <a:fillRect/>
          </a:stretch>
        </p:blipFill>
        <p:spPr>
          <a:xfrm>
            <a:off x="0" y="0"/>
            <a:ext cx="9358346" cy="6858000"/>
          </a:xfrm>
          <a:prstGeom prst="rect">
            <a:avLst/>
          </a:prstGeom>
          <a:ln w="12700">
            <a:miter lim="400000"/>
          </a:ln>
        </p:spPr>
      </p:pic>
    </p:spTree>
  </p:cSld>
  <p:clrMapOvr>
    <a:masterClrMapping/>
  </p:clrMapOvr>
  <p:transition spd="med"/>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28596" y="428604"/>
            <a:ext cx="8029604" cy="1428760"/>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r>
              <a:rPr lang="fr-FR" dirty="0" smtClean="0">
                <a:solidFill>
                  <a:srgbClr val="FF0000"/>
                </a:solidFill>
              </a:rPr>
              <a:t>QCM 1: la macula peut contenir :</a:t>
            </a:r>
            <a:r>
              <a:rPr lang="fr-FR" dirty="0" smtClean="0"/>
              <a:t/>
            </a:r>
            <a:br>
              <a:rPr lang="fr-FR" dirty="0" smtClean="0"/>
            </a:br>
            <a:r>
              <a:rPr lang="fr-FR" dirty="0" smtClean="0"/>
              <a:t/>
            </a:r>
            <a:br>
              <a:rPr lang="fr-FR" dirty="0" smtClean="0"/>
            </a:br>
            <a:endParaRPr lang="fr-FR" dirty="0"/>
          </a:p>
        </p:txBody>
      </p:sp>
      <p:sp>
        <p:nvSpPr>
          <p:cNvPr id="3" name="Espace réservé du texte 2"/>
          <p:cNvSpPr>
            <a:spLocks noGrp="1"/>
          </p:cNvSpPr>
          <p:nvPr>
            <p:ph type="body" sz="quarter" idx="1"/>
          </p:nvPr>
        </p:nvSpPr>
        <p:spPr>
          <a:xfrm>
            <a:off x="357158" y="2143116"/>
            <a:ext cx="7415242" cy="3495684"/>
          </a:xfrm>
        </p:spPr>
        <p:style>
          <a:lnRef idx="2">
            <a:schemeClr val="accent1"/>
          </a:lnRef>
          <a:fillRef idx="1">
            <a:schemeClr val="lt1"/>
          </a:fillRef>
          <a:effectRef idx="0">
            <a:schemeClr val="accent1"/>
          </a:effectRef>
          <a:fontRef idx="minor">
            <a:schemeClr val="dk1"/>
          </a:fontRef>
        </p:style>
        <p:txBody>
          <a:bodyPr>
            <a:noAutofit/>
          </a:bodyPr>
          <a:lstStyle/>
          <a:p>
            <a:pPr marL="514350" indent="-514350" algn="l">
              <a:buFont typeface="+mj-lt"/>
              <a:buAutoNum type="alphaUcPeriod"/>
            </a:pPr>
            <a:r>
              <a:rPr lang="fr-FR" sz="2800" b="1" dirty="0" smtClean="0">
                <a:solidFill>
                  <a:schemeClr val="tx1"/>
                </a:solidFill>
              </a:rPr>
              <a:t>Les cellules à cônes et à bâtonnets</a:t>
            </a:r>
          </a:p>
          <a:p>
            <a:pPr marL="514350" indent="-514350" algn="l">
              <a:buFont typeface="+mj-lt"/>
              <a:buAutoNum type="alphaUcPeriod"/>
            </a:pPr>
            <a:r>
              <a:rPr lang="fr-FR" sz="2800" b="1" dirty="0" smtClean="0">
                <a:solidFill>
                  <a:schemeClr val="tx1"/>
                </a:solidFill>
              </a:rPr>
              <a:t>Du muscle ciliaire</a:t>
            </a:r>
          </a:p>
          <a:p>
            <a:pPr marL="514350" indent="-514350" algn="l">
              <a:buFont typeface="+mj-lt"/>
              <a:buAutoNum type="alphaUcPeriod"/>
            </a:pPr>
            <a:r>
              <a:rPr lang="fr-FR" sz="2800" b="1" dirty="0" smtClean="0">
                <a:solidFill>
                  <a:schemeClr val="tx1"/>
                </a:solidFill>
              </a:rPr>
              <a:t>Fovéa </a:t>
            </a:r>
            <a:r>
              <a:rPr lang="fr-FR" sz="2800" b="1" dirty="0" err="1" smtClean="0">
                <a:solidFill>
                  <a:schemeClr val="tx1"/>
                </a:solidFill>
              </a:rPr>
              <a:t>centralis</a:t>
            </a:r>
            <a:endParaRPr lang="fr-FR" sz="2800" b="1" dirty="0" smtClean="0">
              <a:solidFill>
                <a:schemeClr val="tx1"/>
              </a:solidFill>
            </a:endParaRPr>
          </a:p>
          <a:p>
            <a:pPr marL="514350" indent="-514350" algn="l">
              <a:buFont typeface="+mj-lt"/>
              <a:buAutoNum type="alphaUcPeriod"/>
            </a:pPr>
            <a:r>
              <a:rPr lang="fr-FR" sz="2800" b="1" dirty="0" smtClean="0">
                <a:solidFill>
                  <a:schemeClr val="tx1"/>
                </a:solidFill>
              </a:rPr>
              <a:t>Disque papillaire</a:t>
            </a:r>
          </a:p>
          <a:p>
            <a:pPr marL="514350" indent="-514350" algn="l">
              <a:buFont typeface="+mj-lt"/>
              <a:buAutoNum type="alphaUcPeriod"/>
            </a:pPr>
            <a:r>
              <a:rPr lang="fr-FR" sz="2800" b="1" dirty="0" smtClean="0">
                <a:solidFill>
                  <a:schemeClr val="tx1"/>
                </a:solidFill>
              </a:rPr>
              <a:t>La pupille</a:t>
            </a:r>
            <a:endParaRPr lang="fr-FR" sz="2800" b="1" dirty="0">
              <a:solidFill>
                <a:schemeClr val="tx1"/>
              </a:solidFill>
            </a:endParaRPr>
          </a:p>
        </p:txBody>
      </p:sp>
    </p:spTree>
  </p:cSld>
  <p:clrMapOvr>
    <a:masterClrMapping/>
  </p:clrMapOvr>
  <p:transition spd="med"/>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428605"/>
            <a:ext cx="8858280" cy="1071570"/>
          </a:xfrm>
        </p:spPr>
        <p:style>
          <a:lnRef idx="2">
            <a:schemeClr val="accent1"/>
          </a:lnRef>
          <a:fillRef idx="1">
            <a:schemeClr val="lt1"/>
          </a:fillRef>
          <a:effectRef idx="0">
            <a:schemeClr val="accent1"/>
          </a:effectRef>
          <a:fontRef idx="minor">
            <a:schemeClr val="dk1"/>
          </a:fontRef>
        </p:style>
        <p:txBody>
          <a:bodyPr>
            <a:noAutofit/>
          </a:bodyPr>
          <a:lstStyle/>
          <a:p>
            <a:r>
              <a:rPr lang="fr-FR" sz="2800" dirty="0" smtClean="0">
                <a:solidFill>
                  <a:srgbClr val="FF0000"/>
                </a:solidFill>
              </a:rPr>
              <a:t>QCM 2:l’humeur aqueuse de l’</a:t>
            </a:r>
            <a:r>
              <a:rPr lang="fr-FR" sz="2800" dirty="0" err="1" smtClean="0">
                <a:solidFill>
                  <a:srgbClr val="FF0000"/>
                </a:solidFill>
              </a:rPr>
              <a:t>oeil</a:t>
            </a:r>
            <a:r>
              <a:rPr lang="fr-FR" sz="2800" dirty="0" smtClean="0">
                <a:solidFill>
                  <a:srgbClr val="FF0000"/>
                </a:solidFill>
              </a:rPr>
              <a:t>  se localise au niveau :</a:t>
            </a:r>
            <a:endParaRPr lang="fr-FR" sz="2800" dirty="0">
              <a:solidFill>
                <a:srgbClr val="FF0000"/>
              </a:solidFill>
            </a:endParaRPr>
          </a:p>
        </p:txBody>
      </p:sp>
      <p:sp>
        <p:nvSpPr>
          <p:cNvPr id="3" name="Espace réservé du texte 2"/>
          <p:cNvSpPr>
            <a:spLocks noGrp="1"/>
          </p:cNvSpPr>
          <p:nvPr>
            <p:ph type="body" sz="quarter" idx="1"/>
          </p:nvPr>
        </p:nvSpPr>
        <p:spPr>
          <a:xfrm>
            <a:off x="285720" y="1785926"/>
            <a:ext cx="8072494" cy="3852874"/>
          </a:xfrm>
        </p:spPr>
        <p:style>
          <a:lnRef idx="2">
            <a:schemeClr val="accent1"/>
          </a:lnRef>
          <a:fillRef idx="1">
            <a:schemeClr val="lt1"/>
          </a:fillRef>
          <a:effectRef idx="0">
            <a:schemeClr val="accent1"/>
          </a:effectRef>
          <a:fontRef idx="minor">
            <a:schemeClr val="dk1"/>
          </a:fontRef>
        </p:style>
        <p:txBody>
          <a:bodyPr/>
          <a:lstStyle/>
          <a:p>
            <a:pPr marL="514350" indent="-514350" algn="l">
              <a:buFont typeface="+mj-lt"/>
              <a:buAutoNum type="alphaUcPeriod"/>
            </a:pPr>
            <a:r>
              <a:rPr lang="fr-FR" b="1" dirty="0" smtClean="0">
                <a:solidFill>
                  <a:schemeClr val="tx1"/>
                </a:solidFill>
              </a:rPr>
              <a:t>Le corps vitré </a:t>
            </a:r>
          </a:p>
          <a:p>
            <a:pPr marL="514350" indent="-514350" algn="l">
              <a:buFont typeface="+mj-lt"/>
              <a:buAutoNum type="alphaUcPeriod"/>
            </a:pPr>
            <a:r>
              <a:rPr lang="fr-FR" b="1" dirty="0" smtClean="0">
                <a:solidFill>
                  <a:schemeClr val="tx1"/>
                </a:solidFill>
              </a:rPr>
              <a:t>La chambre antérieur </a:t>
            </a:r>
          </a:p>
          <a:p>
            <a:pPr marL="514350" indent="-514350" algn="l">
              <a:buFont typeface="+mj-lt"/>
              <a:buAutoNum type="alphaUcPeriod"/>
            </a:pPr>
            <a:r>
              <a:rPr lang="fr-FR" b="1" dirty="0" smtClean="0">
                <a:solidFill>
                  <a:schemeClr val="tx1"/>
                </a:solidFill>
              </a:rPr>
              <a:t>La chambre postérieure </a:t>
            </a:r>
          </a:p>
          <a:p>
            <a:pPr marL="514350" indent="-514350" algn="l">
              <a:buFont typeface="+mj-lt"/>
              <a:buAutoNum type="alphaUcPeriod"/>
            </a:pPr>
            <a:r>
              <a:rPr lang="fr-FR" b="1" dirty="0" smtClean="0">
                <a:solidFill>
                  <a:schemeClr val="tx1"/>
                </a:solidFill>
              </a:rPr>
              <a:t>La cornée </a:t>
            </a:r>
          </a:p>
          <a:p>
            <a:pPr marL="514350" indent="-514350" algn="l">
              <a:buFont typeface="+mj-lt"/>
              <a:buAutoNum type="alphaUcPeriod"/>
            </a:pPr>
            <a:r>
              <a:rPr lang="fr-FR" b="1" dirty="0" smtClean="0">
                <a:solidFill>
                  <a:schemeClr val="tx1"/>
                </a:solidFill>
              </a:rPr>
              <a:t>L’angle </a:t>
            </a:r>
            <a:r>
              <a:rPr lang="fr-FR" b="1" dirty="0" err="1" smtClean="0">
                <a:solidFill>
                  <a:schemeClr val="tx1"/>
                </a:solidFill>
              </a:rPr>
              <a:t>irido</a:t>
            </a:r>
            <a:r>
              <a:rPr lang="fr-FR" b="1" dirty="0" smtClean="0">
                <a:solidFill>
                  <a:schemeClr val="tx1"/>
                </a:solidFill>
              </a:rPr>
              <a:t>-cornéen</a:t>
            </a:r>
            <a:endParaRPr lang="fr-FR" b="1" dirty="0">
              <a:solidFill>
                <a:schemeClr val="tx1"/>
              </a:solidFill>
            </a:endParaRPr>
          </a:p>
        </p:txBody>
      </p:sp>
    </p:spTree>
  </p:cSld>
  <p:clrMapOvr>
    <a:masterClrMapping/>
  </p:clrMapOvr>
  <p:transition spd="med"/>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85720" y="214290"/>
            <a:ext cx="8172480" cy="1071570"/>
          </a:xfrm>
        </p:spPr>
        <p:style>
          <a:lnRef idx="2">
            <a:schemeClr val="accent1"/>
          </a:lnRef>
          <a:fillRef idx="1">
            <a:schemeClr val="lt1"/>
          </a:fillRef>
          <a:effectRef idx="0">
            <a:schemeClr val="accent1"/>
          </a:effectRef>
          <a:fontRef idx="minor">
            <a:schemeClr val="dk1"/>
          </a:fontRef>
        </p:style>
        <p:txBody>
          <a:bodyPr>
            <a:normAutofit/>
          </a:bodyPr>
          <a:lstStyle/>
          <a:p>
            <a:r>
              <a:rPr lang="fr-FR" dirty="0" smtClean="0">
                <a:solidFill>
                  <a:srgbClr val="FF0000"/>
                </a:solidFill>
              </a:rPr>
              <a:t>QCM 3: a propos de la cornée:</a:t>
            </a:r>
            <a:endParaRPr lang="fr-FR" dirty="0">
              <a:solidFill>
                <a:srgbClr val="FF0000"/>
              </a:solidFill>
            </a:endParaRPr>
          </a:p>
        </p:txBody>
      </p:sp>
      <p:sp>
        <p:nvSpPr>
          <p:cNvPr id="3" name="Espace réservé du texte 2"/>
          <p:cNvSpPr>
            <a:spLocks noGrp="1"/>
          </p:cNvSpPr>
          <p:nvPr>
            <p:ph type="body" sz="quarter" idx="1"/>
          </p:nvPr>
        </p:nvSpPr>
        <p:spPr>
          <a:xfrm>
            <a:off x="285720" y="1857364"/>
            <a:ext cx="7486680" cy="3781436"/>
          </a:xfrm>
        </p:spPr>
        <p:style>
          <a:lnRef idx="2">
            <a:schemeClr val="accent1"/>
          </a:lnRef>
          <a:fillRef idx="1">
            <a:schemeClr val="lt1"/>
          </a:fillRef>
          <a:effectRef idx="0">
            <a:schemeClr val="accent1"/>
          </a:effectRef>
          <a:fontRef idx="minor">
            <a:schemeClr val="dk1"/>
          </a:fontRef>
        </p:style>
        <p:txBody>
          <a:bodyPr>
            <a:normAutofit lnSpcReduction="10000"/>
          </a:bodyPr>
          <a:lstStyle/>
          <a:p>
            <a:pPr marL="514350" indent="-514350" algn="l">
              <a:buFont typeface="+mj-lt"/>
              <a:buAutoNum type="alphaUcPeriod"/>
            </a:pPr>
            <a:r>
              <a:rPr lang="fr-FR" b="1" dirty="0" smtClean="0">
                <a:solidFill>
                  <a:schemeClr val="tx1"/>
                </a:solidFill>
              </a:rPr>
              <a:t>Fait suite  au  corps ciliaire</a:t>
            </a:r>
          </a:p>
          <a:p>
            <a:pPr marL="514350" indent="-514350" algn="l">
              <a:buFont typeface="+mj-lt"/>
              <a:buAutoNum type="alphaUcPeriod"/>
            </a:pPr>
            <a:r>
              <a:rPr lang="fr-FR" b="1" dirty="0" smtClean="0">
                <a:solidFill>
                  <a:schemeClr val="tx1"/>
                </a:solidFill>
              </a:rPr>
              <a:t>Est richement vascularisé</a:t>
            </a:r>
          </a:p>
          <a:p>
            <a:pPr marL="514350" indent="-514350" algn="l">
              <a:buFont typeface="+mj-lt"/>
              <a:buAutoNum type="alphaUcPeriod"/>
            </a:pPr>
            <a:r>
              <a:rPr lang="fr-FR" b="1" dirty="0" smtClean="0">
                <a:solidFill>
                  <a:schemeClr val="tx1"/>
                </a:solidFill>
              </a:rPr>
              <a:t>Est richement innervé</a:t>
            </a:r>
          </a:p>
          <a:p>
            <a:pPr marL="514350" indent="-514350" algn="l">
              <a:buFont typeface="+mj-lt"/>
              <a:buAutoNum type="alphaUcPeriod"/>
            </a:pPr>
            <a:r>
              <a:rPr lang="fr-FR" b="1" dirty="0" smtClean="0">
                <a:solidFill>
                  <a:schemeClr val="tx1"/>
                </a:solidFill>
              </a:rPr>
              <a:t>Sa nutrition est assurée par l’humeur aqueuse</a:t>
            </a:r>
          </a:p>
          <a:p>
            <a:pPr marL="514350" indent="-514350" algn="l">
              <a:buFont typeface="+mj-lt"/>
              <a:buAutoNum type="alphaUcPeriod"/>
            </a:pPr>
            <a:r>
              <a:rPr lang="fr-FR" b="1" dirty="0" smtClean="0">
                <a:solidFill>
                  <a:schemeClr val="tx1"/>
                </a:solidFill>
              </a:rPr>
              <a:t>Sa nutrition est assurée par l’humeur vitrée</a:t>
            </a:r>
            <a:endParaRPr lang="fr-FR" b="1" dirty="0">
              <a:solidFill>
                <a:schemeClr val="tx1"/>
              </a:solidFill>
            </a:endParaRPr>
          </a:p>
        </p:txBody>
      </p:sp>
    </p:spTree>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14282" y="285729"/>
            <a:ext cx="8243918" cy="1071569"/>
          </a:xfrm>
        </p:spPr>
        <p:style>
          <a:lnRef idx="2">
            <a:schemeClr val="accent1"/>
          </a:lnRef>
          <a:fillRef idx="1">
            <a:schemeClr val="lt1"/>
          </a:fillRef>
          <a:effectRef idx="0">
            <a:schemeClr val="accent1"/>
          </a:effectRef>
          <a:fontRef idx="minor">
            <a:schemeClr val="dk1"/>
          </a:fontRef>
        </p:style>
        <p:txBody>
          <a:bodyPr/>
          <a:lstStyle/>
          <a:p>
            <a:r>
              <a:rPr lang="fr-FR" dirty="0" smtClean="0">
                <a:solidFill>
                  <a:srgbClr val="FF0000"/>
                </a:solidFill>
              </a:rPr>
              <a:t>QCM 4 : l’</a:t>
            </a:r>
            <a:r>
              <a:rPr lang="fr-FR" dirty="0" err="1" smtClean="0">
                <a:solidFill>
                  <a:srgbClr val="FF0000"/>
                </a:solidFill>
              </a:rPr>
              <a:t>accomodation</a:t>
            </a:r>
            <a:r>
              <a:rPr lang="fr-FR" dirty="0" smtClean="0">
                <a:solidFill>
                  <a:srgbClr val="FF0000"/>
                </a:solidFill>
              </a:rPr>
              <a:t> se fait grâce :</a:t>
            </a:r>
            <a:endParaRPr lang="fr-FR" dirty="0">
              <a:solidFill>
                <a:srgbClr val="FF0000"/>
              </a:solidFill>
            </a:endParaRPr>
          </a:p>
        </p:txBody>
      </p:sp>
      <p:sp>
        <p:nvSpPr>
          <p:cNvPr id="3" name="Espace réservé du texte 2"/>
          <p:cNvSpPr>
            <a:spLocks noGrp="1"/>
          </p:cNvSpPr>
          <p:nvPr>
            <p:ph type="body" sz="quarter" idx="1"/>
          </p:nvPr>
        </p:nvSpPr>
        <p:spPr>
          <a:xfrm>
            <a:off x="500034" y="1785926"/>
            <a:ext cx="7715304" cy="3852874"/>
          </a:xfrm>
        </p:spPr>
        <p:style>
          <a:lnRef idx="2">
            <a:schemeClr val="accent1"/>
          </a:lnRef>
          <a:fillRef idx="1">
            <a:schemeClr val="lt1"/>
          </a:fillRef>
          <a:effectRef idx="0">
            <a:schemeClr val="accent1"/>
          </a:effectRef>
          <a:fontRef idx="minor">
            <a:schemeClr val="dk1"/>
          </a:fontRef>
        </p:style>
        <p:txBody>
          <a:bodyPr/>
          <a:lstStyle/>
          <a:p>
            <a:pPr marL="514350" indent="-514350" algn="l">
              <a:buFont typeface="+mj-lt"/>
              <a:buAutoNum type="alphaUcPeriod"/>
            </a:pPr>
            <a:r>
              <a:rPr lang="fr-FR" b="1" dirty="0" smtClean="0">
                <a:solidFill>
                  <a:schemeClr val="tx1"/>
                </a:solidFill>
              </a:rPr>
              <a:t>Au muscle ciliaire</a:t>
            </a:r>
          </a:p>
          <a:p>
            <a:pPr marL="514350" indent="-514350" algn="l">
              <a:buFont typeface="+mj-lt"/>
              <a:buAutoNum type="alphaUcPeriod"/>
            </a:pPr>
            <a:r>
              <a:rPr lang="fr-FR" b="1" dirty="0" smtClean="0">
                <a:solidFill>
                  <a:schemeClr val="tx1"/>
                </a:solidFill>
              </a:rPr>
              <a:t>Disque  optique</a:t>
            </a:r>
          </a:p>
          <a:p>
            <a:pPr marL="514350" indent="-514350" algn="l">
              <a:buFont typeface="+mj-lt"/>
              <a:buAutoNum type="alphaUcPeriod"/>
            </a:pPr>
            <a:r>
              <a:rPr lang="fr-FR" b="1" dirty="0" smtClean="0">
                <a:solidFill>
                  <a:schemeClr val="tx1"/>
                </a:solidFill>
              </a:rPr>
              <a:t>À la cornée</a:t>
            </a:r>
          </a:p>
          <a:p>
            <a:pPr marL="514350" indent="-514350" algn="l">
              <a:buFont typeface="+mj-lt"/>
              <a:buAutoNum type="alphaUcPeriod"/>
            </a:pPr>
            <a:r>
              <a:rPr lang="fr-FR" b="1" dirty="0" smtClean="0">
                <a:solidFill>
                  <a:schemeClr val="tx1"/>
                </a:solidFill>
              </a:rPr>
              <a:t>Au cristallin</a:t>
            </a:r>
          </a:p>
          <a:p>
            <a:pPr marL="514350" indent="-514350" algn="l">
              <a:buFont typeface="+mj-lt"/>
              <a:buAutoNum type="alphaUcPeriod"/>
            </a:pPr>
            <a:r>
              <a:rPr lang="fr-FR" b="1" dirty="0" smtClean="0">
                <a:solidFill>
                  <a:schemeClr val="tx1"/>
                </a:solidFill>
              </a:rPr>
              <a:t>Aux ligaments suspenseurs du cristallin</a:t>
            </a:r>
          </a:p>
          <a:p>
            <a:pPr marL="514350" indent="-514350">
              <a:buFont typeface="+mj-lt"/>
              <a:buAutoNum type="alphaUcPeriod"/>
            </a:pPr>
            <a:endParaRPr lang="fr-FR" dirty="0"/>
          </a:p>
        </p:txBody>
      </p:sp>
    </p:spTree>
  </p:cSld>
  <p:clrMapOvr>
    <a:masterClrMapping/>
  </p:clrMapOvr>
  <p:transition spd="med"/>
</p:sld>
</file>

<file path=ppt/tags/tag1.xml><?xml version="1.0" encoding="utf-8"?>
<p:tagLst xmlns:a="http://schemas.openxmlformats.org/drawingml/2006/main" xmlns:r="http://schemas.openxmlformats.org/officeDocument/2006/relationships" xmlns:p="http://schemas.openxmlformats.org/presentationml/2006/main">
  <p:tag name="PRESENTATIONKEY" val="XNGEOY"/>
</p:tagLst>
</file>

<file path=ppt/theme/theme1.xml><?xml version="1.0" encoding="utf-8"?>
<a:theme xmlns:a="http://schemas.openxmlformats.org/drawingml/2006/main" name="Thème Office">
  <a:themeElements>
    <a:clrScheme name="Thème Offic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Thème Office">
      <a:majorFont>
        <a:latin typeface="Helvetica"/>
        <a:ea typeface="Helvetica"/>
        <a:cs typeface="Helvetica"/>
      </a:majorFont>
      <a:minorFont>
        <a:latin typeface="Calibri"/>
        <a:ea typeface="Calibri"/>
        <a:cs typeface="Calibri"/>
      </a:minorFont>
    </a:fontScheme>
    <a:fmtScheme name="Thème 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Thème Office">
  <a:themeElements>
    <a:clrScheme name="Thème Offic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Thème Office">
      <a:majorFont>
        <a:latin typeface="Helvetica"/>
        <a:ea typeface="Helvetica"/>
        <a:cs typeface="Helvetica"/>
      </a:majorFont>
      <a:minorFont>
        <a:latin typeface="Calibri"/>
        <a:ea typeface="Calibri"/>
        <a:cs typeface="Calibri"/>
      </a:minorFont>
    </a:fontScheme>
    <a:fmtScheme name="Thème 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211</TotalTime>
  <Words>1790</Words>
  <Application>Microsoft Office PowerPoint</Application>
  <PresentationFormat>Affichage à l'écran (4:3)</PresentationFormat>
  <Paragraphs>255</Paragraphs>
  <Slides>37</Slides>
  <Notes>2</Notes>
  <HiddenSlides>2</HiddenSlides>
  <MMClips>0</MMClips>
  <ScaleCrop>false</ScaleCrop>
  <HeadingPairs>
    <vt:vector size="4" baseType="variant">
      <vt:variant>
        <vt:lpstr>Thème</vt:lpstr>
      </vt:variant>
      <vt:variant>
        <vt:i4>1</vt:i4>
      </vt:variant>
      <vt:variant>
        <vt:lpstr>Titres des diapositives</vt:lpstr>
      </vt:variant>
      <vt:variant>
        <vt:i4>37</vt:i4>
      </vt:variant>
    </vt:vector>
  </HeadingPairs>
  <TitlesOfParts>
    <vt:vector size="38" baseType="lpstr">
      <vt:lpstr>Thème Office</vt:lpstr>
      <vt:lpstr> L’organe de vision - L’œil -   Dr N .Messala </vt:lpstr>
      <vt:lpstr>Diapositive 2</vt:lpstr>
      <vt:lpstr>L’œil est enfermé dans une cavité osseuse: l’orbite, et connecté au cerveau par le nerf optique  -le globe oculaire est constitué de 3 tuniques ou couches:       1) la  sclérotique  et  la  cornée       2) l’uvée       3) la rétine  - a l’intérieur on observe 3 cavités: la chambre antérieure, la chambre postérieure et la cavité vitré.  - l’humeur aqueuse: circule de la chambre post vers la chambre ant - le cristallin :est situé devant la cavité vitrée (l’humeur vitrée)  - l’orbite, les paupières, la conjonctive et l’appareil lacrymal protègent: le globe oculaire    </vt:lpstr>
      <vt:lpstr>Diapositive 4</vt:lpstr>
      <vt:lpstr>Diapositive 5</vt:lpstr>
      <vt:lpstr>Diapositive 6</vt:lpstr>
      <vt:lpstr>Diapositive 7</vt:lpstr>
      <vt:lpstr>Diapositive 8</vt:lpstr>
      <vt:lpstr>Diapositive 9</vt:lpstr>
      <vt:lpstr>Diapositive 10</vt:lpstr>
      <vt:lpstr>Diapositive 11</vt:lpstr>
      <vt:lpstr>Diapositive 12</vt:lpstr>
      <vt:lpstr>Diapositive 13</vt:lpstr>
      <vt:lpstr>Diapositive 14</vt:lpstr>
      <vt:lpstr>Diapositive 15</vt:lpstr>
      <vt:lpstr>Diapositive 16</vt:lpstr>
      <vt:lpstr>Diapositive 17</vt:lpstr>
      <vt:lpstr>Diapositive 18</vt:lpstr>
      <vt:lpstr>Diapositive 19</vt:lpstr>
      <vt:lpstr>Diapositive 20</vt:lpstr>
      <vt:lpstr>Diapositive 21</vt:lpstr>
      <vt:lpstr>Diapositive 22</vt:lpstr>
      <vt:lpstr>Diapositive 23</vt:lpstr>
      <vt:lpstr>Diapositive 24</vt:lpstr>
      <vt:lpstr>Diapositive 25</vt:lpstr>
      <vt:lpstr>Diapositive 26</vt:lpstr>
      <vt:lpstr>Diapositive 27</vt:lpstr>
      <vt:lpstr>Diapositive 28</vt:lpstr>
      <vt:lpstr>Diapositive 29</vt:lpstr>
      <vt:lpstr>Diapositive 30</vt:lpstr>
      <vt:lpstr>Diapositive 31</vt:lpstr>
      <vt:lpstr>Diapositive 32</vt:lpstr>
      <vt:lpstr>Diapositive 33</vt:lpstr>
      <vt:lpstr>QCM 1: la macula peut contenir :  </vt:lpstr>
      <vt:lpstr>QCM 2:l’humeur aqueuse de l’oeil  se localise au niveau :</vt:lpstr>
      <vt:lpstr>QCM 3: a propos de la cornée:</vt:lpstr>
      <vt:lpstr>QCM 4 : l’accomodation se fait grâce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L’organe de vision - L’œil -   Dr N .Messala</dc:title>
  <dc:creator>BERRADA.SM</dc:creator>
  <cp:lastModifiedBy>hp</cp:lastModifiedBy>
  <cp:revision>11</cp:revision>
  <dcterms:modified xsi:type="dcterms:W3CDTF">2022-06-23T09:49:38Z</dcterms:modified>
</cp:coreProperties>
</file>