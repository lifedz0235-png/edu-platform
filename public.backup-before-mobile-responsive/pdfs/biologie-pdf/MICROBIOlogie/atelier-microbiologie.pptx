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431" r:id="rId3"/>
    <p:sldId id="404" r:id="rId4"/>
    <p:sldId id="405" r:id="rId5"/>
    <p:sldId id="409" r:id="rId6"/>
    <p:sldId id="411" r:id="rId7"/>
    <p:sldId id="413" r:id="rId8"/>
    <p:sldId id="415" r:id="rId9"/>
    <p:sldId id="417" r:id="rId10"/>
    <p:sldId id="419" r:id="rId11"/>
    <p:sldId id="421" r:id="rId12"/>
    <p:sldId id="422" r:id="rId13"/>
    <p:sldId id="423" r:id="rId14"/>
    <p:sldId id="424" r:id="rId15"/>
    <p:sldId id="425" r:id="rId16"/>
    <p:sldId id="426" r:id="rId17"/>
    <p:sldId id="428" r:id="rId18"/>
    <p:sldId id="429" r:id="rId19"/>
    <p:sldId id="402" r:id="rId20"/>
    <p:sldId id="270" r:id="rId21"/>
    <p:sldId id="276" r:id="rId22"/>
    <p:sldId id="401" r:id="rId23"/>
    <p:sldId id="277" r:id="rId24"/>
    <p:sldId id="279" r:id="rId25"/>
    <p:sldId id="280" r:id="rId26"/>
    <p:sldId id="283" r:id="rId27"/>
    <p:sldId id="284" r:id="rId28"/>
    <p:sldId id="286" r:id="rId29"/>
    <p:sldId id="287" r:id="rId30"/>
    <p:sldId id="290" r:id="rId31"/>
    <p:sldId id="292" r:id="rId32"/>
    <p:sldId id="293" r:id="rId33"/>
    <p:sldId id="295" r:id="rId34"/>
    <p:sldId id="296" r:id="rId35"/>
    <p:sldId id="301" r:id="rId36"/>
    <p:sldId id="302" r:id="rId37"/>
    <p:sldId id="303" r:id="rId38"/>
    <p:sldId id="305" r:id="rId39"/>
    <p:sldId id="329" r:id="rId40"/>
    <p:sldId id="330" r:id="rId41"/>
    <p:sldId id="331" r:id="rId42"/>
    <p:sldId id="333" r:id="rId43"/>
    <p:sldId id="335" r:id="rId44"/>
    <p:sldId id="337" r:id="rId45"/>
    <p:sldId id="339" r:id="rId46"/>
    <p:sldId id="341" r:id="rId47"/>
    <p:sldId id="343" r:id="rId48"/>
    <p:sldId id="345" r:id="rId49"/>
    <p:sldId id="347" r:id="rId50"/>
    <p:sldId id="349" r:id="rId51"/>
    <p:sldId id="351" r:id="rId52"/>
    <p:sldId id="367" r:id="rId53"/>
    <p:sldId id="369" r:id="rId54"/>
    <p:sldId id="371" r:id="rId55"/>
    <p:sldId id="373" r:id="rId56"/>
    <p:sldId id="374" r:id="rId57"/>
    <p:sldId id="377" r:id="rId58"/>
    <p:sldId id="379" r:id="rId59"/>
    <p:sldId id="381" r:id="rId60"/>
    <p:sldId id="383" r:id="rId61"/>
    <p:sldId id="385" r:id="rId62"/>
    <p:sldId id="387" r:id="rId63"/>
    <p:sldId id="389" r:id="rId64"/>
    <p:sldId id="391" r:id="rId65"/>
    <p:sldId id="395" r:id="rId66"/>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5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2F5D6A-C06D-4488-B698-AEF639908C52}" type="datetimeFigureOut">
              <a:rPr lang="fr-FR" smtClean="0"/>
              <a:pPr/>
              <a:t>06/10/2023</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2C6E46-BDAE-45D8-95C0-959FB9531C11}" type="slidenum">
              <a:rPr lang="fr-FR" smtClean="0"/>
              <a:pPr/>
              <a:t>‹N°›</a:t>
            </a:fld>
            <a:endParaRPr lang="fr-FR"/>
          </a:p>
        </p:txBody>
      </p:sp>
    </p:spTree>
    <p:extLst>
      <p:ext uri="{BB962C8B-B14F-4D97-AF65-F5344CB8AC3E}">
        <p14:creationId xmlns:p14="http://schemas.microsoft.com/office/powerpoint/2010/main" val="4126151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b="1" i="0" kern="1200" dirty="0" smtClean="0">
                <a:solidFill>
                  <a:schemeClr val="tx1"/>
                </a:solidFill>
                <a:latin typeface="+mn-lt"/>
                <a:ea typeface="+mn-ea"/>
                <a:cs typeface="+mn-cs"/>
              </a:rPr>
              <a:t>Le virus de l’hépatite D (VHD) est un virus à acide ribonucléique (ARN) qui a besoin du virus de l’hépatite B (VHB) pour se répliquer. L’infection par le VHD ne peut être qu’une </a:t>
            </a:r>
            <a:r>
              <a:rPr lang="fr-FR" sz="1200" b="1" i="0" kern="1200" dirty="0" err="1" smtClean="0">
                <a:solidFill>
                  <a:schemeClr val="tx1"/>
                </a:solidFill>
                <a:latin typeface="+mn-lt"/>
                <a:ea typeface="+mn-ea"/>
                <a:cs typeface="+mn-cs"/>
              </a:rPr>
              <a:t>co-infection</a:t>
            </a:r>
            <a:r>
              <a:rPr lang="fr-FR" sz="1200" b="1" i="0" kern="1200" dirty="0" smtClean="0">
                <a:solidFill>
                  <a:schemeClr val="tx1"/>
                </a:solidFill>
                <a:latin typeface="+mn-lt"/>
                <a:ea typeface="+mn-ea"/>
                <a:cs typeface="+mn-cs"/>
              </a:rPr>
              <a:t> simultanée avec le VHB ou une surinfection.</a:t>
            </a:r>
            <a:endParaRPr lang="fr-FR" dirty="0"/>
          </a:p>
        </p:txBody>
      </p:sp>
      <p:sp>
        <p:nvSpPr>
          <p:cNvPr id="4" name="Espace réservé du numéro de diapositive 3"/>
          <p:cNvSpPr>
            <a:spLocks noGrp="1"/>
          </p:cNvSpPr>
          <p:nvPr>
            <p:ph type="sldNum" sz="quarter" idx="10"/>
          </p:nvPr>
        </p:nvSpPr>
        <p:spPr/>
        <p:txBody>
          <a:bodyPr/>
          <a:lstStyle/>
          <a:p>
            <a:fld id="{6B8639FA-62B9-4F46-BC2F-33A53F4B8635}" type="slidenum">
              <a:rPr lang="fr-FR" smtClean="0"/>
              <a:pPr/>
              <a:t>16</a:t>
            </a:fld>
            <a:endParaRPr lang="fr-FR"/>
          </a:p>
        </p:txBody>
      </p:sp>
    </p:spTree>
    <p:extLst>
      <p:ext uri="{BB962C8B-B14F-4D97-AF65-F5344CB8AC3E}">
        <p14:creationId xmlns:p14="http://schemas.microsoft.com/office/powerpoint/2010/main" val="3957801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latin typeface="+mn-lt"/>
                <a:ea typeface="+mn-ea"/>
                <a:cs typeface="+mn-cs"/>
              </a:rPr>
              <a:t>La souche </a:t>
            </a:r>
            <a:r>
              <a:rPr lang="fr-FR" sz="1200" kern="1200" dirty="0" err="1" smtClean="0">
                <a:solidFill>
                  <a:schemeClr val="tx1"/>
                </a:solidFill>
                <a:latin typeface="+mn-lt"/>
                <a:ea typeface="+mn-ea"/>
                <a:cs typeface="+mn-cs"/>
              </a:rPr>
              <a:t>avirulente</a:t>
            </a:r>
            <a:r>
              <a:rPr lang="fr-FR" sz="1200" kern="1200" dirty="0" smtClean="0">
                <a:solidFill>
                  <a:schemeClr val="tx1"/>
                </a:solidFill>
                <a:latin typeface="+mn-lt"/>
                <a:ea typeface="+mn-ea"/>
                <a:cs typeface="+mn-cs"/>
              </a:rPr>
              <a:t>, capable de vacciner contre la tuberculose, a été obtenue par Calmette et Guérin par culture d'une souche de </a:t>
            </a:r>
            <a:r>
              <a:rPr lang="fr-FR" sz="1200" kern="1200" dirty="0" err="1" smtClean="0">
                <a:solidFill>
                  <a:schemeClr val="tx1"/>
                </a:solidFill>
                <a:latin typeface="+mn-lt"/>
                <a:ea typeface="+mn-ea"/>
                <a:cs typeface="+mn-cs"/>
              </a:rPr>
              <a:t>mycobacterium</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bovis</a:t>
            </a:r>
            <a:r>
              <a:rPr lang="fr-FR" sz="1200" kern="1200" dirty="0" smtClean="0">
                <a:solidFill>
                  <a:schemeClr val="tx1"/>
                </a:solidFill>
                <a:latin typeface="+mn-lt"/>
                <a:ea typeface="+mn-ea"/>
                <a:cs typeface="+mn-cs"/>
              </a:rPr>
              <a:t> repiquée. Tous les vaccins utilisés dans le monde en sont issus.</a:t>
            </a:r>
          </a:p>
          <a:p>
            <a:endParaRPr lang="fr-FR" dirty="0"/>
          </a:p>
        </p:txBody>
      </p:sp>
      <p:sp>
        <p:nvSpPr>
          <p:cNvPr id="4" name="Espace réservé du numéro de diapositive 3"/>
          <p:cNvSpPr>
            <a:spLocks noGrp="1"/>
          </p:cNvSpPr>
          <p:nvPr>
            <p:ph type="sldNum" sz="quarter" idx="10"/>
          </p:nvPr>
        </p:nvSpPr>
        <p:spPr/>
        <p:txBody>
          <a:bodyPr/>
          <a:lstStyle/>
          <a:p>
            <a:fld id="{D66E763F-87FC-4EB7-BC12-FEF66AF1C764}" type="slidenum">
              <a:rPr lang="fr-FR" smtClean="0"/>
              <a:pPr/>
              <a:t>52</a:t>
            </a:fld>
            <a:endParaRPr lang="fr-FR"/>
          </a:p>
        </p:txBody>
      </p:sp>
    </p:spTree>
    <p:extLst>
      <p:ext uri="{BB962C8B-B14F-4D97-AF65-F5344CB8AC3E}">
        <p14:creationId xmlns:p14="http://schemas.microsoft.com/office/powerpoint/2010/main" val="3376477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kern="1200" dirty="0" smtClean="0">
                <a:solidFill>
                  <a:schemeClr val="tx1"/>
                </a:solidFill>
                <a:latin typeface="+mn-lt"/>
                <a:ea typeface="+mn-ea"/>
                <a:cs typeface="+mn-cs"/>
              </a:rPr>
              <a:t>A. La toxine tétanique résiste remarquablement au vieillissement.</a:t>
            </a:r>
          </a:p>
          <a:p>
            <a:r>
              <a:rPr lang="fr-FR" sz="1200" kern="1200" dirty="0" smtClean="0">
                <a:solidFill>
                  <a:schemeClr val="tx1"/>
                </a:solidFill>
                <a:latin typeface="+mn-lt"/>
                <a:ea typeface="+mn-ea"/>
                <a:cs typeface="+mn-cs"/>
              </a:rPr>
              <a:t>C. L'injection d'anatoxine est suivie d'une immunité active. A la différence de l'antitoxine suivie d'une immunité passive.</a:t>
            </a:r>
          </a:p>
          <a:p>
            <a:endParaRPr lang="fr-FR" dirty="0"/>
          </a:p>
        </p:txBody>
      </p:sp>
      <p:sp>
        <p:nvSpPr>
          <p:cNvPr id="4" name="Espace réservé du numéro de diapositive 3"/>
          <p:cNvSpPr>
            <a:spLocks noGrp="1"/>
          </p:cNvSpPr>
          <p:nvPr>
            <p:ph type="sldNum" sz="quarter" idx="10"/>
          </p:nvPr>
        </p:nvSpPr>
        <p:spPr/>
        <p:txBody>
          <a:bodyPr/>
          <a:lstStyle/>
          <a:p>
            <a:fld id="{D66E763F-87FC-4EB7-BC12-FEF66AF1C764}" type="slidenum">
              <a:rPr lang="fr-FR" smtClean="0"/>
              <a:pPr/>
              <a:t>53</a:t>
            </a:fld>
            <a:endParaRPr lang="fr-FR"/>
          </a:p>
        </p:txBody>
      </p:sp>
    </p:spTree>
    <p:extLst>
      <p:ext uri="{BB962C8B-B14F-4D97-AF65-F5344CB8AC3E}">
        <p14:creationId xmlns:p14="http://schemas.microsoft.com/office/powerpoint/2010/main" val="1165253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latin typeface="+mn-lt"/>
                <a:ea typeface="+mn-ea"/>
                <a:cs typeface="+mn-cs"/>
              </a:rPr>
              <a:t>Les anticorps neutralisants ont pour cible le virus libre extracellulaire, donc, soit en phase de virémie, soit au moment de l'attachement du virus à la cellule.</a:t>
            </a:r>
          </a:p>
          <a:p>
            <a:endParaRPr lang="fr-FR" dirty="0"/>
          </a:p>
        </p:txBody>
      </p:sp>
      <p:sp>
        <p:nvSpPr>
          <p:cNvPr id="4" name="Espace réservé du numéro de diapositive 3"/>
          <p:cNvSpPr>
            <a:spLocks noGrp="1"/>
          </p:cNvSpPr>
          <p:nvPr>
            <p:ph type="sldNum" sz="quarter" idx="10"/>
          </p:nvPr>
        </p:nvSpPr>
        <p:spPr/>
        <p:txBody>
          <a:bodyPr/>
          <a:lstStyle/>
          <a:p>
            <a:fld id="{D66E763F-87FC-4EB7-BC12-FEF66AF1C764}" type="slidenum">
              <a:rPr lang="fr-FR" smtClean="0"/>
              <a:pPr/>
              <a:t>54</a:t>
            </a:fld>
            <a:endParaRPr lang="fr-FR"/>
          </a:p>
        </p:txBody>
      </p:sp>
    </p:spTree>
    <p:extLst>
      <p:ext uri="{BB962C8B-B14F-4D97-AF65-F5344CB8AC3E}">
        <p14:creationId xmlns:p14="http://schemas.microsoft.com/office/powerpoint/2010/main" val="345039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6775D91-A64B-4122-A4DB-12D5B94B2DFB}" type="datetimeFigureOut">
              <a:rPr lang="fr-FR" smtClean="0"/>
              <a:pPr/>
              <a:t>06/10/2023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E44823A-9F4F-4311-B399-448D5E4E7F43}"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775D91-A64B-4122-A4DB-12D5B94B2DFB}" type="datetimeFigureOut">
              <a:rPr lang="fr-FR" smtClean="0"/>
              <a:pPr/>
              <a:t>06/10/2023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44823A-9F4F-4311-B399-448D5E4E7F43}"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a:bodyPr>
          <a:lstStyle/>
          <a:p>
            <a:r>
              <a:rPr lang="fr-FR" sz="5400" b="1" dirty="0" smtClean="0"/>
              <a:t>Atelier </a:t>
            </a:r>
            <a:r>
              <a:rPr lang="fr-FR" sz="5400" b="1" dirty="0" smtClean="0"/>
              <a:t>de microbiologie</a:t>
            </a:r>
            <a:endParaRPr lang="fr-FR" sz="5400" b="1" dirty="0"/>
          </a:p>
        </p:txBody>
      </p:sp>
      <p:sp>
        <p:nvSpPr>
          <p:cNvPr id="3" name="Sous-titre 2"/>
          <p:cNvSpPr>
            <a:spLocks noGrp="1"/>
          </p:cNvSpPr>
          <p:nvPr>
            <p:ph type="subTitle" idx="1"/>
          </p:nvPr>
        </p:nvSpPr>
        <p:spPr>
          <a:xfrm>
            <a:off x="6357950" y="6434174"/>
            <a:ext cx="3486152" cy="352412"/>
          </a:xfrm>
        </p:spPr>
        <p:txBody>
          <a:bodyPr>
            <a:normAutofit fontScale="62500" lnSpcReduction="20000"/>
          </a:bodyPr>
          <a:lstStyle/>
          <a:p>
            <a:r>
              <a:rPr lang="fr-FR" b="1" dirty="0" smtClean="0">
                <a:solidFill>
                  <a:schemeClr val="tx1"/>
                </a:solidFill>
              </a:rPr>
              <a:t>Dr. H. MESSAOUI</a:t>
            </a:r>
            <a:endParaRPr lang="fr-FR" b="1"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p:cNvSpPr>
            <a:spLocks noGrp="1"/>
          </p:cNvSpPr>
          <p:nvPr>
            <p:ph idx="1"/>
          </p:nvPr>
        </p:nvSpPr>
        <p:spPr>
          <a:xfrm>
            <a:off x="0" y="642938"/>
            <a:ext cx="9036496" cy="5483225"/>
          </a:xfrm>
        </p:spPr>
        <p:txBody>
          <a:bodyPr rtlCol="0">
            <a:normAutofit fontScale="85000" lnSpcReduction="20000"/>
          </a:bodyPr>
          <a:lstStyle/>
          <a:p>
            <a:pPr algn="ctr" eaLnBrk="1" fontAlgn="auto" hangingPunct="1">
              <a:spcAft>
                <a:spcPts val="0"/>
              </a:spcAft>
              <a:defRPr/>
            </a:pPr>
            <a:r>
              <a:rPr lang="fr-FR" sz="4100" b="1" u="sng" dirty="0" smtClean="0">
                <a:solidFill>
                  <a:srgbClr val="FF0000"/>
                </a:solidFill>
                <a:latin typeface="Arial" pitchFamily="34" charset="0"/>
                <a:cs typeface="Arial" pitchFamily="34" charset="0"/>
              </a:rPr>
              <a:t>Anatomie bactérienne </a:t>
            </a:r>
            <a:r>
              <a:rPr lang="fr-FR" sz="4100" b="1" dirty="0" smtClean="0">
                <a:solidFill>
                  <a:srgbClr val="FF0000"/>
                </a:solidFill>
                <a:latin typeface="Arial" pitchFamily="34" charset="0"/>
                <a:cs typeface="Arial" pitchFamily="34" charset="0"/>
              </a:rPr>
              <a:t>(cellule procaryote)</a:t>
            </a:r>
          </a:p>
          <a:p>
            <a:pPr marL="0" indent="0" algn="just" eaLnBrk="1" fontAlgn="auto" hangingPunct="1">
              <a:spcAft>
                <a:spcPts val="0"/>
              </a:spcAft>
              <a:buNone/>
              <a:defRPr/>
            </a:pPr>
            <a:r>
              <a:rPr lang="fr-FR" sz="2500" b="1" dirty="0" smtClean="0">
                <a:cs typeface="Arial" pitchFamily="34" charset="0"/>
              </a:rPr>
              <a:t>       </a:t>
            </a:r>
            <a:r>
              <a:rPr lang="fr-FR" sz="2500" b="1" dirty="0" smtClean="0">
                <a:solidFill>
                  <a:srgbClr val="FF0000"/>
                </a:solidFill>
                <a:cs typeface="Arial" pitchFamily="34" charset="0"/>
              </a:rPr>
              <a:t>Eléments obligatoires :                                   Eléments  inconstamment     				                                               présents :</a:t>
            </a:r>
          </a:p>
          <a:p>
            <a:pPr algn="just" eaLnBrk="1" fontAlgn="auto" hangingPunct="1">
              <a:spcAft>
                <a:spcPts val="0"/>
              </a:spcAft>
              <a:defRPr/>
            </a:pPr>
            <a:r>
              <a:rPr lang="fr-FR" sz="2500" dirty="0" smtClean="0"/>
              <a:t>- chromosome      		                     - plasmides</a:t>
            </a:r>
          </a:p>
          <a:p>
            <a:pPr algn="just" eaLnBrk="1" fontAlgn="auto" hangingPunct="1">
              <a:spcAft>
                <a:spcPts val="0"/>
              </a:spcAft>
              <a:defRPr/>
            </a:pPr>
            <a:r>
              <a:rPr lang="fr-FR" sz="2500" dirty="0" smtClean="0"/>
              <a:t>- cytoplasme          	 	                    - vacuoles,  substances de réserve</a:t>
            </a:r>
          </a:p>
          <a:p>
            <a:pPr algn="just" eaLnBrk="1" fontAlgn="auto" hangingPunct="1">
              <a:spcAft>
                <a:spcPts val="0"/>
              </a:spcAft>
              <a:defRPr/>
            </a:pPr>
            <a:r>
              <a:rPr lang="fr-FR" sz="2500" dirty="0" smtClean="0"/>
              <a:t>- ribosomes             	                                    - capsule</a:t>
            </a:r>
          </a:p>
          <a:p>
            <a:pPr algn="just" eaLnBrk="1" fontAlgn="auto" hangingPunct="1">
              <a:spcAft>
                <a:spcPts val="0"/>
              </a:spcAft>
              <a:defRPr/>
            </a:pPr>
            <a:r>
              <a:rPr lang="fr-FR" sz="2500" dirty="0" smtClean="0"/>
              <a:t>- membrane cytoplasmique 	                    - flagelles</a:t>
            </a:r>
          </a:p>
          <a:p>
            <a:pPr algn="just" eaLnBrk="1" fontAlgn="auto" hangingPunct="1">
              <a:spcAft>
                <a:spcPts val="0"/>
              </a:spcAft>
              <a:defRPr/>
            </a:pPr>
            <a:r>
              <a:rPr lang="fr-FR" sz="2500" dirty="0" smtClean="0"/>
              <a:t>- paroi 				     - pili (</a:t>
            </a:r>
            <a:r>
              <a:rPr lang="fr-FR" sz="2500" dirty="0" err="1" smtClean="0"/>
              <a:t>pilus</a:t>
            </a:r>
            <a:r>
              <a:rPr lang="fr-FR" sz="2500" dirty="0" smtClean="0"/>
              <a:t> commun et </a:t>
            </a:r>
            <a:r>
              <a:rPr lang="fr-FR" sz="2500" dirty="0" err="1" smtClean="0"/>
              <a:t>pilus</a:t>
            </a:r>
            <a:r>
              <a:rPr lang="fr-FR" sz="2500" dirty="0" smtClean="0"/>
              <a:t> sexuel)</a:t>
            </a:r>
          </a:p>
          <a:p>
            <a:pPr lvl="4" algn="just" eaLnBrk="1" fontAlgn="auto" hangingPunct="1">
              <a:spcAft>
                <a:spcPts val="0"/>
              </a:spcAft>
              <a:buFont typeface="Arial" panose="020B0604020202020204" pitchFamily="34" charset="0"/>
              <a:buNone/>
              <a:defRPr/>
            </a:pPr>
            <a:r>
              <a:rPr lang="fr-FR" sz="2500" dirty="0" smtClean="0"/>
              <a:t>                                                    </a:t>
            </a:r>
            <a:r>
              <a:rPr lang="fr-FR" sz="2500" dirty="0" smtClean="0">
                <a:cs typeface="Times New Roman" pitchFamily="18" charset="0"/>
              </a:rPr>
              <a:t>- spore</a:t>
            </a:r>
          </a:p>
          <a:p>
            <a:pPr marL="0" indent="0" algn="just" eaLnBrk="1" fontAlgn="auto" hangingPunct="1">
              <a:spcAft>
                <a:spcPts val="0"/>
              </a:spcAft>
              <a:buNone/>
              <a:defRPr/>
            </a:pPr>
            <a:r>
              <a:rPr lang="fr-FR" sz="2500" b="1" dirty="0" smtClean="0">
                <a:cs typeface="Arial" pitchFamily="34" charset="0"/>
              </a:rPr>
              <a:t>       </a:t>
            </a:r>
            <a:r>
              <a:rPr lang="fr-FR" sz="2500" b="1" dirty="0" smtClean="0">
                <a:solidFill>
                  <a:srgbClr val="FF0000"/>
                </a:solidFill>
                <a:cs typeface="Arial" pitchFamily="34" charset="0"/>
              </a:rPr>
              <a:t>Eléments absents :</a:t>
            </a:r>
          </a:p>
          <a:p>
            <a:pPr algn="just" eaLnBrk="1" fontAlgn="auto" hangingPunct="1">
              <a:spcAft>
                <a:spcPts val="0"/>
              </a:spcAft>
              <a:defRPr/>
            </a:pPr>
            <a:r>
              <a:rPr lang="fr-FR" sz="2500" dirty="0" smtClean="0"/>
              <a:t>* véritable noyau</a:t>
            </a:r>
          </a:p>
          <a:p>
            <a:pPr algn="just" eaLnBrk="1" fontAlgn="auto" hangingPunct="1">
              <a:spcAft>
                <a:spcPts val="0"/>
              </a:spcAft>
              <a:defRPr/>
            </a:pPr>
            <a:r>
              <a:rPr lang="fr-FR" sz="2500" dirty="0" smtClean="0"/>
              <a:t>* mitochondrie</a:t>
            </a:r>
          </a:p>
          <a:p>
            <a:pPr algn="just" eaLnBrk="1" fontAlgn="auto" hangingPunct="1">
              <a:spcAft>
                <a:spcPts val="0"/>
              </a:spcAft>
              <a:defRPr/>
            </a:pPr>
            <a:r>
              <a:rPr lang="fr-FR" sz="2500" dirty="0" smtClean="0"/>
              <a:t>* réticulum endoplasmique</a:t>
            </a:r>
          </a:p>
          <a:p>
            <a:pPr algn="just" eaLnBrk="1" fontAlgn="auto" hangingPunct="1">
              <a:spcAft>
                <a:spcPts val="0"/>
              </a:spcAft>
              <a:defRPr/>
            </a:pPr>
            <a:r>
              <a:rPr lang="fr-FR" sz="2500" dirty="0" smtClean="0"/>
              <a:t>* appareil de Golgi</a:t>
            </a:r>
          </a:p>
        </p:txBody>
      </p:sp>
    </p:spTree>
    <p:extLst>
      <p:ext uri="{BB962C8B-B14F-4D97-AF65-F5344CB8AC3E}">
        <p14:creationId xmlns:p14="http://schemas.microsoft.com/office/powerpoint/2010/main" val="1852478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nvGraphicFramePr>
        <p:xfrm>
          <a:off x="71439" y="504639"/>
          <a:ext cx="9144031" cy="6415613"/>
        </p:xfrm>
        <a:graphic>
          <a:graphicData uri="http://schemas.openxmlformats.org/drawingml/2006/table">
            <a:tbl>
              <a:tblPr/>
              <a:tblGrid>
                <a:gridCol w="1812122"/>
                <a:gridCol w="3122815"/>
                <a:gridCol w="4209094"/>
              </a:tblGrid>
              <a:tr h="253949">
                <a:tc>
                  <a:txBody>
                    <a:bodyPr/>
                    <a:lstStyle/>
                    <a:p>
                      <a:pPr algn="l">
                        <a:lnSpc>
                          <a:spcPct val="115000"/>
                        </a:lnSpc>
                        <a:spcAft>
                          <a:spcPts val="0"/>
                        </a:spcAft>
                      </a:pP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err="1">
                          <a:latin typeface="Calibri"/>
                          <a:ea typeface="Calibri"/>
                          <a:cs typeface="Arial"/>
                        </a:rPr>
                        <a:t>Cocci</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a:latin typeface="Calibri"/>
                          <a:ea typeface="Calibri"/>
                          <a:cs typeface="Arial"/>
                        </a:rPr>
                        <a:t>Bacilles</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4384">
                <a:tc>
                  <a:txBody>
                    <a:bodyPr/>
                    <a:lstStyle/>
                    <a:p>
                      <a:pPr algn="ctr">
                        <a:lnSpc>
                          <a:spcPct val="115000"/>
                        </a:lnSpc>
                        <a:spcAft>
                          <a:spcPts val="0"/>
                        </a:spcAft>
                      </a:pPr>
                      <a:r>
                        <a:rPr lang="fr-FR" sz="1400" b="1" dirty="0">
                          <a:latin typeface="Times New Roman"/>
                          <a:ea typeface="Calibri"/>
                          <a:cs typeface="Arial"/>
                        </a:rPr>
                        <a:t>Gram+</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fr-FR" sz="1400" b="1" i="1" dirty="0">
                          <a:latin typeface="Times New Roman"/>
                          <a:ea typeface="Calibri"/>
                          <a:cs typeface="Arial"/>
                        </a:rPr>
                        <a:t> </a:t>
                      </a:r>
                      <a:r>
                        <a:rPr lang="fr-FR" sz="1400" i="1" dirty="0" err="1">
                          <a:latin typeface="Times New Roman"/>
                          <a:ea typeface="Calibri"/>
                          <a:cs typeface="Arial"/>
                        </a:rPr>
                        <a:t>Staphylococcus</a:t>
                      </a:r>
                      <a:r>
                        <a:rPr lang="fr-FR" sz="1400" i="1" dirty="0">
                          <a:latin typeface="Times New Roman"/>
                          <a:ea typeface="Calibri"/>
                          <a:cs typeface="Arial"/>
                        </a:rPr>
                        <a:t> (S. aureus, SCN)</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Streptococcus</a:t>
                      </a:r>
                      <a:r>
                        <a:rPr lang="fr-FR" sz="1400" i="1" dirty="0">
                          <a:latin typeface="Times New Roman"/>
                          <a:ea typeface="Calibri"/>
                          <a:cs typeface="Arial"/>
                        </a:rPr>
                        <a:t> (</a:t>
                      </a:r>
                      <a:r>
                        <a:rPr lang="fr-FR" sz="1400" i="1" dirty="0" err="1">
                          <a:latin typeface="Times New Roman"/>
                          <a:ea typeface="Calibri"/>
                          <a:cs typeface="Arial"/>
                        </a:rPr>
                        <a:t>S.pyogenes</a:t>
                      </a:r>
                      <a:r>
                        <a:rPr lang="fr-FR" sz="1400" i="1" dirty="0">
                          <a:latin typeface="Times New Roman"/>
                          <a:ea typeface="Calibri"/>
                          <a:cs typeface="Arial"/>
                        </a:rPr>
                        <a:t>, </a:t>
                      </a:r>
                      <a:r>
                        <a:rPr lang="fr-FR" sz="1400" i="1" dirty="0" err="1">
                          <a:latin typeface="Times New Roman"/>
                          <a:ea typeface="Calibri"/>
                          <a:cs typeface="Arial"/>
                        </a:rPr>
                        <a:t>S.agalactiae</a:t>
                      </a:r>
                      <a:r>
                        <a:rPr lang="fr-FR" sz="1400" i="1" dirty="0">
                          <a:latin typeface="Times New Roman"/>
                          <a:ea typeface="Calibri"/>
                          <a:cs typeface="Arial"/>
                        </a:rPr>
                        <a:t>, </a:t>
                      </a:r>
                      <a:r>
                        <a:rPr lang="fr-FR" sz="1400" i="1" dirty="0" err="1">
                          <a:latin typeface="Times New Roman"/>
                          <a:ea typeface="Calibri"/>
                          <a:cs typeface="Arial"/>
                        </a:rPr>
                        <a:t>S.pneumoniae</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Enterococcus</a:t>
                      </a:r>
                      <a:r>
                        <a:rPr lang="fr-FR" sz="1400" i="1" dirty="0">
                          <a:latin typeface="Times New Roman"/>
                          <a:ea typeface="Calibri"/>
                          <a:cs typeface="Arial"/>
                        </a:rPr>
                        <a:t> (</a:t>
                      </a:r>
                      <a:r>
                        <a:rPr lang="fr-FR" sz="1400" i="1" dirty="0" err="1">
                          <a:latin typeface="Times New Roman"/>
                          <a:ea typeface="Calibri"/>
                          <a:cs typeface="Arial"/>
                        </a:rPr>
                        <a:t>E.faecalis</a:t>
                      </a:r>
                      <a:r>
                        <a:rPr lang="fr-FR" sz="1400" i="1" dirty="0">
                          <a:latin typeface="Times New Roman"/>
                          <a:ea typeface="Calibri"/>
                          <a:cs typeface="Arial"/>
                        </a:rPr>
                        <a:t>, </a:t>
                      </a:r>
                      <a:r>
                        <a:rPr lang="fr-FR" sz="1400" i="1" dirty="0" err="1">
                          <a:latin typeface="Times New Roman"/>
                          <a:ea typeface="Calibri"/>
                          <a:cs typeface="Arial"/>
                        </a:rPr>
                        <a:t>E.faecium</a:t>
                      </a:r>
                      <a:r>
                        <a:rPr lang="fr-FR" sz="1400" i="1" dirty="0">
                          <a:latin typeface="Times New Roman"/>
                          <a:ea typeface="Calibri"/>
                          <a:cs typeface="Arial"/>
                        </a:rPr>
                        <a:t>)</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fr-FR" sz="1400" b="1" cap="small" dirty="0">
                          <a:latin typeface="Times New Roman"/>
                          <a:ea typeface="Calibri"/>
                          <a:cs typeface="Arial"/>
                        </a:rPr>
                        <a:t>Les bacilles à Gram positif aérobies</a:t>
                      </a:r>
                      <a:endParaRPr lang="fr-FR" sz="1400" dirty="0">
                        <a:latin typeface="Calibri"/>
                        <a:ea typeface="Calibri"/>
                        <a:cs typeface="Arial"/>
                      </a:endParaRPr>
                    </a:p>
                    <a:p>
                      <a:pPr algn="l">
                        <a:lnSpc>
                          <a:spcPct val="115000"/>
                        </a:lnSpc>
                        <a:spcAft>
                          <a:spcPts val="0"/>
                        </a:spcAft>
                      </a:pPr>
                      <a:r>
                        <a:rPr lang="fr-FR" sz="1400" dirty="0">
                          <a:latin typeface="Times New Roman"/>
                          <a:ea typeface="Calibri"/>
                          <a:cs typeface="Arial"/>
                        </a:rPr>
                        <a:t> </a:t>
                      </a:r>
                      <a:r>
                        <a:rPr lang="fr-FR" sz="1400" i="1" dirty="0" err="1">
                          <a:latin typeface="Times New Roman"/>
                          <a:ea typeface="Calibri"/>
                          <a:cs typeface="Arial"/>
                        </a:rPr>
                        <a:t>Corynebacterium</a:t>
                      </a:r>
                      <a:r>
                        <a:rPr lang="fr-FR" sz="1400" dirty="0">
                          <a:latin typeface="Times New Roman"/>
                          <a:ea typeface="Calibri"/>
                          <a:cs typeface="Arial"/>
                        </a:rPr>
                        <a:t> (</a:t>
                      </a:r>
                      <a:r>
                        <a:rPr lang="fr-FR" sz="1400" i="1" dirty="0" err="1">
                          <a:latin typeface="Times New Roman"/>
                          <a:ea typeface="Calibri"/>
                          <a:cs typeface="Arial"/>
                        </a:rPr>
                        <a:t>C.diphteriae</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a:latin typeface="Times New Roman"/>
                          <a:ea typeface="Calibri"/>
                          <a:cs typeface="Arial"/>
                        </a:rPr>
                        <a:t>Listeria (L. </a:t>
                      </a:r>
                      <a:r>
                        <a:rPr lang="fr-FR" sz="1400" i="1" dirty="0" err="1">
                          <a:latin typeface="Times New Roman"/>
                          <a:ea typeface="Calibri"/>
                          <a:cs typeface="Arial"/>
                        </a:rPr>
                        <a:t>monocytogenes</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Bacillus</a:t>
                      </a:r>
                      <a:r>
                        <a:rPr lang="fr-FR" sz="1400" i="1" dirty="0">
                          <a:latin typeface="Times New Roman"/>
                          <a:ea typeface="Calibri"/>
                          <a:cs typeface="Arial"/>
                        </a:rPr>
                        <a:t> (B. </a:t>
                      </a:r>
                      <a:r>
                        <a:rPr lang="fr-FR" sz="1400" i="1" dirty="0" err="1">
                          <a:latin typeface="Times New Roman"/>
                          <a:ea typeface="Calibri"/>
                          <a:cs typeface="Arial"/>
                        </a:rPr>
                        <a:t>anthracis</a:t>
                      </a:r>
                      <a:r>
                        <a:rPr lang="fr-FR" sz="1400" i="1" dirty="0">
                          <a:latin typeface="Times New Roman"/>
                          <a:ea typeface="Calibri"/>
                          <a:cs typeface="Arial"/>
                        </a:rPr>
                        <a:t>)</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9860">
                <a:tc>
                  <a:txBody>
                    <a:bodyPr/>
                    <a:lstStyle/>
                    <a:p>
                      <a:pPr algn="l">
                        <a:lnSpc>
                          <a:spcPct val="115000"/>
                        </a:lnSpc>
                        <a:spcAft>
                          <a:spcPts val="0"/>
                        </a:spcAft>
                      </a:pPr>
                      <a:endParaRPr lang="fr-FR" sz="1400">
                        <a:latin typeface="Times New Roman"/>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fr-FR" sz="1400" dirty="0">
                        <a:latin typeface="Times New Roman"/>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fr-FR" sz="1400" b="1" dirty="0">
                          <a:latin typeface="Times New Roman"/>
                          <a:ea typeface="Calibri"/>
                          <a:cs typeface="Arial"/>
                        </a:rPr>
                        <a:t>Les bacilles à Gram positif anaérobies</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Clostridium</a:t>
                      </a:r>
                      <a:r>
                        <a:rPr lang="fr-FR" sz="1400" i="1" dirty="0">
                          <a:latin typeface="Times New Roman"/>
                          <a:ea typeface="Calibri"/>
                          <a:cs typeface="Arial"/>
                        </a:rPr>
                        <a:t> (C. </a:t>
                      </a:r>
                      <a:r>
                        <a:rPr lang="fr-FR" sz="1400" i="1" dirty="0" err="1">
                          <a:latin typeface="Times New Roman"/>
                          <a:ea typeface="Calibri"/>
                          <a:cs typeface="Arial"/>
                        </a:rPr>
                        <a:t>tetani</a:t>
                      </a:r>
                      <a:r>
                        <a:rPr lang="fr-FR" sz="1400" i="1" dirty="0">
                          <a:latin typeface="Times New Roman"/>
                          <a:ea typeface="Calibri"/>
                          <a:cs typeface="Arial"/>
                        </a:rPr>
                        <a:t>, </a:t>
                      </a:r>
                      <a:r>
                        <a:rPr lang="fr-FR" sz="1400" i="1" dirty="0" err="1">
                          <a:latin typeface="Times New Roman"/>
                          <a:ea typeface="Calibri"/>
                          <a:cs typeface="Arial"/>
                        </a:rPr>
                        <a:t>C.botulinum</a:t>
                      </a:r>
                      <a:r>
                        <a:rPr lang="fr-FR" sz="1400" i="1" dirty="0">
                          <a:latin typeface="Times New Roman"/>
                          <a:ea typeface="Calibri"/>
                          <a:cs typeface="Arial"/>
                        </a:rPr>
                        <a:t>, </a:t>
                      </a:r>
                      <a:r>
                        <a:rPr lang="fr-FR" sz="1400" i="1" dirty="0" err="1">
                          <a:latin typeface="Times New Roman"/>
                          <a:ea typeface="Calibri"/>
                          <a:cs typeface="Arial"/>
                        </a:rPr>
                        <a:t>C.perfringens</a:t>
                      </a:r>
                      <a:r>
                        <a:rPr lang="fr-FR" sz="1400" i="1" dirty="0">
                          <a:latin typeface="Times New Roman"/>
                          <a:ea typeface="Calibri"/>
                          <a:cs typeface="Arial"/>
                        </a:rPr>
                        <a:t>, </a:t>
                      </a:r>
                      <a:r>
                        <a:rPr lang="fr-FR" sz="1400" i="1" dirty="0" err="1">
                          <a:latin typeface="Times New Roman"/>
                          <a:ea typeface="Calibri"/>
                          <a:cs typeface="Arial"/>
                        </a:rPr>
                        <a:t>C.difficile</a:t>
                      </a:r>
                      <a:r>
                        <a:rPr lang="fr-FR" sz="1400" i="1" dirty="0">
                          <a:latin typeface="Times New Roman"/>
                          <a:ea typeface="Calibri"/>
                          <a:cs typeface="Arial"/>
                        </a:rPr>
                        <a:t>)</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72513">
                <a:tc>
                  <a:txBody>
                    <a:bodyPr/>
                    <a:lstStyle/>
                    <a:p>
                      <a:pPr algn="ctr">
                        <a:lnSpc>
                          <a:spcPct val="115000"/>
                        </a:lnSpc>
                        <a:spcAft>
                          <a:spcPts val="0"/>
                        </a:spcAft>
                      </a:pPr>
                      <a:r>
                        <a:rPr lang="fr-FR" sz="1400" b="1">
                          <a:latin typeface="Times New Roman"/>
                          <a:ea typeface="Calibri"/>
                          <a:cs typeface="Arial"/>
                        </a:rPr>
                        <a:t>Gram-</a:t>
                      </a:r>
                      <a:endParaRPr lang="fr-FR" sz="140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fr-FR" sz="1400">
                          <a:latin typeface="Times New Roman"/>
                          <a:ea typeface="Calibri"/>
                          <a:cs typeface="Arial"/>
                        </a:rPr>
                        <a:t>Neisseria (</a:t>
                      </a:r>
                      <a:r>
                        <a:rPr lang="fr-FR" sz="1400" i="1">
                          <a:latin typeface="Times New Roman"/>
                          <a:ea typeface="Calibri"/>
                          <a:cs typeface="Arial"/>
                        </a:rPr>
                        <a:t>N.meningitidis, N.gonorrhoeae)</a:t>
                      </a:r>
                      <a:endParaRPr lang="fr-FR" sz="1400">
                        <a:latin typeface="Calibri"/>
                        <a:ea typeface="Calibri"/>
                        <a:cs typeface="Arial"/>
                      </a:endParaRPr>
                    </a:p>
                    <a:p>
                      <a:pPr algn="l">
                        <a:lnSpc>
                          <a:spcPct val="115000"/>
                        </a:lnSpc>
                        <a:spcAft>
                          <a:spcPts val="0"/>
                        </a:spcAft>
                      </a:pPr>
                      <a:r>
                        <a:rPr lang="fr-FR" sz="1400" i="1">
                          <a:latin typeface="Times New Roman"/>
                          <a:ea typeface="Calibri"/>
                          <a:cs typeface="Arial"/>
                        </a:rPr>
                        <a:t>Moraxella (M.lacunata)</a:t>
                      </a:r>
                      <a:endParaRPr lang="fr-FR" sz="1400">
                        <a:latin typeface="Calibri"/>
                        <a:ea typeface="Calibri"/>
                        <a:cs typeface="Arial"/>
                      </a:endParaRPr>
                    </a:p>
                    <a:p>
                      <a:pPr algn="l">
                        <a:lnSpc>
                          <a:spcPct val="115000"/>
                        </a:lnSpc>
                        <a:spcAft>
                          <a:spcPts val="0"/>
                        </a:spcAft>
                      </a:pPr>
                      <a:r>
                        <a:rPr lang="fr-FR" sz="1400" i="1">
                          <a:latin typeface="Times New Roman"/>
                          <a:ea typeface="Calibri"/>
                          <a:cs typeface="Arial"/>
                        </a:rPr>
                        <a:t>Branhamella (B.catarrhalis)</a:t>
                      </a:r>
                      <a:endParaRPr lang="fr-FR" sz="140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fr-FR" sz="1400" b="1" dirty="0">
                          <a:latin typeface="Times New Roman"/>
                          <a:ea typeface="Calibri"/>
                          <a:cs typeface="Arial"/>
                        </a:rPr>
                        <a:t>Bacilles à Gram négatif non exigeants</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Pseudomonas</a:t>
                      </a:r>
                      <a:r>
                        <a:rPr lang="fr-FR" sz="1400" i="1" dirty="0">
                          <a:latin typeface="Times New Roman"/>
                          <a:ea typeface="Calibri"/>
                          <a:cs typeface="Arial"/>
                        </a:rPr>
                        <a:t> (</a:t>
                      </a:r>
                      <a:r>
                        <a:rPr lang="fr-FR" sz="1400" i="1" dirty="0" err="1">
                          <a:latin typeface="Times New Roman"/>
                          <a:ea typeface="Calibri"/>
                          <a:cs typeface="Arial"/>
                        </a:rPr>
                        <a:t>P.aeruginosa</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Acinetobacter</a:t>
                      </a:r>
                      <a:r>
                        <a:rPr lang="fr-FR" sz="1400" i="1" dirty="0">
                          <a:latin typeface="Times New Roman"/>
                          <a:ea typeface="Calibri"/>
                          <a:cs typeface="Arial"/>
                        </a:rPr>
                        <a:t> (</a:t>
                      </a:r>
                      <a:r>
                        <a:rPr lang="fr-FR" sz="1400" i="1" dirty="0" err="1">
                          <a:latin typeface="Times New Roman"/>
                          <a:ea typeface="Calibri"/>
                          <a:cs typeface="Arial"/>
                        </a:rPr>
                        <a:t>A.baumannii</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dirty="0">
                          <a:latin typeface="Times New Roman"/>
                          <a:ea typeface="Calibri"/>
                          <a:cs typeface="Arial"/>
                        </a:rPr>
                        <a:t>Entérobactéries</a:t>
                      </a:r>
                      <a:r>
                        <a:rPr lang="fr-FR" sz="1400" b="1" dirty="0">
                          <a:latin typeface="Times New Roman"/>
                          <a:ea typeface="Calibri"/>
                          <a:cs typeface="Arial"/>
                        </a:rPr>
                        <a:t> (</a:t>
                      </a:r>
                      <a:r>
                        <a:rPr lang="fr-FR" sz="1400" i="1" dirty="0">
                          <a:latin typeface="Times New Roman"/>
                          <a:ea typeface="Calibri"/>
                          <a:cs typeface="Arial"/>
                        </a:rPr>
                        <a:t>Escherichia, Salmonella, </a:t>
                      </a:r>
                      <a:r>
                        <a:rPr lang="fr-FR" sz="1400" i="1" dirty="0" err="1">
                          <a:latin typeface="Times New Roman"/>
                          <a:ea typeface="Calibri"/>
                          <a:cs typeface="Arial"/>
                        </a:rPr>
                        <a:t>Shigella</a:t>
                      </a:r>
                      <a:r>
                        <a:rPr lang="fr-FR" sz="1400" i="1" dirty="0">
                          <a:latin typeface="Times New Roman"/>
                          <a:ea typeface="Calibri"/>
                          <a:cs typeface="Arial"/>
                        </a:rPr>
                        <a:t>, </a:t>
                      </a:r>
                      <a:r>
                        <a:rPr lang="fr-FR" sz="1400" i="1" dirty="0" err="1">
                          <a:latin typeface="Times New Roman"/>
                          <a:ea typeface="Calibri"/>
                          <a:cs typeface="Arial"/>
                        </a:rPr>
                        <a:t>Klebsiella</a:t>
                      </a:r>
                      <a:r>
                        <a:rPr lang="fr-FR" sz="1400" i="1" dirty="0">
                          <a:latin typeface="Times New Roman"/>
                          <a:ea typeface="Calibri"/>
                          <a:cs typeface="Arial"/>
                        </a:rPr>
                        <a:t>, </a:t>
                      </a:r>
                      <a:r>
                        <a:rPr lang="fr-FR" sz="1400" i="1" dirty="0" err="1">
                          <a:latin typeface="Times New Roman"/>
                          <a:ea typeface="Calibri"/>
                          <a:cs typeface="Arial"/>
                        </a:rPr>
                        <a:t>Enterobacter</a:t>
                      </a:r>
                      <a:r>
                        <a:rPr lang="fr-FR" sz="1400" i="1" dirty="0">
                          <a:latin typeface="Times New Roman"/>
                          <a:ea typeface="Calibri"/>
                          <a:cs typeface="Arial"/>
                        </a:rPr>
                        <a:t>, </a:t>
                      </a:r>
                      <a:r>
                        <a:rPr lang="fr-FR" sz="1400" i="1" dirty="0" err="1">
                          <a:latin typeface="Times New Roman"/>
                          <a:ea typeface="Calibri"/>
                          <a:cs typeface="Arial"/>
                        </a:rPr>
                        <a:t>Serratia</a:t>
                      </a:r>
                      <a:r>
                        <a:rPr lang="fr-FR" sz="1400" i="1" dirty="0">
                          <a:latin typeface="Times New Roman"/>
                          <a:ea typeface="Calibri"/>
                          <a:cs typeface="Arial"/>
                        </a:rPr>
                        <a:t>, </a:t>
                      </a:r>
                      <a:r>
                        <a:rPr lang="fr-FR" sz="1400" i="1" dirty="0" err="1">
                          <a:latin typeface="Times New Roman"/>
                          <a:ea typeface="Calibri"/>
                          <a:cs typeface="Arial"/>
                        </a:rPr>
                        <a:t>Proteus</a:t>
                      </a:r>
                      <a:r>
                        <a:rPr lang="fr-FR" sz="1400" i="1" dirty="0">
                          <a:latin typeface="Times New Roman"/>
                          <a:ea typeface="Calibri"/>
                          <a:cs typeface="Arial"/>
                        </a:rPr>
                        <a:t>, </a:t>
                      </a:r>
                      <a:r>
                        <a:rPr lang="fr-FR" sz="1400" i="1" dirty="0" err="1">
                          <a:latin typeface="Times New Roman"/>
                          <a:ea typeface="Calibri"/>
                          <a:cs typeface="Arial"/>
                        </a:rPr>
                        <a:t>Providencia</a:t>
                      </a:r>
                      <a:r>
                        <a:rPr lang="fr-FR" sz="1400" i="1" dirty="0">
                          <a:latin typeface="Times New Roman"/>
                          <a:ea typeface="Calibri"/>
                          <a:cs typeface="Arial"/>
                        </a:rPr>
                        <a:t>, </a:t>
                      </a:r>
                      <a:r>
                        <a:rPr lang="fr-FR" sz="1400" i="1" dirty="0" err="1">
                          <a:latin typeface="Times New Roman"/>
                          <a:ea typeface="Calibri"/>
                          <a:cs typeface="Arial"/>
                        </a:rPr>
                        <a:t>Citrobacter</a:t>
                      </a:r>
                      <a:r>
                        <a:rPr lang="fr-FR" sz="1400" i="1" dirty="0">
                          <a:latin typeface="Times New Roman"/>
                          <a:ea typeface="Calibri"/>
                          <a:cs typeface="Arial"/>
                        </a:rPr>
                        <a:t>, Yersinia</a:t>
                      </a:r>
                      <a:r>
                        <a:rPr lang="fr-FR" sz="1400"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Vibrio</a:t>
                      </a:r>
                      <a:r>
                        <a:rPr lang="fr-FR" sz="1400" dirty="0">
                          <a:latin typeface="Times New Roman"/>
                          <a:ea typeface="Calibri"/>
                          <a:cs typeface="Arial"/>
                        </a:rPr>
                        <a:t> (V. </a:t>
                      </a:r>
                      <a:r>
                        <a:rPr lang="fr-FR" sz="1400" dirty="0" err="1">
                          <a:latin typeface="Times New Roman"/>
                          <a:ea typeface="Calibri"/>
                          <a:cs typeface="Arial"/>
                        </a:rPr>
                        <a:t>cholerae</a:t>
                      </a:r>
                      <a:r>
                        <a:rPr lang="fr-FR" sz="1400" dirty="0">
                          <a:latin typeface="Times New Roman"/>
                          <a:ea typeface="Calibri"/>
                          <a:cs typeface="Arial"/>
                        </a:rPr>
                        <a:t>)</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37426">
                <a:tc>
                  <a:txBody>
                    <a:bodyPr/>
                    <a:lstStyle/>
                    <a:p>
                      <a:pPr algn="l">
                        <a:lnSpc>
                          <a:spcPct val="115000"/>
                        </a:lnSpc>
                        <a:spcAft>
                          <a:spcPts val="0"/>
                        </a:spcAft>
                      </a:pPr>
                      <a:endParaRPr lang="fr-FR" sz="1400">
                        <a:latin typeface="Times New Roman"/>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fr-FR" sz="1400">
                        <a:latin typeface="Times New Roman"/>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fr-FR" sz="1400" b="1" dirty="0">
                          <a:latin typeface="Times New Roman"/>
                          <a:ea typeface="Calibri"/>
                          <a:cs typeface="Arial"/>
                        </a:rPr>
                        <a:t>Les bacilles à Gram négatif difficilement ou non cultivables</a:t>
                      </a:r>
                      <a:r>
                        <a:rPr lang="fr-FR" sz="1400" dirty="0">
                          <a:latin typeface="Times New Roman"/>
                          <a:ea typeface="Calibri"/>
                          <a:cs typeface="Arial"/>
                        </a:rPr>
                        <a:t> </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Haemophilus</a:t>
                      </a:r>
                      <a:r>
                        <a:rPr lang="fr-FR" sz="1400" i="1" dirty="0">
                          <a:latin typeface="Times New Roman"/>
                          <a:ea typeface="Calibri"/>
                          <a:cs typeface="Arial"/>
                        </a:rPr>
                        <a:t> (</a:t>
                      </a:r>
                      <a:r>
                        <a:rPr lang="fr-FR" sz="1400" i="1" dirty="0" err="1">
                          <a:latin typeface="Times New Roman"/>
                          <a:ea typeface="Calibri"/>
                          <a:cs typeface="Arial"/>
                        </a:rPr>
                        <a:t>H.influenzae</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Campylobacter</a:t>
                      </a:r>
                      <a:r>
                        <a:rPr lang="fr-FR" sz="1400" i="1" dirty="0">
                          <a:latin typeface="Times New Roman"/>
                          <a:ea typeface="Calibri"/>
                          <a:cs typeface="Arial"/>
                        </a:rPr>
                        <a:t> (</a:t>
                      </a:r>
                      <a:r>
                        <a:rPr lang="fr-FR" sz="1400" i="1" dirty="0" err="1">
                          <a:latin typeface="Times New Roman"/>
                          <a:ea typeface="Calibri"/>
                          <a:cs typeface="Arial"/>
                        </a:rPr>
                        <a:t>C.jejuni</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Helicobacter</a:t>
                      </a:r>
                      <a:r>
                        <a:rPr lang="fr-FR" sz="1400" i="1" dirty="0">
                          <a:latin typeface="Times New Roman"/>
                          <a:ea typeface="Calibri"/>
                          <a:cs typeface="Arial"/>
                        </a:rPr>
                        <a:t> (</a:t>
                      </a:r>
                      <a:r>
                        <a:rPr lang="fr-FR" sz="1400" i="1" dirty="0" err="1">
                          <a:latin typeface="Times New Roman"/>
                          <a:ea typeface="Calibri"/>
                          <a:cs typeface="Arial"/>
                        </a:rPr>
                        <a:t>H.pylori</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a:latin typeface="Times New Roman"/>
                          <a:ea typeface="Calibri"/>
                          <a:cs typeface="Arial"/>
                        </a:rPr>
                        <a:t>Brucella (</a:t>
                      </a:r>
                      <a:r>
                        <a:rPr lang="fr-FR" sz="1400" i="1" dirty="0" err="1">
                          <a:latin typeface="Times New Roman"/>
                          <a:ea typeface="Calibri"/>
                          <a:cs typeface="Arial"/>
                        </a:rPr>
                        <a:t>B.melitentis</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Bordetella</a:t>
                      </a:r>
                      <a:r>
                        <a:rPr lang="fr-FR" sz="1400" i="1" dirty="0">
                          <a:latin typeface="Times New Roman"/>
                          <a:ea typeface="Calibri"/>
                          <a:cs typeface="Arial"/>
                        </a:rPr>
                        <a:t> (</a:t>
                      </a:r>
                      <a:r>
                        <a:rPr lang="fr-FR" sz="1400" i="1" dirty="0" err="1">
                          <a:latin typeface="Times New Roman"/>
                          <a:ea typeface="Calibri"/>
                          <a:cs typeface="Arial"/>
                        </a:rPr>
                        <a:t>B.pertussis</a:t>
                      </a:r>
                      <a:r>
                        <a:rPr lang="fr-FR" sz="1400" i="1" dirty="0">
                          <a:latin typeface="Times New Roman"/>
                          <a:ea typeface="Calibri"/>
                          <a:cs typeface="Arial"/>
                        </a:rPr>
                        <a:t>)</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Legionella</a:t>
                      </a:r>
                      <a:r>
                        <a:rPr lang="fr-FR" sz="1400" i="1" dirty="0">
                          <a:latin typeface="Times New Roman"/>
                          <a:ea typeface="Calibri"/>
                          <a:cs typeface="Arial"/>
                        </a:rPr>
                        <a:t> (L. </a:t>
                      </a:r>
                      <a:r>
                        <a:rPr lang="fr-FR" sz="1400" i="1" dirty="0" err="1">
                          <a:latin typeface="Times New Roman"/>
                          <a:ea typeface="Calibri"/>
                          <a:cs typeface="Arial"/>
                        </a:rPr>
                        <a:t>pneumophila</a:t>
                      </a:r>
                      <a:r>
                        <a:rPr lang="fr-FR" sz="1400" i="1" dirty="0">
                          <a:latin typeface="Times New Roman"/>
                          <a:ea typeface="Calibri"/>
                          <a:cs typeface="Arial"/>
                        </a:rPr>
                        <a:t>)</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8347">
                <a:tc>
                  <a:txBody>
                    <a:bodyPr/>
                    <a:lstStyle/>
                    <a:p>
                      <a:pPr algn="l">
                        <a:lnSpc>
                          <a:spcPct val="115000"/>
                        </a:lnSpc>
                        <a:spcAft>
                          <a:spcPts val="0"/>
                        </a:spcAft>
                      </a:pPr>
                      <a:endParaRPr lang="fr-FR" sz="1400">
                        <a:latin typeface="Times New Roman"/>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fr-FR" sz="1400">
                        <a:latin typeface="Times New Roman"/>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fr-FR" sz="1400" b="1" dirty="0">
                          <a:latin typeface="Times New Roman"/>
                          <a:ea typeface="Calibri"/>
                          <a:cs typeface="Arial"/>
                        </a:rPr>
                        <a:t>Les bacilles à Gram négatif anaérobies</a:t>
                      </a:r>
                      <a:endParaRPr lang="fr-FR" sz="1400" dirty="0">
                        <a:latin typeface="Calibri"/>
                        <a:ea typeface="Calibri"/>
                        <a:cs typeface="Arial"/>
                      </a:endParaRPr>
                    </a:p>
                    <a:p>
                      <a:pPr algn="l">
                        <a:lnSpc>
                          <a:spcPct val="115000"/>
                        </a:lnSpc>
                        <a:spcAft>
                          <a:spcPts val="0"/>
                        </a:spcAft>
                      </a:pPr>
                      <a:r>
                        <a:rPr lang="fr-FR" sz="1400" i="1" dirty="0" err="1">
                          <a:latin typeface="Times New Roman"/>
                          <a:ea typeface="Calibri"/>
                          <a:cs typeface="Arial"/>
                        </a:rPr>
                        <a:t>Bacteroides</a:t>
                      </a:r>
                      <a:r>
                        <a:rPr lang="fr-FR" sz="1400" i="1" dirty="0">
                          <a:latin typeface="Times New Roman"/>
                          <a:ea typeface="Calibri"/>
                          <a:cs typeface="Arial"/>
                        </a:rPr>
                        <a:t> (</a:t>
                      </a:r>
                      <a:r>
                        <a:rPr lang="fr-FR" sz="1400" i="1" dirty="0" err="1">
                          <a:latin typeface="Times New Roman"/>
                          <a:ea typeface="Calibri"/>
                          <a:cs typeface="Arial"/>
                        </a:rPr>
                        <a:t>B.fragilis</a:t>
                      </a:r>
                      <a:r>
                        <a:rPr lang="fr-FR" sz="1400" i="1" dirty="0">
                          <a:latin typeface="Times New Roman"/>
                          <a:ea typeface="Calibri"/>
                          <a:cs typeface="Arial"/>
                        </a:rPr>
                        <a:t>)</a:t>
                      </a:r>
                      <a:endParaRPr lang="fr-FR" sz="1400" dirty="0">
                        <a:latin typeface="Calibri"/>
                        <a:ea typeface="Calibri"/>
                        <a:cs typeface="Arial"/>
                      </a:endParaRPr>
                    </a:p>
                  </a:txBody>
                  <a:tcPr marL="47049" marR="47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2225" name="Rectangle 1"/>
          <p:cNvSpPr>
            <a:spLocks noChangeArrowheads="1"/>
          </p:cNvSpPr>
          <p:nvPr/>
        </p:nvSpPr>
        <p:spPr bwMode="auto">
          <a:xfrm>
            <a:off x="1643042" y="0"/>
            <a:ext cx="5643570"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Classification des bact</a:t>
            </a:r>
            <a:r>
              <a:rPr kumimoji="0" lang="fr-FR" sz="1400" b="1" i="0" u="none" strike="noStrike" cap="none" normalizeH="0" baseline="0" dirty="0" smtClean="0">
                <a:ln>
                  <a:noFill/>
                </a:ln>
                <a:solidFill>
                  <a:srgbClr val="FF0000"/>
                </a:solidFill>
                <a:effectLst/>
                <a:latin typeface="Calibri"/>
                <a:ea typeface="Calibri" pitchFamily="34" charset="0"/>
                <a:cs typeface="Times New Roman" pitchFamily="18" charset="0"/>
              </a:rPr>
              <a:t>é</a:t>
            </a:r>
            <a:r>
              <a:rPr kumimoji="0" lang="fr-FR" sz="14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ries pathog</a:t>
            </a:r>
            <a:r>
              <a:rPr kumimoji="0" lang="fr-FR" sz="1400" b="1" i="0" u="none" strike="noStrike" cap="none" normalizeH="0" baseline="0" dirty="0" smtClean="0">
                <a:ln>
                  <a:noFill/>
                </a:ln>
                <a:solidFill>
                  <a:srgbClr val="FF0000"/>
                </a:solidFill>
                <a:effectLst/>
                <a:latin typeface="Calibri"/>
                <a:ea typeface="Calibri" pitchFamily="34" charset="0"/>
                <a:cs typeface="Times New Roman" pitchFamily="18" charset="0"/>
              </a:rPr>
              <a:t>è</a:t>
            </a:r>
            <a:r>
              <a:rPr kumimoji="0" lang="fr-FR" sz="14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nes pour l</a:t>
            </a:r>
            <a:r>
              <a:rPr kumimoji="0" lang="fr-FR" sz="1400" b="1" i="0" u="none" strike="noStrike" cap="none" normalizeH="0" baseline="0" dirty="0" smtClean="0">
                <a:ln>
                  <a:noFill/>
                </a:ln>
                <a:solidFill>
                  <a:srgbClr val="FF0000"/>
                </a:solidFill>
                <a:effectLst/>
                <a:latin typeface="Calibri"/>
                <a:ea typeface="Calibri" pitchFamily="34" charset="0"/>
                <a:cs typeface="Times New Roman" pitchFamily="18" charset="0"/>
              </a:rPr>
              <a:t>’</a:t>
            </a:r>
            <a:r>
              <a:rPr kumimoji="0" lang="fr-FR" sz="14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homme</a:t>
            </a:r>
          </a:p>
          <a:p>
            <a:pPr marL="0" marR="0" lvl="0" indent="0" algn="ctr" defTabSz="914400" rtl="0" eaLnBrk="0" fontAlgn="base" latinLnBrk="0" hangingPunct="0">
              <a:lnSpc>
                <a:spcPct val="100000"/>
              </a:lnSpc>
              <a:spcBef>
                <a:spcPct val="0"/>
              </a:spcBef>
              <a:spcAft>
                <a:spcPct val="0"/>
              </a:spcAft>
              <a:buClrTx/>
              <a:buSzTx/>
              <a:buFont typeface="Wingdings" pitchFamily="2" charset="2"/>
              <a:buChar char="Ø"/>
              <a:tabLst/>
            </a:pPr>
            <a:r>
              <a:rPr kumimoji="0" lang="fr-FR" sz="14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 Selon la coloration  de Gram</a:t>
            </a:r>
            <a:endParaRPr kumimoji="0" lang="fr-FR" sz="1400" b="0" i="0" u="none" strike="noStrike" cap="none" normalizeH="0" baseline="0" dirty="0" smtClean="0">
              <a:ln>
                <a:noFill/>
              </a:ln>
              <a:solidFill>
                <a:srgbClr val="FF0000"/>
              </a:solidFill>
              <a:effectLst/>
              <a:latin typeface="Arial" pitchFamily="34" charset="0"/>
              <a:cs typeface="Arial" pitchFamily="34" charset="0"/>
            </a:endParaRPr>
          </a:p>
        </p:txBody>
      </p:sp>
    </p:spTree>
    <p:extLst>
      <p:ext uri="{BB962C8B-B14F-4D97-AF65-F5344CB8AC3E}">
        <p14:creationId xmlns:p14="http://schemas.microsoft.com/office/powerpoint/2010/main" val="13270698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571480"/>
            <a:ext cx="9144000" cy="5929354"/>
          </a:xfrm>
        </p:spPr>
        <p:txBody>
          <a:bodyPr>
            <a:normAutofit fontScale="85000" lnSpcReduction="20000"/>
          </a:bodyPr>
          <a:lstStyle/>
          <a:p>
            <a:pPr lvl="0" algn="just"/>
            <a:r>
              <a:rPr lang="fr-FR" b="1" dirty="0" smtClean="0"/>
              <a:t>Les mycobactéries</a:t>
            </a:r>
            <a:r>
              <a:rPr lang="fr-FR" dirty="0" smtClean="0"/>
              <a:t> : bacilles fins, ne se décolorant ni sous l'action des acides forts, ni sous l'action de l'alcool, sont </a:t>
            </a:r>
            <a:r>
              <a:rPr lang="fr-FR" smtClean="0"/>
              <a:t>ainsi définies </a:t>
            </a:r>
            <a:r>
              <a:rPr lang="fr-FR" dirty="0" smtClean="0"/>
              <a:t>comme des « </a:t>
            </a:r>
            <a:r>
              <a:rPr lang="fr-FR" b="1" dirty="0" smtClean="0"/>
              <a:t>bacilles </a:t>
            </a:r>
            <a:r>
              <a:rPr lang="fr-FR" b="1" dirty="0" err="1" smtClean="0"/>
              <a:t>acido</a:t>
            </a:r>
            <a:r>
              <a:rPr lang="fr-FR" b="1" dirty="0" smtClean="0"/>
              <a:t>-alcoolo-résistants</a:t>
            </a:r>
            <a:r>
              <a:rPr lang="fr-FR" dirty="0" smtClean="0"/>
              <a:t> » ou </a:t>
            </a:r>
            <a:r>
              <a:rPr lang="fr-FR" b="1" dirty="0" smtClean="0"/>
              <a:t>BAAR</a:t>
            </a:r>
            <a:r>
              <a:rPr lang="fr-FR" dirty="0" smtClean="0"/>
              <a:t> : Les bacilles tuberculeux (</a:t>
            </a:r>
            <a:r>
              <a:rPr lang="fr-FR" i="1" dirty="0" err="1" smtClean="0"/>
              <a:t>Mycobacterium</a:t>
            </a:r>
            <a:r>
              <a:rPr lang="fr-FR" i="1" dirty="0" smtClean="0"/>
              <a:t> </a:t>
            </a:r>
            <a:r>
              <a:rPr lang="fr-FR" i="1" dirty="0" err="1" smtClean="0"/>
              <a:t>tuberculosis</a:t>
            </a:r>
            <a:r>
              <a:rPr lang="fr-FR" i="1" dirty="0" smtClean="0"/>
              <a:t>, M. </a:t>
            </a:r>
            <a:r>
              <a:rPr lang="fr-FR" i="1" dirty="0" err="1" smtClean="0"/>
              <a:t>bovis</a:t>
            </a:r>
            <a:r>
              <a:rPr lang="fr-FR" i="1" dirty="0" smtClean="0"/>
              <a:t>, M. </a:t>
            </a:r>
            <a:r>
              <a:rPr lang="fr-FR" i="1" dirty="0" err="1" smtClean="0"/>
              <a:t>africanum</a:t>
            </a:r>
            <a:r>
              <a:rPr lang="fr-FR" dirty="0" smtClean="0"/>
              <a:t>),  les mycobactéries atypiques et le bacille de la lèpre (</a:t>
            </a:r>
            <a:r>
              <a:rPr lang="fr-FR" i="1" dirty="0" smtClean="0"/>
              <a:t>M. </a:t>
            </a:r>
            <a:r>
              <a:rPr lang="fr-FR" i="1" dirty="0" err="1" smtClean="0"/>
              <a:t>leprae</a:t>
            </a:r>
            <a:r>
              <a:rPr lang="fr-FR" dirty="0" smtClean="0"/>
              <a:t>).</a:t>
            </a:r>
          </a:p>
          <a:p>
            <a:pPr lvl="0" algn="just"/>
            <a:r>
              <a:rPr lang="fr-FR" b="1" dirty="0" smtClean="0"/>
              <a:t>Les </a:t>
            </a:r>
            <a:r>
              <a:rPr lang="fr-FR" b="1" i="1" dirty="0" smtClean="0"/>
              <a:t>Mycoplasmes</a:t>
            </a:r>
            <a:r>
              <a:rPr lang="fr-FR" dirty="0" smtClean="0"/>
              <a:t> : genre de bactérie caractérisé par l'absence de paroi cellulaire (</a:t>
            </a:r>
            <a:r>
              <a:rPr lang="la-Latn" i="1" dirty="0" smtClean="0"/>
              <a:t>Mycoplasma genitalium</a:t>
            </a:r>
            <a:r>
              <a:rPr lang="fr-FR" dirty="0" smtClean="0"/>
              <a:t>, </a:t>
            </a:r>
            <a:r>
              <a:rPr lang="fr-FR" i="1" dirty="0" smtClean="0"/>
              <a:t>M. </a:t>
            </a:r>
            <a:r>
              <a:rPr lang="fr-FR" i="1" dirty="0" err="1" smtClean="0"/>
              <a:t>hominis</a:t>
            </a:r>
            <a:r>
              <a:rPr lang="fr-FR" dirty="0" smtClean="0"/>
              <a:t>, </a:t>
            </a:r>
            <a:r>
              <a:rPr lang="la-Latn" i="1" dirty="0" smtClean="0"/>
              <a:t>Ureaplasma urealyticum</a:t>
            </a:r>
            <a:r>
              <a:rPr lang="fr-FR" dirty="0" smtClean="0"/>
              <a:t>)</a:t>
            </a:r>
          </a:p>
          <a:p>
            <a:pPr lvl="0" algn="just"/>
            <a:r>
              <a:rPr lang="fr-FR" b="1" dirty="0" smtClean="0"/>
              <a:t>Les rickettsies</a:t>
            </a:r>
            <a:r>
              <a:rPr lang="fr-FR" dirty="0" smtClean="0"/>
              <a:t> : bactéries parasites intracellulaires obligatoires et de petite taille (300 nm), incapables de prendre la coloration de Gram, elles sont colorées par le colorant de </a:t>
            </a:r>
            <a:r>
              <a:rPr lang="fr-FR" dirty="0" err="1" smtClean="0"/>
              <a:t>Giemsa</a:t>
            </a:r>
            <a:r>
              <a:rPr lang="fr-FR" dirty="0" smtClean="0"/>
              <a:t> (</a:t>
            </a:r>
            <a:r>
              <a:rPr lang="fr-FR" i="1" dirty="0" err="1" smtClean="0"/>
              <a:t>Rickettsia</a:t>
            </a:r>
            <a:r>
              <a:rPr lang="fr-FR" i="1" dirty="0" smtClean="0"/>
              <a:t> </a:t>
            </a:r>
            <a:r>
              <a:rPr lang="fr-FR" i="1" dirty="0" err="1" smtClean="0"/>
              <a:t>prowazekii</a:t>
            </a:r>
            <a:r>
              <a:rPr lang="fr-FR" dirty="0" smtClean="0"/>
              <a:t>)</a:t>
            </a:r>
          </a:p>
          <a:p>
            <a:pPr lvl="0" algn="just"/>
            <a:r>
              <a:rPr lang="fr-FR" dirty="0" smtClean="0"/>
              <a:t>Les </a:t>
            </a:r>
            <a:r>
              <a:rPr lang="fr-FR" b="1" dirty="0" err="1" smtClean="0"/>
              <a:t>chlamydies</a:t>
            </a:r>
            <a:r>
              <a:rPr lang="fr-FR" dirty="0" smtClean="0"/>
              <a:t> : bactéries parasites intracellulaires obligatoires et de petite taille (300-500 nm), non colorable au Gram (</a:t>
            </a:r>
            <a:r>
              <a:rPr lang="fr-FR" i="1" dirty="0" smtClean="0"/>
              <a:t>Chlamydia </a:t>
            </a:r>
            <a:r>
              <a:rPr lang="fr-FR" i="1" dirty="0" err="1" smtClean="0"/>
              <a:t>trachomatis</a:t>
            </a:r>
            <a:r>
              <a:rPr lang="fr-FR" i="1" dirty="0" smtClean="0"/>
              <a:t>).</a:t>
            </a:r>
            <a:endParaRPr lang="fr-FR" dirty="0" smtClean="0"/>
          </a:p>
          <a:p>
            <a:pPr algn="just">
              <a:buNone/>
            </a:pPr>
            <a:endParaRPr lang="fr-FR" dirty="0"/>
          </a:p>
        </p:txBody>
      </p:sp>
      <p:sp>
        <p:nvSpPr>
          <p:cNvPr id="53249" name="Rectangle 1"/>
          <p:cNvSpPr>
            <a:spLocks noChangeArrowheads="1"/>
          </p:cNvSpPr>
          <p:nvPr/>
        </p:nvSpPr>
        <p:spPr bwMode="auto">
          <a:xfrm>
            <a:off x="1714480" y="71414"/>
            <a:ext cx="6047040" cy="4001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Classification des bact</a:t>
            </a:r>
            <a:r>
              <a:rPr kumimoji="0" lang="fr-FR" sz="2000" b="1" i="0" u="none" strike="noStrike" cap="none" normalizeH="0" baseline="0" dirty="0" smtClean="0">
                <a:ln>
                  <a:noFill/>
                </a:ln>
                <a:solidFill>
                  <a:srgbClr val="FF0000"/>
                </a:solidFill>
                <a:effectLst/>
                <a:latin typeface="Calibri"/>
                <a:ea typeface="Calibri" pitchFamily="34" charset="0"/>
                <a:cs typeface="Times New Roman" pitchFamily="18" charset="0"/>
              </a:rPr>
              <a:t>é</a:t>
            </a:r>
            <a:r>
              <a:rPr kumimoji="0" lang="fr-FR" sz="20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ries pathog</a:t>
            </a:r>
            <a:r>
              <a:rPr kumimoji="0" lang="fr-FR" sz="2000" b="1" i="0" u="none" strike="noStrike" cap="none" normalizeH="0" baseline="0" dirty="0" smtClean="0">
                <a:ln>
                  <a:noFill/>
                </a:ln>
                <a:solidFill>
                  <a:srgbClr val="FF0000"/>
                </a:solidFill>
                <a:effectLst/>
                <a:latin typeface="Calibri"/>
                <a:ea typeface="Calibri" pitchFamily="34" charset="0"/>
                <a:cs typeface="Times New Roman" pitchFamily="18" charset="0"/>
              </a:rPr>
              <a:t>è</a:t>
            </a:r>
            <a:r>
              <a:rPr kumimoji="0" lang="fr-FR" sz="20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nes pour l</a:t>
            </a:r>
            <a:r>
              <a:rPr kumimoji="0" lang="fr-FR" sz="2000" b="1" i="0" u="none" strike="noStrike" cap="none" normalizeH="0" baseline="0" dirty="0" smtClean="0">
                <a:ln>
                  <a:noFill/>
                </a:ln>
                <a:solidFill>
                  <a:srgbClr val="FF0000"/>
                </a:solidFill>
                <a:effectLst/>
                <a:latin typeface="Calibri"/>
                <a:ea typeface="Calibri" pitchFamily="34" charset="0"/>
                <a:cs typeface="Times New Roman" pitchFamily="18" charset="0"/>
              </a:rPr>
              <a:t>’</a:t>
            </a:r>
            <a:r>
              <a:rPr kumimoji="0" lang="fr-FR" sz="2000" b="1"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homme</a:t>
            </a:r>
            <a:endParaRPr kumimoji="0" lang="fr-FR" sz="2000" b="0" i="0" u="none" strike="noStrike" cap="none" normalizeH="0" baseline="0" dirty="0" smtClean="0">
              <a:ln>
                <a:noFill/>
              </a:ln>
              <a:solidFill>
                <a:srgbClr val="FF0000"/>
              </a:solidFill>
              <a:effectLst/>
              <a:latin typeface="Arial" pitchFamily="34" charset="0"/>
              <a:cs typeface="Arial" pitchFamily="34" charset="0"/>
            </a:endParaRPr>
          </a:p>
        </p:txBody>
      </p:sp>
    </p:spTree>
    <p:extLst>
      <p:ext uri="{BB962C8B-B14F-4D97-AF65-F5344CB8AC3E}">
        <p14:creationId xmlns:p14="http://schemas.microsoft.com/office/powerpoint/2010/main" val="339245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a:solidFill>
                  <a:srgbClr val="FF0000"/>
                </a:solidFill>
              </a:rPr>
              <a:t>Diagnostic bactériologique</a:t>
            </a:r>
            <a:r>
              <a:rPr lang="fr-FR" dirty="0">
                <a:solidFill>
                  <a:srgbClr val="FF0000"/>
                </a:solidFill>
              </a:rPr>
              <a:t/>
            </a:r>
            <a:br>
              <a:rPr lang="fr-FR" dirty="0">
                <a:solidFill>
                  <a:srgbClr val="FF0000"/>
                </a:solidFill>
              </a:rPr>
            </a:br>
            <a:endParaRPr lang="fr-FR" dirty="0">
              <a:solidFill>
                <a:srgbClr val="FF0000"/>
              </a:solidFill>
            </a:endParaRPr>
          </a:p>
        </p:txBody>
      </p:sp>
      <p:sp>
        <p:nvSpPr>
          <p:cNvPr id="3" name="Espace réservé du contenu 2"/>
          <p:cNvSpPr>
            <a:spLocks noGrp="1"/>
          </p:cNvSpPr>
          <p:nvPr>
            <p:ph idx="1"/>
          </p:nvPr>
        </p:nvSpPr>
        <p:spPr/>
        <p:txBody>
          <a:bodyPr/>
          <a:lstStyle/>
          <a:p>
            <a:pPr algn="just"/>
            <a:r>
              <a:rPr lang="fr-FR" dirty="0"/>
              <a:t>La stratégie </a:t>
            </a:r>
            <a:r>
              <a:rPr lang="fr-FR" dirty="0" smtClean="0"/>
              <a:t>diagnostique </a:t>
            </a:r>
            <a:r>
              <a:rPr lang="fr-FR" dirty="0"/>
              <a:t>est d’isoler </a:t>
            </a:r>
            <a:r>
              <a:rPr lang="fr-FR" dirty="0" smtClean="0"/>
              <a:t>et identifier </a:t>
            </a:r>
            <a:r>
              <a:rPr lang="fr-FR" dirty="0"/>
              <a:t>le germe responsable d’une infection à partir des produits </a:t>
            </a:r>
            <a:r>
              <a:rPr lang="fr-FR" dirty="0" smtClean="0"/>
              <a:t>pathologiques (diagnostic direct), </a:t>
            </a:r>
            <a:r>
              <a:rPr lang="fr-FR" dirty="0"/>
              <a:t>et éventuellement de mettre en évidence une réponse immune spécifique du germe </a:t>
            </a:r>
            <a:r>
              <a:rPr lang="fr-FR" dirty="0" smtClean="0"/>
              <a:t>suspecté (diagnostic indirect)</a:t>
            </a:r>
            <a:endParaRPr lang="fr-FR" dirty="0"/>
          </a:p>
        </p:txBody>
      </p:sp>
    </p:spTree>
    <p:extLst>
      <p:ext uri="{BB962C8B-B14F-4D97-AF65-F5344CB8AC3E}">
        <p14:creationId xmlns:p14="http://schemas.microsoft.com/office/powerpoint/2010/main" val="27480479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Apport des méthodes moléculaires au diagnostic</a:t>
            </a:r>
            <a:r>
              <a:rPr lang="fr-FR" dirty="0" smtClean="0"/>
              <a:t/>
            </a:r>
            <a:br>
              <a:rPr lang="fr-FR" dirty="0" smtClean="0"/>
            </a:br>
            <a:endParaRPr lang="fr-FR" dirty="0"/>
          </a:p>
        </p:txBody>
      </p:sp>
      <p:sp>
        <p:nvSpPr>
          <p:cNvPr id="3" name="Espace réservé du contenu 2"/>
          <p:cNvSpPr>
            <a:spLocks noGrp="1"/>
          </p:cNvSpPr>
          <p:nvPr>
            <p:ph idx="1"/>
          </p:nvPr>
        </p:nvSpPr>
        <p:spPr>
          <a:xfrm>
            <a:off x="0" y="1285860"/>
            <a:ext cx="9144000" cy="5572140"/>
          </a:xfrm>
        </p:spPr>
        <p:txBody>
          <a:bodyPr>
            <a:normAutofit/>
          </a:bodyPr>
          <a:lstStyle/>
          <a:p>
            <a:pPr algn="just"/>
            <a:r>
              <a:rPr lang="fr-FR" dirty="0" smtClean="0"/>
              <a:t>basées </a:t>
            </a:r>
            <a:r>
              <a:rPr lang="fr-FR" dirty="0"/>
              <a:t>sur la </a:t>
            </a:r>
            <a:r>
              <a:rPr lang="fr-FR" i="1" dirty="0" err="1"/>
              <a:t>polymerase</a:t>
            </a:r>
            <a:r>
              <a:rPr lang="fr-FR" i="1" dirty="0"/>
              <a:t> </a:t>
            </a:r>
            <a:r>
              <a:rPr lang="fr-FR" i="1" dirty="0" err="1"/>
              <a:t>chain</a:t>
            </a:r>
            <a:r>
              <a:rPr lang="fr-FR" i="1" dirty="0"/>
              <a:t> </a:t>
            </a:r>
            <a:r>
              <a:rPr lang="fr-FR" i="1" dirty="0" err="1"/>
              <a:t>reaction</a:t>
            </a:r>
            <a:r>
              <a:rPr lang="fr-FR" i="1" dirty="0"/>
              <a:t> </a:t>
            </a:r>
            <a:r>
              <a:rPr lang="fr-FR" dirty="0"/>
              <a:t>(</a:t>
            </a:r>
            <a:r>
              <a:rPr lang="fr-FR" dirty="0" smtClean="0"/>
              <a:t>PCR) utilisée </a:t>
            </a:r>
            <a:r>
              <a:rPr lang="fr-FR" dirty="0"/>
              <a:t>pour détecter des séquences </a:t>
            </a:r>
            <a:r>
              <a:rPr lang="fr-FR" dirty="0" smtClean="0"/>
              <a:t>bactériennes spécifiques </a:t>
            </a:r>
            <a:r>
              <a:rPr lang="fr-FR" dirty="0"/>
              <a:t>de	</a:t>
            </a:r>
            <a:r>
              <a:rPr lang="fr-FR" dirty="0" smtClean="0"/>
              <a:t>certaines bactéries pathogènes</a:t>
            </a:r>
            <a:r>
              <a:rPr lang="fr-FR" dirty="0"/>
              <a:t>. Les avantages principaux </a:t>
            </a:r>
            <a:r>
              <a:rPr lang="fr-FR" dirty="0" smtClean="0"/>
              <a:t>de la PCR</a:t>
            </a:r>
            <a:r>
              <a:rPr lang="fr-FR" dirty="0"/>
              <a:t>	</a:t>
            </a:r>
            <a:r>
              <a:rPr lang="fr-FR" dirty="0" smtClean="0"/>
              <a:t> sont d’augmenter la sensibilité </a:t>
            </a:r>
            <a:r>
              <a:rPr lang="fr-FR" dirty="0"/>
              <a:t>de détection des microorganismes et </a:t>
            </a:r>
            <a:r>
              <a:rPr lang="fr-FR" dirty="0" smtClean="0"/>
              <a:t>de déceler </a:t>
            </a:r>
            <a:r>
              <a:rPr lang="fr-FR" dirty="0"/>
              <a:t>des </a:t>
            </a:r>
            <a:r>
              <a:rPr lang="fr-FR" dirty="0" smtClean="0"/>
              <a:t>microorganismes </a:t>
            </a:r>
            <a:r>
              <a:rPr lang="fr-FR" dirty="0"/>
              <a:t>non viables.</a:t>
            </a:r>
          </a:p>
          <a:p>
            <a:pPr algn="just">
              <a:buNone/>
            </a:pPr>
            <a:endParaRPr lang="fr-FR" dirty="0"/>
          </a:p>
        </p:txBody>
      </p:sp>
    </p:spTree>
    <p:extLst>
      <p:ext uri="{BB962C8B-B14F-4D97-AF65-F5344CB8AC3E}">
        <p14:creationId xmlns:p14="http://schemas.microsoft.com/office/powerpoint/2010/main" val="28156479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r>
              <a:rPr lang="fr-FR" dirty="0"/>
              <a:t>(1) la PCR pour reconnaître des bactéries suspectées par la clinique </a:t>
            </a:r>
            <a:r>
              <a:rPr lang="fr-FR" dirty="0" smtClean="0"/>
              <a:t>en utilisant </a:t>
            </a:r>
            <a:r>
              <a:rPr lang="fr-FR" dirty="0"/>
              <a:t>des </a:t>
            </a:r>
            <a:r>
              <a:rPr lang="fr-FR" i="1" dirty="0" err="1"/>
              <a:t>primers</a:t>
            </a:r>
            <a:r>
              <a:rPr lang="fr-FR" i="1" dirty="0"/>
              <a:t> </a:t>
            </a:r>
            <a:r>
              <a:rPr lang="fr-FR" dirty="0"/>
              <a:t>spécifiques </a:t>
            </a:r>
            <a:r>
              <a:rPr lang="fr-FR" dirty="0" smtClean="0"/>
              <a:t>pour </a:t>
            </a:r>
            <a:r>
              <a:rPr lang="fr-FR" dirty="0"/>
              <a:t>détecter directement dans les produits pathologiques des fragments de génomes bactériens. </a:t>
            </a:r>
          </a:p>
          <a:p>
            <a:r>
              <a:rPr lang="fr-FR" dirty="0"/>
              <a:t>A</a:t>
            </a:r>
            <a:r>
              <a:rPr lang="fr-FR" dirty="0" smtClean="0"/>
              <a:t>pport </a:t>
            </a:r>
            <a:r>
              <a:rPr lang="fr-FR" dirty="0"/>
              <a:t>important pour le diagnostic des infections dues à des bactéries à croissance lente, difficile ou impossible : - </a:t>
            </a:r>
            <a:r>
              <a:rPr lang="fr-FR" i="1" dirty="0" err="1"/>
              <a:t>Bordetella</a:t>
            </a:r>
            <a:r>
              <a:rPr lang="fr-FR" i="1" dirty="0"/>
              <a:t> </a:t>
            </a:r>
            <a:r>
              <a:rPr lang="fr-FR" i="1" dirty="0" err="1"/>
              <a:t>pertussis</a:t>
            </a:r>
            <a:r>
              <a:rPr lang="fr-FR" i="1" dirty="0"/>
              <a:t>, </a:t>
            </a:r>
            <a:r>
              <a:rPr lang="fr-FR" dirty="0"/>
              <a:t>agent de la coqueluche, </a:t>
            </a:r>
            <a:r>
              <a:rPr lang="fr-FR" dirty="0" smtClean="0"/>
              <a:t>bacille à Gram </a:t>
            </a:r>
            <a:r>
              <a:rPr lang="fr-FR" dirty="0"/>
              <a:t>négatif à croissance difficile</a:t>
            </a:r>
          </a:p>
          <a:p>
            <a:endParaRPr lang="fr-FR" dirty="0"/>
          </a:p>
        </p:txBody>
      </p:sp>
    </p:spTree>
    <p:extLst>
      <p:ext uri="{BB962C8B-B14F-4D97-AF65-F5344CB8AC3E}">
        <p14:creationId xmlns:p14="http://schemas.microsoft.com/office/powerpoint/2010/main" val="15964948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4282" y="214290"/>
            <a:ext cx="8715436" cy="6429420"/>
          </a:xfrm>
        </p:spPr>
        <p:txBody>
          <a:bodyPr>
            <a:normAutofit fontScale="92500" lnSpcReduction="20000"/>
          </a:bodyPr>
          <a:lstStyle/>
          <a:p>
            <a:r>
              <a:rPr lang="fr-FR" dirty="0" smtClean="0"/>
              <a:t>les </a:t>
            </a:r>
            <a:r>
              <a:rPr lang="fr-FR" dirty="0"/>
              <a:t>bactéries à croissance intracellulaire </a:t>
            </a:r>
            <a:r>
              <a:rPr lang="fr-FR" dirty="0" smtClean="0"/>
              <a:t>strictes </a:t>
            </a:r>
            <a:r>
              <a:rPr lang="fr-FR" dirty="0"/>
              <a:t>: </a:t>
            </a:r>
            <a:r>
              <a:rPr lang="fr-FR" i="1" dirty="0"/>
              <a:t>Chlamydia </a:t>
            </a:r>
            <a:r>
              <a:rPr lang="fr-FR" i="1" dirty="0" err="1"/>
              <a:t>trachomatis</a:t>
            </a:r>
            <a:r>
              <a:rPr lang="fr-FR" i="1" dirty="0"/>
              <a:t> </a:t>
            </a:r>
            <a:r>
              <a:rPr lang="fr-FR" dirty="0"/>
              <a:t>et </a:t>
            </a:r>
            <a:r>
              <a:rPr lang="fr-FR" i="1" dirty="0" smtClean="0"/>
              <a:t>Ch. </a:t>
            </a:r>
            <a:r>
              <a:rPr lang="fr-FR" i="1" dirty="0" err="1"/>
              <a:t>pneumoniae</a:t>
            </a:r>
            <a:r>
              <a:rPr lang="fr-FR" i="1" dirty="0"/>
              <a:t> </a:t>
            </a:r>
            <a:r>
              <a:rPr lang="fr-FR" dirty="0"/>
              <a:t>responsable d’infections pulmonaires, oculaires et génitales , </a:t>
            </a:r>
            <a:r>
              <a:rPr lang="fr-FR" i="1" dirty="0" err="1"/>
              <a:t>Rickettsia</a:t>
            </a:r>
            <a:r>
              <a:rPr lang="fr-FR" i="1" dirty="0"/>
              <a:t> </a:t>
            </a:r>
            <a:r>
              <a:rPr lang="fr-FR" dirty="0" err="1"/>
              <a:t>spp</a:t>
            </a:r>
            <a:r>
              <a:rPr lang="fr-FR" dirty="0"/>
              <a:t> ( agent des typhus), </a:t>
            </a:r>
            <a:r>
              <a:rPr lang="fr-FR" i="1" dirty="0" err="1"/>
              <a:t>Tropheryma</a:t>
            </a:r>
            <a:r>
              <a:rPr lang="fr-FR" i="1" dirty="0"/>
              <a:t> </a:t>
            </a:r>
            <a:r>
              <a:rPr lang="fr-FR" i="1" dirty="0" err="1" smtClean="0"/>
              <a:t>whipplei</a:t>
            </a:r>
            <a:r>
              <a:rPr lang="fr-FR" i="1" dirty="0"/>
              <a:t>, </a:t>
            </a:r>
            <a:r>
              <a:rPr lang="fr-FR" dirty="0"/>
              <a:t>agent de la maladie de Whipple</a:t>
            </a:r>
          </a:p>
          <a:p>
            <a:r>
              <a:rPr lang="fr-FR" dirty="0" smtClean="0"/>
              <a:t>les </a:t>
            </a:r>
            <a:r>
              <a:rPr lang="fr-FR" dirty="0"/>
              <a:t>mycobactéries de la tuberculose </a:t>
            </a:r>
            <a:r>
              <a:rPr lang="fr-FR" i="1" dirty="0"/>
              <a:t>(</a:t>
            </a:r>
            <a:r>
              <a:rPr lang="fr-FR" i="1" dirty="0" err="1"/>
              <a:t>Mycobacterium</a:t>
            </a:r>
            <a:r>
              <a:rPr lang="fr-FR" i="1" dirty="0"/>
              <a:t> </a:t>
            </a:r>
            <a:r>
              <a:rPr lang="fr-FR" i="1" dirty="0" err="1"/>
              <a:t>tuberculosis</a:t>
            </a:r>
            <a:r>
              <a:rPr lang="fr-FR" i="1" dirty="0"/>
              <a:t>, </a:t>
            </a:r>
            <a:r>
              <a:rPr lang="fr-FR" i="1" dirty="0" smtClean="0"/>
              <a:t>M. </a:t>
            </a:r>
            <a:r>
              <a:rPr lang="fr-FR" i="1" dirty="0" err="1"/>
              <a:t>bovis</a:t>
            </a:r>
            <a:r>
              <a:rPr lang="fr-FR" i="1" dirty="0"/>
              <a:t>) </a:t>
            </a:r>
            <a:r>
              <a:rPr lang="fr-FR" dirty="0"/>
              <a:t>et de la lèpre </a:t>
            </a:r>
            <a:r>
              <a:rPr lang="fr-FR" i="1" dirty="0"/>
              <a:t>(</a:t>
            </a:r>
            <a:r>
              <a:rPr lang="fr-FR" i="1" dirty="0" err="1"/>
              <a:t>Mycobacterium</a:t>
            </a:r>
            <a:r>
              <a:rPr lang="fr-FR" i="1" dirty="0"/>
              <a:t> </a:t>
            </a:r>
            <a:r>
              <a:rPr lang="fr-FR" i="1" dirty="0" err="1"/>
              <a:t>leprae</a:t>
            </a:r>
            <a:r>
              <a:rPr lang="fr-FR" i="1" dirty="0"/>
              <a:t>) - </a:t>
            </a:r>
            <a:r>
              <a:rPr lang="fr-FR" dirty="0"/>
              <a:t>les mycoplasmes : </a:t>
            </a:r>
            <a:r>
              <a:rPr lang="fr-FR" i="1" dirty="0" err="1"/>
              <a:t>Mycoplasma</a:t>
            </a:r>
            <a:r>
              <a:rPr lang="fr-FR" i="1" dirty="0"/>
              <a:t> </a:t>
            </a:r>
            <a:r>
              <a:rPr lang="fr-FR" i="1" dirty="0" err="1"/>
              <a:t>pneumoniae</a:t>
            </a:r>
            <a:r>
              <a:rPr lang="fr-FR" i="1" dirty="0"/>
              <a:t>, </a:t>
            </a:r>
            <a:r>
              <a:rPr lang="fr-FR" i="1" dirty="0" err="1"/>
              <a:t>Ureaplasma</a:t>
            </a:r>
            <a:r>
              <a:rPr lang="fr-FR" i="1" dirty="0"/>
              <a:t> </a:t>
            </a:r>
            <a:r>
              <a:rPr lang="fr-FR" i="1" dirty="0" err="1"/>
              <a:t>urealyticum</a:t>
            </a:r>
            <a:r>
              <a:rPr lang="fr-FR" i="1" dirty="0"/>
              <a:t>, </a:t>
            </a:r>
            <a:r>
              <a:rPr lang="fr-FR" dirty="0"/>
              <a:t>(responsables </a:t>
            </a:r>
            <a:r>
              <a:rPr lang="fr-FR" dirty="0" smtClean="0"/>
              <a:t>d’infections pulmonaires </a:t>
            </a:r>
            <a:r>
              <a:rPr lang="fr-FR" dirty="0"/>
              <a:t>et </a:t>
            </a:r>
            <a:r>
              <a:rPr lang="fr-FR" dirty="0" smtClean="0"/>
              <a:t>génitales</a:t>
            </a:r>
            <a:r>
              <a:rPr lang="fr-FR" dirty="0"/>
              <a:t>)</a:t>
            </a:r>
          </a:p>
          <a:p>
            <a:r>
              <a:rPr lang="fr-FR" i="1" dirty="0" err="1" smtClean="0"/>
              <a:t>Treponema</a:t>
            </a:r>
            <a:r>
              <a:rPr lang="fr-FR" i="1" dirty="0" smtClean="0"/>
              <a:t> </a:t>
            </a:r>
            <a:r>
              <a:rPr lang="fr-FR" i="1" dirty="0"/>
              <a:t>pallidum, </a:t>
            </a:r>
            <a:r>
              <a:rPr lang="fr-FR" dirty="0"/>
              <a:t>agent de la </a:t>
            </a:r>
            <a:r>
              <a:rPr lang="fr-FR" dirty="0" smtClean="0"/>
              <a:t>syphilis. </a:t>
            </a:r>
          </a:p>
          <a:p>
            <a:r>
              <a:rPr lang="fr-FR" dirty="0" smtClean="0"/>
              <a:t>La </a:t>
            </a:r>
            <a:r>
              <a:rPr lang="fr-FR" dirty="0"/>
              <a:t>PCR pourrait aussi être utile pour les infections où le diagnostic doit être rapidement établi (</a:t>
            </a:r>
            <a:r>
              <a:rPr lang="fr-FR" dirty="0" smtClean="0"/>
              <a:t>méningites)</a:t>
            </a:r>
            <a:r>
              <a:rPr lang="fr-FR" i="1" dirty="0" smtClean="0"/>
              <a:t>.</a:t>
            </a:r>
            <a:endParaRPr lang="fr-FR" dirty="0"/>
          </a:p>
          <a:p>
            <a:endParaRPr lang="fr-FR" dirty="0"/>
          </a:p>
        </p:txBody>
      </p:sp>
    </p:spTree>
    <p:extLst>
      <p:ext uri="{BB962C8B-B14F-4D97-AF65-F5344CB8AC3E}">
        <p14:creationId xmlns:p14="http://schemas.microsoft.com/office/powerpoint/2010/main" val="206635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85720" y="214290"/>
            <a:ext cx="8501122" cy="6357982"/>
          </a:xfrm>
        </p:spPr>
        <p:txBody>
          <a:bodyPr>
            <a:normAutofit/>
          </a:bodyPr>
          <a:lstStyle/>
          <a:p>
            <a:pPr algn="just"/>
            <a:r>
              <a:rPr lang="fr-FR" dirty="0"/>
              <a:t>(</a:t>
            </a:r>
            <a:r>
              <a:rPr lang="fr-FR" dirty="0" smtClean="0"/>
              <a:t>2) </a:t>
            </a:r>
            <a:r>
              <a:rPr lang="fr-FR" dirty="0"/>
              <a:t>La PCR pour identifier une </a:t>
            </a:r>
            <a:r>
              <a:rPr lang="fr-FR" dirty="0" smtClean="0"/>
              <a:t>bactérie inconnue </a:t>
            </a:r>
            <a:r>
              <a:rPr lang="fr-FR" dirty="0"/>
              <a:t>dans les tissus infectés et en culture</a:t>
            </a:r>
          </a:p>
          <a:p>
            <a:pPr algn="just"/>
            <a:r>
              <a:rPr lang="fr-FR" dirty="0"/>
              <a:t>L’amplification de séquences </a:t>
            </a:r>
            <a:r>
              <a:rPr lang="fr-FR" dirty="0" smtClean="0"/>
              <a:t>d’ADN </a:t>
            </a:r>
            <a:r>
              <a:rPr lang="fr-FR" dirty="0"/>
              <a:t>utilisant des </a:t>
            </a:r>
            <a:r>
              <a:rPr lang="fr-FR" i="1" dirty="0" err="1"/>
              <a:t>primers</a:t>
            </a:r>
            <a:r>
              <a:rPr lang="fr-FR" i="1" dirty="0"/>
              <a:t> </a:t>
            </a:r>
            <a:r>
              <a:rPr lang="fr-FR" dirty="0"/>
              <a:t>universels ou de certains gènes bactériens (gènes </a:t>
            </a:r>
            <a:r>
              <a:rPr lang="fr-FR" i="1" dirty="0" err="1"/>
              <a:t>sod</a:t>
            </a:r>
            <a:r>
              <a:rPr lang="fr-FR" i="1" dirty="0"/>
              <a:t> </a:t>
            </a:r>
            <a:r>
              <a:rPr lang="fr-FR" dirty="0"/>
              <a:t>de la </a:t>
            </a:r>
            <a:r>
              <a:rPr lang="fr-FR" dirty="0" err="1"/>
              <a:t>superoxyde-dismutase</a:t>
            </a:r>
            <a:r>
              <a:rPr lang="fr-FR" dirty="0"/>
              <a:t>, </a:t>
            </a:r>
            <a:r>
              <a:rPr lang="fr-FR" i="1" dirty="0" err="1"/>
              <a:t>rpoB</a:t>
            </a:r>
            <a:r>
              <a:rPr lang="fr-FR" i="1" dirty="0"/>
              <a:t> </a:t>
            </a:r>
            <a:r>
              <a:rPr lang="fr-FR" dirty="0"/>
              <a:t>de la RNA polymérase …) avec des </a:t>
            </a:r>
            <a:r>
              <a:rPr lang="fr-FR" i="1" dirty="0" err="1"/>
              <a:t>primers</a:t>
            </a:r>
            <a:r>
              <a:rPr lang="fr-FR" i="1" dirty="0"/>
              <a:t> </a:t>
            </a:r>
            <a:r>
              <a:rPr lang="fr-FR" dirty="0" smtClean="0"/>
              <a:t>spécifiques. </a:t>
            </a:r>
            <a:endParaRPr lang="fr-FR" dirty="0"/>
          </a:p>
        </p:txBody>
      </p:sp>
    </p:spTree>
    <p:extLst>
      <p:ext uri="{BB962C8B-B14F-4D97-AF65-F5344CB8AC3E}">
        <p14:creationId xmlns:p14="http://schemas.microsoft.com/office/powerpoint/2010/main" val="34626928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CR components diagram"/>
          <p:cNvPicPr>
            <a:picLocks noChangeAspect="1" noChangeArrowheads="1"/>
          </p:cNvPicPr>
          <p:nvPr/>
        </p:nvPicPr>
        <p:blipFill>
          <a:blip r:embed="rId2"/>
          <a:srcRect/>
          <a:stretch>
            <a:fillRect/>
          </a:stretch>
        </p:blipFill>
        <p:spPr bwMode="auto">
          <a:xfrm>
            <a:off x="-32" y="-24"/>
            <a:ext cx="9144032" cy="6924676"/>
          </a:xfrm>
          <a:prstGeom prst="rect">
            <a:avLst/>
          </a:prstGeom>
          <a:noFill/>
        </p:spPr>
      </p:pic>
    </p:spTree>
    <p:extLst>
      <p:ext uri="{BB962C8B-B14F-4D97-AF65-F5344CB8AC3E}">
        <p14:creationId xmlns:p14="http://schemas.microsoft.com/office/powerpoint/2010/main" val="3590323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Image D1-I-1(2006).gif"/>
          <p:cNvPicPr>
            <a:picLocks noChangeAspect="1" noChangeArrowheads="1"/>
          </p:cNvPicPr>
          <p:nvPr/>
        </p:nvPicPr>
        <p:blipFill>
          <a:blip r:embed="rId2"/>
          <a:srcRect/>
          <a:stretch>
            <a:fillRect/>
          </a:stretch>
        </p:blipFill>
        <p:spPr bwMode="auto">
          <a:xfrm>
            <a:off x="1214414" y="898551"/>
            <a:ext cx="7000924" cy="5745159"/>
          </a:xfrm>
          <a:prstGeom prst="rect">
            <a:avLst/>
          </a:prstGeom>
          <a:noFill/>
        </p:spPr>
      </p:pic>
      <p:sp>
        <p:nvSpPr>
          <p:cNvPr id="6" name="ZoneTexte 5"/>
          <p:cNvSpPr txBox="1"/>
          <p:nvPr/>
        </p:nvSpPr>
        <p:spPr>
          <a:xfrm>
            <a:off x="0" y="0"/>
            <a:ext cx="9144000" cy="707886"/>
          </a:xfrm>
          <a:prstGeom prst="rect">
            <a:avLst/>
          </a:prstGeom>
          <a:noFill/>
        </p:spPr>
        <p:txBody>
          <a:bodyPr wrap="square" rtlCol="0">
            <a:spAutoFit/>
          </a:bodyPr>
          <a:lstStyle/>
          <a:p>
            <a:pPr algn="ctr"/>
            <a:r>
              <a:rPr lang="fr-FR" sz="4000" b="1" dirty="0" smtClean="0">
                <a:solidFill>
                  <a:srgbClr val="FF0000"/>
                </a:solidFill>
              </a:rPr>
              <a:t>Structure des virus</a:t>
            </a:r>
            <a:endParaRPr lang="fr-FR" sz="4000" b="1" dirty="0">
              <a:solidFill>
                <a:srgbClr val="FF0000"/>
              </a:solidFill>
            </a:endParaRPr>
          </a:p>
        </p:txBody>
      </p:sp>
    </p:spTree>
    <p:extLst>
      <p:ext uri="{BB962C8B-B14F-4D97-AF65-F5344CB8AC3E}">
        <p14:creationId xmlns:p14="http://schemas.microsoft.com/office/powerpoint/2010/main" val="4185803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Structure des virus</a:t>
            </a:r>
            <a:br>
              <a:rPr lang="fr-FR" b="1" dirty="0" smtClean="0">
                <a:solidFill>
                  <a:srgbClr val="FF0000"/>
                </a:solidFill>
              </a:rPr>
            </a:br>
            <a:endParaRPr lang="fr-FR" dirty="0">
              <a:solidFill>
                <a:srgbClr val="FF0000"/>
              </a:solidFill>
            </a:endParaRPr>
          </a:p>
        </p:txBody>
      </p:sp>
      <p:sp>
        <p:nvSpPr>
          <p:cNvPr id="3" name="Espace réservé du contenu 2"/>
          <p:cNvSpPr>
            <a:spLocks noGrp="1"/>
          </p:cNvSpPr>
          <p:nvPr>
            <p:ph idx="1"/>
          </p:nvPr>
        </p:nvSpPr>
        <p:spPr>
          <a:xfrm>
            <a:off x="0" y="1000108"/>
            <a:ext cx="9144000" cy="5857892"/>
          </a:xfrm>
        </p:spPr>
        <p:txBody>
          <a:bodyPr>
            <a:normAutofit fontScale="92500" lnSpcReduction="20000"/>
          </a:bodyPr>
          <a:lstStyle/>
          <a:p>
            <a:pPr>
              <a:buNone/>
            </a:pPr>
            <a:r>
              <a:rPr lang="fr-FR" b="1" dirty="0" smtClean="0"/>
              <a:t>Génome</a:t>
            </a:r>
          </a:p>
          <a:p>
            <a:r>
              <a:rPr lang="fr-FR" dirty="0" smtClean="0"/>
              <a:t>Un virus comporte toujours un génome qui est de l’ADN ou de l’ARN, de sorte que dans la classification des virus on distingue en premier lieu </a:t>
            </a:r>
            <a:r>
              <a:rPr lang="fr-FR" b="1" dirty="0" smtClean="0"/>
              <a:t>virus à ADN</a:t>
            </a:r>
            <a:r>
              <a:rPr lang="fr-FR" dirty="0" smtClean="0"/>
              <a:t> et </a:t>
            </a:r>
            <a:r>
              <a:rPr lang="fr-FR" b="1" dirty="0" smtClean="0"/>
              <a:t>virus à ARN.</a:t>
            </a:r>
            <a:endParaRPr lang="fr-FR" dirty="0" smtClean="0"/>
          </a:p>
          <a:p>
            <a:r>
              <a:rPr lang="fr-FR" dirty="0" smtClean="0"/>
              <a:t>Ce génome peut-être monocaténaire (à simple brin) ou </a:t>
            </a:r>
            <a:r>
              <a:rPr lang="fr-FR" dirty="0" err="1" smtClean="0"/>
              <a:t>bicaténaire</a:t>
            </a:r>
            <a:r>
              <a:rPr lang="fr-FR" dirty="0" smtClean="0"/>
              <a:t> (à double brin).</a:t>
            </a:r>
          </a:p>
          <a:p>
            <a:r>
              <a:rPr lang="fr-FR" dirty="0" smtClean="0"/>
              <a:t>D’une façon générale, la </a:t>
            </a:r>
            <a:r>
              <a:rPr lang="fr-FR" b="1" dirty="0" smtClean="0"/>
              <a:t>réplication du génome des virus à ARN</a:t>
            </a:r>
            <a:r>
              <a:rPr lang="fr-FR" dirty="0" smtClean="0"/>
              <a:t> est beaucoup </a:t>
            </a:r>
            <a:r>
              <a:rPr lang="fr-FR" b="1" dirty="0" smtClean="0"/>
              <a:t>moins fidèle que celle du génome des virus à ADN</a:t>
            </a:r>
            <a:r>
              <a:rPr lang="fr-FR" dirty="0" smtClean="0"/>
              <a:t> (les ARN polymérases n’ayant pas les mécanismes de détection et correction d’erreurs qu’ont les ADN polymérases des virus à ADN). Ainsi, les virus à ARN sont particulièrement sujets aux variations génétiques (HIV, virus de l’hépatite C, par exemple), contrairement aux virus à ADN.</a:t>
            </a:r>
          </a:p>
          <a:p>
            <a:endParaRPr lang="fr-FR" dirty="0"/>
          </a:p>
        </p:txBody>
      </p:sp>
    </p:spTree>
    <p:extLst>
      <p:ext uri="{BB962C8B-B14F-4D97-AF65-F5344CB8AC3E}">
        <p14:creationId xmlns:p14="http://schemas.microsoft.com/office/powerpoint/2010/main" val="39301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Structure des virus</a:t>
            </a:r>
            <a:br>
              <a:rPr lang="fr-FR" b="1" dirty="0" smtClean="0">
                <a:solidFill>
                  <a:srgbClr val="FF0000"/>
                </a:solidFill>
              </a:rPr>
            </a:br>
            <a:endParaRPr lang="fr-FR" dirty="0"/>
          </a:p>
        </p:txBody>
      </p:sp>
      <p:sp>
        <p:nvSpPr>
          <p:cNvPr id="3" name="Espace réservé du contenu 2"/>
          <p:cNvSpPr>
            <a:spLocks noGrp="1"/>
          </p:cNvSpPr>
          <p:nvPr>
            <p:ph idx="1"/>
          </p:nvPr>
        </p:nvSpPr>
        <p:spPr>
          <a:xfrm>
            <a:off x="0" y="928670"/>
            <a:ext cx="9144000" cy="5929330"/>
          </a:xfrm>
        </p:spPr>
        <p:txBody>
          <a:bodyPr>
            <a:normAutofit fontScale="92500" lnSpcReduction="10000"/>
          </a:bodyPr>
          <a:lstStyle/>
          <a:p>
            <a:pPr>
              <a:buNone/>
            </a:pPr>
            <a:r>
              <a:rPr lang="fr-FR" b="1" dirty="0" smtClean="0"/>
              <a:t>Capside</a:t>
            </a:r>
          </a:p>
          <a:p>
            <a:r>
              <a:rPr lang="fr-FR" dirty="0" smtClean="0"/>
              <a:t>Le génome est emballé dans une structure protéique appelée capside qui </a:t>
            </a:r>
            <a:r>
              <a:rPr lang="fr-FR" b="1" dirty="0" smtClean="0"/>
              <a:t>protège</a:t>
            </a:r>
            <a:r>
              <a:rPr lang="fr-FR" dirty="0" smtClean="0"/>
              <a:t> le génome. Elle a une conformation géométrique qui, selon les virus est, soit tubulaire, soit polyédrique. </a:t>
            </a:r>
          </a:p>
          <a:p>
            <a:r>
              <a:rPr lang="fr-FR" dirty="0" smtClean="0"/>
              <a:t>On appelle </a:t>
            </a:r>
            <a:r>
              <a:rPr lang="fr-FR" b="1" dirty="0" smtClean="0"/>
              <a:t>nucléocapside</a:t>
            </a:r>
            <a:r>
              <a:rPr lang="fr-FR" dirty="0" smtClean="0"/>
              <a:t> la structure compacte formée par l’assemblage de la capside autour du génome.</a:t>
            </a:r>
          </a:p>
          <a:p>
            <a:r>
              <a:rPr lang="fr-FR" b="1" dirty="0" smtClean="0"/>
              <a:t>Nucléocapside tubulaire ou hélicoïdale :  </a:t>
            </a:r>
            <a:r>
              <a:rPr lang="fr-FR" dirty="0" smtClean="0"/>
              <a:t>C’est un tube enroulé en peloton</a:t>
            </a:r>
          </a:p>
          <a:p>
            <a:r>
              <a:rPr lang="fr-FR" b="1" dirty="0" smtClean="0"/>
              <a:t>Nucléocapside polyédrique :</a:t>
            </a:r>
            <a:r>
              <a:rPr lang="fr-FR" dirty="0" smtClean="0"/>
              <a:t> </a:t>
            </a:r>
            <a:r>
              <a:rPr lang="fr-FR" b="1" dirty="0" smtClean="0"/>
              <a:t>ICOSAÈDRE</a:t>
            </a:r>
            <a:r>
              <a:rPr lang="fr-FR" dirty="0" smtClean="0"/>
              <a:t> : polyèdre à 20 faces qui sont des triangles équilatéraux, et 12 sommets.</a:t>
            </a:r>
            <a:endParaRPr lang="fr-FR" b="1" dirty="0" smtClean="0"/>
          </a:p>
          <a:p>
            <a:endParaRPr lang="fr-FR" dirty="0" smtClean="0"/>
          </a:p>
          <a:p>
            <a:endParaRPr lang="fr-FR" dirty="0"/>
          </a:p>
        </p:txBody>
      </p:sp>
    </p:spTree>
    <p:extLst>
      <p:ext uri="{BB962C8B-B14F-4D97-AF65-F5344CB8AC3E}">
        <p14:creationId xmlns:p14="http://schemas.microsoft.com/office/powerpoint/2010/main" val="1789457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Structure des virus</a:t>
            </a:r>
            <a:br>
              <a:rPr lang="fr-FR" b="1" dirty="0" smtClean="0">
                <a:solidFill>
                  <a:srgbClr val="FF0000"/>
                </a:solidFill>
              </a:rPr>
            </a:br>
            <a:endParaRPr lang="fr-FR" dirty="0"/>
          </a:p>
        </p:txBody>
      </p:sp>
      <p:sp>
        <p:nvSpPr>
          <p:cNvPr id="3" name="Espace réservé du contenu 2"/>
          <p:cNvSpPr>
            <a:spLocks noGrp="1"/>
          </p:cNvSpPr>
          <p:nvPr>
            <p:ph idx="1"/>
          </p:nvPr>
        </p:nvSpPr>
        <p:spPr>
          <a:xfrm>
            <a:off x="0" y="785794"/>
            <a:ext cx="9144000" cy="6072206"/>
          </a:xfrm>
        </p:spPr>
        <p:txBody>
          <a:bodyPr>
            <a:normAutofit/>
          </a:bodyPr>
          <a:lstStyle/>
          <a:p>
            <a:pPr>
              <a:buNone/>
            </a:pPr>
            <a:r>
              <a:rPr lang="fr-FR" sz="2200" b="1" dirty="0" smtClean="0"/>
              <a:t>Enveloppe ou péplos</a:t>
            </a:r>
          </a:p>
          <a:p>
            <a:pPr algn="just"/>
            <a:r>
              <a:rPr lang="fr-FR" sz="2200" dirty="0" smtClean="0"/>
              <a:t> membrane, dérivée des membranes cellulaires, cytoplasmique, golgienne, ou nucléaire selon les virus. la capside et le génome d’un virus enveloppé comme le virus de la grippe s’assemblent en une nucléocapside sous la membrane cytoplasmique. Le virus va </a:t>
            </a:r>
            <a:r>
              <a:rPr lang="fr-FR" sz="2200" i="1" dirty="0" smtClean="0"/>
              <a:t>sortir</a:t>
            </a:r>
            <a:r>
              <a:rPr lang="fr-FR" sz="2200" dirty="0" smtClean="0"/>
              <a:t> de la cellule, non par éclatement de cette cellule, mais par formation d’un bourgeon au détriment de la membrane cytoplasmique.</a:t>
            </a:r>
          </a:p>
          <a:p>
            <a:pPr algn="just"/>
            <a:r>
              <a:rPr lang="fr-FR" sz="2200" b="1" dirty="0" smtClean="0"/>
              <a:t>Avoir un péplos rend le virus très fragile</a:t>
            </a:r>
            <a:r>
              <a:rPr lang="fr-FR" sz="2200" dirty="0" smtClean="0"/>
              <a:t>. Le péplos a la fragilité des membranes cellulaires dont il dérive. il ya  deux endroits où les virus à enveloppe vont dégrader rapidement leur enveloppe et perdre leur pouvoir infectieux : </a:t>
            </a:r>
            <a:r>
              <a:rPr lang="fr-FR" sz="2400" dirty="0" smtClean="0"/>
              <a:t>dans le milieu extérieur (température, dessiccation) et le tube digestif ( enzymes digestives et le pH acide de l’estomac).</a:t>
            </a:r>
          </a:p>
          <a:p>
            <a:pPr algn="just"/>
            <a:r>
              <a:rPr lang="fr-FR" sz="2400" dirty="0" smtClean="0"/>
              <a:t>Donc, les virus à péplos, comme les virus de la grippe, les virus de la famille des </a:t>
            </a:r>
            <a:r>
              <a:rPr lang="fr-FR" sz="2400" i="1" dirty="0" err="1" smtClean="0"/>
              <a:t>Herpesviridae</a:t>
            </a:r>
            <a:r>
              <a:rPr lang="fr-FR" sz="2400" dirty="0" smtClean="0"/>
              <a:t>, ne résistent pas dans les selles. A l’inverse, les poliovirus sont trouvés dans les selles qui sont le moyen essentiel de dissémination de la maladie (contamination fécale-orale). </a:t>
            </a:r>
          </a:p>
          <a:p>
            <a:pPr algn="just"/>
            <a:endParaRPr lang="fr-FR" sz="2200" dirty="0" smtClean="0"/>
          </a:p>
          <a:p>
            <a:pPr algn="just"/>
            <a:endParaRPr lang="fr-FR" dirty="0"/>
          </a:p>
        </p:txBody>
      </p:sp>
    </p:spTree>
    <p:extLst>
      <p:ext uri="{BB962C8B-B14F-4D97-AF65-F5344CB8AC3E}">
        <p14:creationId xmlns:p14="http://schemas.microsoft.com/office/powerpoint/2010/main" val="2670402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nvGraphicFramePr>
        <p:xfrm>
          <a:off x="571469" y="1359555"/>
          <a:ext cx="8143934" cy="4739384"/>
        </p:xfrm>
        <a:graphic>
          <a:graphicData uri="http://schemas.openxmlformats.org/drawingml/2006/table">
            <a:tbl>
              <a:tblPr/>
              <a:tblGrid>
                <a:gridCol w="4071967"/>
                <a:gridCol w="4071967"/>
              </a:tblGrid>
              <a:tr h="164381">
                <a:tc>
                  <a:txBody>
                    <a:bodyPr/>
                    <a:lstStyle/>
                    <a:p>
                      <a:pPr algn="ctr">
                        <a:lnSpc>
                          <a:spcPct val="115000"/>
                        </a:lnSpc>
                        <a:spcAft>
                          <a:spcPts val="0"/>
                        </a:spcAft>
                      </a:pPr>
                      <a:r>
                        <a:rPr lang="fr-FR" sz="1200" b="1" dirty="0">
                          <a:latin typeface="Calibri"/>
                          <a:ea typeface="Calibri"/>
                          <a:cs typeface="Arial"/>
                        </a:rPr>
                        <a:t>Virus à péplos (enveloppés)</a:t>
                      </a:r>
                      <a:endParaRPr lang="fr-FR" sz="1200" dirty="0">
                        <a:latin typeface="Calibri"/>
                        <a:ea typeface="Calibri"/>
                        <a:cs typeface="Arial"/>
                      </a:endParaRPr>
                    </a:p>
                  </a:txBody>
                  <a:tcPr marL="48843" marR="48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200" b="1" dirty="0">
                          <a:latin typeface="Calibri"/>
                          <a:ea typeface="Calibri"/>
                          <a:cs typeface="Arial"/>
                        </a:rPr>
                        <a:t>Virus sans péplos (nus)</a:t>
                      </a:r>
                      <a:endParaRPr lang="fr-FR" sz="1200" dirty="0">
                        <a:latin typeface="Calibri"/>
                        <a:ea typeface="Calibri"/>
                        <a:cs typeface="Arial"/>
                      </a:endParaRPr>
                    </a:p>
                  </a:txBody>
                  <a:tcPr marL="48843" marR="48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38524">
                <a:tc>
                  <a:txBody>
                    <a:bodyPr/>
                    <a:lstStyle/>
                    <a:p>
                      <a:pPr>
                        <a:lnSpc>
                          <a:spcPct val="115000"/>
                        </a:lnSpc>
                        <a:spcAft>
                          <a:spcPts val="0"/>
                        </a:spcAft>
                      </a:pPr>
                      <a:endParaRPr lang="fr-FR" sz="1400" dirty="0">
                        <a:latin typeface="Calibri"/>
                        <a:ea typeface="Calibri"/>
                        <a:cs typeface="Arial"/>
                      </a:endParaRPr>
                    </a:p>
                    <a:p>
                      <a:pPr>
                        <a:lnSpc>
                          <a:spcPct val="115000"/>
                        </a:lnSpc>
                        <a:spcAft>
                          <a:spcPts val="0"/>
                        </a:spcAft>
                      </a:pPr>
                      <a:r>
                        <a:rPr lang="fr-FR" sz="1400" b="1" dirty="0">
                          <a:latin typeface="Calibri"/>
                          <a:ea typeface="Calibri"/>
                          <a:cs typeface="Arial"/>
                        </a:rPr>
                        <a:t>Virus </a:t>
                      </a:r>
                      <a:r>
                        <a:rPr lang="fr-FR" sz="1400" b="1" dirty="0" smtClean="0">
                          <a:latin typeface="Calibri"/>
                          <a:ea typeface="Calibri"/>
                          <a:cs typeface="Arial"/>
                        </a:rPr>
                        <a:t>herpétiques</a:t>
                      </a:r>
                    </a:p>
                    <a:p>
                      <a:pPr>
                        <a:lnSpc>
                          <a:spcPct val="115000"/>
                        </a:lnSpc>
                        <a:spcAft>
                          <a:spcPts val="0"/>
                        </a:spcAft>
                      </a:pPr>
                      <a:endParaRPr lang="fr-FR" sz="1400" dirty="0">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dirty="0">
                          <a:solidFill>
                            <a:srgbClr val="000000"/>
                          </a:solidFill>
                          <a:latin typeface="Times New Roman"/>
                          <a:ea typeface="Times New Roman"/>
                          <a:cs typeface="Arial"/>
                        </a:rPr>
                        <a:t>Herpes simplex virus 1 &amp; 2 (HSV 1 &amp; 2)</a:t>
                      </a:r>
                      <a:endParaRPr lang="fr-FR" sz="1400"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dirty="0">
                          <a:solidFill>
                            <a:srgbClr val="000000"/>
                          </a:solidFill>
                          <a:latin typeface="Times New Roman"/>
                          <a:ea typeface="Times New Roman"/>
                          <a:cs typeface="Arial"/>
                        </a:rPr>
                        <a:t>Virus de la varicelle et du zona (VZV)</a:t>
                      </a:r>
                      <a:endParaRPr lang="fr-FR" sz="1400"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dirty="0">
                          <a:solidFill>
                            <a:srgbClr val="000000"/>
                          </a:solidFill>
                          <a:latin typeface="Times New Roman"/>
                          <a:ea typeface="Times New Roman"/>
                          <a:cs typeface="Arial"/>
                        </a:rPr>
                        <a:t>Cytomégalovirus (CMV)</a:t>
                      </a:r>
                      <a:endParaRPr lang="fr-FR" sz="1400"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dirty="0">
                          <a:solidFill>
                            <a:srgbClr val="000000"/>
                          </a:solidFill>
                          <a:latin typeface="Times New Roman"/>
                          <a:ea typeface="Times New Roman"/>
                          <a:cs typeface="Arial"/>
                        </a:rPr>
                        <a:t>V. </a:t>
                      </a:r>
                      <a:r>
                        <a:rPr lang="fr-FR" sz="1400" dirty="0" err="1">
                          <a:solidFill>
                            <a:srgbClr val="000000"/>
                          </a:solidFill>
                          <a:latin typeface="Times New Roman"/>
                          <a:ea typeface="Times New Roman"/>
                          <a:cs typeface="Arial"/>
                        </a:rPr>
                        <a:t>Eptein</a:t>
                      </a:r>
                      <a:r>
                        <a:rPr lang="fr-FR" sz="1400" dirty="0">
                          <a:solidFill>
                            <a:srgbClr val="000000"/>
                          </a:solidFill>
                          <a:latin typeface="Times New Roman"/>
                          <a:ea typeface="Times New Roman"/>
                          <a:cs typeface="Arial"/>
                        </a:rPr>
                        <a:t>-Barr (virus EB)</a:t>
                      </a:r>
                      <a:endParaRPr lang="fr-FR" sz="1400"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dirty="0">
                          <a:solidFill>
                            <a:srgbClr val="000000"/>
                          </a:solidFill>
                          <a:latin typeface="Times New Roman"/>
                          <a:ea typeface="Times New Roman"/>
                          <a:cs typeface="Arial"/>
                        </a:rPr>
                        <a:t>6</a:t>
                      </a:r>
                      <a:r>
                        <a:rPr lang="fr-FR" sz="1400" baseline="30000" dirty="0">
                          <a:solidFill>
                            <a:srgbClr val="000000"/>
                          </a:solidFill>
                          <a:latin typeface="Times New Roman"/>
                          <a:ea typeface="Times New Roman"/>
                          <a:cs typeface="Arial"/>
                        </a:rPr>
                        <a:t>e</a:t>
                      </a:r>
                      <a:r>
                        <a:rPr lang="fr-FR" sz="1400" dirty="0">
                          <a:solidFill>
                            <a:srgbClr val="000000"/>
                          </a:solidFill>
                          <a:latin typeface="Times New Roman"/>
                          <a:ea typeface="Times New Roman"/>
                          <a:cs typeface="Arial"/>
                        </a:rPr>
                        <a:t>, 7</a:t>
                      </a:r>
                      <a:r>
                        <a:rPr lang="fr-FR" sz="1400" baseline="30000" dirty="0">
                          <a:solidFill>
                            <a:srgbClr val="000000"/>
                          </a:solidFill>
                          <a:latin typeface="Times New Roman"/>
                          <a:ea typeface="Times New Roman"/>
                          <a:cs typeface="Arial"/>
                        </a:rPr>
                        <a:t>e</a:t>
                      </a:r>
                      <a:r>
                        <a:rPr lang="fr-FR" sz="1400" dirty="0">
                          <a:solidFill>
                            <a:srgbClr val="000000"/>
                          </a:solidFill>
                          <a:latin typeface="Times New Roman"/>
                          <a:ea typeface="Times New Roman"/>
                          <a:cs typeface="Arial"/>
                        </a:rPr>
                        <a:t> et 8</a:t>
                      </a:r>
                      <a:r>
                        <a:rPr lang="fr-FR" sz="1400" baseline="30000" dirty="0">
                          <a:solidFill>
                            <a:srgbClr val="000000"/>
                          </a:solidFill>
                          <a:latin typeface="Times New Roman"/>
                          <a:ea typeface="Times New Roman"/>
                          <a:cs typeface="Arial"/>
                        </a:rPr>
                        <a:t>e</a:t>
                      </a:r>
                      <a:r>
                        <a:rPr lang="fr-FR" sz="1400" dirty="0">
                          <a:solidFill>
                            <a:srgbClr val="000000"/>
                          </a:solidFill>
                          <a:latin typeface="Times New Roman"/>
                          <a:ea typeface="Times New Roman"/>
                          <a:cs typeface="Arial"/>
                        </a:rPr>
                        <a:t> </a:t>
                      </a:r>
                      <a:r>
                        <a:rPr lang="fr-FR" sz="1400" dirty="0" err="1">
                          <a:solidFill>
                            <a:srgbClr val="000000"/>
                          </a:solidFill>
                          <a:latin typeface="Times New Roman"/>
                          <a:ea typeface="Times New Roman"/>
                          <a:cs typeface="Arial"/>
                        </a:rPr>
                        <a:t>herpesvirus</a:t>
                      </a:r>
                      <a:r>
                        <a:rPr lang="fr-FR" sz="1400" dirty="0">
                          <a:solidFill>
                            <a:srgbClr val="000000"/>
                          </a:solidFill>
                          <a:latin typeface="Times New Roman"/>
                          <a:ea typeface="Times New Roman"/>
                          <a:cs typeface="Arial"/>
                        </a:rPr>
                        <a:t> humains</a:t>
                      </a:r>
                      <a:br>
                        <a:rPr lang="fr-FR" sz="1400" dirty="0">
                          <a:solidFill>
                            <a:srgbClr val="000000"/>
                          </a:solidFill>
                          <a:latin typeface="Times New Roman"/>
                          <a:ea typeface="Times New Roman"/>
                          <a:cs typeface="Arial"/>
                        </a:rPr>
                      </a:br>
                      <a:r>
                        <a:rPr lang="fr-FR" sz="1400" dirty="0" err="1">
                          <a:solidFill>
                            <a:srgbClr val="000000"/>
                          </a:solidFill>
                          <a:latin typeface="Times New Roman"/>
                          <a:ea typeface="Times New Roman"/>
                          <a:cs typeface="Arial"/>
                        </a:rPr>
                        <a:t>Herpesvirus</a:t>
                      </a:r>
                      <a:r>
                        <a:rPr lang="fr-FR" sz="1400" dirty="0">
                          <a:solidFill>
                            <a:srgbClr val="000000"/>
                          </a:solidFill>
                          <a:latin typeface="Times New Roman"/>
                          <a:ea typeface="Times New Roman"/>
                          <a:cs typeface="Arial"/>
                        </a:rPr>
                        <a:t> </a:t>
                      </a:r>
                      <a:r>
                        <a:rPr lang="fr-FR" sz="1400" dirty="0" err="1">
                          <a:solidFill>
                            <a:srgbClr val="000000"/>
                          </a:solidFill>
                          <a:latin typeface="Times New Roman"/>
                          <a:ea typeface="Times New Roman"/>
                          <a:cs typeface="Arial"/>
                        </a:rPr>
                        <a:t>simiæ</a:t>
                      </a:r>
                      <a:r>
                        <a:rPr lang="fr-FR" sz="1400" dirty="0">
                          <a:solidFill>
                            <a:srgbClr val="000000"/>
                          </a:solidFill>
                          <a:latin typeface="Times New Roman"/>
                          <a:ea typeface="Times New Roman"/>
                          <a:cs typeface="Arial"/>
                        </a:rPr>
                        <a:t> (virus B</a:t>
                      </a:r>
                      <a:r>
                        <a:rPr lang="fr-FR" sz="1400" dirty="0" smtClean="0">
                          <a:solidFill>
                            <a:srgbClr val="000000"/>
                          </a:solidFill>
                          <a:latin typeface="Times New Roman"/>
                          <a:ea typeface="Times New Roman"/>
                          <a:cs typeface="Arial"/>
                        </a:rPr>
                        <a:t>)*</a:t>
                      </a:r>
                    </a:p>
                    <a:p>
                      <a:pPr marL="342900" lvl="0" indent="-342900">
                        <a:lnSpc>
                          <a:spcPct val="115000"/>
                        </a:lnSpc>
                        <a:spcAft>
                          <a:spcPts val="1000"/>
                        </a:spcAft>
                        <a:buSzPts val="1000"/>
                        <a:buFont typeface="Symbol"/>
                        <a:buNone/>
                        <a:tabLst>
                          <a:tab pos="457200" algn="l"/>
                        </a:tabLst>
                      </a:pPr>
                      <a:endParaRPr lang="fr-FR" sz="1400" dirty="0">
                        <a:solidFill>
                          <a:srgbClr val="000000"/>
                        </a:solidFill>
                        <a:latin typeface="Calibri"/>
                        <a:ea typeface="Calibri"/>
                        <a:cs typeface="Arial"/>
                      </a:endParaRPr>
                    </a:p>
                  </a:txBody>
                  <a:tcPr marL="48843" marR="48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endParaRPr lang="fr-FR" sz="1400" dirty="0">
                        <a:solidFill>
                          <a:srgbClr val="000000"/>
                        </a:solidFill>
                        <a:latin typeface="Times New Roman"/>
                        <a:ea typeface="Times New Roman"/>
                        <a:cs typeface="Arial"/>
                      </a:endParaRPr>
                    </a:p>
                    <a:p>
                      <a:pPr marL="342900" lvl="0" indent="-342900">
                        <a:lnSpc>
                          <a:spcPct val="115000"/>
                        </a:lnSpc>
                        <a:spcAft>
                          <a:spcPts val="1000"/>
                        </a:spcAft>
                        <a:buSzPts val="1000"/>
                        <a:buFont typeface="Symbol"/>
                        <a:buChar char=""/>
                        <a:tabLst>
                          <a:tab pos="457200" algn="l"/>
                        </a:tabLst>
                      </a:pPr>
                      <a:r>
                        <a:rPr lang="fr-FR" sz="1400" b="1" i="1" dirty="0" err="1">
                          <a:solidFill>
                            <a:srgbClr val="000000"/>
                          </a:solidFill>
                          <a:latin typeface="Times New Roman"/>
                          <a:ea typeface="Times New Roman"/>
                          <a:cs typeface="Arial"/>
                        </a:rPr>
                        <a:t>Adenovirus</a:t>
                      </a:r>
                      <a:endParaRPr lang="fr-FR" sz="1400" i="1"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b="1" i="1" dirty="0" err="1">
                          <a:solidFill>
                            <a:srgbClr val="000000"/>
                          </a:solidFill>
                          <a:latin typeface="Times New Roman"/>
                          <a:ea typeface="Times New Roman"/>
                          <a:cs typeface="Arial"/>
                        </a:rPr>
                        <a:t>Poxvirus</a:t>
                      </a:r>
                      <a:endParaRPr lang="fr-FR" sz="1400" i="1"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b="1" i="1" dirty="0">
                          <a:solidFill>
                            <a:srgbClr val="000000"/>
                          </a:solidFill>
                          <a:latin typeface="Times New Roman"/>
                          <a:ea typeface="Times New Roman"/>
                          <a:cs typeface="Arial"/>
                        </a:rPr>
                        <a:t>Papillomavirus</a:t>
                      </a:r>
                      <a:endParaRPr lang="fr-FR" sz="1400" i="1"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b="1" i="1" dirty="0" err="1">
                          <a:solidFill>
                            <a:srgbClr val="000000"/>
                          </a:solidFill>
                          <a:latin typeface="Times New Roman"/>
                          <a:ea typeface="Times New Roman"/>
                          <a:cs typeface="Arial"/>
                        </a:rPr>
                        <a:t>Polyomavirus</a:t>
                      </a:r>
                      <a:endParaRPr lang="fr-FR" sz="1400" i="1"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b="1" i="1" dirty="0">
                          <a:solidFill>
                            <a:srgbClr val="000000"/>
                          </a:solidFill>
                          <a:latin typeface="Times New Roman"/>
                          <a:ea typeface="Times New Roman"/>
                          <a:cs typeface="Arial"/>
                        </a:rPr>
                        <a:t>Parvovirus</a:t>
                      </a:r>
                      <a:endParaRPr lang="fr-FR" sz="1400" i="1" dirty="0">
                        <a:solidFill>
                          <a:srgbClr val="000000"/>
                        </a:solidFill>
                        <a:latin typeface="Calibri"/>
                        <a:ea typeface="Calibri"/>
                        <a:cs typeface="Arial"/>
                      </a:endParaRPr>
                    </a:p>
                  </a:txBody>
                  <a:tcPr marL="48843" marR="48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40432">
                <a:tc gridSpan="2">
                  <a:txBody>
                    <a:bodyPr/>
                    <a:lstStyle/>
                    <a:p>
                      <a:pPr marL="342900" lvl="0" indent="-342900">
                        <a:lnSpc>
                          <a:spcPct val="115000"/>
                        </a:lnSpc>
                        <a:spcAft>
                          <a:spcPts val="1000"/>
                        </a:spcAft>
                        <a:buSzPts val="1000"/>
                        <a:buFont typeface="Symbol"/>
                        <a:buChar char=""/>
                        <a:tabLst>
                          <a:tab pos="457200" algn="l"/>
                        </a:tabLst>
                      </a:pPr>
                      <a:r>
                        <a:rPr lang="fr-FR" sz="1400" dirty="0">
                          <a:solidFill>
                            <a:srgbClr val="000000"/>
                          </a:solidFill>
                          <a:latin typeface="Times New Roman"/>
                          <a:ea typeface="Times New Roman"/>
                          <a:cs typeface="Arial"/>
                        </a:rPr>
                        <a:t>Virus de l’hépatite B (HBV) : enveloppe non acquise par bourgeonnement</a:t>
                      </a:r>
                      <a:endParaRPr lang="fr-FR" sz="1400" dirty="0">
                        <a:solidFill>
                          <a:srgbClr val="000000"/>
                        </a:solidFill>
                        <a:latin typeface="Calibri"/>
                        <a:ea typeface="Calibri"/>
                        <a:cs typeface="Arial"/>
                      </a:endParaRPr>
                    </a:p>
                    <a:p>
                      <a:pPr marL="342900" lvl="0" indent="-342900">
                        <a:lnSpc>
                          <a:spcPct val="115000"/>
                        </a:lnSpc>
                        <a:spcAft>
                          <a:spcPts val="1000"/>
                        </a:spcAft>
                        <a:buSzPts val="1000"/>
                        <a:buFont typeface="Symbol"/>
                        <a:buChar char=""/>
                        <a:tabLst>
                          <a:tab pos="457200" algn="l"/>
                        </a:tabLst>
                      </a:pPr>
                      <a:r>
                        <a:rPr lang="fr-FR" sz="1400" dirty="0" err="1">
                          <a:solidFill>
                            <a:srgbClr val="000000"/>
                          </a:solidFill>
                          <a:latin typeface="Times New Roman"/>
                          <a:ea typeface="Times New Roman"/>
                          <a:cs typeface="Arial"/>
                        </a:rPr>
                        <a:t>Poxvirus</a:t>
                      </a:r>
                      <a:r>
                        <a:rPr lang="fr-FR" sz="1400" dirty="0">
                          <a:solidFill>
                            <a:srgbClr val="000000"/>
                          </a:solidFill>
                          <a:latin typeface="Times New Roman"/>
                          <a:ea typeface="Times New Roman"/>
                          <a:cs typeface="Arial"/>
                        </a:rPr>
                        <a:t> : virus à enveloppe complexe, non acquise par bourgeonnement, et très résistants.</a:t>
                      </a:r>
                      <a:endParaRPr lang="fr-FR" sz="1400" dirty="0">
                        <a:solidFill>
                          <a:srgbClr val="000000"/>
                        </a:solidFill>
                        <a:latin typeface="Calibri"/>
                        <a:ea typeface="Calibri"/>
                        <a:cs typeface="Arial"/>
                      </a:endParaRPr>
                    </a:p>
                  </a:txBody>
                  <a:tcPr marL="48843" marR="48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FR"/>
                    </a:p>
                  </a:txBody>
                  <a:tcPr/>
                </a:tc>
              </a:tr>
            </a:tbl>
          </a:graphicData>
        </a:graphic>
      </p:graphicFrame>
      <p:sp>
        <p:nvSpPr>
          <p:cNvPr id="5" name="Rectangle 4"/>
          <p:cNvSpPr/>
          <p:nvPr/>
        </p:nvSpPr>
        <p:spPr>
          <a:xfrm>
            <a:off x="571472" y="71414"/>
            <a:ext cx="8143932" cy="954107"/>
          </a:xfrm>
          <a:prstGeom prst="rect">
            <a:avLst/>
          </a:prstGeom>
        </p:spPr>
        <p:txBody>
          <a:bodyPr wrap="square">
            <a:spAutoFit/>
          </a:bodyPr>
          <a:lstStyle/>
          <a:p>
            <a:pPr algn="ctr">
              <a:buNone/>
            </a:pPr>
            <a:r>
              <a:rPr lang="fr-FR" sz="2800" b="1" dirty="0" smtClean="0">
                <a:solidFill>
                  <a:srgbClr val="FF0000"/>
                </a:solidFill>
              </a:rPr>
              <a:t>CLASSIFICATION SIMPLIFIÉE DES VIRUS</a:t>
            </a:r>
          </a:p>
          <a:p>
            <a:pPr algn="ctr"/>
            <a:r>
              <a:rPr lang="fr-FR" sz="2800" b="1" i="1" dirty="0" smtClean="0">
                <a:solidFill>
                  <a:srgbClr val="FF0000"/>
                </a:solidFill>
              </a:rPr>
              <a:t>VIRUS À ADN</a:t>
            </a:r>
            <a:endParaRPr lang="fr-FR" sz="2800" dirty="0" smtClean="0">
              <a:solidFill>
                <a:srgbClr val="FF0000"/>
              </a:solidFill>
            </a:endParaRPr>
          </a:p>
        </p:txBody>
      </p:sp>
      <p:sp>
        <p:nvSpPr>
          <p:cNvPr id="6" name="Rectangle 5"/>
          <p:cNvSpPr/>
          <p:nvPr/>
        </p:nvSpPr>
        <p:spPr>
          <a:xfrm>
            <a:off x="428596" y="6143644"/>
            <a:ext cx="4572000" cy="523220"/>
          </a:xfrm>
          <a:prstGeom prst="rect">
            <a:avLst/>
          </a:prstGeom>
        </p:spPr>
        <p:txBody>
          <a:bodyPr>
            <a:spAutoFit/>
          </a:bodyPr>
          <a:lstStyle/>
          <a:p>
            <a:r>
              <a:rPr lang="fr-FR" sz="1400" dirty="0" smtClean="0"/>
              <a:t>*Infections mortelles pour l’homme.</a:t>
            </a:r>
            <a:br>
              <a:rPr lang="fr-FR" sz="1400" dirty="0" smtClean="0"/>
            </a:br>
            <a:endParaRPr lang="fr-FR" sz="1400" dirty="0"/>
          </a:p>
        </p:txBody>
      </p:sp>
    </p:spTree>
    <p:extLst>
      <p:ext uri="{BB962C8B-B14F-4D97-AF65-F5344CB8AC3E}">
        <p14:creationId xmlns:p14="http://schemas.microsoft.com/office/powerpoint/2010/main" val="11287738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lgn="ctr">
              <a:buNone/>
            </a:pPr>
            <a:r>
              <a:rPr lang="fr-FR" sz="2000" b="1" dirty="0" smtClean="0"/>
              <a:t>CLASSIFICATION SIMPLIFIÉE DES VIRUS</a:t>
            </a:r>
          </a:p>
          <a:p>
            <a:r>
              <a:rPr lang="fr-FR" sz="2000" b="1" i="1" dirty="0" smtClean="0"/>
              <a:t>VIRUS À ARN</a:t>
            </a:r>
            <a:endParaRPr lang="fr-FR" sz="2000" dirty="0" smtClean="0"/>
          </a:p>
          <a:p>
            <a:endParaRPr lang="fr-FR" dirty="0"/>
          </a:p>
        </p:txBody>
      </p:sp>
      <p:graphicFrame>
        <p:nvGraphicFramePr>
          <p:cNvPr id="4" name="Tableau 3"/>
          <p:cNvGraphicFramePr>
            <a:graphicFrameLocks noGrp="1"/>
          </p:cNvGraphicFramePr>
          <p:nvPr/>
        </p:nvGraphicFramePr>
        <p:xfrm>
          <a:off x="357158" y="782026"/>
          <a:ext cx="8429684" cy="5188764"/>
        </p:xfrm>
        <a:graphic>
          <a:graphicData uri="http://schemas.openxmlformats.org/drawingml/2006/table">
            <a:tbl>
              <a:tblPr firstRow="1" bandRow="1">
                <a:tableStyleId>{5C22544A-7EE6-4342-B048-85BDC9FD1C3A}</a:tableStyleId>
              </a:tblPr>
              <a:tblGrid>
                <a:gridCol w="4214842"/>
                <a:gridCol w="4214842"/>
              </a:tblGrid>
              <a:tr h="324300">
                <a:tc>
                  <a:txBody>
                    <a:bodyPr/>
                    <a:lstStyle/>
                    <a:p>
                      <a:r>
                        <a:rPr lang="fr-FR" b="1" dirty="0" smtClean="0"/>
                        <a:t>Virus à enveloppe</a:t>
                      </a:r>
                      <a:r>
                        <a:rPr lang="fr-FR" b="1" baseline="0" dirty="0" smtClean="0"/>
                        <a:t> </a:t>
                      </a:r>
                      <a:endParaRPr lang="fr-FR" dirty="0"/>
                    </a:p>
                  </a:txBody>
                  <a:tcPr/>
                </a:tc>
                <a:tc>
                  <a:txBody>
                    <a:bodyPr/>
                    <a:lstStyle/>
                    <a:p>
                      <a:r>
                        <a:rPr lang="fr-FR" b="1" dirty="0" smtClean="0"/>
                        <a:t>Virus sans enveloppe</a:t>
                      </a:r>
                      <a:endParaRPr lang="fr-FR" dirty="0"/>
                    </a:p>
                  </a:txBody>
                  <a:tcPr/>
                </a:tc>
              </a:tr>
              <a:tr h="4823004">
                <a:tc>
                  <a:txBody>
                    <a:bodyPr/>
                    <a:lstStyle/>
                    <a:p>
                      <a:r>
                        <a:rPr lang="fr-FR" sz="1400" i="1" dirty="0" err="1" smtClean="0"/>
                        <a:t>Myxoviridae</a:t>
                      </a:r>
                      <a:r>
                        <a:rPr lang="fr-FR" sz="1400" dirty="0" smtClean="0"/>
                        <a:t> = virus influenza A, B, C</a:t>
                      </a:r>
                    </a:p>
                    <a:p>
                      <a:r>
                        <a:rPr lang="fr-FR" sz="1400" i="1" dirty="0" err="1" smtClean="0"/>
                        <a:t>Paramyxoviridae</a:t>
                      </a:r>
                      <a:endParaRPr lang="fr-FR" sz="1400" dirty="0" smtClean="0"/>
                    </a:p>
                    <a:p>
                      <a:pPr lvl="1"/>
                      <a:r>
                        <a:rPr lang="fr-FR" sz="1400" dirty="0" smtClean="0"/>
                        <a:t>Virus </a:t>
                      </a:r>
                      <a:r>
                        <a:rPr lang="fr-FR" sz="1400" dirty="0" err="1" smtClean="0"/>
                        <a:t>parainfluenza</a:t>
                      </a:r>
                      <a:r>
                        <a:rPr lang="fr-FR" sz="1400" dirty="0" smtClean="0"/>
                        <a:t> 1 à 4</a:t>
                      </a:r>
                    </a:p>
                    <a:p>
                      <a:pPr lvl="1"/>
                      <a:r>
                        <a:rPr lang="fr-FR" sz="1400" dirty="0" smtClean="0"/>
                        <a:t>Virus des oreillons</a:t>
                      </a:r>
                    </a:p>
                    <a:p>
                      <a:pPr lvl="1"/>
                      <a:r>
                        <a:rPr lang="fr-FR" sz="1400" dirty="0" smtClean="0"/>
                        <a:t>Virus de la rougeole</a:t>
                      </a:r>
                    </a:p>
                    <a:p>
                      <a:pPr lvl="1"/>
                      <a:r>
                        <a:rPr lang="fr-FR" sz="1400" dirty="0" smtClean="0"/>
                        <a:t>Virus respiratoire </a:t>
                      </a:r>
                      <a:r>
                        <a:rPr lang="fr-FR" sz="1400" dirty="0" err="1" smtClean="0"/>
                        <a:t>syncytial</a:t>
                      </a:r>
                      <a:r>
                        <a:rPr lang="fr-FR" sz="1400" dirty="0" smtClean="0"/>
                        <a:t> (RS)</a:t>
                      </a:r>
                    </a:p>
                    <a:p>
                      <a:r>
                        <a:rPr lang="fr-FR" sz="1400" dirty="0" smtClean="0"/>
                        <a:t>Coronavirus</a:t>
                      </a:r>
                    </a:p>
                    <a:p>
                      <a:r>
                        <a:rPr lang="fr-FR" sz="1400" dirty="0" smtClean="0"/>
                        <a:t>Virus de la rage</a:t>
                      </a:r>
                    </a:p>
                    <a:p>
                      <a:r>
                        <a:rPr lang="fr-FR" sz="1400" dirty="0" err="1" smtClean="0"/>
                        <a:t>Togavirus</a:t>
                      </a:r>
                      <a:r>
                        <a:rPr lang="fr-FR" sz="1400" dirty="0" smtClean="0"/>
                        <a:t> et </a:t>
                      </a:r>
                      <a:r>
                        <a:rPr lang="fr-FR" sz="1400" dirty="0" err="1" smtClean="0"/>
                        <a:t>Flavivirus</a:t>
                      </a:r>
                      <a:r>
                        <a:rPr lang="fr-FR" sz="1400" dirty="0" smtClean="0"/>
                        <a:t> (anciens arbovirus)</a:t>
                      </a:r>
                    </a:p>
                    <a:p>
                      <a:r>
                        <a:rPr lang="fr-FR" sz="1400" dirty="0" smtClean="0"/>
                        <a:t>Virus de l’hépatite C (HCV)</a:t>
                      </a:r>
                    </a:p>
                    <a:p>
                      <a:r>
                        <a:rPr lang="fr-FR" sz="1400" i="1" dirty="0" err="1" smtClean="0"/>
                        <a:t>Arenaviridae</a:t>
                      </a:r>
                      <a:endParaRPr lang="fr-FR" sz="1400" dirty="0" smtClean="0"/>
                    </a:p>
                    <a:p>
                      <a:pPr lvl="1"/>
                      <a:r>
                        <a:rPr lang="fr-FR" sz="1400" dirty="0" smtClean="0"/>
                        <a:t>Virus de la </a:t>
                      </a:r>
                      <a:r>
                        <a:rPr lang="fr-FR" sz="1400" dirty="0" err="1" smtClean="0"/>
                        <a:t>chorioméningite</a:t>
                      </a:r>
                      <a:endParaRPr lang="fr-FR" sz="1400" dirty="0" smtClean="0"/>
                    </a:p>
                    <a:p>
                      <a:pPr lvl="1"/>
                      <a:r>
                        <a:rPr lang="fr-FR" sz="1400" dirty="0" smtClean="0"/>
                        <a:t>Virus de la fièvre de Lassa*</a:t>
                      </a:r>
                    </a:p>
                    <a:p>
                      <a:r>
                        <a:rPr lang="fr-FR" sz="1400" i="1" dirty="0" err="1" smtClean="0"/>
                        <a:t>Filoviridae</a:t>
                      </a:r>
                      <a:r>
                        <a:rPr lang="fr-FR" sz="1400" dirty="0" smtClean="0"/>
                        <a:t> :</a:t>
                      </a:r>
                    </a:p>
                    <a:p>
                      <a:pPr lvl="1"/>
                      <a:r>
                        <a:rPr lang="fr-FR" sz="1400" dirty="0" smtClean="0"/>
                        <a:t>Virus Marburg*</a:t>
                      </a:r>
                    </a:p>
                    <a:p>
                      <a:pPr lvl="1"/>
                      <a:r>
                        <a:rPr lang="fr-FR" sz="1400" dirty="0" smtClean="0"/>
                        <a:t>Virus EBOLA*</a:t>
                      </a:r>
                    </a:p>
                    <a:p>
                      <a:r>
                        <a:rPr lang="fr-FR" sz="1400" dirty="0" err="1" smtClean="0"/>
                        <a:t>Hantavirus</a:t>
                      </a:r>
                      <a:endParaRPr lang="fr-FR" sz="1400" dirty="0" smtClean="0"/>
                    </a:p>
                    <a:p>
                      <a:r>
                        <a:rPr lang="fr-FR" sz="1400" dirty="0" smtClean="0"/>
                        <a:t>Virus de la rubéole (c’est un </a:t>
                      </a:r>
                      <a:r>
                        <a:rPr lang="fr-FR" sz="1400" i="1" dirty="0" err="1" smtClean="0"/>
                        <a:t>Togaviridae</a:t>
                      </a:r>
                      <a:r>
                        <a:rPr lang="fr-FR" sz="1400" i="1" dirty="0" smtClean="0"/>
                        <a:t>)</a:t>
                      </a:r>
                      <a:endParaRPr lang="fr-FR" sz="1400" dirty="0" smtClean="0"/>
                    </a:p>
                    <a:p>
                      <a:r>
                        <a:rPr lang="fr-FR" sz="1400" i="1" dirty="0" err="1" smtClean="0"/>
                        <a:t>Retroviridae</a:t>
                      </a:r>
                      <a:endParaRPr lang="fr-FR" sz="1400" dirty="0" smtClean="0"/>
                    </a:p>
                    <a:p>
                      <a:pPr lvl="1"/>
                      <a:r>
                        <a:rPr lang="fr-FR" sz="1400" dirty="0" smtClean="0"/>
                        <a:t>HTLV-1 et 2</a:t>
                      </a:r>
                    </a:p>
                    <a:p>
                      <a:pPr lvl="1"/>
                      <a:r>
                        <a:rPr lang="fr-FR" sz="1400" dirty="0" smtClean="0"/>
                        <a:t>HIV-1 et 2*</a:t>
                      </a:r>
                    </a:p>
                    <a:p>
                      <a:endParaRPr lang="fr-FR" sz="1400" dirty="0"/>
                    </a:p>
                  </a:txBody>
                  <a:tcPr/>
                </a:tc>
                <a:tc>
                  <a:txBody>
                    <a:bodyPr/>
                    <a:lstStyle/>
                    <a:p>
                      <a:r>
                        <a:rPr lang="fr-FR" dirty="0" err="1" smtClean="0"/>
                        <a:t>Picornavirus</a:t>
                      </a:r>
                      <a:r>
                        <a:rPr lang="fr-FR" dirty="0" smtClean="0"/>
                        <a:t/>
                      </a:r>
                      <a:br>
                        <a:rPr lang="fr-FR" dirty="0" smtClean="0"/>
                      </a:br>
                      <a:endParaRPr lang="fr-FR" dirty="0" smtClean="0"/>
                    </a:p>
                    <a:p>
                      <a:pPr lvl="1"/>
                      <a:r>
                        <a:rPr lang="fr-FR" dirty="0" smtClean="0"/>
                        <a:t>Entérovirus</a:t>
                      </a:r>
                      <a:br>
                        <a:rPr lang="fr-FR" dirty="0" smtClean="0"/>
                      </a:br>
                      <a:r>
                        <a:rPr lang="fr-FR" dirty="0" smtClean="0"/>
                        <a:t>⇒ Poliovirus 1 à 3</a:t>
                      </a:r>
                      <a:br>
                        <a:rPr lang="fr-FR" dirty="0" smtClean="0"/>
                      </a:br>
                      <a:r>
                        <a:rPr lang="fr-FR" dirty="0" smtClean="0"/>
                        <a:t>⇒ </a:t>
                      </a:r>
                      <a:r>
                        <a:rPr lang="fr-FR" dirty="0" err="1" smtClean="0"/>
                        <a:t>Coxsackievirus</a:t>
                      </a:r>
                      <a:r>
                        <a:rPr lang="fr-FR" dirty="0" smtClean="0"/>
                        <a:t> (~ 30)</a:t>
                      </a:r>
                      <a:br>
                        <a:rPr lang="fr-FR" dirty="0" smtClean="0"/>
                      </a:br>
                      <a:r>
                        <a:rPr lang="fr-FR" dirty="0" smtClean="0"/>
                        <a:t>⇒ </a:t>
                      </a:r>
                      <a:r>
                        <a:rPr lang="fr-FR" dirty="0" err="1" smtClean="0"/>
                        <a:t>Échovirus</a:t>
                      </a:r>
                      <a:r>
                        <a:rPr lang="fr-FR" dirty="0" smtClean="0"/>
                        <a:t> (~ 30)</a:t>
                      </a:r>
                    </a:p>
                    <a:p>
                      <a:pPr lvl="1"/>
                      <a:r>
                        <a:rPr lang="fr-FR" dirty="0" smtClean="0"/>
                        <a:t>Virus de l’hépatite A (HAV)</a:t>
                      </a:r>
                    </a:p>
                    <a:p>
                      <a:pPr lvl="1"/>
                      <a:r>
                        <a:rPr lang="fr-FR" dirty="0" smtClean="0"/>
                        <a:t>Rhinovirus</a:t>
                      </a:r>
                    </a:p>
                    <a:p>
                      <a:r>
                        <a:rPr lang="fr-FR" dirty="0" smtClean="0"/>
                        <a:t>Virus de l’hépatite E</a:t>
                      </a:r>
                    </a:p>
                    <a:p>
                      <a:r>
                        <a:rPr lang="fr-FR" dirty="0" err="1" smtClean="0"/>
                        <a:t>Rotavirus</a:t>
                      </a:r>
                      <a:endParaRPr lang="fr-FR" dirty="0" smtClean="0"/>
                    </a:p>
                    <a:p>
                      <a:r>
                        <a:rPr lang="fr-FR" dirty="0" err="1" smtClean="0"/>
                        <a:t>Calicivirus</a:t>
                      </a:r>
                      <a:endParaRPr lang="fr-FR" dirty="0" smtClean="0"/>
                    </a:p>
                  </a:txBody>
                  <a:tcPr/>
                </a:tc>
              </a:tr>
            </a:tbl>
          </a:graphicData>
        </a:graphic>
      </p:graphicFrame>
      <p:sp>
        <p:nvSpPr>
          <p:cNvPr id="5" name="Rectangle 4"/>
          <p:cNvSpPr/>
          <p:nvPr/>
        </p:nvSpPr>
        <p:spPr>
          <a:xfrm>
            <a:off x="357158" y="5997379"/>
            <a:ext cx="8358246" cy="646331"/>
          </a:xfrm>
          <a:prstGeom prst="rect">
            <a:avLst/>
          </a:prstGeom>
        </p:spPr>
        <p:txBody>
          <a:bodyPr wrap="square">
            <a:spAutoFit/>
          </a:bodyPr>
          <a:lstStyle/>
          <a:p>
            <a:r>
              <a:rPr lang="fr-FR" dirty="0" smtClean="0"/>
              <a:t>Virus de l’hépatite D (Delta) ou HDV : génome et </a:t>
            </a:r>
            <a:r>
              <a:rPr lang="fr-FR" dirty="0" err="1" smtClean="0"/>
              <a:t>core</a:t>
            </a:r>
            <a:r>
              <a:rPr lang="fr-FR" dirty="0" smtClean="0"/>
              <a:t> de l’HDV sous enveloppe de l’ HBV (Ag </a:t>
            </a:r>
            <a:r>
              <a:rPr lang="fr-FR" dirty="0" err="1" smtClean="0"/>
              <a:t>HBs</a:t>
            </a:r>
            <a:r>
              <a:rPr lang="fr-FR" dirty="0" smtClean="0"/>
              <a:t>).</a:t>
            </a:r>
            <a:endParaRPr lang="fr-FR" dirty="0"/>
          </a:p>
        </p:txBody>
      </p:sp>
    </p:spTree>
    <p:extLst>
      <p:ext uri="{BB962C8B-B14F-4D97-AF65-F5344CB8AC3E}">
        <p14:creationId xmlns:p14="http://schemas.microsoft.com/office/powerpoint/2010/main" val="24049718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Méthodes de diagnostic en virologie</a:t>
            </a:r>
            <a:br>
              <a:rPr lang="fr-FR" b="1" dirty="0" smtClean="0">
                <a:solidFill>
                  <a:srgbClr val="FF0000"/>
                </a:solidFill>
              </a:rPr>
            </a:br>
            <a:endParaRPr lang="fr-FR" dirty="0">
              <a:solidFill>
                <a:srgbClr val="FF0000"/>
              </a:solidFill>
            </a:endParaRPr>
          </a:p>
        </p:txBody>
      </p:sp>
      <p:sp>
        <p:nvSpPr>
          <p:cNvPr id="3" name="Espace réservé du contenu 2"/>
          <p:cNvSpPr>
            <a:spLocks noGrp="1"/>
          </p:cNvSpPr>
          <p:nvPr>
            <p:ph idx="1"/>
          </p:nvPr>
        </p:nvSpPr>
        <p:spPr/>
        <p:txBody>
          <a:bodyPr>
            <a:normAutofit/>
          </a:bodyPr>
          <a:lstStyle/>
          <a:p>
            <a:r>
              <a:rPr lang="fr-FR" b="1" dirty="0" smtClean="0"/>
              <a:t>Diagnostic direct : </a:t>
            </a:r>
            <a:r>
              <a:rPr lang="fr-FR" dirty="0" smtClean="0"/>
              <a:t>mettre en évidence un virus ou un de ses constituants (protéine virale, génome viral...)</a:t>
            </a:r>
          </a:p>
          <a:p>
            <a:r>
              <a:rPr lang="fr-FR" b="1" dirty="0" smtClean="0"/>
              <a:t>Diagnostic indirect </a:t>
            </a:r>
            <a:r>
              <a:rPr lang="fr-FR" dirty="0" smtClean="0"/>
              <a:t>: mise en évidence des anticorps synthétisés suite à une infection virale (techniques : ELISA, western blot..)</a:t>
            </a:r>
            <a:endParaRPr lang="fr-FR" dirty="0"/>
          </a:p>
        </p:txBody>
      </p:sp>
    </p:spTree>
    <p:extLst>
      <p:ext uri="{BB962C8B-B14F-4D97-AF65-F5344CB8AC3E}">
        <p14:creationId xmlns:p14="http://schemas.microsoft.com/office/powerpoint/2010/main" val="1104205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14338"/>
            <a:ext cx="8229600" cy="1143000"/>
          </a:xfrm>
        </p:spPr>
        <p:txBody>
          <a:bodyPr>
            <a:noAutofit/>
          </a:bodyPr>
          <a:lstStyle/>
          <a:p>
            <a:r>
              <a:rPr lang="fr-FR" sz="2800" b="1" dirty="0" smtClean="0">
                <a:solidFill>
                  <a:srgbClr val="FF0000"/>
                </a:solidFill>
              </a:rPr>
              <a:t>Diagnostic direct</a:t>
            </a:r>
            <a:br>
              <a:rPr lang="fr-FR" sz="2800" b="1" dirty="0" smtClean="0">
                <a:solidFill>
                  <a:srgbClr val="FF0000"/>
                </a:solidFill>
              </a:rPr>
            </a:br>
            <a:endParaRPr lang="fr-FR" sz="2800" dirty="0">
              <a:solidFill>
                <a:srgbClr val="FF0000"/>
              </a:solidFill>
            </a:endParaRPr>
          </a:p>
        </p:txBody>
      </p:sp>
      <p:sp>
        <p:nvSpPr>
          <p:cNvPr id="3" name="Espace réservé du contenu 2"/>
          <p:cNvSpPr>
            <a:spLocks noGrp="1"/>
          </p:cNvSpPr>
          <p:nvPr>
            <p:ph idx="1"/>
          </p:nvPr>
        </p:nvSpPr>
        <p:spPr>
          <a:xfrm>
            <a:off x="0" y="428604"/>
            <a:ext cx="9144000" cy="2500330"/>
          </a:xfrm>
        </p:spPr>
        <p:txBody>
          <a:bodyPr>
            <a:normAutofit fontScale="62500" lnSpcReduction="20000"/>
          </a:bodyPr>
          <a:lstStyle/>
          <a:p>
            <a:r>
              <a:rPr lang="fr-FR" dirty="0" smtClean="0"/>
              <a:t>Isolement viral en culture cellulaire (recherche d’un effet </a:t>
            </a:r>
            <a:r>
              <a:rPr lang="fr-FR" dirty="0" err="1" smtClean="0"/>
              <a:t>cytopathogène</a:t>
            </a:r>
            <a:r>
              <a:rPr lang="fr-FR" dirty="0" smtClean="0"/>
              <a:t> sur la lignée cellulaire utilisée) </a:t>
            </a:r>
          </a:p>
          <a:p>
            <a:r>
              <a:rPr lang="fr-FR" dirty="0" smtClean="0"/>
              <a:t>Détection immunologique des antigènes viraux (immunofluorescence, ELISA)</a:t>
            </a:r>
          </a:p>
          <a:p>
            <a:r>
              <a:rPr lang="fr-FR" dirty="0" smtClean="0"/>
              <a:t>Détection de génomes viraux : Détection et/ou quantification de génomes viraux (RT-PCR, PCR en temps réel)</a:t>
            </a:r>
          </a:p>
          <a:p>
            <a:r>
              <a:rPr lang="fr-FR" dirty="0" smtClean="0"/>
              <a:t>Typage des génomes viraux</a:t>
            </a:r>
          </a:p>
          <a:p>
            <a:r>
              <a:rPr lang="fr-FR" dirty="0" smtClean="0"/>
              <a:t>Recherche de mutations génomiques induisant des résistances aux traitements</a:t>
            </a:r>
            <a:br>
              <a:rPr lang="fr-FR" dirty="0" smtClean="0"/>
            </a:br>
            <a:endParaRPr lang="fr-FR" dirty="0"/>
          </a:p>
        </p:txBody>
      </p:sp>
      <p:pic>
        <p:nvPicPr>
          <p:cNvPr id="7170" name="Picture 2" descr="Différentes approches du diagnostic direct en virologie."/>
          <p:cNvPicPr>
            <a:picLocks noChangeAspect="1" noChangeArrowheads="1"/>
          </p:cNvPicPr>
          <p:nvPr/>
        </p:nvPicPr>
        <p:blipFill>
          <a:blip r:embed="rId2"/>
          <a:srcRect/>
          <a:stretch>
            <a:fillRect/>
          </a:stretch>
        </p:blipFill>
        <p:spPr bwMode="auto">
          <a:xfrm>
            <a:off x="155574" y="2428868"/>
            <a:ext cx="8559830" cy="4143404"/>
          </a:xfrm>
          <a:prstGeom prst="rect">
            <a:avLst/>
          </a:prstGeom>
          <a:noFill/>
        </p:spPr>
      </p:pic>
    </p:spTree>
    <p:extLst>
      <p:ext uri="{BB962C8B-B14F-4D97-AF65-F5344CB8AC3E}">
        <p14:creationId xmlns:p14="http://schemas.microsoft.com/office/powerpoint/2010/main" val="2196808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428596" y="500042"/>
            <a:ext cx="8429684" cy="4678204"/>
          </a:xfrm>
          <a:prstGeom prst="rect">
            <a:avLst/>
          </a:prstGeom>
          <a:noFill/>
        </p:spPr>
        <p:txBody>
          <a:bodyPr wrap="square" rtlCol="0">
            <a:spAutoFit/>
          </a:bodyPr>
          <a:lstStyle/>
          <a:p>
            <a:r>
              <a:rPr lang="fr-FR" sz="2000" b="1" dirty="0" smtClean="0">
                <a:latin typeface="Times New Roman" pitchFamily="18" charset="0"/>
                <a:cs typeface="Times New Roman" pitchFamily="18" charset="0"/>
              </a:rPr>
              <a:t>Le virus HIV, responsable du SIDA : ( Oran 2022)</a:t>
            </a:r>
          </a:p>
          <a:p>
            <a:endParaRPr lang="fr-FR" sz="2000" dirty="0" smtClean="0">
              <a:latin typeface="Times New Roman" pitchFamily="18" charset="0"/>
              <a:cs typeface="Times New Roman" pitchFamily="18" charset="0"/>
            </a:endParaRPr>
          </a:p>
          <a:p>
            <a:pPr marL="342900" indent="-342900">
              <a:buAutoNum type="alphaUcPeriod"/>
            </a:pPr>
            <a:r>
              <a:rPr lang="fr-FR" sz="2000" dirty="0" smtClean="0">
                <a:latin typeface="Times New Roman" pitchFamily="18" charset="0"/>
                <a:cs typeface="Times New Roman" pitchFamily="18" charset="0"/>
              </a:rPr>
              <a:t>Est stable à 56°</a:t>
            </a:r>
          </a:p>
          <a:p>
            <a:pPr marL="342900" indent="-342900">
              <a:buAutoNum type="alphaUcPeriod"/>
            </a:pPr>
            <a:r>
              <a:rPr lang="fr-FR" sz="2000" dirty="0" smtClean="0">
                <a:latin typeface="Times New Roman" pitchFamily="18" charset="0"/>
                <a:cs typeface="Times New Roman" pitchFamily="18" charset="0"/>
              </a:rPr>
              <a:t>Est détruit par l’alcool et l’eau de javel</a:t>
            </a:r>
          </a:p>
          <a:p>
            <a:pPr marL="342900" indent="-342900">
              <a:buAutoNum type="alphaUcPeriod"/>
            </a:pPr>
            <a:r>
              <a:rPr lang="fr-FR" sz="2000" dirty="0" smtClean="0">
                <a:latin typeface="Times New Roman" pitchFamily="18" charset="0"/>
                <a:cs typeface="Times New Roman" pitchFamily="18" charset="0"/>
              </a:rPr>
              <a:t>Est un rétrovirus</a:t>
            </a:r>
          </a:p>
          <a:p>
            <a:pPr marL="342900" indent="-342900">
              <a:buAutoNum type="alphaUcPeriod"/>
            </a:pPr>
            <a:r>
              <a:rPr lang="fr-FR" sz="2000" dirty="0" smtClean="0">
                <a:latin typeface="Times New Roman" pitchFamily="18" charset="0"/>
                <a:cs typeface="Times New Roman" pitchFamily="18" charset="0"/>
              </a:rPr>
              <a:t>Infecte exclusivement les </a:t>
            </a:r>
            <a:r>
              <a:rPr lang="fr-FR" sz="2000" smtClean="0">
                <a:latin typeface="Times New Roman" pitchFamily="18" charset="0"/>
                <a:cs typeface="Times New Roman" pitchFamily="18" charset="0"/>
              </a:rPr>
              <a:t>lymphocytes T4 (CD4)</a:t>
            </a:r>
            <a:endParaRPr lang="fr-FR" sz="2000" dirty="0" smtClean="0">
              <a:latin typeface="Times New Roman" pitchFamily="18" charset="0"/>
              <a:cs typeface="Times New Roman" pitchFamily="18" charset="0"/>
            </a:endParaRPr>
          </a:p>
          <a:p>
            <a:pPr marL="342900" indent="-342900">
              <a:buAutoNum type="alphaUcPeriod"/>
            </a:pPr>
            <a:r>
              <a:rPr lang="fr-FR" sz="2000" dirty="0" smtClean="0">
                <a:latin typeface="Times New Roman" pitchFamily="18" charset="0"/>
                <a:cs typeface="Times New Roman" pitchFamily="18" charset="0"/>
              </a:rPr>
              <a:t>N’est pas transmis de la mère à l’enfant</a:t>
            </a:r>
          </a:p>
          <a:p>
            <a:pPr marL="342900" indent="-342900">
              <a:buAutoNum type="alphaUcPeriod"/>
            </a:pPr>
            <a:endParaRPr lang="fr-FR" sz="2000" dirty="0" smtClean="0">
              <a:latin typeface="Times New Roman" pitchFamily="18" charset="0"/>
              <a:cs typeface="Times New Roman" pitchFamily="18" charset="0"/>
            </a:endParaRPr>
          </a:p>
          <a:p>
            <a:pPr marL="342900" indent="-342900">
              <a:buAutoNum type="alphaUcPeriod"/>
            </a:pPr>
            <a:endParaRPr lang="fr-FR" sz="2000" dirty="0" smtClean="0">
              <a:latin typeface="Times New Roman" pitchFamily="18" charset="0"/>
              <a:cs typeface="Times New Roman" pitchFamily="18" charset="0"/>
            </a:endParaRPr>
          </a:p>
          <a:p>
            <a:pPr marL="342900" indent="-342900">
              <a:buAutoNum type="alphaUcPeriod"/>
            </a:pPr>
            <a:endParaRPr lang="fr-FR" sz="2000" dirty="0" smtClean="0">
              <a:latin typeface="Times New Roman" pitchFamily="18" charset="0"/>
              <a:cs typeface="Times New Roman" pitchFamily="18" charset="0"/>
            </a:endParaRPr>
          </a:p>
          <a:p>
            <a:pPr marL="342900" indent="-342900">
              <a:buAutoNum type="alphaUcPeriod"/>
            </a:pPr>
            <a:endParaRPr lang="fr-FR" sz="2000" dirty="0" smtClean="0">
              <a:latin typeface="Times New Roman" pitchFamily="18" charset="0"/>
              <a:cs typeface="Times New Roman" pitchFamily="18" charset="0"/>
            </a:endParaRPr>
          </a:p>
          <a:p>
            <a:pPr marL="342900" indent="-342900"/>
            <a:r>
              <a:rPr lang="fr-FR" sz="2000" b="1" dirty="0" smtClean="0">
                <a:latin typeface="Times New Roman" pitchFamily="18" charset="0"/>
                <a:cs typeface="Times New Roman" pitchFamily="18" charset="0"/>
              </a:rPr>
              <a:t>Réponse : B  C</a:t>
            </a:r>
          </a:p>
          <a:p>
            <a:pPr marL="342900" indent="-342900">
              <a:buAutoNum type="alphaUcPeriod"/>
            </a:pPr>
            <a:endParaRPr lang="fr-FR" sz="2000" dirty="0" smtClean="0">
              <a:latin typeface="Times New Roman" pitchFamily="18" charset="0"/>
              <a:cs typeface="Times New Roman" pitchFamily="18" charset="0"/>
            </a:endParaRPr>
          </a:p>
          <a:p>
            <a:pPr marL="342900" indent="-342900">
              <a:buAutoNum type="alphaUcPeriod"/>
            </a:pPr>
            <a:endParaRPr lang="fr-FR" sz="2000" dirty="0" smtClean="0">
              <a:latin typeface="Times New Roman" pitchFamily="18" charset="0"/>
              <a:cs typeface="Times New Roman" pitchFamily="18" charset="0"/>
            </a:endParaRPr>
          </a:p>
          <a:p>
            <a:pPr marL="342900" indent="-342900">
              <a:buAutoNum type="alphaUcPeriod"/>
            </a:pPr>
            <a:endParaRPr lang="fr-FR" sz="2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1" end="11"/>
                                            </p:txEl>
                                          </p:spTgt>
                                        </p:tgtEl>
                                        <p:attrNameLst>
                                          <p:attrName>style.visibility</p:attrName>
                                        </p:attrNameLst>
                                      </p:cBhvr>
                                      <p:to>
                                        <p:strVal val="visible"/>
                                      </p:to>
                                    </p:set>
                                    <p:animEffect transition="in" filter="blinds(horizontal)">
                                      <p:cBhvr>
                                        <p:cTn id="7"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571480"/>
            <a:ext cx="9144000" cy="5554683"/>
          </a:xfrm>
        </p:spPr>
        <p:txBody>
          <a:bodyPr>
            <a:normAutofit fontScale="85000" lnSpcReduction="10000"/>
          </a:bodyPr>
          <a:lstStyle/>
          <a:p>
            <a:pPr marL="0" indent="0">
              <a:buNone/>
            </a:pPr>
            <a:r>
              <a:rPr lang="fr-FR" b="1" dirty="0" smtClean="0">
                <a:latin typeface="Times New Roman" pitchFamily="18" charset="0"/>
                <a:cs typeface="Times New Roman" pitchFamily="18" charset="0"/>
              </a:rPr>
              <a:t>Quelle est, concernant les mutations bactériennes, la seule proposition exacte ?  </a:t>
            </a:r>
          </a:p>
          <a:p>
            <a:pPr marL="0" indent="0">
              <a:buNone/>
            </a:pPr>
            <a:endParaRPr lang="fr-FR"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A - Nécessitent pour se produire l’addition aux cultures de substances  appelées mutagènes  </a:t>
            </a:r>
          </a:p>
          <a:p>
            <a:r>
              <a:rPr lang="fr-FR" dirty="0" smtClean="0">
                <a:latin typeface="Times New Roman" pitchFamily="18" charset="0"/>
                <a:cs typeface="Times New Roman" pitchFamily="18" charset="0"/>
              </a:rPr>
              <a:t>B - Sont induites par l’utilisation d’antibiotiques quand elles concernent la résistance à ceux-ci  </a:t>
            </a:r>
          </a:p>
          <a:p>
            <a:r>
              <a:rPr lang="fr-FR" dirty="0" smtClean="0">
                <a:latin typeface="Times New Roman" pitchFamily="18" charset="0"/>
                <a:cs typeface="Times New Roman" pitchFamily="18" charset="0"/>
              </a:rPr>
              <a:t>C - Résultent d’un changement dans la séquence de bases de l’ADN</a:t>
            </a:r>
          </a:p>
          <a:p>
            <a:r>
              <a:rPr lang="fr-FR" dirty="0" smtClean="0">
                <a:latin typeface="Times New Roman" pitchFamily="18" charset="0"/>
                <a:cs typeface="Times New Roman" pitchFamily="18" charset="0"/>
              </a:rPr>
              <a:t>D - Sont réversibles quand elles résultent d’une délétion  </a:t>
            </a:r>
          </a:p>
          <a:p>
            <a:r>
              <a:rPr lang="fr-FR" dirty="0" smtClean="0">
                <a:latin typeface="Times New Roman" pitchFamily="18" charset="0"/>
                <a:cs typeface="Times New Roman" pitchFamily="18" charset="0"/>
              </a:rPr>
              <a:t>E - Sont toujours exprimées par un changement au niveau du phénotype</a:t>
            </a:r>
          </a:p>
          <a:p>
            <a:pPr>
              <a:buNone/>
            </a:pPr>
            <a:r>
              <a:rPr lang="fr-FR" dirty="0" smtClean="0">
                <a:solidFill>
                  <a:srgbClr val="FF0000"/>
                </a:solidFill>
                <a:latin typeface="Times New Roman" pitchFamily="18" charset="0"/>
                <a:cs typeface="Times New Roman" pitchFamily="18" charset="0"/>
              </a:rPr>
              <a:t>Réponse : C</a:t>
            </a:r>
            <a:endParaRPr lang="fr-FR" dirty="0" smtClean="0">
              <a:latin typeface="Times New Roman" pitchFamily="18" charset="0"/>
              <a:cs typeface="Times New Roman" pitchFamily="18" charset="0"/>
            </a:endParaRPr>
          </a:p>
          <a:p>
            <a:endParaRPr lang="fr-FR" dirty="0" smtClean="0"/>
          </a:p>
          <a:p>
            <a:pPr>
              <a:buNone/>
            </a:pP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blinds(horizontal)">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p:cNvSpPr>
            <a:spLocks noGrp="1"/>
          </p:cNvSpPr>
          <p:nvPr>
            <p:ph idx="1"/>
          </p:nvPr>
        </p:nvSpPr>
        <p:spPr>
          <a:xfrm>
            <a:off x="0" y="357166"/>
            <a:ext cx="9144000" cy="6143668"/>
          </a:xfrm>
        </p:spPr>
        <p:txBody>
          <a:bodyPr>
            <a:normAutofit/>
          </a:bodyPr>
          <a:lstStyle/>
          <a:p>
            <a:pPr>
              <a:buNone/>
            </a:pPr>
            <a:r>
              <a:rPr lang="fr-FR" b="1" dirty="0" smtClean="0">
                <a:latin typeface="Times New Roman" pitchFamily="18" charset="0"/>
                <a:cs typeface="Times New Roman" pitchFamily="18" charset="0"/>
              </a:rPr>
              <a:t>La résistance chromosomique aux antibiotiques</a:t>
            </a:r>
          </a:p>
          <a:p>
            <a:pPr>
              <a:buNone/>
            </a:pP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A - Est acquise par mutation  </a:t>
            </a:r>
          </a:p>
          <a:p>
            <a:r>
              <a:rPr lang="fr-FR" dirty="0" smtClean="0">
                <a:latin typeface="Times New Roman" pitchFamily="18" charset="0"/>
                <a:cs typeface="Times New Roman" pitchFamily="18" charset="0"/>
              </a:rPr>
              <a:t> B - Représente 80 à 90 % des résistances rencontrées en clinique  </a:t>
            </a:r>
          </a:p>
          <a:p>
            <a:r>
              <a:rPr lang="fr-FR" dirty="0" smtClean="0">
                <a:latin typeface="Times New Roman" pitchFamily="18" charset="0"/>
                <a:cs typeface="Times New Roman" pitchFamily="18" charset="0"/>
              </a:rPr>
              <a:t> C - Est brusque  </a:t>
            </a:r>
          </a:p>
          <a:p>
            <a:r>
              <a:rPr lang="fr-FR" dirty="0" smtClean="0">
                <a:latin typeface="Times New Roman" pitchFamily="18" charset="0"/>
                <a:cs typeface="Times New Roman" pitchFamily="18" charset="0"/>
              </a:rPr>
              <a:t> D - Est non spontanée, provoquée par l’antibiotique  </a:t>
            </a:r>
          </a:p>
          <a:p>
            <a:r>
              <a:rPr lang="fr-FR" dirty="0" smtClean="0">
                <a:latin typeface="Times New Roman" pitchFamily="18" charset="0"/>
                <a:cs typeface="Times New Roman" pitchFamily="18" charset="0"/>
              </a:rPr>
              <a:t> E - Est une justification de l’association des antibiotiques       </a:t>
            </a:r>
          </a:p>
          <a:p>
            <a:pPr>
              <a:buNone/>
            </a:pPr>
            <a:r>
              <a:rPr lang="fr-FR" dirty="0" smtClean="0">
                <a:solidFill>
                  <a:srgbClr val="FF0000"/>
                </a:solidFill>
                <a:latin typeface="Times New Roman" pitchFamily="18" charset="0"/>
                <a:cs typeface="Times New Roman" pitchFamily="18" charset="0"/>
              </a:rPr>
              <a:t>Réponse : A C E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p:cTn id="7" dur="500" fill="hold"/>
                                        <p:tgtEl>
                                          <p:spTgt spid="4">
                                            <p:txEl>
                                              <p:pRg st="7" end="7"/>
                                            </p:txEl>
                                          </p:spTgt>
                                        </p:tgtEl>
                                        <p:attrNameLst>
                                          <p:attrName>ppt_w</p:attrName>
                                        </p:attrNameLst>
                                      </p:cBhvr>
                                      <p:tavLst>
                                        <p:tav tm="0">
                                          <p:val>
                                            <p:fltVal val="0"/>
                                          </p:val>
                                        </p:tav>
                                        <p:tav tm="100000">
                                          <p:val>
                                            <p:strVal val="#ppt_w"/>
                                          </p:val>
                                        </p:tav>
                                      </p:tavLst>
                                    </p:anim>
                                    <p:anim calcmode="lin" valueType="num">
                                      <p:cBhvr>
                                        <p:cTn id="8" dur="500" fill="hold"/>
                                        <p:tgtEl>
                                          <p:spTgt spid="4">
                                            <p:txEl>
                                              <p:pRg st="7" end="7"/>
                                            </p:txEl>
                                          </p:spTgt>
                                        </p:tgtEl>
                                        <p:attrNameLst>
                                          <p:attrName>ppt_h</p:attrName>
                                        </p:attrNameLst>
                                      </p:cBhvr>
                                      <p:tavLst>
                                        <p:tav tm="0">
                                          <p:val>
                                            <p:fltVal val="0"/>
                                          </p:val>
                                        </p:tav>
                                        <p:tav tm="100000">
                                          <p:val>
                                            <p:strVal val="#ppt_h"/>
                                          </p:val>
                                        </p:tav>
                                      </p:tavLst>
                                    </p:anim>
                                    <p:animEffect transition="in" filter="fade">
                                      <p:cBhvr>
                                        <p:cTn id="9"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85000" lnSpcReduction="20000"/>
          </a:bodyPr>
          <a:lstStyle/>
          <a:p>
            <a:pPr lvl="0">
              <a:buNone/>
            </a:pPr>
            <a:r>
              <a:rPr lang="fr-FR" b="1" dirty="0" smtClean="0"/>
              <a:t>La résistance chromosomique des bactéries aux antibiotiques</a:t>
            </a:r>
            <a:endParaRPr lang="fr-FR" dirty="0" smtClean="0"/>
          </a:p>
          <a:p>
            <a:pPr>
              <a:buNone/>
            </a:pPr>
            <a:r>
              <a:rPr lang="fr-FR" dirty="0" smtClean="0"/>
              <a:t>a. ne concerne qu’une faible proportion des résistances acquises</a:t>
            </a:r>
          </a:p>
          <a:p>
            <a:pPr>
              <a:buNone/>
            </a:pPr>
            <a:r>
              <a:rPr lang="fr-FR" dirty="0" smtClean="0"/>
              <a:t>b. n’est pas héréditaire</a:t>
            </a:r>
          </a:p>
          <a:p>
            <a:pPr>
              <a:buNone/>
            </a:pPr>
            <a:r>
              <a:rPr lang="fr-FR" dirty="0" smtClean="0"/>
              <a:t>c. justifie l’intérêt d’association d’antibiotiques</a:t>
            </a:r>
          </a:p>
          <a:p>
            <a:pPr>
              <a:buNone/>
            </a:pPr>
            <a:r>
              <a:rPr lang="fr-FR" dirty="0" smtClean="0"/>
              <a:t>d. est liée à la pression de sélection par l’antibiotique</a:t>
            </a:r>
          </a:p>
          <a:p>
            <a:pPr>
              <a:buNone/>
            </a:pPr>
            <a:r>
              <a:rPr lang="fr-FR" dirty="0" smtClean="0"/>
              <a:t>e. se fait par mutation génétique</a:t>
            </a:r>
          </a:p>
          <a:p>
            <a:pPr>
              <a:buNone/>
            </a:pPr>
            <a:endParaRPr lang="fr-FR" dirty="0" smtClean="0"/>
          </a:p>
          <a:p>
            <a:pPr>
              <a:buNone/>
            </a:pPr>
            <a:r>
              <a:rPr lang="fr-FR" dirty="0" smtClean="0">
                <a:solidFill>
                  <a:srgbClr val="FF0000"/>
                </a:solidFill>
              </a:rPr>
              <a:t>Réponse : ace	</a:t>
            </a:r>
          </a:p>
          <a:p>
            <a:pPr>
              <a:buNone/>
            </a:pPr>
            <a:r>
              <a:rPr lang="fr-FR" dirty="0" smtClean="0"/>
              <a:t>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500042"/>
            <a:ext cx="9144000" cy="5626121"/>
          </a:xfrm>
        </p:spPr>
        <p:txBody>
          <a:bodyPr>
            <a:normAutofit fontScale="92500" lnSpcReduction="20000"/>
          </a:bodyPr>
          <a:lstStyle/>
          <a:p>
            <a:pPr>
              <a:buNone/>
            </a:pPr>
            <a:r>
              <a:rPr lang="fr-FR" b="1" dirty="0" smtClean="0">
                <a:latin typeface="Times New Roman" pitchFamily="18" charset="0"/>
                <a:cs typeface="Times New Roman" pitchFamily="18" charset="0"/>
              </a:rPr>
              <a:t>La résistance plasmidique aux antibiotiques </a:t>
            </a:r>
          </a:p>
          <a:p>
            <a:pPr>
              <a:buNone/>
            </a:pPr>
            <a:r>
              <a:rPr lang="fr-FR" b="1"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A - Concerne la plupart des antibiotiques utilisés en médecine  </a:t>
            </a:r>
          </a:p>
          <a:p>
            <a:r>
              <a:rPr lang="fr-FR" dirty="0" smtClean="0">
                <a:latin typeface="Times New Roman" pitchFamily="18" charset="0"/>
                <a:cs typeface="Times New Roman" pitchFamily="18" charset="0"/>
              </a:rPr>
              <a:t> B - Est rencontrée chez les bacilles à Gram négatif  </a:t>
            </a:r>
          </a:p>
          <a:p>
            <a:r>
              <a:rPr lang="fr-FR" dirty="0" smtClean="0">
                <a:latin typeface="Times New Roman" pitchFamily="18" charset="0"/>
                <a:cs typeface="Times New Roman" pitchFamily="18" charset="0"/>
              </a:rPr>
              <a:t> C - Peut se transférer entre bactéries d’espèces différentes  </a:t>
            </a:r>
          </a:p>
          <a:p>
            <a:r>
              <a:rPr lang="fr-FR" dirty="0" smtClean="0">
                <a:latin typeface="Times New Roman" pitchFamily="18" charset="0"/>
                <a:cs typeface="Times New Roman" pitchFamily="18" charset="0"/>
              </a:rPr>
              <a:t> D - Ne fait pas intervenir la pression de sélection des antibiotiques  </a:t>
            </a:r>
          </a:p>
          <a:p>
            <a:r>
              <a:rPr lang="fr-FR" dirty="0" smtClean="0">
                <a:latin typeface="Times New Roman" pitchFamily="18" charset="0"/>
                <a:cs typeface="Times New Roman" pitchFamily="18" charset="0"/>
              </a:rPr>
              <a:t> E - Représente environ 10 à 20 % des résistances rencontrées en milieu hospitalier</a:t>
            </a:r>
          </a:p>
          <a:p>
            <a:pPr>
              <a:buNone/>
            </a:pPr>
            <a:r>
              <a:rPr lang="fr-FR" dirty="0" smtClean="0">
                <a:latin typeface="Times New Roman" pitchFamily="18" charset="0"/>
                <a:cs typeface="Times New Roman" pitchFamily="18" charset="0"/>
              </a:rPr>
              <a:t> </a:t>
            </a:r>
          </a:p>
          <a:p>
            <a:pPr>
              <a:buNone/>
            </a:pPr>
            <a:r>
              <a:rPr lang="fr-FR" dirty="0" smtClean="0">
                <a:solidFill>
                  <a:srgbClr val="FF0000"/>
                </a:solidFill>
                <a:latin typeface="Times New Roman" pitchFamily="18" charset="0"/>
                <a:cs typeface="Times New Roman" pitchFamily="18" charset="0"/>
              </a:rPr>
              <a:t>Réponse :  ABCD</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p:cTn id="7"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8"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14290"/>
            <a:ext cx="9144000" cy="5911873"/>
          </a:xfrm>
        </p:spPr>
        <p:txBody>
          <a:bodyPr>
            <a:normAutofit/>
          </a:bodyPr>
          <a:lstStyle/>
          <a:p>
            <a:pPr>
              <a:buNone/>
            </a:pPr>
            <a:r>
              <a:rPr lang="fr-FR" b="1" dirty="0" smtClean="0">
                <a:latin typeface="Times New Roman" pitchFamily="18" charset="0"/>
                <a:cs typeface="Times New Roman" pitchFamily="18" charset="0"/>
              </a:rPr>
              <a:t>L’inefficacité d’un traitement antibiotique peut être liée aux causes suivantes sauf une. Laquelle?  </a:t>
            </a:r>
          </a:p>
          <a:p>
            <a:r>
              <a:rPr lang="fr-FR" dirty="0" smtClean="0">
                <a:latin typeface="Times New Roman" pitchFamily="18" charset="0"/>
                <a:cs typeface="Times New Roman" pitchFamily="18" charset="0"/>
              </a:rPr>
              <a:t> A - Résistance de la bactérie traitée  </a:t>
            </a:r>
          </a:p>
          <a:p>
            <a:r>
              <a:rPr lang="fr-FR" dirty="0" smtClean="0">
                <a:latin typeface="Times New Roman" pitchFamily="18" charset="0"/>
                <a:cs typeface="Times New Roman" pitchFamily="18" charset="0"/>
              </a:rPr>
              <a:t> B - Déficit de l’immunité cellulaire  </a:t>
            </a:r>
          </a:p>
          <a:p>
            <a:r>
              <a:rPr lang="fr-FR" dirty="0" smtClean="0">
                <a:latin typeface="Times New Roman" pitchFamily="18" charset="0"/>
                <a:cs typeface="Times New Roman" pitchFamily="18" charset="0"/>
              </a:rPr>
              <a:t> C - Posologie insuffisante  </a:t>
            </a:r>
          </a:p>
          <a:p>
            <a:r>
              <a:rPr lang="fr-FR" dirty="0" smtClean="0">
                <a:latin typeface="Times New Roman" pitchFamily="18" charset="0"/>
                <a:cs typeface="Times New Roman" pitchFamily="18" charset="0"/>
              </a:rPr>
              <a:t> D - Mauvaise diffusion de l’antibiotique dans le foyer infectieux  </a:t>
            </a:r>
          </a:p>
          <a:p>
            <a:r>
              <a:rPr lang="fr-FR" dirty="0" smtClean="0">
                <a:latin typeface="Times New Roman" pitchFamily="18" charset="0"/>
                <a:cs typeface="Times New Roman" pitchFamily="18" charset="0"/>
              </a:rPr>
              <a:t> E - Substitution d’un germe de surinfection résistant au germe initial  </a:t>
            </a:r>
          </a:p>
          <a:p>
            <a:pPr>
              <a:buNone/>
            </a:pPr>
            <a:r>
              <a:rPr lang="fr-FR" dirty="0" smtClean="0">
                <a:solidFill>
                  <a:srgbClr val="FF0000"/>
                </a:solidFill>
                <a:latin typeface="Times New Roman" pitchFamily="18" charset="0"/>
                <a:cs typeface="Times New Roman" pitchFamily="18" charset="0"/>
              </a:rPr>
              <a:t>Réponse : B</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p:cTn id="7"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8"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14290"/>
            <a:ext cx="9144000" cy="5911873"/>
          </a:xfrm>
        </p:spPr>
        <p:txBody>
          <a:bodyPr>
            <a:normAutofit/>
          </a:bodyPr>
          <a:lstStyle/>
          <a:p>
            <a:pPr>
              <a:buNone/>
            </a:pPr>
            <a:r>
              <a:rPr lang="fr-FR" b="1" dirty="0" smtClean="0">
                <a:latin typeface="Times New Roman" pitchFamily="18" charset="0"/>
                <a:cs typeface="Times New Roman" pitchFamily="18" charset="0"/>
              </a:rPr>
              <a:t>Dans la liste suivante, quelles sont la ou les enzymes qui peuvent être élaborées par </a:t>
            </a:r>
            <a:r>
              <a:rPr lang="fr-FR" b="1" i="1" dirty="0" smtClean="0">
                <a:latin typeface="Times New Roman" pitchFamily="18" charset="0"/>
                <a:cs typeface="Times New Roman" pitchFamily="18" charset="0"/>
              </a:rPr>
              <a:t>Staphylococcus aureus</a:t>
            </a:r>
            <a:r>
              <a:rPr lang="fr-FR" b="1" dirty="0" smtClean="0">
                <a:latin typeface="Times New Roman" pitchFamily="18" charset="0"/>
                <a:cs typeface="Times New Roman" pitchFamily="18" charset="0"/>
              </a:rPr>
              <a:t>? </a:t>
            </a:r>
          </a:p>
          <a:p>
            <a:pPr>
              <a:buNone/>
            </a:pP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A - </a:t>
            </a:r>
            <a:r>
              <a:rPr lang="fr-FR" dirty="0" err="1" smtClean="0">
                <a:latin typeface="Times New Roman" pitchFamily="18" charset="0"/>
                <a:cs typeface="Times New Roman" pitchFamily="18" charset="0"/>
              </a:rPr>
              <a:t>Hyaluronidase</a:t>
            </a: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B - </a:t>
            </a:r>
            <a:r>
              <a:rPr lang="fr-FR" dirty="0" err="1" smtClean="0">
                <a:latin typeface="Times New Roman" pitchFamily="18" charset="0"/>
                <a:cs typeface="Times New Roman" pitchFamily="18" charset="0"/>
              </a:rPr>
              <a:t>Exfoliatine</a:t>
            </a: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C - ADN ase  </a:t>
            </a:r>
          </a:p>
          <a:p>
            <a:r>
              <a:rPr lang="fr-FR" dirty="0" smtClean="0">
                <a:latin typeface="Times New Roman" pitchFamily="18" charset="0"/>
                <a:cs typeface="Times New Roman" pitchFamily="18" charset="0"/>
              </a:rPr>
              <a:t> D - </a:t>
            </a:r>
            <a:r>
              <a:rPr lang="fr-FR" dirty="0" err="1" smtClean="0">
                <a:latin typeface="Times New Roman" pitchFamily="18" charset="0"/>
                <a:cs typeface="Times New Roman" pitchFamily="18" charset="0"/>
              </a:rPr>
              <a:t>Fibrinolysine</a:t>
            </a: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E - </a:t>
            </a:r>
            <a:r>
              <a:rPr lang="fr-FR" dirty="0" err="1" smtClean="0">
                <a:latin typeface="Times New Roman" pitchFamily="18" charset="0"/>
                <a:cs typeface="Times New Roman" pitchFamily="18" charset="0"/>
              </a:rPr>
              <a:t>Coagulase</a:t>
            </a:r>
            <a:r>
              <a:rPr lang="fr-FR" dirty="0" smtClean="0">
                <a:latin typeface="Times New Roman" pitchFamily="18" charset="0"/>
                <a:cs typeface="Times New Roman" pitchFamily="18" charset="0"/>
              </a:rPr>
              <a:t> </a:t>
            </a:r>
          </a:p>
          <a:p>
            <a:pPr>
              <a:buNone/>
            </a:pPr>
            <a:r>
              <a:rPr lang="fr-FR" dirty="0" smtClean="0">
                <a:solidFill>
                  <a:srgbClr val="FF0000"/>
                </a:solidFill>
                <a:latin typeface="Times New Roman" pitchFamily="18" charset="0"/>
                <a:cs typeface="Times New Roman" pitchFamily="18" charset="0"/>
              </a:rPr>
              <a:t>Réponse : A B C D E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428604"/>
            <a:ext cx="9144000" cy="5697559"/>
          </a:xfrm>
        </p:spPr>
        <p:txBody>
          <a:bodyPr>
            <a:normAutofit/>
          </a:bodyPr>
          <a:lstStyle/>
          <a:p>
            <a:pPr>
              <a:buNone/>
            </a:pPr>
            <a:r>
              <a:rPr lang="fr-FR" b="1" dirty="0" smtClean="0">
                <a:latin typeface="Times New Roman" pitchFamily="18" charset="0"/>
                <a:cs typeface="Times New Roman" pitchFamily="18" charset="0"/>
              </a:rPr>
              <a:t>La culture sur systèmes cellulaires est couramment pratiquée pour isoler:  </a:t>
            </a:r>
          </a:p>
          <a:p>
            <a:pPr>
              <a:buNone/>
            </a:pPr>
            <a:endParaRPr lang="fr-FR" b="1"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 A - Virus de l’hépatite A  </a:t>
            </a:r>
          </a:p>
          <a:p>
            <a:r>
              <a:rPr lang="fr-FR" dirty="0" smtClean="0">
                <a:latin typeface="Times New Roman" pitchFamily="18" charset="0"/>
                <a:cs typeface="Times New Roman" pitchFamily="18" charset="0"/>
              </a:rPr>
              <a:t> B - Virus de l’hépatite B  </a:t>
            </a:r>
          </a:p>
          <a:p>
            <a:r>
              <a:rPr lang="fr-FR" dirty="0" smtClean="0">
                <a:latin typeface="Times New Roman" pitchFamily="18" charset="0"/>
                <a:cs typeface="Times New Roman" pitchFamily="18" charset="0"/>
              </a:rPr>
              <a:t> C - Poliovirus  </a:t>
            </a:r>
          </a:p>
          <a:p>
            <a:r>
              <a:rPr lang="fr-FR" dirty="0" smtClean="0">
                <a:latin typeface="Times New Roman" pitchFamily="18" charset="0"/>
                <a:cs typeface="Times New Roman" pitchFamily="18" charset="0"/>
              </a:rPr>
              <a:t> D - </a:t>
            </a:r>
            <a:r>
              <a:rPr lang="fr-FR" dirty="0" err="1" smtClean="0">
                <a:latin typeface="Times New Roman" pitchFamily="18" charset="0"/>
                <a:cs typeface="Times New Roman" pitchFamily="18" charset="0"/>
              </a:rPr>
              <a:t>Echovirus</a:t>
            </a: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E - </a:t>
            </a:r>
            <a:r>
              <a:rPr lang="fr-FR" dirty="0" err="1" smtClean="0">
                <a:latin typeface="Times New Roman" pitchFamily="18" charset="0"/>
                <a:cs typeface="Times New Roman" pitchFamily="18" charset="0"/>
              </a:rPr>
              <a:t>Rotavirus</a:t>
            </a:r>
            <a:r>
              <a:rPr lang="fr-FR" dirty="0" smtClean="0">
                <a:latin typeface="Times New Roman" pitchFamily="18" charset="0"/>
                <a:cs typeface="Times New Roman" pitchFamily="18" charset="0"/>
              </a:rPr>
              <a:t>  </a:t>
            </a:r>
          </a:p>
          <a:p>
            <a:pPr>
              <a:buNone/>
            </a:pPr>
            <a:r>
              <a:rPr lang="fr-FR" dirty="0" smtClean="0">
                <a:solidFill>
                  <a:srgbClr val="FF0000"/>
                </a:solidFill>
                <a:latin typeface="Times New Roman" pitchFamily="18" charset="0"/>
                <a:cs typeface="Times New Roman" pitchFamily="18" charset="0"/>
              </a:rPr>
              <a:t>Réponse : C 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428604"/>
            <a:ext cx="9144000" cy="5697559"/>
          </a:xfrm>
        </p:spPr>
        <p:txBody>
          <a:bodyPr>
            <a:normAutofit/>
          </a:bodyPr>
          <a:lstStyle/>
          <a:p>
            <a:pPr>
              <a:buNone/>
            </a:pPr>
            <a:r>
              <a:rPr lang="fr-FR" b="1" dirty="0" smtClean="0">
                <a:latin typeface="Times New Roman" pitchFamily="18" charset="0"/>
                <a:cs typeface="Times New Roman" pitchFamily="18" charset="0"/>
              </a:rPr>
              <a:t>La toxine tétanique a toutes les propriétés suivantes sauf une. Laquelle?  </a:t>
            </a:r>
          </a:p>
          <a:p>
            <a:pPr>
              <a:buNone/>
            </a:pPr>
            <a:endParaRPr lang="fr-FR" b="1"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 A - Pyrogène  </a:t>
            </a:r>
          </a:p>
          <a:p>
            <a:r>
              <a:rPr lang="fr-FR" dirty="0" smtClean="0">
                <a:latin typeface="Times New Roman" pitchFamily="18" charset="0"/>
                <a:cs typeface="Times New Roman" pitchFamily="18" charset="0"/>
              </a:rPr>
              <a:t> B - Antigénique  </a:t>
            </a:r>
          </a:p>
          <a:p>
            <a:r>
              <a:rPr lang="fr-FR" dirty="0" smtClean="0">
                <a:latin typeface="Times New Roman" pitchFamily="18" charset="0"/>
                <a:cs typeface="Times New Roman" pitchFamily="18" charset="0"/>
              </a:rPr>
              <a:t> C - Protéique  </a:t>
            </a:r>
          </a:p>
          <a:p>
            <a:r>
              <a:rPr lang="fr-FR" dirty="0" smtClean="0">
                <a:latin typeface="Times New Roman" pitchFamily="18" charset="0"/>
                <a:cs typeface="Times New Roman" pitchFamily="18" charset="0"/>
              </a:rPr>
              <a:t> D - Neurotrope  </a:t>
            </a:r>
          </a:p>
          <a:p>
            <a:r>
              <a:rPr lang="fr-FR" dirty="0" smtClean="0">
                <a:latin typeface="Times New Roman" pitchFamily="18" charset="0"/>
                <a:cs typeface="Times New Roman" pitchFamily="18" charset="0"/>
              </a:rPr>
              <a:t> E - Thermolabile  </a:t>
            </a:r>
          </a:p>
          <a:p>
            <a:pPr>
              <a:buNone/>
            </a:pPr>
            <a:r>
              <a:rPr lang="fr-FR" dirty="0" smtClean="0">
                <a:solidFill>
                  <a:srgbClr val="FF0000"/>
                </a:solidFill>
                <a:latin typeface="Times New Roman" pitchFamily="18" charset="0"/>
                <a:cs typeface="Times New Roman" pitchFamily="18" charset="0"/>
              </a:rPr>
              <a:t>Réponse : A</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428604"/>
            <a:ext cx="9144000" cy="5697559"/>
          </a:xfrm>
        </p:spPr>
        <p:txBody>
          <a:bodyPr>
            <a:normAutofit/>
          </a:bodyPr>
          <a:lstStyle/>
          <a:p>
            <a:pPr>
              <a:buNone/>
            </a:pPr>
            <a:r>
              <a:rPr lang="fr-FR" b="1" dirty="0" smtClean="0">
                <a:latin typeface="Times New Roman" pitchFamily="18" charset="0"/>
                <a:cs typeface="Times New Roman" pitchFamily="18" charset="0"/>
              </a:rPr>
              <a:t>Les mutations bactériennes sont provoquées naturellement par: </a:t>
            </a:r>
          </a:p>
          <a:p>
            <a:pPr>
              <a:buNone/>
            </a:pPr>
            <a:endParaRPr lang="fr-FR"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 A - Les antibiotiques  </a:t>
            </a:r>
          </a:p>
          <a:p>
            <a:r>
              <a:rPr lang="fr-FR" dirty="0" smtClean="0">
                <a:latin typeface="Times New Roman" pitchFamily="18" charset="0"/>
                <a:cs typeface="Times New Roman" pitchFamily="18" charset="0"/>
              </a:rPr>
              <a:t> B - Les antiseptiques  </a:t>
            </a:r>
          </a:p>
          <a:p>
            <a:r>
              <a:rPr lang="fr-FR" dirty="0" smtClean="0">
                <a:latin typeface="Times New Roman" pitchFamily="18" charset="0"/>
                <a:cs typeface="Times New Roman" pitchFamily="18" charset="0"/>
              </a:rPr>
              <a:t> C - Certaines conditions de croissance rencontrées chez l’hôte  </a:t>
            </a:r>
          </a:p>
          <a:p>
            <a:r>
              <a:rPr lang="fr-FR" dirty="0" smtClean="0">
                <a:latin typeface="Times New Roman" pitchFamily="18" charset="0"/>
                <a:cs typeface="Times New Roman" pitchFamily="18" charset="0"/>
              </a:rPr>
              <a:t> D - Les plasmides de résistance aux antibiotiques  </a:t>
            </a:r>
          </a:p>
          <a:p>
            <a:r>
              <a:rPr lang="fr-FR" dirty="0" smtClean="0">
                <a:latin typeface="Times New Roman" pitchFamily="18" charset="0"/>
                <a:cs typeface="Times New Roman" pitchFamily="18" charset="0"/>
              </a:rPr>
              <a:t> E - Aucune des quatre propositions précédentes  </a:t>
            </a:r>
          </a:p>
          <a:p>
            <a:pPr>
              <a:buNone/>
            </a:pPr>
            <a:r>
              <a:rPr lang="fr-FR" dirty="0" smtClean="0">
                <a:solidFill>
                  <a:srgbClr val="FF0000"/>
                </a:solidFill>
                <a:latin typeface="Times New Roman" pitchFamily="18" charset="0"/>
                <a:cs typeface="Times New Roman" pitchFamily="18" charset="0"/>
              </a:rPr>
              <a:t>Réponse : E</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126163"/>
          </a:xfrm>
        </p:spPr>
        <p:txBody>
          <a:bodyPr>
            <a:normAutofit lnSpcReduction="10000"/>
          </a:bodyPr>
          <a:lstStyle/>
          <a:p>
            <a:pPr>
              <a:buNone/>
            </a:pPr>
            <a:r>
              <a:rPr lang="fr-FR" b="1" dirty="0" smtClean="0">
                <a:latin typeface="Times New Roman" pitchFamily="18" charset="0"/>
                <a:cs typeface="Times New Roman" pitchFamily="18" charset="0"/>
              </a:rPr>
              <a:t>Comment vaccine-t-on contre le tétanos?</a:t>
            </a:r>
          </a:p>
          <a:p>
            <a:pPr>
              <a:buNone/>
            </a:pPr>
            <a:r>
              <a:rPr lang="fr-FR" b="1"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A - Avec une culture de germes atténués par la chaleur  </a:t>
            </a:r>
          </a:p>
          <a:p>
            <a:r>
              <a:rPr lang="fr-FR" dirty="0" smtClean="0">
                <a:latin typeface="Times New Roman" pitchFamily="18" charset="0"/>
                <a:cs typeface="Times New Roman" pitchFamily="18" charset="0"/>
              </a:rPr>
              <a:t> B - Avec une suspension de spores tétaniques tuées  </a:t>
            </a:r>
          </a:p>
          <a:p>
            <a:r>
              <a:rPr lang="fr-FR" dirty="0" smtClean="0">
                <a:latin typeface="Times New Roman" pitchFamily="18" charset="0"/>
                <a:cs typeface="Times New Roman" pitchFamily="18" charset="0"/>
              </a:rPr>
              <a:t> C - Avec des gammaglobulines humaines antitétaniques  </a:t>
            </a:r>
          </a:p>
          <a:p>
            <a:r>
              <a:rPr lang="fr-FR" dirty="0" smtClean="0">
                <a:latin typeface="Times New Roman" pitchFamily="18" charset="0"/>
                <a:cs typeface="Times New Roman" pitchFamily="18" charset="0"/>
              </a:rPr>
              <a:t> D - Avec le sérum d’un animal protégé  </a:t>
            </a:r>
          </a:p>
          <a:p>
            <a:r>
              <a:rPr lang="fr-FR" dirty="0" smtClean="0">
                <a:latin typeface="Times New Roman" pitchFamily="18" charset="0"/>
                <a:cs typeface="Times New Roman" pitchFamily="18" charset="0"/>
              </a:rPr>
              <a:t> E - Avec la toxine tétanique modifiée par </a:t>
            </a:r>
            <a:r>
              <a:rPr lang="fr-FR" dirty="0" smtClean="0">
                <a:latin typeface="Times New Roman" pitchFamily="18" charset="0"/>
                <a:cs typeface="Times New Roman" pitchFamily="18" charset="0"/>
              </a:rPr>
              <a:t>formol</a:t>
            </a:r>
            <a:r>
              <a:rPr lang="fr-FR" dirty="0">
                <a:latin typeface="Times New Roman" pitchFamily="18" charset="0"/>
                <a:cs typeface="Times New Roman" pitchFamily="18" charset="0"/>
              </a:rPr>
              <a:t> </a:t>
            </a:r>
            <a:r>
              <a:rPr lang="fr-FR" dirty="0" smtClean="0">
                <a:latin typeface="Times New Roman" pitchFamily="18" charset="0"/>
                <a:cs typeface="Times New Roman" pitchFamily="18" charset="0"/>
              </a:rPr>
              <a:t>et</a:t>
            </a:r>
            <a:r>
              <a:rPr lang="fr-FR" dirty="0" smtClean="0">
                <a:latin typeface="Times New Roman" pitchFamily="18" charset="0"/>
                <a:cs typeface="Times New Roman" pitchFamily="18" charset="0"/>
              </a:rPr>
              <a:t> chaleur </a:t>
            </a:r>
            <a:endParaRPr lang="fr-FR" dirty="0" smtClean="0">
              <a:latin typeface="Times New Roman" pitchFamily="18" charset="0"/>
              <a:cs typeface="Times New Roman" pitchFamily="18" charset="0"/>
            </a:endParaRPr>
          </a:p>
          <a:p>
            <a:pPr>
              <a:buNone/>
            </a:pPr>
            <a:r>
              <a:rPr lang="fr-FR" dirty="0" smtClean="0">
                <a:solidFill>
                  <a:srgbClr val="FF0000"/>
                </a:solidFill>
                <a:latin typeface="Times New Roman" pitchFamily="18" charset="0"/>
                <a:cs typeface="Times New Roman" pitchFamily="18" charset="0"/>
              </a:rPr>
              <a:t>Réponse : E</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126163"/>
          </a:xfrm>
        </p:spPr>
        <p:txBody>
          <a:bodyPr>
            <a:normAutofit/>
          </a:bodyPr>
          <a:lstStyle/>
          <a:p>
            <a:pPr>
              <a:buNone/>
            </a:pPr>
            <a:r>
              <a:rPr lang="fr-FR" dirty="0" smtClean="0"/>
              <a:t>  </a:t>
            </a:r>
          </a:p>
          <a:p>
            <a:pPr>
              <a:buNone/>
            </a:pPr>
            <a:r>
              <a:rPr lang="fr-FR" b="1" dirty="0" smtClean="0">
                <a:latin typeface="Times New Roman" pitchFamily="18" charset="0"/>
                <a:cs typeface="Times New Roman" pitchFamily="18" charset="0"/>
              </a:rPr>
              <a:t>La symptomatologie du tétanos est causée par:</a:t>
            </a:r>
          </a:p>
          <a:p>
            <a:pPr>
              <a:buNone/>
            </a:pPr>
            <a:r>
              <a:rPr lang="fr-FR" b="1"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A - La diffusion d’un germe dans le sang  </a:t>
            </a:r>
          </a:p>
          <a:p>
            <a:r>
              <a:rPr lang="fr-FR" dirty="0" smtClean="0">
                <a:latin typeface="Times New Roman" pitchFamily="18" charset="0"/>
                <a:cs typeface="Times New Roman" pitchFamily="18" charset="0"/>
              </a:rPr>
              <a:t> B - La fixation d’une toxine sur le système nerveux  </a:t>
            </a:r>
          </a:p>
          <a:p>
            <a:r>
              <a:rPr lang="fr-FR" dirty="0" smtClean="0">
                <a:latin typeface="Times New Roman" pitchFamily="18" charset="0"/>
                <a:cs typeface="Times New Roman" pitchFamily="18" charset="0"/>
              </a:rPr>
              <a:t> C - La localisation d’un microbe sur l’encéphale  </a:t>
            </a:r>
          </a:p>
          <a:p>
            <a:r>
              <a:rPr lang="fr-FR" dirty="0" smtClean="0">
                <a:latin typeface="Times New Roman" pitchFamily="18" charset="0"/>
                <a:cs typeface="Times New Roman" pitchFamily="18" charset="0"/>
              </a:rPr>
              <a:t> D - Un trouble métabolique  </a:t>
            </a:r>
          </a:p>
          <a:p>
            <a:r>
              <a:rPr lang="fr-FR" dirty="0" smtClean="0">
                <a:latin typeface="Times New Roman" pitchFamily="18" charset="0"/>
                <a:cs typeface="Times New Roman" pitchFamily="18" charset="0"/>
              </a:rPr>
              <a:t> E - Aucune de ces propositions  </a:t>
            </a:r>
          </a:p>
          <a:p>
            <a:pPr>
              <a:buNone/>
            </a:pPr>
            <a:r>
              <a:rPr lang="fr-FR" dirty="0" smtClean="0">
                <a:solidFill>
                  <a:srgbClr val="FF0000"/>
                </a:solidFill>
                <a:latin typeface="Times New Roman" pitchFamily="18" charset="0"/>
                <a:cs typeface="Times New Roman" pitchFamily="18" charset="0"/>
              </a:rPr>
              <a:t>Réponse : B</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14290"/>
            <a:ext cx="9144000" cy="5911873"/>
          </a:xfrm>
        </p:spPr>
        <p:txBody>
          <a:bodyPr>
            <a:normAutofit/>
          </a:bodyPr>
          <a:lstStyle/>
          <a:p>
            <a:pPr>
              <a:buNone/>
            </a:pPr>
            <a:r>
              <a:rPr lang="fr-FR" b="1" dirty="0" smtClean="0">
                <a:latin typeface="Times New Roman" pitchFamily="18" charset="0"/>
                <a:cs typeface="Times New Roman" pitchFamily="18" charset="0"/>
              </a:rPr>
              <a:t>Parmi les antibiotiques suivants, lequel(lesquels) est(sont) généralement  bactériostatique(s)?</a:t>
            </a:r>
            <a:r>
              <a:rPr lang="fr-FR" dirty="0" smtClean="0">
                <a:latin typeface="Times New Roman" pitchFamily="18" charset="0"/>
                <a:cs typeface="Times New Roman" pitchFamily="18" charset="0"/>
              </a:rPr>
              <a:t> </a:t>
            </a:r>
          </a:p>
          <a:p>
            <a:pPr>
              <a:buNone/>
            </a:pP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A - Chloramphénicol  </a:t>
            </a:r>
          </a:p>
          <a:p>
            <a:r>
              <a:rPr lang="fr-FR" dirty="0" smtClean="0">
                <a:latin typeface="Times New Roman" pitchFamily="18" charset="0"/>
                <a:cs typeface="Times New Roman" pitchFamily="18" charset="0"/>
              </a:rPr>
              <a:t> B - Ampicilline  </a:t>
            </a:r>
          </a:p>
          <a:p>
            <a:r>
              <a:rPr lang="fr-FR" dirty="0" smtClean="0">
                <a:latin typeface="Times New Roman" pitchFamily="18" charset="0"/>
                <a:cs typeface="Times New Roman" pitchFamily="18" charset="0"/>
              </a:rPr>
              <a:t> C - Colistine  </a:t>
            </a:r>
          </a:p>
          <a:p>
            <a:r>
              <a:rPr lang="fr-FR" dirty="0" smtClean="0">
                <a:latin typeface="Times New Roman" pitchFamily="18" charset="0"/>
                <a:cs typeface="Times New Roman" pitchFamily="18" charset="0"/>
              </a:rPr>
              <a:t> D - Pénicilline G  </a:t>
            </a:r>
          </a:p>
          <a:p>
            <a:r>
              <a:rPr lang="fr-FR" dirty="0" smtClean="0">
                <a:latin typeface="Times New Roman" pitchFamily="18" charset="0"/>
                <a:cs typeface="Times New Roman" pitchFamily="18" charset="0"/>
              </a:rPr>
              <a:t> E - Gentamicine </a:t>
            </a:r>
          </a:p>
          <a:p>
            <a:pPr>
              <a:buNone/>
            </a:pPr>
            <a:r>
              <a:rPr lang="fr-FR" dirty="0" smtClean="0">
                <a:solidFill>
                  <a:srgbClr val="FF0000"/>
                </a:solidFill>
                <a:latin typeface="Times New Roman" pitchFamily="18" charset="0"/>
                <a:cs typeface="Times New Roman" pitchFamily="18" charset="0"/>
              </a:rPr>
              <a:t>Réponse : A</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357166"/>
            <a:ext cx="9144000" cy="5768997"/>
          </a:xfrm>
        </p:spPr>
        <p:txBody>
          <a:bodyPr>
            <a:normAutofit/>
          </a:bodyPr>
          <a:lstStyle/>
          <a:p>
            <a:pPr>
              <a:buNone/>
            </a:pPr>
            <a:r>
              <a:rPr lang="fr-FR" b="1" dirty="0" smtClean="0">
                <a:latin typeface="Times New Roman" pitchFamily="18" charset="0"/>
                <a:cs typeface="Times New Roman" pitchFamily="18" charset="0"/>
              </a:rPr>
              <a:t>Parmi les antibiotiques suivants, lequel ou lesquels est ou sont habituellement actif(s) sur le staphylocoque doré?  </a:t>
            </a:r>
          </a:p>
          <a:p>
            <a:pPr>
              <a:buNone/>
            </a:pPr>
            <a:endParaRPr lang="fr-FR" b="1"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 A - Pénicilline G  </a:t>
            </a:r>
          </a:p>
          <a:p>
            <a:r>
              <a:rPr lang="fr-FR" dirty="0" smtClean="0">
                <a:latin typeface="Times New Roman" pitchFamily="18" charset="0"/>
                <a:cs typeface="Times New Roman" pitchFamily="18" charset="0"/>
              </a:rPr>
              <a:t> B - </a:t>
            </a:r>
            <a:r>
              <a:rPr lang="fr-FR" dirty="0" err="1" smtClean="0">
                <a:latin typeface="Times New Roman" pitchFamily="18" charset="0"/>
                <a:cs typeface="Times New Roman" pitchFamily="18" charset="0"/>
              </a:rPr>
              <a:t>Méthicilline</a:t>
            </a: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C - </a:t>
            </a:r>
            <a:r>
              <a:rPr lang="fr-FR" dirty="0" err="1" smtClean="0">
                <a:latin typeface="Times New Roman" pitchFamily="18" charset="0"/>
                <a:cs typeface="Times New Roman" pitchFamily="18" charset="0"/>
              </a:rPr>
              <a:t>Colimycine</a:t>
            </a: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D - Ampicilline  </a:t>
            </a:r>
          </a:p>
          <a:p>
            <a:r>
              <a:rPr lang="fr-FR" dirty="0" smtClean="0">
                <a:latin typeface="Times New Roman" pitchFamily="18" charset="0"/>
                <a:cs typeface="Times New Roman" pitchFamily="18" charset="0"/>
              </a:rPr>
              <a:t> E - </a:t>
            </a:r>
            <a:r>
              <a:rPr lang="fr-FR" dirty="0" err="1" smtClean="0">
                <a:latin typeface="Times New Roman" pitchFamily="18" charset="0"/>
                <a:cs typeface="Times New Roman" pitchFamily="18" charset="0"/>
              </a:rPr>
              <a:t>Pristinamycine</a:t>
            </a:r>
            <a:r>
              <a:rPr lang="fr-FR" dirty="0" smtClean="0">
                <a:latin typeface="Times New Roman" pitchFamily="18" charset="0"/>
                <a:cs typeface="Times New Roman" pitchFamily="18" charset="0"/>
              </a:rPr>
              <a:t>  </a:t>
            </a:r>
          </a:p>
          <a:p>
            <a:pPr>
              <a:buNone/>
            </a:pPr>
            <a:r>
              <a:rPr lang="fr-FR" dirty="0" smtClean="0">
                <a:solidFill>
                  <a:srgbClr val="FF0000"/>
                </a:solidFill>
                <a:latin typeface="Times New Roman" pitchFamily="18" charset="0"/>
                <a:cs typeface="Times New Roman" pitchFamily="18" charset="0"/>
              </a:rPr>
              <a:t>Réponse : B E</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357166"/>
            <a:ext cx="9144000" cy="6072230"/>
          </a:xfrm>
        </p:spPr>
        <p:txBody>
          <a:bodyPr>
            <a:normAutofit/>
          </a:bodyPr>
          <a:lstStyle/>
          <a:p>
            <a:pPr>
              <a:buNone/>
            </a:pPr>
            <a:r>
              <a:rPr lang="fr-FR" b="1" dirty="0" smtClean="0">
                <a:latin typeface="Times New Roman" pitchFamily="18" charset="0"/>
                <a:cs typeface="Times New Roman" pitchFamily="18" charset="0"/>
              </a:rPr>
              <a:t>La protection d’un sujet lors d’une infection à </a:t>
            </a:r>
            <a:r>
              <a:rPr lang="fr-FR" b="1" i="1" dirty="0" err="1" smtClean="0">
                <a:latin typeface="Times New Roman" pitchFamily="18" charset="0"/>
                <a:cs typeface="Times New Roman" pitchFamily="18" charset="0"/>
              </a:rPr>
              <a:t>Corynebacterium</a:t>
            </a:r>
            <a:r>
              <a:rPr lang="fr-FR" b="1" i="1" dirty="0" smtClean="0">
                <a:latin typeface="Times New Roman" pitchFamily="18" charset="0"/>
                <a:cs typeface="Times New Roman" pitchFamily="18" charset="0"/>
              </a:rPr>
              <a:t> </a:t>
            </a:r>
            <a:r>
              <a:rPr lang="fr-FR" b="1" i="1" dirty="0" err="1" smtClean="0">
                <a:latin typeface="Times New Roman" pitchFamily="18" charset="0"/>
                <a:cs typeface="Times New Roman" pitchFamily="18" charset="0"/>
              </a:rPr>
              <a:t>diphteriae</a:t>
            </a:r>
            <a:r>
              <a:rPr lang="fr-FR" b="1" i="1" dirty="0" smtClean="0">
                <a:latin typeface="Times New Roman" pitchFamily="18" charset="0"/>
                <a:cs typeface="Times New Roman" pitchFamily="18" charset="0"/>
              </a:rPr>
              <a:t> </a:t>
            </a:r>
            <a:r>
              <a:rPr lang="fr-FR" b="1" dirty="0" smtClean="0">
                <a:latin typeface="Times New Roman" pitchFamily="18" charset="0"/>
                <a:cs typeface="Times New Roman" pitchFamily="18" charset="0"/>
              </a:rPr>
              <a:t>est assurée efficacement par: </a:t>
            </a:r>
          </a:p>
          <a:p>
            <a:pPr>
              <a:buNone/>
            </a:pPr>
            <a:r>
              <a:rPr lang="fr-FR" b="1"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A - Anticorps </a:t>
            </a:r>
            <a:r>
              <a:rPr lang="fr-FR" dirty="0" err="1" smtClean="0">
                <a:latin typeface="Times New Roman" pitchFamily="18" charset="0"/>
                <a:cs typeface="Times New Roman" pitchFamily="18" charset="0"/>
              </a:rPr>
              <a:t>opsonisants</a:t>
            </a: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B - Anticorps agglutinants  </a:t>
            </a:r>
          </a:p>
          <a:p>
            <a:r>
              <a:rPr lang="fr-FR" dirty="0" smtClean="0">
                <a:latin typeface="Times New Roman" pitchFamily="18" charset="0"/>
                <a:cs typeface="Times New Roman" pitchFamily="18" charset="0"/>
              </a:rPr>
              <a:t> C - Anticorps antitoxiques  </a:t>
            </a:r>
          </a:p>
          <a:p>
            <a:r>
              <a:rPr lang="fr-FR" dirty="0" smtClean="0">
                <a:latin typeface="Times New Roman" pitchFamily="18" charset="0"/>
                <a:cs typeface="Times New Roman" pitchFamily="18" charset="0"/>
              </a:rPr>
              <a:t> D - Interféron  </a:t>
            </a:r>
          </a:p>
          <a:p>
            <a:r>
              <a:rPr lang="fr-FR" dirty="0" smtClean="0">
                <a:latin typeface="Times New Roman" pitchFamily="18" charset="0"/>
                <a:cs typeface="Times New Roman" pitchFamily="18" charset="0"/>
              </a:rPr>
              <a:t> E - Lymphokines </a:t>
            </a:r>
          </a:p>
          <a:p>
            <a:pPr>
              <a:buNone/>
            </a:pPr>
            <a:r>
              <a:rPr lang="fr-FR" dirty="0" smtClean="0">
                <a:solidFill>
                  <a:srgbClr val="FF0000"/>
                </a:solidFill>
                <a:latin typeface="Times New Roman" pitchFamily="18" charset="0"/>
                <a:cs typeface="Times New Roman" pitchFamily="18" charset="0"/>
              </a:rPr>
              <a:t>Réponse : C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428604"/>
            <a:ext cx="9036496" cy="5697559"/>
          </a:xfrm>
        </p:spPr>
        <p:txBody>
          <a:bodyPr>
            <a:normAutofit fontScale="85000" lnSpcReduction="20000"/>
          </a:bodyPr>
          <a:lstStyle/>
          <a:p>
            <a:pPr>
              <a:buNone/>
            </a:pPr>
            <a:r>
              <a:rPr lang="fr-FR" b="1" dirty="0" smtClean="0">
                <a:latin typeface="Times New Roman" pitchFamily="18" charset="0"/>
                <a:cs typeface="Times New Roman" pitchFamily="18" charset="0"/>
              </a:rPr>
              <a:t>Parmi les propositions suivantes, laquelle s’applique le mieux à l’ampicilline?  </a:t>
            </a:r>
          </a:p>
          <a:p>
            <a:pPr>
              <a:buNone/>
            </a:pPr>
            <a:endParaRPr lang="fr-FR" b="1"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A - Spectre très large, réservé au traitement des infections à </a:t>
            </a:r>
            <a:r>
              <a:rPr lang="fr-FR" i="1" dirty="0" err="1" smtClean="0">
                <a:latin typeface="Times New Roman" pitchFamily="18" charset="0"/>
                <a:cs typeface="Times New Roman" pitchFamily="18" charset="0"/>
              </a:rPr>
              <a:t>Pseudomonas</a:t>
            </a:r>
            <a:r>
              <a:rPr lang="fr-FR" i="1" dirty="0" smtClean="0">
                <a:latin typeface="Times New Roman" pitchFamily="18" charset="0"/>
                <a:cs typeface="Times New Roman" pitchFamily="18" charset="0"/>
              </a:rPr>
              <a:t> </a:t>
            </a:r>
            <a:r>
              <a:rPr lang="fr-FR" i="1" dirty="0" err="1" smtClean="0">
                <a:latin typeface="Times New Roman" pitchFamily="18" charset="0"/>
                <a:cs typeface="Times New Roman" pitchFamily="18" charset="0"/>
              </a:rPr>
              <a:t>aeruginosa</a:t>
            </a:r>
            <a:r>
              <a:rPr lang="fr-FR"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B - Spectre large détruit par la pénicillinase du staphylocoque  </a:t>
            </a:r>
          </a:p>
          <a:p>
            <a:r>
              <a:rPr lang="fr-FR" dirty="0" smtClean="0">
                <a:latin typeface="Times New Roman" pitchFamily="18" charset="0"/>
                <a:cs typeface="Times New Roman" pitchFamily="18" charset="0"/>
              </a:rPr>
              <a:t> C - Spectre moyen résistant à la pénicillinase du staphylocoque  </a:t>
            </a:r>
          </a:p>
          <a:p>
            <a:r>
              <a:rPr lang="fr-FR" dirty="0" smtClean="0">
                <a:latin typeface="Times New Roman" pitchFamily="18" charset="0"/>
                <a:cs typeface="Times New Roman" pitchFamily="18" charset="0"/>
              </a:rPr>
              <a:t> D - Spectre moyen peu actif sur les bactéries à Gram négatif, détruit par la pénicillinase du staphylocoque  </a:t>
            </a:r>
          </a:p>
          <a:p>
            <a:r>
              <a:rPr lang="fr-FR" dirty="0" smtClean="0">
                <a:latin typeface="Times New Roman" pitchFamily="18" charset="0"/>
                <a:cs typeface="Times New Roman" pitchFamily="18" charset="0"/>
              </a:rPr>
              <a:t> E - Spectre très large, résistant à la pénicillinase du staphylocoque  </a:t>
            </a:r>
          </a:p>
          <a:p>
            <a:pPr>
              <a:buNone/>
            </a:pPr>
            <a:r>
              <a:rPr lang="fr-FR" dirty="0" smtClean="0">
                <a:solidFill>
                  <a:srgbClr val="FF0000"/>
                </a:solidFill>
                <a:latin typeface="Times New Roman" pitchFamily="18" charset="0"/>
                <a:cs typeface="Times New Roman" pitchFamily="18" charset="0"/>
              </a:rPr>
              <a:t>Réponse : B</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126163"/>
          </a:xfrm>
        </p:spPr>
        <p:txBody>
          <a:bodyPr>
            <a:normAutofit lnSpcReduction="10000"/>
          </a:bodyPr>
          <a:lstStyle/>
          <a:p>
            <a:pPr>
              <a:buNone/>
            </a:pPr>
            <a:r>
              <a:rPr lang="fr-FR" b="1" dirty="0" smtClean="0"/>
              <a:t> </a:t>
            </a:r>
            <a:r>
              <a:rPr lang="fr-FR" b="1" dirty="0" smtClean="0">
                <a:latin typeface="Times New Roman" pitchFamily="18" charset="0"/>
                <a:cs typeface="Times New Roman" pitchFamily="18" charset="0"/>
              </a:rPr>
              <a:t>Parmi les bactéries suivantes laquelle(lesquelles) est (sont) toujours résistante(s) à la pénicilline G?  </a:t>
            </a:r>
          </a:p>
          <a:p>
            <a:pPr>
              <a:buNone/>
            </a:pPr>
            <a:endParaRPr lang="fr-FR" b="1"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 A - </a:t>
            </a:r>
            <a:r>
              <a:rPr lang="fr-FR" i="1" dirty="0" err="1" smtClean="0">
                <a:latin typeface="Times New Roman" pitchFamily="18" charset="0"/>
                <a:cs typeface="Times New Roman" pitchFamily="18" charset="0"/>
              </a:rPr>
              <a:t>Staphylococcus</a:t>
            </a:r>
            <a:r>
              <a:rPr lang="fr-FR" i="1" dirty="0" smtClean="0">
                <a:latin typeface="Times New Roman" pitchFamily="18" charset="0"/>
                <a:cs typeface="Times New Roman" pitchFamily="18" charset="0"/>
              </a:rPr>
              <a:t> aureus  </a:t>
            </a:r>
          </a:p>
          <a:p>
            <a:r>
              <a:rPr lang="fr-FR" dirty="0" smtClean="0">
                <a:latin typeface="Times New Roman" pitchFamily="18" charset="0"/>
                <a:cs typeface="Times New Roman" pitchFamily="18" charset="0"/>
              </a:rPr>
              <a:t> B - Streptocoque du groupe A  </a:t>
            </a:r>
          </a:p>
          <a:p>
            <a:r>
              <a:rPr lang="fr-FR" dirty="0" smtClean="0">
                <a:latin typeface="Times New Roman" pitchFamily="18" charset="0"/>
                <a:cs typeface="Times New Roman" pitchFamily="18" charset="0"/>
              </a:rPr>
              <a:t> C - Méningocoque  </a:t>
            </a:r>
          </a:p>
          <a:p>
            <a:r>
              <a:rPr lang="fr-FR" dirty="0" smtClean="0">
                <a:latin typeface="Times New Roman" pitchFamily="18" charset="0"/>
                <a:cs typeface="Times New Roman" pitchFamily="18" charset="0"/>
              </a:rPr>
              <a:t> D - </a:t>
            </a:r>
            <a:r>
              <a:rPr lang="fr-FR" i="1" dirty="0" smtClean="0">
                <a:latin typeface="Times New Roman" pitchFamily="18" charset="0"/>
                <a:cs typeface="Times New Roman" pitchFamily="18" charset="0"/>
              </a:rPr>
              <a:t>Salmonella </a:t>
            </a:r>
            <a:r>
              <a:rPr lang="fr-FR" i="1" dirty="0" err="1" smtClean="0">
                <a:latin typeface="Times New Roman" pitchFamily="18" charset="0"/>
                <a:cs typeface="Times New Roman" pitchFamily="18" charset="0"/>
              </a:rPr>
              <a:t>typhi</a:t>
            </a:r>
            <a:r>
              <a:rPr lang="fr-FR" i="1"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E - </a:t>
            </a:r>
            <a:r>
              <a:rPr lang="fr-FR" i="1" dirty="0" err="1" smtClean="0">
                <a:latin typeface="Times New Roman" pitchFamily="18" charset="0"/>
                <a:cs typeface="Times New Roman" pitchFamily="18" charset="0"/>
              </a:rPr>
              <a:t>Treponema</a:t>
            </a:r>
            <a:r>
              <a:rPr lang="fr-FR" i="1" dirty="0" smtClean="0">
                <a:latin typeface="Times New Roman" pitchFamily="18" charset="0"/>
                <a:cs typeface="Times New Roman" pitchFamily="18" charset="0"/>
              </a:rPr>
              <a:t> pallidum  </a:t>
            </a:r>
          </a:p>
          <a:p>
            <a:pPr>
              <a:buNone/>
            </a:pPr>
            <a:endParaRPr lang="fr-FR" i="1" dirty="0" smtClean="0">
              <a:latin typeface="Times New Roman" pitchFamily="18" charset="0"/>
              <a:cs typeface="Times New Roman" pitchFamily="18" charset="0"/>
            </a:endParaRPr>
          </a:p>
          <a:p>
            <a:pPr>
              <a:buNone/>
            </a:pPr>
            <a:r>
              <a:rPr lang="fr-FR" dirty="0" smtClean="0">
                <a:solidFill>
                  <a:srgbClr val="FF0000"/>
                </a:solidFill>
                <a:latin typeface="Times New Roman" pitchFamily="18" charset="0"/>
                <a:cs typeface="Times New Roman" pitchFamily="18" charset="0"/>
              </a:rPr>
              <a:t>Réponse : D</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85728"/>
            <a:ext cx="9144000" cy="5840435"/>
          </a:xfrm>
        </p:spPr>
        <p:txBody>
          <a:bodyPr>
            <a:normAutofit/>
          </a:bodyPr>
          <a:lstStyle/>
          <a:p>
            <a:pPr>
              <a:buNone/>
            </a:pPr>
            <a:r>
              <a:rPr lang="fr-FR" b="1" dirty="0" smtClean="0">
                <a:latin typeface="Times New Roman" pitchFamily="18" charset="0"/>
                <a:cs typeface="Times New Roman" pitchFamily="18" charset="0"/>
              </a:rPr>
              <a:t>On observe une réplication d’ADN viral dans le noyau des cellules infectées par:</a:t>
            </a:r>
          </a:p>
          <a:p>
            <a:pPr>
              <a:buNone/>
            </a:pPr>
            <a:r>
              <a:rPr lang="fr-FR" b="1" dirty="0" smtClean="0">
                <a:latin typeface="Times New Roman" pitchFamily="18" charset="0"/>
                <a:cs typeface="Times New Roman" pitchFamily="18" charset="0"/>
              </a:rPr>
              <a:t>  </a:t>
            </a:r>
          </a:p>
          <a:p>
            <a:r>
              <a:rPr lang="fr-FR" dirty="0" smtClean="0">
                <a:latin typeface="Times New Roman" pitchFamily="18" charset="0"/>
                <a:cs typeface="Times New Roman" pitchFamily="18" charset="0"/>
              </a:rPr>
              <a:t> A - Herpès simplex virus  </a:t>
            </a:r>
          </a:p>
          <a:p>
            <a:r>
              <a:rPr lang="fr-FR" dirty="0" smtClean="0">
                <a:latin typeface="Times New Roman" pitchFamily="18" charset="0"/>
                <a:cs typeface="Times New Roman" pitchFamily="18" charset="0"/>
              </a:rPr>
              <a:t> B - Adénovirus  </a:t>
            </a:r>
          </a:p>
          <a:p>
            <a:r>
              <a:rPr lang="fr-FR" dirty="0" smtClean="0">
                <a:latin typeface="Times New Roman" pitchFamily="18" charset="0"/>
                <a:cs typeface="Times New Roman" pitchFamily="18" charset="0"/>
              </a:rPr>
              <a:t> C - </a:t>
            </a:r>
            <a:r>
              <a:rPr lang="fr-FR" dirty="0" err="1" smtClean="0">
                <a:latin typeface="Times New Roman" pitchFamily="18" charset="0"/>
                <a:cs typeface="Times New Roman" pitchFamily="18" charset="0"/>
              </a:rPr>
              <a:t>Myxovirus</a:t>
            </a:r>
            <a:r>
              <a:rPr lang="fr-FR" dirty="0" smtClean="0">
                <a:latin typeface="Times New Roman" pitchFamily="18" charset="0"/>
                <a:cs typeface="Times New Roman" pitchFamily="18" charset="0"/>
              </a:rPr>
              <a:t> influenza  </a:t>
            </a:r>
          </a:p>
          <a:p>
            <a:r>
              <a:rPr lang="fr-FR" dirty="0" smtClean="0">
                <a:latin typeface="Times New Roman" pitchFamily="18" charset="0"/>
                <a:cs typeface="Times New Roman" pitchFamily="18" charset="0"/>
              </a:rPr>
              <a:t> D - Entérovirus  </a:t>
            </a:r>
          </a:p>
          <a:p>
            <a:r>
              <a:rPr lang="fr-FR" dirty="0" smtClean="0">
                <a:latin typeface="Times New Roman" pitchFamily="18" charset="0"/>
                <a:cs typeface="Times New Roman" pitchFamily="18" charset="0"/>
              </a:rPr>
              <a:t> E - Virus des oreillons  </a:t>
            </a:r>
          </a:p>
          <a:p>
            <a:pPr>
              <a:buNone/>
            </a:pPr>
            <a:r>
              <a:rPr lang="fr-FR" dirty="0" smtClean="0">
                <a:solidFill>
                  <a:srgbClr val="FF0000"/>
                </a:solidFill>
                <a:latin typeface="Times New Roman" pitchFamily="18" charset="0"/>
                <a:cs typeface="Times New Roman" pitchFamily="18" charset="0"/>
              </a:rPr>
              <a:t>Réponse : A B </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126163"/>
          </a:xfrm>
        </p:spPr>
        <p:txBody>
          <a:bodyPr>
            <a:normAutofit lnSpcReduction="10000"/>
          </a:bodyPr>
          <a:lstStyle/>
          <a:p>
            <a:pPr>
              <a:buNone/>
            </a:pPr>
            <a:r>
              <a:rPr lang="fr-FR" b="1" dirty="0" smtClean="0">
                <a:latin typeface="Times New Roman" pitchFamily="18" charset="0"/>
                <a:cs typeface="Times New Roman" pitchFamily="18" charset="0"/>
              </a:rPr>
              <a:t>Dans la liste suivante, indiquez le ou les caractère(s) qui s’applique(nt) aux mutations génotypiques chez les bactéries  </a:t>
            </a:r>
          </a:p>
          <a:p>
            <a:pPr>
              <a:buNone/>
            </a:pPr>
            <a:endParaRPr lang="fr-FR" b="1" dirty="0" smtClean="0">
              <a:latin typeface="Times New Roman" pitchFamily="18" charset="0"/>
              <a:cs typeface="Times New Roman" pitchFamily="18" charset="0"/>
            </a:endParaRPr>
          </a:p>
          <a:p>
            <a:r>
              <a:rPr lang="fr-FR" dirty="0" smtClean="0">
                <a:latin typeface="Times New Roman" pitchFamily="18" charset="0"/>
                <a:cs typeface="Times New Roman" pitchFamily="18" charset="0"/>
              </a:rPr>
              <a:t> A - Stabilité  </a:t>
            </a:r>
          </a:p>
          <a:p>
            <a:r>
              <a:rPr lang="fr-FR" dirty="0" smtClean="0">
                <a:latin typeface="Times New Roman" pitchFamily="18" charset="0"/>
                <a:cs typeface="Times New Roman" pitchFamily="18" charset="0"/>
              </a:rPr>
              <a:t> B - Indépendance  </a:t>
            </a:r>
          </a:p>
          <a:p>
            <a:r>
              <a:rPr lang="fr-FR" dirty="0" smtClean="0">
                <a:latin typeface="Times New Roman" pitchFamily="18" charset="0"/>
                <a:cs typeface="Times New Roman" pitchFamily="18" charset="0"/>
              </a:rPr>
              <a:t> C - Rareté  </a:t>
            </a:r>
          </a:p>
          <a:p>
            <a:r>
              <a:rPr lang="fr-FR" dirty="0" smtClean="0">
                <a:latin typeface="Times New Roman" pitchFamily="18" charset="0"/>
                <a:cs typeface="Times New Roman" pitchFamily="18" charset="0"/>
              </a:rPr>
              <a:t> D - Spontanéité  </a:t>
            </a:r>
          </a:p>
          <a:p>
            <a:r>
              <a:rPr lang="fr-FR" dirty="0" smtClean="0">
                <a:latin typeface="Times New Roman" pitchFamily="18" charset="0"/>
                <a:cs typeface="Times New Roman" pitchFamily="18" charset="0"/>
              </a:rPr>
              <a:t> E - Transmission héréditaire</a:t>
            </a:r>
          </a:p>
          <a:p>
            <a:pPr>
              <a:buNone/>
            </a:pPr>
            <a:endParaRPr lang="fr-FR" dirty="0" smtClean="0">
              <a:latin typeface="Times New Roman" pitchFamily="18" charset="0"/>
              <a:cs typeface="Times New Roman" pitchFamily="18" charset="0"/>
            </a:endParaRPr>
          </a:p>
          <a:p>
            <a:pPr>
              <a:buNone/>
            </a:pPr>
            <a:r>
              <a:rPr lang="fr-FR" dirty="0" smtClean="0">
                <a:solidFill>
                  <a:srgbClr val="FF0000"/>
                </a:solidFill>
                <a:latin typeface="Times New Roman" pitchFamily="18" charset="0"/>
                <a:cs typeface="Times New Roman" pitchFamily="18" charset="0"/>
              </a:rPr>
              <a:t>Réponse : A B C D E</a:t>
            </a:r>
            <a:endParaRPr lang="fr-FR"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85728"/>
            <a:ext cx="9144000" cy="6357982"/>
          </a:xfrm>
        </p:spPr>
        <p:txBody>
          <a:bodyPr>
            <a:normAutofit/>
          </a:bodyPr>
          <a:lstStyle/>
          <a:p>
            <a:pPr>
              <a:buNone/>
            </a:pPr>
            <a:r>
              <a:rPr lang="fr-FR" b="1" dirty="0" smtClean="0">
                <a:latin typeface="Times New Roman" pitchFamily="18" charset="0"/>
                <a:cs typeface="Times New Roman" pitchFamily="18" charset="0"/>
              </a:rPr>
              <a:t>Parmi les agents infectieux suivants, quel(s) est (sont) celui (ceux) responsable(s) de méningites ?</a:t>
            </a:r>
          </a:p>
          <a:p>
            <a:pPr>
              <a:buNone/>
            </a:pPr>
            <a:r>
              <a:rPr lang="fr-FR" b="1" dirty="0" smtClean="0">
                <a:latin typeface="Times New Roman" pitchFamily="18" charset="0"/>
                <a:cs typeface="Times New Roman" pitchFamily="18" charset="0"/>
              </a:rPr>
              <a:t> </a:t>
            </a:r>
          </a:p>
          <a:p>
            <a:pPr marL="514350" lvl="0" indent="-514350">
              <a:buAutoNum type="alphaUcPeriod"/>
            </a:pPr>
            <a:r>
              <a:rPr lang="fr-FR" i="1" dirty="0" err="1" smtClean="0">
                <a:latin typeface="Times New Roman" pitchFamily="18" charset="0"/>
                <a:cs typeface="Times New Roman" pitchFamily="18" charset="0"/>
              </a:rPr>
              <a:t>Neisseria</a:t>
            </a:r>
            <a:r>
              <a:rPr lang="fr-FR" i="1" dirty="0" smtClean="0">
                <a:latin typeface="Times New Roman" pitchFamily="18" charset="0"/>
                <a:cs typeface="Times New Roman" pitchFamily="18" charset="0"/>
              </a:rPr>
              <a:t> </a:t>
            </a:r>
            <a:r>
              <a:rPr lang="fr-FR" i="1" dirty="0" err="1" smtClean="0">
                <a:latin typeface="Times New Roman" pitchFamily="18" charset="0"/>
                <a:cs typeface="Times New Roman" pitchFamily="18" charset="0"/>
              </a:rPr>
              <a:t>gonorrhoeae</a:t>
            </a:r>
            <a:endParaRPr lang="fr-FR" i="1" dirty="0" smtClean="0">
              <a:latin typeface="Times New Roman" pitchFamily="18" charset="0"/>
              <a:cs typeface="Times New Roman" pitchFamily="18" charset="0"/>
            </a:endParaRPr>
          </a:p>
          <a:p>
            <a:pPr marL="514350" lvl="0" indent="-514350">
              <a:buAutoNum type="alphaUcPeriod"/>
            </a:pPr>
            <a:r>
              <a:rPr lang="fr-FR" dirty="0" smtClean="0">
                <a:latin typeface="Times New Roman" pitchFamily="18" charset="0"/>
                <a:cs typeface="Times New Roman" pitchFamily="18" charset="0"/>
              </a:rPr>
              <a:t>Herpes simplex de type 2</a:t>
            </a:r>
          </a:p>
          <a:p>
            <a:pPr marL="514350" lvl="0" indent="-514350">
              <a:buAutoNum type="alphaUcPeriod"/>
            </a:pPr>
            <a:r>
              <a:rPr lang="fr-FR" i="1" dirty="0" err="1" smtClean="0">
                <a:latin typeface="Times New Roman" pitchFamily="18" charset="0"/>
                <a:cs typeface="Times New Roman" pitchFamily="18" charset="0"/>
              </a:rPr>
              <a:t>Streptococcus</a:t>
            </a:r>
            <a:r>
              <a:rPr lang="fr-FR" i="1" dirty="0" smtClean="0">
                <a:latin typeface="Times New Roman" pitchFamily="18" charset="0"/>
                <a:cs typeface="Times New Roman" pitchFamily="18" charset="0"/>
              </a:rPr>
              <a:t> </a:t>
            </a:r>
            <a:r>
              <a:rPr lang="fr-FR" i="1" dirty="0" err="1" smtClean="0">
                <a:latin typeface="Times New Roman" pitchFamily="18" charset="0"/>
                <a:cs typeface="Times New Roman" pitchFamily="18" charset="0"/>
              </a:rPr>
              <a:t>pneumoniae</a:t>
            </a:r>
            <a:endParaRPr lang="fr-FR" i="1" dirty="0" smtClean="0">
              <a:latin typeface="Times New Roman" pitchFamily="18" charset="0"/>
              <a:cs typeface="Times New Roman" pitchFamily="18" charset="0"/>
            </a:endParaRPr>
          </a:p>
          <a:p>
            <a:pPr marL="514350" lvl="0" indent="-514350">
              <a:buAutoNum type="alphaUcPeriod"/>
            </a:pPr>
            <a:r>
              <a:rPr lang="fr-FR" dirty="0" err="1" smtClean="0">
                <a:latin typeface="Times New Roman" pitchFamily="18" charset="0"/>
                <a:cs typeface="Times New Roman" pitchFamily="18" charset="0"/>
              </a:rPr>
              <a:t>Rotavirus</a:t>
            </a:r>
            <a:endParaRPr lang="fr-FR" dirty="0" smtClean="0">
              <a:latin typeface="Times New Roman" pitchFamily="18" charset="0"/>
              <a:cs typeface="Times New Roman" pitchFamily="18" charset="0"/>
            </a:endParaRPr>
          </a:p>
          <a:p>
            <a:pPr marL="514350" lvl="0" indent="-514350">
              <a:buAutoNum type="alphaUcPeriod"/>
            </a:pPr>
            <a:r>
              <a:rPr lang="fr-FR" i="1" dirty="0" smtClean="0">
                <a:latin typeface="Times New Roman" pitchFamily="18" charset="0"/>
                <a:cs typeface="Times New Roman" pitchFamily="18" charset="0"/>
              </a:rPr>
              <a:t>Trichophyton </a:t>
            </a:r>
            <a:r>
              <a:rPr lang="fr-FR" i="1" dirty="0" err="1" smtClean="0">
                <a:latin typeface="Times New Roman" pitchFamily="18" charset="0"/>
                <a:cs typeface="Times New Roman" pitchFamily="18" charset="0"/>
              </a:rPr>
              <a:t>mentagrophytes</a:t>
            </a:r>
            <a:endParaRPr lang="fr-FR" dirty="0" smtClean="0">
              <a:latin typeface="Times New Roman" pitchFamily="18" charset="0"/>
              <a:cs typeface="Times New Roman" pitchFamily="18" charset="0"/>
            </a:endParaRPr>
          </a:p>
          <a:p>
            <a:pPr>
              <a:buNone/>
            </a:pPr>
            <a:r>
              <a:rPr lang="fr-FR" b="1" dirty="0" smtClean="0">
                <a:latin typeface="Times New Roman" pitchFamily="18" charset="0"/>
                <a:cs typeface="Times New Roman" pitchFamily="18" charset="0"/>
              </a:rPr>
              <a:t> </a:t>
            </a:r>
            <a:endParaRPr lang="fr-FR" dirty="0" smtClean="0">
              <a:latin typeface="Times New Roman" pitchFamily="18" charset="0"/>
              <a:cs typeface="Times New Roman" pitchFamily="18" charset="0"/>
            </a:endParaRPr>
          </a:p>
          <a:p>
            <a:pPr>
              <a:buNone/>
            </a:pPr>
            <a:r>
              <a:rPr lang="fr-FR" dirty="0" smtClean="0">
                <a:solidFill>
                  <a:srgbClr val="FF0000"/>
                </a:solidFill>
                <a:latin typeface="Times New Roman" pitchFamily="18" charset="0"/>
                <a:cs typeface="Times New Roman" pitchFamily="18" charset="0"/>
              </a:rPr>
              <a:t>Réponse : B C</a:t>
            </a:r>
          </a:p>
          <a:p>
            <a:pPr>
              <a:buNone/>
            </a:pPr>
            <a:r>
              <a:rPr lang="fr-FR" dirty="0" smtClean="0"/>
              <a:t>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686800" cy="6126163"/>
          </a:xfrm>
        </p:spPr>
        <p:txBody>
          <a:bodyPr>
            <a:normAutofit/>
          </a:bodyPr>
          <a:lstStyle/>
          <a:p>
            <a:pPr>
              <a:buNone/>
            </a:pPr>
            <a:endParaRPr lang="fr-FR" sz="2400" dirty="0" smtClean="0">
              <a:latin typeface="Times New Roman" pitchFamily="18" charset="0"/>
              <a:cs typeface="Times New Roman" pitchFamily="18" charset="0"/>
            </a:endParaRPr>
          </a:p>
          <a:p>
            <a:pPr>
              <a:buNone/>
            </a:pPr>
            <a:r>
              <a:rPr lang="fr-FR" sz="2400" b="1" dirty="0" smtClean="0">
                <a:latin typeface="Times New Roman" pitchFamily="18" charset="0"/>
                <a:cs typeface="Times New Roman" pitchFamily="18" charset="0"/>
              </a:rPr>
              <a:t>Les virus ont certaines des caractéristiques suivantes. Lesquelles ?</a:t>
            </a:r>
          </a:p>
          <a:p>
            <a:pPr>
              <a:buNone/>
            </a:pPr>
            <a:endParaRPr lang="fr-FR" sz="2400" dirty="0" smtClean="0">
              <a:latin typeface="Times New Roman" pitchFamily="18" charset="0"/>
              <a:cs typeface="Times New Roman" pitchFamily="18" charset="0"/>
            </a:endParaRPr>
          </a:p>
          <a:p>
            <a:pPr>
              <a:buNone/>
            </a:pPr>
            <a:endParaRPr lang="fr-FR" sz="2400" dirty="0" smtClean="0">
              <a:latin typeface="Times New Roman" pitchFamily="18" charset="0"/>
              <a:cs typeface="Times New Roman" pitchFamily="18" charset="0"/>
            </a:endParaRPr>
          </a:p>
          <a:p>
            <a:r>
              <a:rPr lang="fr-FR" sz="2400" dirty="0" smtClean="0">
                <a:latin typeface="Times New Roman" pitchFamily="18" charset="0"/>
                <a:cs typeface="Times New Roman" pitchFamily="18" charset="0"/>
              </a:rPr>
              <a:t>A) contiennent et de l'ADN et de l'ARN</a:t>
            </a:r>
          </a:p>
          <a:p>
            <a:r>
              <a:rPr lang="fr-FR" sz="2400" dirty="0" smtClean="0">
                <a:latin typeface="Times New Roman" pitchFamily="18" charset="0"/>
                <a:cs typeface="Times New Roman" pitchFamily="18" charset="0"/>
              </a:rPr>
              <a:t>B) contiennent des ribosomes</a:t>
            </a:r>
          </a:p>
          <a:p>
            <a:r>
              <a:rPr lang="fr-FR" sz="2400" dirty="0" smtClean="0">
                <a:latin typeface="Times New Roman" pitchFamily="18" charset="0"/>
                <a:cs typeface="Times New Roman" pitchFamily="18" charset="0"/>
              </a:rPr>
              <a:t>C) contiennent des protéines</a:t>
            </a:r>
          </a:p>
          <a:p>
            <a:r>
              <a:rPr lang="fr-FR" sz="2400" dirty="0" smtClean="0">
                <a:latin typeface="Times New Roman" pitchFamily="18" charset="0"/>
                <a:cs typeface="Times New Roman" pitchFamily="18" charset="0"/>
              </a:rPr>
              <a:t>D) modifient après culture les propriétés de surface des cellules</a:t>
            </a:r>
          </a:p>
          <a:p>
            <a:r>
              <a:rPr lang="fr-FR" sz="2400" dirty="0" smtClean="0">
                <a:latin typeface="Times New Roman" pitchFamily="18" charset="0"/>
                <a:cs typeface="Times New Roman" pitchFamily="18" charset="0"/>
              </a:rPr>
              <a:t>E) peuvent infecter les bactéries. </a:t>
            </a:r>
          </a:p>
          <a:p>
            <a:endParaRPr lang="fr-FR" sz="2400" i="1" dirty="0" smtClean="0">
              <a:latin typeface="Times New Roman" pitchFamily="18" charset="0"/>
              <a:cs typeface="Times New Roman" pitchFamily="18" charset="0"/>
            </a:endParaRPr>
          </a:p>
          <a:p>
            <a:pPr>
              <a:buNone/>
            </a:pPr>
            <a:r>
              <a:rPr lang="fr-FR" sz="2400" dirty="0" smtClean="0">
                <a:solidFill>
                  <a:srgbClr val="FF0000"/>
                </a:solidFill>
                <a:latin typeface="Times New Roman" pitchFamily="18" charset="0"/>
                <a:cs typeface="Times New Roman" pitchFamily="18" charset="0"/>
              </a:rPr>
              <a:t>Réponse : CDE</a:t>
            </a:r>
            <a:endParaRPr lang="fr-FR" sz="24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Effect transition="in" filter="blinds(horizontal)">
                                      <p:cBhvr>
                                        <p:cTn id="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28604"/>
            <a:ext cx="8229600" cy="5697559"/>
          </a:xfrm>
        </p:spPr>
        <p:txBody>
          <a:bodyPr>
            <a:normAutofit fontScale="92500" lnSpcReduction="10000"/>
          </a:bodyPr>
          <a:lstStyle/>
          <a:p>
            <a:pPr>
              <a:buNone/>
            </a:pPr>
            <a:r>
              <a:rPr lang="fr-FR" dirty="0" smtClean="0"/>
              <a:t>Quelle est la proposition exacte ? On peut, en pratique courante, faire pratiquer un diagnostic sérologique pour :</a:t>
            </a:r>
          </a:p>
          <a:p>
            <a:pPr>
              <a:buNone/>
            </a:pPr>
            <a:endParaRPr lang="fr-FR" dirty="0" smtClean="0"/>
          </a:p>
          <a:p>
            <a:r>
              <a:rPr lang="fr-FR" dirty="0" smtClean="0"/>
              <a:t>A) Varicelle,</a:t>
            </a:r>
          </a:p>
          <a:p>
            <a:r>
              <a:rPr lang="fr-FR" dirty="0" smtClean="0"/>
              <a:t>B) oreillons,</a:t>
            </a:r>
          </a:p>
          <a:p>
            <a:r>
              <a:rPr lang="fr-FR" dirty="0" smtClean="0"/>
              <a:t>C) rougeole,</a:t>
            </a:r>
          </a:p>
          <a:p>
            <a:r>
              <a:rPr lang="fr-FR" dirty="0" smtClean="0"/>
              <a:t>D) poliomyélite,</a:t>
            </a:r>
          </a:p>
          <a:p>
            <a:r>
              <a:rPr lang="fr-FR" dirty="0" smtClean="0"/>
              <a:t>E) toutes ces maladies. </a:t>
            </a:r>
          </a:p>
          <a:p>
            <a:endParaRPr lang="fr-FR" i="1" dirty="0" smtClean="0"/>
          </a:p>
          <a:p>
            <a:pPr>
              <a:buNone/>
            </a:pPr>
            <a:r>
              <a:rPr lang="fr-FR" dirty="0" smtClean="0">
                <a:solidFill>
                  <a:srgbClr val="FF0000"/>
                </a:solidFill>
              </a:rPr>
              <a:t>Réponse : E</a:t>
            </a:r>
            <a:endParaRPr lang="fr-FR"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blinds(horizontal)">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0000" lnSpcReduction="20000"/>
          </a:bodyPr>
          <a:lstStyle/>
          <a:p>
            <a:endParaRPr lang="fr-FR" dirty="0" smtClean="0"/>
          </a:p>
          <a:p>
            <a:pPr>
              <a:buNone/>
            </a:pPr>
            <a:r>
              <a:rPr lang="fr-FR" b="1" dirty="0" smtClean="0"/>
              <a:t>La détection d’un ADN étranger dans le corps humain :</a:t>
            </a:r>
          </a:p>
          <a:p>
            <a:pPr>
              <a:buNone/>
            </a:pPr>
            <a:r>
              <a:rPr lang="fr-FR" b="1" dirty="0" smtClean="0"/>
              <a:t> </a:t>
            </a:r>
          </a:p>
          <a:p>
            <a:r>
              <a:rPr lang="fr-FR" dirty="0" smtClean="0"/>
              <a:t>A. Peut signer l’existence d’une infection </a:t>
            </a:r>
          </a:p>
          <a:p>
            <a:r>
              <a:rPr lang="fr-FR" dirty="0" smtClean="0"/>
              <a:t>B. Comme pour les anticorps, peut traduire une infection ancienne déjà guérie </a:t>
            </a:r>
          </a:p>
          <a:p>
            <a:r>
              <a:rPr lang="fr-FR" dirty="0" smtClean="0"/>
              <a:t>C. Doit se faire dans le sang et/ou le tissu cible du micro-organisme </a:t>
            </a:r>
          </a:p>
          <a:p>
            <a:r>
              <a:rPr lang="fr-FR" dirty="0" smtClean="0"/>
              <a:t>D. Nécessite obligatoirement des techniques d’amplification de l’ADN, le plus souvent la PCR </a:t>
            </a:r>
          </a:p>
          <a:p>
            <a:r>
              <a:rPr lang="fr-FR" dirty="0" smtClean="0"/>
              <a:t>E. Permet le typage du micro-organisme par séquençage, ce qui permet de suivre l’évolution d’une épidémie. </a:t>
            </a:r>
          </a:p>
          <a:p>
            <a:pPr>
              <a:buNone/>
            </a:pPr>
            <a:endParaRPr lang="fr-FR" dirty="0" smtClean="0"/>
          </a:p>
          <a:p>
            <a:pPr>
              <a:buNone/>
            </a:pPr>
            <a:r>
              <a:rPr lang="fr-FR" b="1" dirty="0" smtClean="0">
                <a:solidFill>
                  <a:srgbClr val="FF0000"/>
                </a:solidFill>
              </a:rPr>
              <a:t>A C D E</a:t>
            </a:r>
            <a:endParaRPr lang="fr-FR"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Effect transition="in" filter="blinds(horizontal)">
                                      <p:cBhvr>
                                        <p:cTn id="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ChangeArrowheads="1"/>
          </p:cNvSpPr>
          <p:nvPr/>
        </p:nvSpPr>
        <p:spPr bwMode="auto">
          <a:xfrm>
            <a:off x="0" y="1357299"/>
            <a:ext cx="9144000" cy="298543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28600" algn="justLow" defTabSz="914400" rtl="0" eaLnBrk="1" fontAlgn="base" latinLnBrk="0" hangingPunct="1">
              <a:lnSpc>
                <a:spcPct val="100000"/>
              </a:lnSpc>
              <a:spcBef>
                <a:spcPct val="0"/>
              </a:spcBef>
              <a:spcAft>
                <a:spcPct val="0"/>
              </a:spcAft>
              <a:buClrTx/>
              <a:buSzTx/>
              <a:tabLst/>
            </a:pPr>
            <a:r>
              <a:rPr kumimoji="0" lang="fr-FR" sz="24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Une bactérie est une :</a:t>
            </a: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228600" algn="justLow"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Cellule sans noyau possédant un ADN ou ARN.	</a:t>
            </a: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228600" algn="justLow"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 Cellule procaryote incapable de se reproduire de façon autonome.</a:t>
            </a: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228600" algn="justLow"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 Cellule acaryote infectant des cellules hôtes pour sa multiplication.</a:t>
            </a: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228600" algn="justLow"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 Cellule procaryote capable de se reproduire de façon autonome.</a:t>
            </a: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228600" algn="justLow"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e. Cellule eucaryote capable de se reproduire de façon autonome.</a:t>
            </a:r>
          </a:p>
          <a:p>
            <a:pPr marL="0" marR="0" lvl="0" indent="228600" algn="justLow"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228600" algn="justLow"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Réponse : d</a:t>
            </a:r>
            <a:endParaRPr kumimoji="0" lang="fr-FR" sz="36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686800" cy="6126163"/>
          </a:xfrm>
        </p:spPr>
        <p:txBody>
          <a:bodyPr>
            <a:normAutofit/>
          </a:bodyPr>
          <a:lstStyle/>
          <a:p>
            <a:pPr>
              <a:buNone/>
            </a:pPr>
            <a:r>
              <a:rPr lang="fr-FR" b="1" dirty="0" smtClean="0"/>
              <a:t>Parmi les propositions suivantes concernant des anomalies du LCR, laquelle (lesquelles) permettent d’orienter vers une étiologie bactérienne :</a:t>
            </a:r>
            <a:endParaRPr lang="fr-FR" dirty="0" smtClean="0"/>
          </a:p>
          <a:p>
            <a:pPr>
              <a:buNone/>
            </a:pPr>
            <a:r>
              <a:rPr lang="fr-FR" dirty="0" smtClean="0"/>
              <a:t>a. </a:t>
            </a:r>
            <a:r>
              <a:rPr lang="fr-FR" dirty="0" err="1" smtClean="0"/>
              <a:t>Hypoglycorachie</a:t>
            </a:r>
            <a:r>
              <a:rPr lang="fr-FR" dirty="0" smtClean="0"/>
              <a:t> </a:t>
            </a:r>
          </a:p>
          <a:p>
            <a:pPr>
              <a:buNone/>
            </a:pPr>
            <a:r>
              <a:rPr lang="fr-FR" dirty="0" smtClean="0"/>
              <a:t>b. </a:t>
            </a:r>
            <a:r>
              <a:rPr lang="fr-FR" dirty="0" err="1" smtClean="0"/>
              <a:t>Protéinorachie</a:t>
            </a:r>
            <a:r>
              <a:rPr lang="fr-FR" dirty="0" smtClean="0"/>
              <a:t> normale</a:t>
            </a:r>
          </a:p>
          <a:p>
            <a:pPr>
              <a:buNone/>
            </a:pPr>
            <a:r>
              <a:rPr lang="fr-FR" dirty="0" smtClean="0"/>
              <a:t>c. </a:t>
            </a:r>
            <a:r>
              <a:rPr lang="fr-FR" dirty="0" err="1" smtClean="0"/>
              <a:t>Hypochlorurorachie</a:t>
            </a:r>
            <a:r>
              <a:rPr lang="fr-FR" dirty="0" smtClean="0"/>
              <a:t> </a:t>
            </a:r>
          </a:p>
          <a:p>
            <a:pPr>
              <a:buNone/>
            </a:pPr>
            <a:r>
              <a:rPr lang="fr-FR" dirty="0" smtClean="0"/>
              <a:t>d. PNN en amas</a:t>
            </a:r>
          </a:p>
          <a:p>
            <a:pPr>
              <a:buNone/>
            </a:pPr>
            <a:r>
              <a:rPr lang="fr-FR" dirty="0" smtClean="0"/>
              <a:t>e. Présence d’hématies</a:t>
            </a:r>
          </a:p>
          <a:p>
            <a:pPr>
              <a:buNone/>
            </a:pPr>
            <a:r>
              <a:rPr lang="fr-FR" dirty="0" smtClean="0"/>
              <a:t> </a:t>
            </a:r>
            <a:r>
              <a:rPr lang="fr-FR" dirty="0" smtClean="0">
                <a:solidFill>
                  <a:srgbClr val="FF0000"/>
                </a:solidFill>
              </a:rPr>
              <a:t>Réponse : </a:t>
            </a:r>
            <a:r>
              <a:rPr lang="fr-FR" dirty="0" err="1" smtClean="0">
                <a:solidFill>
                  <a:srgbClr val="FF0000"/>
                </a:solidFill>
              </a:rPr>
              <a:t>acd</a:t>
            </a:r>
            <a:r>
              <a:rPr lang="fr-FR" dirty="0" smtClean="0">
                <a:solidFill>
                  <a:srgbClr val="FF0000"/>
                </a:solidFill>
              </a:rPr>
              <a:t>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1"/>
          <p:cNvSpPr>
            <a:spLocks noGrp="1" noChangeArrowheads="1"/>
          </p:cNvSpPr>
          <p:nvPr>
            <p:ph idx="1"/>
          </p:nvPr>
        </p:nvSpPr>
        <p:spPr bwMode="auto">
          <a:xfrm>
            <a:off x="0" y="214312"/>
            <a:ext cx="9144000"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Des bacilles Gram positif </a:t>
            </a:r>
            <a:r>
              <a:rPr kumimoji="0" lang="fr-FR" sz="24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retrouvés</a:t>
            </a:r>
            <a:r>
              <a:rPr kumimoji="0" lang="fr-FR" sz="24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dans le LCR trouble d'un </a:t>
            </a:r>
            <a:r>
              <a:rPr kumimoji="0" lang="fr-FR" sz="24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nouveau-ne</a:t>
            </a:r>
            <a:r>
              <a:rPr kumimoji="0" lang="fr-FR" sz="24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font </a:t>
            </a:r>
            <a:r>
              <a:rPr kumimoji="0" lang="fr-FR" sz="24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évoquer</a:t>
            </a:r>
            <a:r>
              <a:rPr kumimoji="0" lang="fr-FR" sz="24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une </a:t>
            </a:r>
            <a:r>
              <a:rPr kumimoji="0" lang="fr-FR" sz="24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méningite</a:t>
            </a:r>
            <a:r>
              <a:rPr kumimoji="0" lang="fr-FR" sz="24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a:t>
            </a:r>
            <a:r>
              <a:rPr kumimoji="0" lang="fr-FR" sz="2400" b="0" i="1"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Streptococcus</a:t>
            </a:r>
            <a:r>
              <a:rPr kumimoji="0" lang="fr-FR"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fr-FR" sz="2400" b="0" i="1"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agalactiae</a:t>
            </a:r>
            <a:r>
              <a:rPr kumimoji="0" lang="fr-FR"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endParaRPr kumimoji="0" lang="fr-FR"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 </a:t>
            </a:r>
            <a:r>
              <a:rPr kumimoji="0" lang="fr-FR" sz="2400" b="0" i="1"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Gardnerella</a:t>
            </a:r>
            <a:r>
              <a:rPr kumimoji="0" lang="fr-FR"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fr-FR" sz="2400" b="0" i="1"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vaginalis</a:t>
            </a:r>
            <a:r>
              <a:rPr kumimoji="0" lang="fr-FR"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endParaRPr kumimoji="0" lang="fr-FR"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 </a:t>
            </a:r>
            <a:r>
              <a:rPr kumimoji="0" lang="en-US" sz="2400" b="0" i="1"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Listeria</a:t>
            </a:r>
            <a:r>
              <a:rPr kumimoji="0" lang="en-US"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2400" b="0" i="1"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monocytogenes</a:t>
            </a:r>
            <a:r>
              <a:rPr kumimoji="0" lang="en-US"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endParaRPr kumimoji="0" lang="fr-FR"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 </a:t>
            </a:r>
            <a:r>
              <a:rPr kumimoji="0" lang="en-US"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Escherichia coli </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K1 </a:t>
            </a:r>
            <a:endParaRPr kumimoji="0" lang="fr-FR"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e. </a:t>
            </a:r>
            <a:r>
              <a:rPr kumimoji="0" lang="fr-FR" sz="2400" b="0" i="1"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Haemophilus</a:t>
            </a:r>
            <a:r>
              <a:rPr kumimoji="0" lang="fr-FR"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fr-FR" sz="2400" b="0" i="1"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influenzae</a:t>
            </a:r>
            <a:r>
              <a:rPr kumimoji="0" lang="fr-FR"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rgbClr val="FF0000"/>
                </a:solidFill>
                <a:effectLst/>
                <a:latin typeface="Times New Roman" pitchFamily="18" charset="0"/>
                <a:ea typeface="Calibri" pitchFamily="34" charset="0"/>
                <a:cs typeface="Times New Roman" pitchFamily="18" charset="0"/>
              </a:rPr>
              <a:t>               Réponse : c</a:t>
            </a:r>
            <a:endParaRPr kumimoji="0" lang="fr-FR"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41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572272"/>
          </a:xfrm>
        </p:spPr>
        <p:txBody>
          <a:bodyPr>
            <a:normAutofit/>
          </a:bodyPr>
          <a:lstStyle/>
          <a:p>
            <a:pPr>
              <a:buNone/>
            </a:pPr>
            <a:r>
              <a:rPr lang="fr-FR" b="1" dirty="0" smtClean="0"/>
              <a:t>Quelles sont les propositions exactes concernant </a:t>
            </a:r>
            <a:r>
              <a:rPr lang="fr-FR" b="1" i="1" dirty="0" err="1" smtClean="0"/>
              <a:t>Staphylococcus</a:t>
            </a:r>
            <a:r>
              <a:rPr lang="fr-FR" b="1" i="1" dirty="0" smtClean="0"/>
              <a:t> aureus</a:t>
            </a:r>
            <a:r>
              <a:rPr lang="fr-FR" b="1" dirty="0" smtClean="0"/>
              <a:t> :</a:t>
            </a:r>
            <a:endParaRPr lang="fr-FR" dirty="0" smtClean="0"/>
          </a:p>
          <a:p>
            <a:pPr>
              <a:buNone/>
            </a:pPr>
            <a:r>
              <a:rPr lang="fr-FR" dirty="0" smtClean="0"/>
              <a:t>a. Il mesure environ 10µm de diamètre</a:t>
            </a:r>
          </a:p>
          <a:p>
            <a:pPr>
              <a:buNone/>
            </a:pPr>
            <a:r>
              <a:rPr lang="fr-FR" dirty="0" smtClean="0"/>
              <a:t>b. Il pousse sur milieu de Chapman</a:t>
            </a:r>
          </a:p>
          <a:p>
            <a:pPr>
              <a:buNone/>
            </a:pPr>
            <a:r>
              <a:rPr lang="fr-FR" dirty="0" smtClean="0"/>
              <a:t>c. Il produit de l’</a:t>
            </a:r>
            <a:r>
              <a:rPr lang="fr-FR" dirty="0" err="1" smtClean="0"/>
              <a:t>exfoliatine</a:t>
            </a:r>
            <a:r>
              <a:rPr lang="fr-FR" dirty="0" smtClean="0"/>
              <a:t> </a:t>
            </a:r>
          </a:p>
          <a:p>
            <a:pPr>
              <a:buNone/>
            </a:pPr>
            <a:r>
              <a:rPr lang="fr-FR" dirty="0" smtClean="0"/>
              <a:t>d. Il n’existe pas de portage sain</a:t>
            </a:r>
          </a:p>
          <a:p>
            <a:pPr>
              <a:buNone/>
            </a:pPr>
            <a:r>
              <a:rPr lang="fr-FR" dirty="0" smtClean="0"/>
              <a:t>e. Il peut être responsable de toxi-infections alimentaires</a:t>
            </a:r>
          </a:p>
          <a:p>
            <a:pPr>
              <a:buNone/>
            </a:pPr>
            <a:endParaRPr lang="fr-FR" dirty="0" smtClean="0"/>
          </a:p>
          <a:p>
            <a:pPr>
              <a:buNone/>
            </a:pPr>
            <a:r>
              <a:rPr lang="fr-FR" dirty="0" smtClean="0"/>
              <a:t> </a:t>
            </a:r>
            <a:r>
              <a:rPr lang="fr-FR" dirty="0" smtClean="0">
                <a:solidFill>
                  <a:srgbClr val="FF0000"/>
                </a:solidFill>
              </a:rPr>
              <a:t>Réponse : </a:t>
            </a:r>
            <a:r>
              <a:rPr lang="fr-FR" dirty="0" err="1" smtClean="0">
                <a:solidFill>
                  <a:srgbClr val="FF0000"/>
                </a:solidFill>
              </a:rPr>
              <a:t>bce</a:t>
            </a:r>
            <a:r>
              <a:rPr lang="fr-FR" dirty="0" smtClean="0">
                <a:solidFill>
                  <a:srgbClr val="FF0000"/>
                </a:solidFill>
              </a:rPr>
              <a:t>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lvl="0">
              <a:buNone/>
            </a:pPr>
            <a:r>
              <a:rPr lang="fr-FR" b="1" dirty="0" smtClean="0"/>
              <a:t> Laquelle de ces affirmations est fausse ? Les bactéries anaérobies strictes</a:t>
            </a:r>
          </a:p>
          <a:p>
            <a:pPr lvl="0">
              <a:buNone/>
            </a:pPr>
            <a:endParaRPr lang="fr-FR" dirty="0" smtClean="0"/>
          </a:p>
          <a:p>
            <a:pPr>
              <a:buNone/>
            </a:pPr>
            <a:r>
              <a:rPr lang="fr-FR" dirty="0" smtClean="0"/>
              <a:t>a. ne peuvent se développer en présence d’O</a:t>
            </a:r>
            <a:r>
              <a:rPr lang="fr-FR" baseline="-25000" dirty="0" smtClean="0"/>
              <a:t>2</a:t>
            </a:r>
            <a:r>
              <a:rPr lang="fr-FR" dirty="0" smtClean="0"/>
              <a:t> </a:t>
            </a:r>
          </a:p>
          <a:p>
            <a:pPr>
              <a:buNone/>
            </a:pPr>
            <a:r>
              <a:rPr lang="fr-FR" dirty="0" smtClean="0"/>
              <a:t>b. nécessitent des milieux de culture complexes</a:t>
            </a:r>
          </a:p>
          <a:p>
            <a:pPr>
              <a:buNone/>
            </a:pPr>
            <a:r>
              <a:rPr lang="fr-FR" dirty="0" smtClean="0"/>
              <a:t>c. Certaines sont présentes dans les flores endogènes</a:t>
            </a:r>
          </a:p>
          <a:p>
            <a:pPr>
              <a:buNone/>
            </a:pPr>
            <a:r>
              <a:rPr lang="fr-FR" dirty="0" smtClean="0"/>
              <a:t>d. Les entérocoques en font partie</a:t>
            </a:r>
          </a:p>
          <a:p>
            <a:pPr>
              <a:buNone/>
            </a:pPr>
            <a:r>
              <a:rPr lang="fr-FR" dirty="0" smtClean="0"/>
              <a:t>e. Leur identification est souvent difficile</a:t>
            </a:r>
          </a:p>
          <a:p>
            <a:pPr>
              <a:buNone/>
            </a:pPr>
            <a:endParaRPr lang="fr-FR" dirty="0" smtClean="0"/>
          </a:p>
          <a:p>
            <a:pPr>
              <a:buNone/>
            </a:pPr>
            <a:r>
              <a:rPr lang="fr-FR" dirty="0" smtClean="0">
                <a:solidFill>
                  <a:srgbClr val="FF0000"/>
                </a:solidFill>
              </a:rPr>
              <a:t>            Réponse :d</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42852"/>
            <a:ext cx="9144000" cy="6715148"/>
          </a:xfrm>
        </p:spPr>
        <p:txBody>
          <a:bodyPr>
            <a:normAutofit/>
          </a:bodyPr>
          <a:lstStyle/>
          <a:p>
            <a:pPr>
              <a:buNone/>
            </a:pPr>
            <a:r>
              <a:rPr lang="fr-FR" b="1" dirty="0" smtClean="0"/>
              <a:t>Laquelle (lesquelles) de ces affirmations est (sont) juste (s) ? </a:t>
            </a:r>
            <a:r>
              <a:rPr lang="fr-FR" b="1" i="1" dirty="0" err="1" smtClean="0"/>
              <a:t>Haemophilus</a:t>
            </a:r>
            <a:r>
              <a:rPr lang="fr-FR" b="1" i="1" dirty="0" smtClean="0"/>
              <a:t> influenza</a:t>
            </a:r>
            <a:endParaRPr lang="fr-FR" dirty="0" smtClean="0"/>
          </a:p>
          <a:p>
            <a:pPr>
              <a:buNone/>
            </a:pPr>
            <a:r>
              <a:rPr lang="fr-FR" dirty="0" smtClean="0"/>
              <a:t>a) est responsable de méningite chez l’enfant</a:t>
            </a:r>
          </a:p>
          <a:p>
            <a:pPr>
              <a:buNone/>
            </a:pPr>
            <a:r>
              <a:rPr lang="fr-FR" dirty="0" smtClean="0"/>
              <a:t>b) est une bactérie non capsulée</a:t>
            </a:r>
          </a:p>
          <a:p>
            <a:pPr>
              <a:buNone/>
            </a:pPr>
            <a:r>
              <a:rPr lang="fr-FR" dirty="0" smtClean="0"/>
              <a:t>c) est un coccobacille Gram négatif</a:t>
            </a:r>
          </a:p>
          <a:p>
            <a:pPr>
              <a:buNone/>
            </a:pPr>
            <a:r>
              <a:rPr lang="fr-FR" dirty="0" smtClean="0"/>
              <a:t>d) est une bactérie exigeante</a:t>
            </a:r>
          </a:p>
          <a:p>
            <a:pPr>
              <a:buNone/>
            </a:pPr>
            <a:r>
              <a:rPr lang="fr-FR" dirty="0" smtClean="0"/>
              <a:t>e) n’est pas une bactérie commensale </a:t>
            </a:r>
            <a:r>
              <a:rPr lang="fr-FR" dirty="0" err="1" smtClean="0"/>
              <a:t>oropharyngée</a:t>
            </a:r>
            <a:r>
              <a:rPr lang="fr-FR" dirty="0" smtClean="0"/>
              <a:t> </a:t>
            </a:r>
          </a:p>
          <a:p>
            <a:pPr>
              <a:buNone/>
            </a:pPr>
            <a:r>
              <a:rPr lang="fr-FR" dirty="0" smtClean="0"/>
              <a:t> </a:t>
            </a:r>
            <a:r>
              <a:rPr lang="fr-FR" dirty="0" smtClean="0">
                <a:solidFill>
                  <a:srgbClr val="FF0000"/>
                </a:solidFill>
              </a:rPr>
              <a:t>Réponse :a c d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643710"/>
          </a:xfrm>
        </p:spPr>
        <p:txBody>
          <a:bodyPr/>
          <a:lstStyle/>
          <a:p>
            <a:pPr>
              <a:buNone/>
            </a:pPr>
            <a:r>
              <a:rPr lang="fr-FR" b="1" dirty="0" smtClean="0"/>
              <a:t> Parmi les propositions suivantes, laquelle s'applique à </a:t>
            </a:r>
            <a:r>
              <a:rPr lang="fr-FR" b="1" i="1" dirty="0" err="1" smtClean="0"/>
              <a:t>Pseudomonas</a:t>
            </a:r>
            <a:r>
              <a:rPr lang="fr-FR" b="1" i="1" dirty="0" smtClean="0"/>
              <a:t> </a:t>
            </a:r>
            <a:r>
              <a:rPr lang="fr-FR" b="1" i="1" dirty="0" err="1" smtClean="0"/>
              <a:t>aeruginosa</a:t>
            </a:r>
            <a:r>
              <a:rPr lang="fr-FR" b="1" dirty="0" smtClean="0"/>
              <a:t> ?</a:t>
            </a:r>
            <a:endParaRPr lang="fr-FR" dirty="0" smtClean="0"/>
          </a:p>
          <a:p>
            <a:pPr>
              <a:buNone/>
            </a:pPr>
            <a:r>
              <a:rPr lang="fr-FR" dirty="0" smtClean="0"/>
              <a:t>a. C'est une entérobactérie</a:t>
            </a:r>
          </a:p>
          <a:p>
            <a:pPr>
              <a:buNone/>
            </a:pPr>
            <a:r>
              <a:rPr lang="fr-FR" dirty="0" smtClean="0"/>
              <a:t>b. C'est une bactérie </a:t>
            </a:r>
            <a:r>
              <a:rPr lang="fr-FR" dirty="0" err="1" smtClean="0"/>
              <a:t>aéro</a:t>
            </a:r>
            <a:r>
              <a:rPr lang="fr-FR" dirty="0" smtClean="0"/>
              <a:t>-anaérobie facultative</a:t>
            </a:r>
          </a:p>
          <a:p>
            <a:pPr>
              <a:buNone/>
            </a:pPr>
            <a:r>
              <a:rPr lang="fr-FR" dirty="0" smtClean="0"/>
              <a:t>c. C'est une bactérie sensible aux </a:t>
            </a:r>
            <a:r>
              <a:rPr lang="fr-FR" dirty="0" err="1" smtClean="0"/>
              <a:t>aminopénicillines</a:t>
            </a:r>
            <a:r>
              <a:rPr lang="fr-FR" dirty="0" smtClean="0"/>
              <a:t> </a:t>
            </a:r>
          </a:p>
          <a:p>
            <a:pPr>
              <a:buNone/>
            </a:pPr>
            <a:r>
              <a:rPr lang="fr-FR" dirty="0" smtClean="0"/>
              <a:t>d. C'est une bactérie qui fait partie de la flore commensale du sujet sain</a:t>
            </a:r>
          </a:p>
          <a:p>
            <a:pPr>
              <a:buNone/>
            </a:pPr>
            <a:r>
              <a:rPr lang="fr-FR" dirty="0" smtClean="0"/>
              <a:t>e. C'est un agent d'infections nosocomiales</a:t>
            </a:r>
          </a:p>
          <a:p>
            <a:pPr>
              <a:buNone/>
            </a:pPr>
            <a:endParaRPr lang="fr-FR" dirty="0" smtClean="0"/>
          </a:p>
          <a:p>
            <a:pPr>
              <a:buNone/>
            </a:pPr>
            <a:r>
              <a:rPr lang="fr-FR" dirty="0" smtClean="0">
                <a:solidFill>
                  <a:srgbClr val="FF0000"/>
                </a:solidFill>
              </a:rPr>
              <a:t> Réponse : e</a:t>
            </a:r>
          </a:p>
          <a:p>
            <a:pPr>
              <a:buNone/>
            </a:pP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buNone/>
            </a:pPr>
            <a:r>
              <a:rPr lang="fr-FR" b="1" dirty="0" smtClean="0"/>
              <a:t>Certaines des propositions suivantes s’appliquent aux infections à mycobactéries ; lesquelles ?</a:t>
            </a:r>
            <a:endParaRPr lang="fr-FR" dirty="0" smtClean="0"/>
          </a:p>
          <a:p>
            <a:pPr>
              <a:buNone/>
            </a:pPr>
            <a:r>
              <a:rPr lang="fr-FR" dirty="0" smtClean="0"/>
              <a:t>a. L’agent infectant peut être visualisé par coloration à l’</a:t>
            </a:r>
            <a:r>
              <a:rPr lang="fr-FR" dirty="0" err="1" smtClean="0"/>
              <a:t>auramine</a:t>
            </a:r>
            <a:r>
              <a:rPr lang="fr-FR" dirty="0" smtClean="0"/>
              <a:t> </a:t>
            </a:r>
          </a:p>
          <a:p>
            <a:pPr>
              <a:buNone/>
            </a:pPr>
            <a:r>
              <a:rPr lang="fr-FR" dirty="0" smtClean="0"/>
              <a:t>b. L’isolement de la bactérie nécessite moins de 5 jours d’incubation des milieux de cultures adéquats</a:t>
            </a:r>
          </a:p>
          <a:p>
            <a:pPr>
              <a:buNone/>
            </a:pPr>
            <a:r>
              <a:rPr lang="fr-FR" dirty="0" smtClean="0"/>
              <a:t>c. Il peut s’agir d’infections </a:t>
            </a:r>
            <a:r>
              <a:rPr lang="fr-FR" dirty="0" err="1" smtClean="0"/>
              <a:t>ostéo</a:t>
            </a:r>
            <a:r>
              <a:rPr lang="fr-FR" dirty="0" smtClean="0"/>
              <a:t>-articulaires</a:t>
            </a:r>
          </a:p>
          <a:p>
            <a:pPr>
              <a:buNone/>
            </a:pPr>
            <a:r>
              <a:rPr lang="fr-FR" dirty="0" smtClean="0"/>
              <a:t>d. Le BCG est préparé à partir de </a:t>
            </a:r>
            <a:r>
              <a:rPr lang="fr-FR" i="1" dirty="0" err="1" smtClean="0"/>
              <a:t>Mycobacterium</a:t>
            </a:r>
            <a:r>
              <a:rPr lang="fr-FR" i="1" dirty="0" smtClean="0"/>
              <a:t> </a:t>
            </a:r>
            <a:r>
              <a:rPr lang="fr-FR" i="1" dirty="0" err="1" smtClean="0"/>
              <a:t>tuberculosis</a:t>
            </a:r>
            <a:r>
              <a:rPr lang="fr-FR" i="1" dirty="0" smtClean="0"/>
              <a:t> </a:t>
            </a:r>
            <a:endParaRPr lang="fr-FR" dirty="0" smtClean="0"/>
          </a:p>
          <a:p>
            <a:pPr>
              <a:buNone/>
            </a:pPr>
            <a:r>
              <a:rPr lang="fr-FR" dirty="0" smtClean="0"/>
              <a:t>e. Leur traitement fait parfois appel à l’association de quatre antibiotiques</a:t>
            </a:r>
          </a:p>
          <a:p>
            <a:pPr>
              <a:buNone/>
            </a:pPr>
            <a:r>
              <a:rPr lang="fr-FR" dirty="0" smtClean="0">
                <a:solidFill>
                  <a:srgbClr val="FF0000"/>
                </a:solidFill>
              </a:rPr>
              <a:t>Réponse :a c e</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a:buNone/>
            </a:pPr>
            <a:r>
              <a:rPr lang="fr-FR" b="1" dirty="0" smtClean="0"/>
              <a:t>Lequel des caractères suivants permet à certaines bactéries pathogènes pour l'homme de survivre dans un environnement hostile ?</a:t>
            </a:r>
            <a:endParaRPr lang="fr-FR" dirty="0" smtClean="0"/>
          </a:p>
          <a:p>
            <a:pPr>
              <a:buNone/>
            </a:pPr>
            <a:r>
              <a:rPr lang="fr-FR" dirty="0" smtClean="0"/>
              <a:t>a. épaisseur du peptidoglycane</a:t>
            </a:r>
          </a:p>
          <a:p>
            <a:pPr>
              <a:buNone/>
            </a:pPr>
            <a:r>
              <a:rPr lang="fr-FR" dirty="0" smtClean="0"/>
              <a:t>b. caractère </a:t>
            </a:r>
            <a:r>
              <a:rPr lang="fr-FR" dirty="0" err="1" smtClean="0"/>
              <a:t>acido</a:t>
            </a:r>
            <a:r>
              <a:rPr lang="fr-FR" dirty="0" smtClean="0"/>
              <a:t>-alcoolo-résistant</a:t>
            </a:r>
          </a:p>
          <a:p>
            <a:pPr>
              <a:buNone/>
            </a:pPr>
            <a:r>
              <a:rPr lang="fr-FR" dirty="0" smtClean="0"/>
              <a:t>c. caractère sporulé</a:t>
            </a:r>
          </a:p>
          <a:p>
            <a:pPr>
              <a:buNone/>
            </a:pPr>
            <a:r>
              <a:rPr lang="fr-FR" dirty="0" smtClean="0"/>
              <a:t>d. caractère anaérobie strict</a:t>
            </a:r>
          </a:p>
          <a:p>
            <a:pPr>
              <a:buNone/>
            </a:pPr>
            <a:r>
              <a:rPr lang="fr-FR" dirty="0" smtClean="0"/>
              <a:t>e. réticulation de la membrane externe</a:t>
            </a:r>
          </a:p>
          <a:p>
            <a:pPr>
              <a:buNone/>
            </a:pPr>
            <a:endParaRPr lang="fr-FR" dirty="0" smtClean="0"/>
          </a:p>
          <a:p>
            <a:pPr>
              <a:buNone/>
            </a:pPr>
            <a:r>
              <a:rPr lang="fr-FR" dirty="0" smtClean="0">
                <a:solidFill>
                  <a:srgbClr val="FF0000"/>
                </a:solidFill>
              </a:rPr>
              <a:t>Réponse : c</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715148"/>
          </a:xfrm>
        </p:spPr>
        <p:txBody>
          <a:bodyPr>
            <a:normAutofit/>
          </a:bodyPr>
          <a:lstStyle/>
          <a:p>
            <a:pPr>
              <a:buNone/>
            </a:pPr>
            <a:r>
              <a:rPr lang="fr-FR" b="1" dirty="0" smtClean="0"/>
              <a:t>Parmi les bactéries suivantes, lesquelles sont fréquemment impliquées dans une infection nosocomiale ?</a:t>
            </a:r>
            <a:endParaRPr lang="fr-FR" dirty="0" smtClean="0"/>
          </a:p>
          <a:p>
            <a:pPr>
              <a:buNone/>
            </a:pPr>
            <a:r>
              <a:rPr lang="fr-FR" dirty="0" smtClean="0"/>
              <a:t>a.  bacille pyocyanique</a:t>
            </a:r>
          </a:p>
          <a:p>
            <a:pPr>
              <a:buNone/>
            </a:pPr>
            <a:r>
              <a:rPr lang="fr-FR" dirty="0" smtClean="0"/>
              <a:t>b. </a:t>
            </a:r>
            <a:r>
              <a:rPr lang="fr-FR" i="1" dirty="0" err="1" smtClean="0"/>
              <a:t>E.coli</a:t>
            </a:r>
            <a:r>
              <a:rPr lang="fr-FR" i="1" dirty="0" smtClean="0"/>
              <a:t> </a:t>
            </a:r>
            <a:endParaRPr lang="fr-FR" dirty="0" smtClean="0"/>
          </a:p>
          <a:p>
            <a:pPr>
              <a:buNone/>
            </a:pPr>
            <a:r>
              <a:rPr lang="fr-FR" dirty="0" smtClean="0"/>
              <a:t>c.  </a:t>
            </a:r>
            <a:r>
              <a:rPr lang="fr-FR" i="1" dirty="0" err="1" smtClean="0"/>
              <a:t>Staphylococcus</a:t>
            </a:r>
            <a:r>
              <a:rPr lang="fr-FR" i="1" dirty="0" smtClean="0"/>
              <a:t> aureus</a:t>
            </a:r>
            <a:endParaRPr lang="fr-FR" dirty="0" smtClean="0"/>
          </a:p>
          <a:p>
            <a:pPr>
              <a:buNone/>
            </a:pPr>
            <a:r>
              <a:rPr lang="fr-FR" dirty="0" smtClean="0"/>
              <a:t>d. </a:t>
            </a:r>
            <a:r>
              <a:rPr lang="fr-FR" i="1" dirty="0" smtClean="0"/>
              <a:t>Salmonella </a:t>
            </a:r>
            <a:r>
              <a:rPr lang="fr-FR" i="1" dirty="0" err="1" smtClean="0"/>
              <a:t>typhi</a:t>
            </a:r>
            <a:r>
              <a:rPr lang="fr-FR" i="1" dirty="0" smtClean="0"/>
              <a:t> </a:t>
            </a:r>
            <a:endParaRPr lang="fr-FR" dirty="0" smtClean="0"/>
          </a:p>
          <a:p>
            <a:pPr>
              <a:buNone/>
            </a:pPr>
            <a:r>
              <a:rPr lang="fr-FR" dirty="0" smtClean="0"/>
              <a:t>e. </a:t>
            </a:r>
            <a:r>
              <a:rPr lang="fr-FR" i="1" dirty="0" err="1" smtClean="0"/>
              <a:t>Treponema</a:t>
            </a:r>
            <a:r>
              <a:rPr lang="fr-FR" i="1" dirty="0" smtClean="0"/>
              <a:t> pallidum</a:t>
            </a:r>
          </a:p>
          <a:p>
            <a:pPr>
              <a:buNone/>
            </a:pPr>
            <a:endParaRPr lang="fr-FR" i="1" dirty="0" smtClean="0"/>
          </a:p>
          <a:p>
            <a:pPr>
              <a:buNone/>
            </a:pPr>
            <a:r>
              <a:rPr lang="fr-FR" dirty="0" smtClean="0"/>
              <a:t> </a:t>
            </a:r>
            <a:r>
              <a:rPr lang="fr-FR" dirty="0" smtClean="0">
                <a:solidFill>
                  <a:srgbClr val="FF0000"/>
                </a:solidFill>
              </a:rPr>
              <a:t>Réponse :a b c</a:t>
            </a:r>
          </a:p>
          <a:p>
            <a:pPr>
              <a:buNone/>
            </a:pPr>
            <a:endParaRPr lang="fr-FR" dirty="0" smtClean="0"/>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20000"/>
          </a:bodyPr>
          <a:lstStyle/>
          <a:p>
            <a:r>
              <a:rPr lang="fr-FR" b="1" dirty="0" smtClean="0"/>
              <a:t>Le vaccin BCG correspond à :</a:t>
            </a:r>
            <a:endParaRPr lang="fr-FR" dirty="0" smtClean="0"/>
          </a:p>
          <a:p>
            <a:r>
              <a:rPr lang="fr-FR" dirty="0" smtClean="0"/>
              <a:t>A - Une souche de </a:t>
            </a:r>
            <a:r>
              <a:rPr lang="fr-FR" i="1" dirty="0" err="1" smtClean="0"/>
              <a:t>Mycobacterium</a:t>
            </a:r>
            <a:r>
              <a:rPr lang="fr-FR" i="1" dirty="0" smtClean="0"/>
              <a:t> </a:t>
            </a:r>
            <a:r>
              <a:rPr lang="fr-FR" i="1" dirty="0" err="1" smtClean="0"/>
              <a:t>tuberculosis</a:t>
            </a:r>
            <a:r>
              <a:rPr lang="fr-FR" i="1" dirty="0" smtClean="0"/>
              <a:t> </a:t>
            </a:r>
            <a:r>
              <a:rPr lang="fr-FR" dirty="0" err="1" smtClean="0"/>
              <a:t>hominis</a:t>
            </a:r>
            <a:r>
              <a:rPr lang="fr-FR" dirty="0" smtClean="0"/>
              <a:t> atténuée</a:t>
            </a:r>
          </a:p>
          <a:p>
            <a:r>
              <a:rPr lang="fr-FR" dirty="0" smtClean="0"/>
              <a:t>B - Des extraits de bacilles tuberculeux chauffés</a:t>
            </a:r>
          </a:p>
          <a:p>
            <a:r>
              <a:rPr lang="fr-FR" dirty="0" smtClean="0"/>
              <a:t>C - Une souche tuée de </a:t>
            </a:r>
            <a:r>
              <a:rPr lang="fr-FR" i="1" dirty="0" err="1" smtClean="0"/>
              <a:t>Mycobacterium</a:t>
            </a:r>
            <a:r>
              <a:rPr lang="fr-FR" i="1" dirty="0" smtClean="0"/>
              <a:t> </a:t>
            </a:r>
            <a:r>
              <a:rPr lang="fr-FR" i="1" dirty="0" err="1" smtClean="0"/>
              <a:t>bovis</a:t>
            </a:r>
            <a:endParaRPr lang="fr-FR" i="1" dirty="0" smtClean="0"/>
          </a:p>
          <a:p>
            <a:r>
              <a:rPr lang="fr-FR" dirty="0" smtClean="0"/>
              <a:t>D - Une souche de </a:t>
            </a:r>
            <a:r>
              <a:rPr lang="fr-FR" i="1" dirty="0" err="1" smtClean="0"/>
              <a:t>Mycobacterium</a:t>
            </a:r>
            <a:r>
              <a:rPr lang="fr-FR" i="1" dirty="0" smtClean="0"/>
              <a:t> </a:t>
            </a:r>
            <a:r>
              <a:rPr lang="fr-FR" i="1" dirty="0" err="1" smtClean="0"/>
              <a:t>bovis</a:t>
            </a:r>
            <a:r>
              <a:rPr lang="fr-FR" i="1" dirty="0" smtClean="0"/>
              <a:t> </a:t>
            </a:r>
            <a:r>
              <a:rPr lang="fr-FR" dirty="0" smtClean="0"/>
              <a:t>vivante mais atténuée</a:t>
            </a:r>
          </a:p>
          <a:p>
            <a:r>
              <a:rPr lang="fr-FR" dirty="0" smtClean="0"/>
              <a:t>E - Un mélange de </a:t>
            </a:r>
            <a:r>
              <a:rPr lang="fr-FR" i="1" dirty="0" err="1" smtClean="0"/>
              <a:t>Mycobacterium</a:t>
            </a:r>
            <a:r>
              <a:rPr lang="fr-FR" i="1" dirty="0" smtClean="0"/>
              <a:t> </a:t>
            </a:r>
            <a:r>
              <a:rPr lang="fr-FR" i="1" dirty="0" err="1" smtClean="0"/>
              <a:t>bovis</a:t>
            </a:r>
            <a:r>
              <a:rPr lang="fr-FR" i="1" dirty="0" smtClean="0"/>
              <a:t> </a:t>
            </a:r>
            <a:r>
              <a:rPr lang="fr-FR" dirty="0" smtClean="0"/>
              <a:t>et de </a:t>
            </a:r>
            <a:r>
              <a:rPr lang="fr-FR" i="1" dirty="0" err="1" smtClean="0"/>
              <a:t>Mycobacterium</a:t>
            </a:r>
            <a:r>
              <a:rPr lang="fr-FR" i="1" dirty="0" smtClean="0"/>
              <a:t> </a:t>
            </a:r>
            <a:r>
              <a:rPr lang="fr-FR" i="1" dirty="0" err="1" smtClean="0"/>
              <a:t>tuberculosis</a:t>
            </a:r>
            <a:endParaRPr lang="fr-FR" i="1" dirty="0" smtClean="0"/>
          </a:p>
          <a:p>
            <a:pPr>
              <a:buNone/>
            </a:pPr>
            <a:r>
              <a:rPr lang="fr-FR" b="1" dirty="0" smtClean="0">
                <a:solidFill>
                  <a:srgbClr val="FF0000"/>
                </a:solidFill>
              </a:rPr>
              <a:t>Bonne(s) réponse(s) : D</a:t>
            </a:r>
            <a:endParaRPr lang="fr-FR" dirty="0" smtClean="0">
              <a:solidFill>
                <a:srgbClr val="FF0000"/>
              </a:solidFill>
            </a:endParaRPr>
          </a:p>
          <a:p>
            <a:endParaRPr lang="fr-FR"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7500" lnSpcReduction="20000"/>
          </a:bodyPr>
          <a:lstStyle/>
          <a:p>
            <a:r>
              <a:rPr lang="fr-FR" b="1" dirty="0" smtClean="0"/>
              <a:t>Parmi les cinq propositions suivantes, une seule est exacte. </a:t>
            </a:r>
            <a:r>
              <a:rPr lang="en-US" b="1" dirty="0" err="1" smtClean="0"/>
              <a:t>Laquelle</a:t>
            </a:r>
            <a:r>
              <a:rPr lang="en-US" b="1" dirty="0" smtClean="0"/>
              <a:t> ?</a:t>
            </a:r>
            <a:endParaRPr lang="fr-FR" dirty="0" smtClean="0"/>
          </a:p>
          <a:p>
            <a:pPr lvl="0"/>
            <a:r>
              <a:rPr lang="fr-FR" dirty="0" smtClean="0"/>
              <a:t>A- Par vieillissement la toxine tétanique se transforme en anatoxine</a:t>
            </a:r>
          </a:p>
          <a:p>
            <a:pPr lvl="0"/>
            <a:r>
              <a:rPr lang="fr-FR" dirty="0" smtClean="0"/>
              <a:t>B- L'action de la chaleur sur la toxine tétanique permet d'obtenir l'anatoxine</a:t>
            </a:r>
          </a:p>
          <a:p>
            <a:pPr lvl="0"/>
            <a:r>
              <a:rPr lang="fr-FR" dirty="0" smtClean="0"/>
              <a:t>C- L'injection d'anatoxine est suivie d'une immunité passive</a:t>
            </a:r>
          </a:p>
          <a:p>
            <a:pPr lvl="0"/>
            <a:r>
              <a:rPr lang="fr-FR" dirty="0" smtClean="0"/>
              <a:t>D- Le traitement de la toxine tétanique par le formol et la chaleur permet d'obtenir une anatoxine</a:t>
            </a:r>
          </a:p>
          <a:p>
            <a:pPr lvl="0"/>
            <a:r>
              <a:rPr lang="fr-FR" dirty="0" smtClean="0"/>
              <a:t>E- L'injection d'anatoxine tétanique confère également une immunité contre les autres infections à bactéries anaérobies strictes d'origine tellurique</a:t>
            </a:r>
          </a:p>
          <a:p>
            <a:pPr>
              <a:buNone/>
            </a:pPr>
            <a:r>
              <a:rPr lang="fr-FR" b="1" smtClean="0">
                <a:solidFill>
                  <a:srgbClr val="FF0000"/>
                </a:solidFill>
              </a:rPr>
              <a:t>Réponse : D</a:t>
            </a:r>
            <a:endParaRPr lang="fr-FR" dirty="0" smtClean="0">
              <a:solidFill>
                <a:srgbClr val="FF0000"/>
              </a:solidFill>
            </a:endParaRP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a:bodyPr>
          <a:lstStyle/>
          <a:p>
            <a:pPr lvl="0"/>
            <a:r>
              <a:rPr lang="fr-FR" b="1" dirty="0" smtClean="0"/>
              <a:t>A quelle(s) étape(s) de la réplication virale peuvent intervenir les anticorps neutralisants ?</a:t>
            </a:r>
            <a:endParaRPr lang="fr-FR" dirty="0" smtClean="0"/>
          </a:p>
          <a:p>
            <a:r>
              <a:rPr lang="fr-FR" dirty="0" smtClean="0"/>
              <a:t>A - L'attachement du virus</a:t>
            </a:r>
          </a:p>
          <a:p>
            <a:r>
              <a:rPr lang="fr-FR" dirty="0" smtClean="0"/>
              <a:t>B - La réplication du génome</a:t>
            </a:r>
          </a:p>
          <a:p>
            <a:r>
              <a:rPr lang="fr-FR" dirty="0" smtClean="0"/>
              <a:t>C - La production des messagers viraux</a:t>
            </a:r>
          </a:p>
          <a:p>
            <a:r>
              <a:rPr lang="fr-FR" dirty="0" smtClean="0"/>
              <a:t>D - La synthèse des enzymes </a:t>
            </a:r>
            <a:r>
              <a:rPr lang="fr-FR" dirty="0" err="1" smtClean="0"/>
              <a:t>viro</a:t>
            </a:r>
            <a:r>
              <a:rPr lang="fr-FR" dirty="0" smtClean="0"/>
              <a:t>-induites</a:t>
            </a:r>
          </a:p>
          <a:p>
            <a:r>
              <a:rPr lang="fr-FR" dirty="0" smtClean="0"/>
              <a:t>E - L'assemblage</a:t>
            </a:r>
          </a:p>
          <a:p>
            <a:pPr>
              <a:buNone/>
            </a:pPr>
            <a:r>
              <a:rPr lang="fr-FR" b="1" dirty="0" smtClean="0">
                <a:solidFill>
                  <a:srgbClr val="FF0000"/>
                </a:solidFill>
              </a:rPr>
              <a:t>Bonne(s) réponse(s) : A</a:t>
            </a:r>
            <a:endParaRPr lang="fr-FR" dirty="0" smtClean="0">
              <a:solidFill>
                <a:srgbClr val="FF0000"/>
              </a:solidFill>
            </a:endParaRP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lnSpcReduction="20000"/>
          </a:bodyPr>
          <a:lstStyle/>
          <a:p>
            <a:pPr lvl="0"/>
            <a:r>
              <a:rPr lang="en-US" b="1" dirty="0" smtClean="0"/>
              <a:t>Le </a:t>
            </a:r>
            <a:r>
              <a:rPr lang="en-US" b="1" dirty="0" err="1" smtClean="0"/>
              <a:t>lysosyme</a:t>
            </a:r>
            <a:r>
              <a:rPr lang="en-US" b="1" dirty="0" smtClean="0"/>
              <a:t> </a:t>
            </a:r>
            <a:r>
              <a:rPr lang="en-US" b="1" dirty="0" err="1" smtClean="0"/>
              <a:t>est</a:t>
            </a:r>
            <a:r>
              <a:rPr lang="en-US" b="1" dirty="0" smtClean="0"/>
              <a:t> :</a:t>
            </a:r>
          </a:p>
          <a:p>
            <a:pPr lvl="0"/>
            <a:endParaRPr lang="fr-FR" dirty="0" smtClean="0"/>
          </a:p>
          <a:p>
            <a:pPr lvl="0"/>
            <a:r>
              <a:rPr lang="en-US" dirty="0" smtClean="0"/>
              <a:t>A- </a:t>
            </a:r>
            <a:r>
              <a:rPr lang="en-US" dirty="0" err="1" smtClean="0"/>
              <a:t>Une</a:t>
            </a:r>
            <a:r>
              <a:rPr lang="en-US" dirty="0" smtClean="0"/>
              <a:t> </a:t>
            </a:r>
            <a:r>
              <a:rPr lang="en-US" dirty="0" err="1" smtClean="0"/>
              <a:t>endotoxine</a:t>
            </a:r>
            <a:r>
              <a:rPr lang="en-US" dirty="0" smtClean="0"/>
              <a:t> </a:t>
            </a:r>
            <a:r>
              <a:rPr lang="en-US" dirty="0" err="1" smtClean="0"/>
              <a:t>bactérienne</a:t>
            </a:r>
            <a:endParaRPr lang="fr-FR" dirty="0" smtClean="0"/>
          </a:p>
          <a:p>
            <a:pPr lvl="0"/>
            <a:r>
              <a:rPr lang="en-US" dirty="0" smtClean="0"/>
              <a:t>B- Un </a:t>
            </a:r>
            <a:r>
              <a:rPr lang="en-US" dirty="0" err="1" smtClean="0"/>
              <a:t>médiateur</a:t>
            </a:r>
            <a:r>
              <a:rPr lang="en-US" dirty="0" smtClean="0"/>
              <a:t> de </a:t>
            </a:r>
            <a:r>
              <a:rPr lang="en-US" dirty="0" err="1" smtClean="0"/>
              <a:t>l'hypersensibilité</a:t>
            </a:r>
            <a:r>
              <a:rPr lang="en-US" dirty="0" smtClean="0"/>
              <a:t> </a:t>
            </a:r>
            <a:r>
              <a:rPr lang="en-US" dirty="0" err="1" smtClean="0"/>
              <a:t>immédiate</a:t>
            </a:r>
            <a:endParaRPr lang="fr-FR" dirty="0" smtClean="0"/>
          </a:p>
          <a:p>
            <a:pPr lvl="0"/>
            <a:r>
              <a:rPr lang="fr-FR" dirty="0" smtClean="0"/>
              <a:t>C- Une enzyme antibactérienne des larmes et de la salive</a:t>
            </a:r>
          </a:p>
          <a:p>
            <a:pPr lvl="0"/>
            <a:r>
              <a:rPr lang="fr-FR" dirty="0" smtClean="0"/>
              <a:t>D- Une organelle </a:t>
            </a:r>
            <a:r>
              <a:rPr lang="fr-FR" dirty="0" err="1" smtClean="0"/>
              <a:t>intracytoplasmique</a:t>
            </a:r>
            <a:r>
              <a:rPr lang="fr-FR" dirty="0" smtClean="0"/>
              <a:t> riche en enzymes lytiques</a:t>
            </a:r>
          </a:p>
          <a:p>
            <a:pPr lvl="0"/>
            <a:r>
              <a:rPr lang="en-US" dirty="0" smtClean="0"/>
              <a:t>E- </a:t>
            </a:r>
            <a:r>
              <a:rPr lang="en-US" dirty="0" err="1" smtClean="0"/>
              <a:t>Une</a:t>
            </a:r>
            <a:r>
              <a:rPr lang="en-US" dirty="0" smtClean="0"/>
              <a:t> </a:t>
            </a:r>
            <a:r>
              <a:rPr lang="en-US" dirty="0" err="1" smtClean="0"/>
              <a:t>lymphokine</a:t>
            </a:r>
            <a:endParaRPr lang="fr-FR" dirty="0" smtClean="0"/>
          </a:p>
          <a:p>
            <a:pPr>
              <a:buNone/>
            </a:pPr>
            <a:r>
              <a:rPr lang="fr-FR" dirty="0" err="1" smtClean="0">
                <a:solidFill>
                  <a:srgbClr val="FF0000"/>
                </a:solidFill>
              </a:rPr>
              <a:t>Rép</a:t>
            </a:r>
            <a:r>
              <a:rPr lang="fr-FR" dirty="0" smtClean="0">
                <a:solidFill>
                  <a:srgbClr val="FF0000"/>
                </a:solidFill>
              </a:rPr>
              <a:t>. C</a:t>
            </a:r>
            <a:endParaRPr lang="fr-FR"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85728"/>
            <a:ext cx="8686800" cy="5840435"/>
          </a:xfrm>
        </p:spPr>
        <p:txBody>
          <a:bodyPr>
            <a:normAutofit/>
          </a:bodyPr>
          <a:lstStyle/>
          <a:p>
            <a:r>
              <a:rPr lang="fr-FR" b="1" dirty="0" smtClean="0"/>
              <a:t>Dans la lutte contre la COVID19, les mesures barrières et la vaccination prétendent à :</a:t>
            </a:r>
          </a:p>
          <a:p>
            <a:pPr>
              <a:buNone/>
            </a:pPr>
            <a:r>
              <a:rPr lang="fr-FR" dirty="0" smtClean="0"/>
              <a:t>A. l’élimination de la COVID19</a:t>
            </a:r>
          </a:p>
          <a:p>
            <a:pPr>
              <a:buNone/>
            </a:pPr>
            <a:r>
              <a:rPr lang="fr-FR" dirty="0" smtClean="0"/>
              <a:t>B. L’éradication de la COVID19</a:t>
            </a:r>
          </a:p>
          <a:p>
            <a:pPr>
              <a:buNone/>
            </a:pPr>
            <a:r>
              <a:rPr lang="fr-FR" dirty="0" smtClean="0"/>
              <a:t>C. L’endiguement de la COVID19</a:t>
            </a:r>
          </a:p>
          <a:p>
            <a:pPr>
              <a:buNone/>
            </a:pPr>
            <a:r>
              <a:rPr lang="fr-FR" dirty="0" smtClean="0"/>
              <a:t>D. Une évolution prévisible</a:t>
            </a:r>
          </a:p>
          <a:p>
            <a:pPr>
              <a:buNone/>
            </a:pPr>
            <a:r>
              <a:rPr lang="fr-FR" dirty="0" smtClean="0"/>
              <a:t>E. Une variation multi annuelle cyclique</a:t>
            </a:r>
          </a:p>
          <a:p>
            <a:pPr>
              <a:buNone/>
            </a:pPr>
            <a:endParaRPr lang="fr-FR" dirty="0" smtClean="0"/>
          </a:p>
          <a:p>
            <a:pPr>
              <a:buNone/>
            </a:pPr>
            <a:r>
              <a:rPr lang="fr-FR" dirty="0" smtClean="0">
                <a:solidFill>
                  <a:srgbClr val="FF0000"/>
                </a:solidFill>
              </a:rPr>
              <a:t>Réponse : C</a:t>
            </a:r>
            <a:endParaRPr lang="fr-FR"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blinds(horizontal)">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buNone/>
            </a:pPr>
            <a:r>
              <a:rPr lang="fr-FR" sz="2800" b="1" dirty="0" smtClean="0"/>
              <a:t>Parmi ces virus, lesquels sont </a:t>
            </a:r>
            <a:r>
              <a:rPr lang="fr-FR" sz="2800" b="1" dirty="0" err="1" smtClean="0"/>
              <a:t>enveloppés</a:t>
            </a:r>
            <a:r>
              <a:rPr lang="fr-FR" sz="2800" b="1" dirty="0" smtClean="0"/>
              <a:t> ?</a:t>
            </a:r>
          </a:p>
          <a:p>
            <a:pPr>
              <a:buNone/>
            </a:pPr>
            <a:endParaRPr lang="fr-FR" sz="2800" dirty="0" smtClean="0"/>
          </a:p>
          <a:p>
            <a:r>
              <a:rPr lang="fr-FR" sz="2800" dirty="0" smtClean="0"/>
              <a:t>a) VIH	</a:t>
            </a:r>
          </a:p>
          <a:p>
            <a:r>
              <a:rPr lang="fr-FR" sz="2800" dirty="0" smtClean="0"/>
              <a:t>b) </a:t>
            </a:r>
            <a:r>
              <a:rPr lang="fr-FR" sz="2800" dirty="0" err="1" smtClean="0"/>
              <a:t>Hépatite</a:t>
            </a:r>
            <a:r>
              <a:rPr lang="fr-FR" sz="2800" dirty="0" smtClean="0"/>
              <a:t> B</a:t>
            </a:r>
          </a:p>
          <a:p>
            <a:r>
              <a:rPr lang="fr-FR" sz="2800" dirty="0" smtClean="0"/>
              <a:t>c) </a:t>
            </a:r>
            <a:r>
              <a:rPr lang="fr-FR" sz="2800" dirty="0" err="1" smtClean="0"/>
              <a:t>Hépatite</a:t>
            </a:r>
            <a:r>
              <a:rPr lang="fr-FR" sz="2800" dirty="0" smtClean="0"/>
              <a:t> C</a:t>
            </a:r>
          </a:p>
          <a:p>
            <a:r>
              <a:rPr lang="fr-FR" sz="2800" dirty="0" smtClean="0"/>
              <a:t>d) Grippe</a:t>
            </a:r>
          </a:p>
          <a:p>
            <a:r>
              <a:rPr lang="fr-FR" sz="2800" dirty="0" smtClean="0"/>
              <a:t>e) Papillomavirus</a:t>
            </a:r>
          </a:p>
          <a:p>
            <a:pPr>
              <a:buNone/>
            </a:pPr>
            <a:r>
              <a:rPr lang="fr-FR" sz="2800" dirty="0" smtClean="0">
                <a:solidFill>
                  <a:srgbClr val="FF0000"/>
                </a:solidFill>
              </a:rPr>
              <a:t>Réponse multiple :</a:t>
            </a:r>
            <a:r>
              <a:rPr lang="fr-FR" sz="2800" dirty="0" err="1" smtClean="0">
                <a:solidFill>
                  <a:srgbClr val="FF0000"/>
                </a:solidFill>
              </a:rPr>
              <a:t>abcd</a:t>
            </a:r>
            <a:endParaRPr lang="fr-FR" sz="2800" dirty="0" smtClean="0">
              <a:solidFill>
                <a:srgbClr val="FF0000"/>
              </a:solidFill>
            </a:endParaRPr>
          </a:p>
          <a:p>
            <a:endParaRPr lang="fr-F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r>
              <a:rPr lang="fr-FR" sz="2800" b="1" dirty="0" smtClean="0"/>
              <a:t>Parmi les réponses suivantes concernant </a:t>
            </a:r>
            <a:r>
              <a:rPr lang="fr-FR" sz="2800" b="1" i="1" dirty="0" err="1" smtClean="0"/>
              <a:t>Neisseria</a:t>
            </a:r>
            <a:r>
              <a:rPr lang="fr-FR" sz="2800" b="1" i="1" dirty="0" smtClean="0"/>
              <a:t> </a:t>
            </a:r>
            <a:r>
              <a:rPr lang="fr-FR" sz="2800" b="1" i="1" dirty="0" err="1" smtClean="0"/>
              <a:t>meningitidis</a:t>
            </a:r>
            <a:r>
              <a:rPr lang="fr-FR" sz="2800" b="1" dirty="0" smtClean="0"/>
              <a:t>, quelles sont celles qui sont exactes ?</a:t>
            </a:r>
          </a:p>
          <a:p>
            <a:pPr>
              <a:buNone/>
            </a:pPr>
            <a:r>
              <a:rPr lang="fr-FR" sz="2800" b="1" dirty="0" smtClean="0"/>
              <a:t> </a:t>
            </a:r>
          </a:p>
          <a:p>
            <a:r>
              <a:rPr lang="fr-FR" sz="2800" dirty="0" smtClean="0"/>
              <a:t>a) C’est un diplocoque à gram négatif </a:t>
            </a:r>
          </a:p>
          <a:p>
            <a:r>
              <a:rPr lang="fr-FR" sz="2800" dirty="0" smtClean="0"/>
              <a:t>b) Il peut exister à l’état de portage sain </a:t>
            </a:r>
          </a:p>
          <a:p>
            <a:r>
              <a:rPr lang="fr-FR" sz="2800" dirty="0" smtClean="0"/>
              <a:t>c) Il se rencontre chez l’homme et l’animal </a:t>
            </a:r>
          </a:p>
          <a:p>
            <a:r>
              <a:rPr lang="fr-FR" sz="2800" dirty="0" smtClean="0"/>
              <a:t>d) Il est sensible aux variations de température</a:t>
            </a:r>
          </a:p>
          <a:p>
            <a:pPr marL="0" indent="0">
              <a:buNone/>
            </a:pPr>
            <a:r>
              <a:rPr lang="fr-FR" sz="2800" dirty="0" smtClean="0">
                <a:solidFill>
                  <a:srgbClr val="FF0000"/>
                </a:solidFill>
              </a:rPr>
              <a:t>Réponse multiple :</a:t>
            </a:r>
            <a:r>
              <a:rPr lang="fr-FR" sz="2800" dirty="0" err="1" smtClean="0">
                <a:solidFill>
                  <a:srgbClr val="FF0000"/>
                </a:solidFill>
              </a:rPr>
              <a:t>abd</a:t>
            </a:r>
            <a:endParaRPr lang="fr-FR"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r>
              <a:rPr lang="fr-FR" b="1" dirty="0" smtClean="0"/>
              <a:t>Parmi les réponses suivantes concernant les gonocoques, quelle est celle qui est exacte ? </a:t>
            </a:r>
          </a:p>
          <a:p>
            <a:endParaRPr lang="fr-FR" dirty="0" smtClean="0"/>
          </a:p>
          <a:p>
            <a:r>
              <a:rPr lang="fr-FR" dirty="0" smtClean="0"/>
              <a:t>a) Sa culture est facile sur les milieux ordinaires </a:t>
            </a:r>
          </a:p>
          <a:p>
            <a:r>
              <a:rPr lang="fr-FR" dirty="0" smtClean="0"/>
              <a:t>b) Il ne peut pas sécréter une béta-</a:t>
            </a:r>
            <a:r>
              <a:rPr lang="fr-FR" dirty="0" err="1" smtClean="0"/>
              <a:t>lactamase</a:t>
            </a:r>
            <a:r>
              <a:rPr lang="fr-FR" dirty="0" smtClean="0"/>
              <a:t> </a:t>
            </a:r>
          </a:p>
          <a:p>
            <a:r>
              <a:rPr lang="fr-FR" dirty="0" smtClean="0"/>
              <a:t>c) Il est souvent intra leucocytaire à l’examen direct </a:t>
            </a:r>
          </a:p>
          <a:p>
            <a:r>
              <a:rPr lang="fr-FR" dirty="0" smtClean="0"/>
              <a:t>d) Il confère une immunité protectrice</a:t>
            </a:r>
          </a:p>
          <a:p>
            <a:pPr>
              <a:buNone/>
            </a:pPr>
            <a:r>
              <a:rPr lang="fr-FR" dirty="0" smtClean="0">
                <a:solidFill>
                  <a:srgbClr val="FF0000"/>
                </a:solidFill>
              </a:rPr>
              <a:t>Réponse simple : c	</a:t>
            </a:r>
          </a:p>
          <a:p>
            <a:endParaRPr lang="fr-FR"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20000"/>
          </a:bodyPr>
          <a:lstStyle/>
          <a:p>
            <a:pPr>
              <a:buNone/>
            </a:pPr>
            <a:r>
              <a:rPr lang="fr-FR" sz="2800" b="1" dirty="0" smtClean="0"/>
              <a:t>Parmi les réponses suivantes, laquelle (lesquelles) est (sont) juste(s) à propos de </a:t>
            </a:r>
            <a:r>
              <a:rPr lang="fr-FR" sz="2800" b="1" i="1" dirty="0" err="1" smtClean="0"/>
              <a:t>Mycobacterium</a:t>
            </a:r>
            <a:r>
              <a:rPr lang="fr-FR" sz="2800" b="1" i="1" dirty="0" smtClean="0"/>
              <a:t> </a:t>
            </a:r>
            <a:r>
              <a:rPr lang="fr-FR" sz="2800" b="1" i="1" dirty="0" err="1" smtClean="0"/>
              <a:t>tuberculosis</a:t>
            </a:r>
            <a:r>
              <a:rPr lang="fr-FR" sz="2800" b="1" i="1" dirty="0" smtClean="0"/>
              <a:t> </a:t>
            </a:r>
            <a:r>
              <a:rPr lang="fr-FR" sz="2800" b="1" dirty="0" smtClean="0"/>
              <a:t>?</a:t>
            </a:r>
          </a:p>
          <a:p>
            <a:r>
              <a:rPr lang="fr-FR" sz="2800" dirty="0" smtClean="0"/>
              <a:t>a) Ils ne sont pas visibles après coloration de Gram</a:t>
            </a:r>
          </a:p>
          <a:p>
            <a:r>
              <a:rPr lang="fr-FR" sz="2800" dirty="0" smtClean="0"/>
              <a:t>b) Leur épaisse paroi lipidique explique en partie leur résistance aux antibiotiques courants</a:t>
            </a:r>
          </a:p>
          <a:p>
            <a:r>
              <a:rPr lang="fr-FR" sz="2800" dirty="0" smtClean="0"/>
              <a:t>c) L’identification et la détection de gènes de résistance peut se faire par biologie moléculaire</a:t>
            </a:r>
          </a:p>
          <a:p>
            <a:r>
              <a:rPr lang="fr-FR" sz="2800" dirty="0" smtClean="0"/>
              <a:t>d)se cultive aisément sur milieux ordinaires</a:t>
            </a:r>
          </a:p>
          <a:p>
            <a:r>
              <a:rPr lang="fr-FR" sz="2800" dirty="0" smtClean="0"/>
              <a:t>e) L’infection à </a:t>
            </a:r>
            <a:r>
              <a:rPr lang="fr-FR" sz="2800" i="1" dirty="0" smtClean="0"/>
              <a:t>M. </a:t>
            </a:r>
            <a:r>
              <a:rPr lang="fr-FR" sz="2800" i="1" dirty="0" err="1" smtClean="0"/>
              <a:t>tuberculosis</a:t>
            </a:r>
            <a:r>
              <a:rPr lang="fr-FR" sz="2800" i="1" dirty="0" smtClean="0"/>
              <a:t> </a:t>
            </a:r>
            <a:r>
              <a:rPr lang="fr-FR" sz="2800" dirty="0" smtClean="0"/>
              <a:t>fait l’objet d’une déclaration obligatoire</a:t>
            </a:r>
          </a:p>
          <a:p>
            <a:pPr>
              <a:buNone/>
            </a:pPr>
            <a:r>
              <a:rPr lang="fr-FR" sz="2800" dirty="0" smtClean="0">
                <a:solidFill>
                  <a:srgbClr val="FF0000"/>
                </a:solidFill>
              </a:rPr>
              <a:t>Réponse : </a:t>
            </a:r>
            <a:r>
              <a:rPr lang="fr-FR" sz="2800" dirty="0" err="1" smtClean="0">
                <a:solidFill>
                  <a:srgbClr val="FF0000"/>
                </a:solidFill>
              </a:rPr>
              <a:t>abce</a:t>
            </a:r>
            <a:endParaRPr lang="fr-FR" sz="2800" dirty="0" smtClean="0">
              <a:solidFill>
                <a:srgbClr val="FF0000"/>
              </a:solidFill>
            </a:endParaRPr>
          </a:p>
          <a:p>
            <a:endParaRPr lang="fr-F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a:bodyPr>
          <a:lstStyle/>
          <a:p>
            <a:pPr>
              <a:buNone/>
            </a:pPr>
            <a:r>
              <a:rPr lang="fr-FR" b="1" dirty="0" smtClean="0"/>
              <a:t>Quelle(s) bactérie(s) parmi les suivantes font partie du spectre de l’</a:t>
            </a:r>
            <a:r>
              <a:rPr lang="fr-FR" b="1" dirty="0" err="1" smtClean="0"/>
              <a:t>amoxicilline</a:t>
            </a:r>
            <a:r>
              <a:rPr lang="fr-FR" b="1" dirty="0" smtClean="0"/>
              <a:t> ?</a:t>
            </a:r>
          </a:p>
          <a:p>
            <a:r>
              <a:rPr lang="fr-FR" dirty="0" smtClean="0"/>
              <a:t>a) Staphylocoque à </a:t>
            </a:r>
            <a:r>
              <a:rPr lang="fr-FR" dirty="0" err="1" smtClean="0"/>
              <a:t>coagulase</a:t>
            </a:r>
            <a:r>
              <a:rPr lang="fr-FR" dirty="0" smtClean="0"/>
              <a:t> négative</a:t>
            </a:r>
          </a:p>
          <a:p>
            <a:r>
              <a:rPr lang="fr-FR" dirty="0" smtClean="0"/>
              <a:t>b) Méningocoque</a:t>
            </a:r>
          </a:p>
          <a:p>
            <a:r>
              <a:rPr lang="en-US" dirty="0" smtClean="0"/>
              <a:t>c) </a:t>
            </a:r>
            <a:r>
              <a:rPr lang="en-US" i="1" dirty="0" err="1" smtClean="0"/>
              <a:t>Listeria</a:t>
            </a:r>
            <a:r>
              <a:rPr lang="en-US" i="1" dirty="0" smtClean="0"/>
              <a:t> </a:t>
            </a:r>
            <a:r>
              <a:rPr lang="en-US" i="1" dirty="0" err="1" smtClean="0"/>
              <a:t>monocytogenes</a:t>
            </a:r>
            <a:endParaRPr lang="fr-FR" i="1" dirty="0" smtClean="0"/>
          </a:p>
          <a:p>
            <a:r>
              <a:rPr lang="en-US" dirty="0" smtClean="0"/>
              <a:t>d) </a:t>
            </a:r>
            <a:r>
              <a:rPr lang="en-US" i="1" dirty="0" smtClean="0"/>
              <a:t>Streptococcus </a:t>
            </a:r>
            <a:r>
              <a:rPr lang="en-US" i="1" dirty="0" err="1" smtClean="0"/>
              <a:t>pyogenes</a:t>
            </a:r>
            <a:endParaRPr lang="fr-FR" i="1" dirty="0" smtClean="0"/>
          </a:p>
          <a:p>
            <a:r>
              <a:rPr lang="fr-FR" dirty="0" smtClean="0"/>
              <a:t>e) Staphylocoque doré résistant à la </a:t>
            </a:r>
            <a:r>
              <a:rPr lang="fr-FR" dirty="0" err="1" smtClean="0"/>
              <a:t>méticilline</a:t>
            </a:r>
            <a:endParaRPr lang="fr-FR" dirty="0" smtClean="0"/>
          </a:p>
          <a:p>
            <a:pPr>
              <a:buNone/>
            </a:pPr>
            <a:r>
              <a:rPr lang="fr-FR" dirty="0" smtClean="0">
                <a:solidFill>
                  <a:srgbClr val="FF0000"/>
                </a:solidFill>
              </a:rPr>
              <a:t>Réponse : </a:t>
            </a:r>
            <a:r>
              <a:rPr lang="fr-FR" dirty="0" err="1" smtClean="0">
                <a:solidFill>
                  <a:srgbClr val="FF0000"/>
                </a:solidFill>
              </a:rPr>
              <a:t>abcd</a:t>
            </a:r>
            <a:endParaRPr lang="fr-FR" dirty="0" smtClean="0">
              <a:solidFill>
                <a:srgbClr val="FF0000"/>
              </a:solidFill>
            </a:endParaRP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lnSpcReduction="10000"/>
          </a:bodyPr>
          <a:lstStyle/>
          <a:p>
            <a:pPr>
              <a:buNone/>
            </a:pPr>
            <a:r>
              <a:rPr lang="fr-FR" b="1" dirty="0" smtClean="0"/>
              <a:t>Parmi les caractères suivants, lequel n’est pas retrouvé chez </a:t>
            </a:r>
            <a:r>
              <a:rPr lang="fr-FR" b="1" i="1" dirty="0" err="1" smtClean="0"/>
              <a:t>Streptococcus</a:t>
            </a:r>
            <a:r>
              <a:rPr lang="fr-FR" b="1" i="1" dirty="0" smtClean="0"/>
              <a:t> </a:t>
            </a:r>
            <a:r>
              <a:rPr lang="fr-FR" b="1" i="1" dirty="0" err="1" smtClean="0"/>
              <a:t>pneumoniae</a:t>
            </a:r>
            <a:r>
              <a:rPr lang="fr-FR" b="1" dirty="0" smtClean="0"/>
              <a:t> ?</a:t>
            </a:r>
          </a:p>
          <a:p>
            <a:r>
              <a:rPr lang="fr-FR" dirty="0" smtClean="0"/>
              <a:t>a) Présence d’une capsule</a:t>
            </a:r>
          </a:p>
          <a:p>
            <a:r>
              <a:rPr lang="fr-FR" dirty="0" smtClean="0"/>
              <a:t>b) Catalase négative</a:t>
            </a:r>
          </a:p>
          <a:p>
            <a:r>
              <a:rPr lang="fr-FR" dirty="0" smtClean="0"/>
              <a:t>c) Survie en aérobiose et en anaérobiose</a:t>
            </a:r>
          </a:p>
          <a:p>
            <a:r>
              <a:rPr lang="fr-FR" dirty="0" smtClean="0"/>
              <a:t>d) Production de la toxine de </a:t>
            </a:r>
            <a:r>
              <a:rPr lang="fr-FR" dirty="0" err="1" smtClean="0"/>
              <a:t>Panton</a:t>
            </a:r>
            <a:r>
              <a:rPr lang="fr-FR" dirty="0" smtClean="0"/>
              <a:t>-Valentine</a:t>
            </a:r>
          </a:p>
          <a:p>
            <a:r>
              <a:rPr lang="fr-FR" dirty="0" smtClean="0"/>
              <a:t>e) Hémolytique sur gélose au sang</a:t>
            </a:r>
          </a:p>
          <a:p>
            <a:pPr>
              <a:buNone/>
            </a:pPr>
            <a:r>
              <a:rPr lang="fr-FR" dirty="0" smtClean="0">
                <a:solidFill>
                  <a:srgbClr val="FF0000"/>
                </a:solidFill>
              </a:rPr>
              <a:t>Réponse simple :d</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lnSpcReduction="10000"/>
          </a:bodyPr>
          <a:lstStyle/>
          <a:p>
            <a:pPr>
              <a:buNone/>
            </a:pPr>
            <a:r>
              <a:rPr lang="fr-FR" b="1" dirty="0" smtClean="0"/>
              <a:t>Parmi les </a:t>
            </a:r>
            <a:r>
              <a:rPr lang="fr-FR" b="1" dirty="0" err="1" smtClean="0"/>
              <a:t>caractères</a:t>
            </a:r>
            <a:r>
              <a:rPr lang="fr-FR" b="1" dirty="0" smtClean="0"/>
              <a:t> suivants, lesquels sont </a:t>
            </a:r>
            <a:r>
              <a:rPr lang="fr-FR" b="1" dirty="0" err="1" smtClean="0"/>
              <a:t>retrouvés</a:t>
            </a:r>
            <a:r>
              <a:rPr lang="fr-FR" b="1" dirty="0" smtClean="0"/>
              <a:t> chez </a:t>
            </a:r>
            <a:r>
              <a:rPr lang="fr-FR" b="1" i="1" dirty="0" err="1" smtClean="0"/>
              <a:t>Neisseria</a:t>
            </a:r>
            <a:r>
              <a:rPr lang="fr-FR" b="1" i="1" dirty="0" smtClean="0"/>
              <a:t> </a:t>
            </a:r>
            <a:r>
              <a:rPr lang="fr-FR" b="1" i="1" dirty="0" err="1" smtClean="0"/>
              <a:t>meningitidis</a:t>
            </a:r>
            <a:r>
              <a:rPr lang="fr-FR" b="1" i="1" dirty="0" smtClean="0"/>
              <a:t> </a:t>
            </a:r>
            <a:r>
              <a:rPr lang="fr-FR" b="1" dirty="0" smtClean="0"/>
              <a:t>?</a:t>
            </a:r>
          </a:p>
          <a:p>
            <a:r>
              <a:rPr lang="fr-FR" dirty="0" smtClean="0"/>
              <a:t>a) Capsule</a:t>
            </a:r>
          </a:p>
          <a:p>
            <a:r>
              <a:rPr lang="fr-FR" dirty="0" smtClean="0"/>
              <a:t>b) Type respiratoire </a:t>
            </a:r>
            <a:r>
              <a:rPr lang="fr-FR" dirty="0" err="1" smtClean="0"/>
              <a:t>anaérobie</a:t>
            </a:r>
            <a:r>
              <a:rPr lang="fr-FR" dirty="0" smtClean="0"/>
              <a:t> strict</a:t>
            </a:r>
          </a:p>
          <a:p>
            <a:r>
              <a:rPr lang="fr-FR" dirty="0" smtClean="0"/>
              <a:t>c) Sensible à l'</a:t>
            </a:r>
            <a:r>
              <a:rPr lang="fr-FR" dirty="0" err="1" smtClean="0"/>
              <a:t>amoxicilline</a:t>
            </a:r>
            <a:r>
              <a:rPr lang="fr-FR" dirty="0" smtClean="0"/>
              <a:t> seule</a:t>
            </a:r>
          </a:p>
          <a:p>
            <a:r>
              <a:rPr lang="fr-FR" dirty="0" smtClean="0"/>
              <a:t>d) Oxydase positive</a:t>
            </a:r>
          </a:p>
          <a:p>
            <a:r>
              <a:rPr lang="fr-FR" dirty="0" smtClean="0"/>
              <a:t>e) </a:t>
            </a:r>
            <a:r>
              <a:rPr lang="fr-FR" dirty="0" err="1" smtClean="0"/>
              <a:t>Bactéries</a:t>
            </a:r>
            <a:r>
              <a:rPr lang="fr-FR" dirty="0" smtClean="0"/>
              <a:t> roses </a:t>
            </a:r>
            <a:r>
              <a:rPr lang="fr-FR" dirty="0" err="1" smtClean="0"/>
              <a:t>après</a:t>
            </a:r>
            <a:r>
              <a:rPr lang="fr-FR" dirty="0" smtClean="0"/>
              <a:t> coloration de Gram </a:t>
            </a:r>
            <a:r>
              <a:rPr lang="fr-FR" dirty="0" err="1" smtClean="0"/>
              <a:t>re</a:t>
            </a:r>
            <a:r>
              <a:rPr lang="fr-FR" dirty="0" smtClean="0"/>
              <a:t>́</a:t>
            </a:r>
            <a:r>
              <a:rPr lang="fr-FR" dirty="0" err="1" smtClean="0"/>
              <a:t>alisée</a:t>
            </a:r>
            <a:r>
              <a:rPr lang="fr-FR" dirty="0" smtClean="0"/>
              <a:t> correctement</a:t>
            </a:r>
          </a:p>
          <a:p>
            <a:pPr>
              <a:buNone/>
            </a:pPr>
            <a:r>
              <a:rPr lang="fr-FR" dirty="0" smtClean="0">
                <a:solidFill>
                  <a:srgbClr val="FF0000"/>
                </a:solidFill>
              </a:rPr>
              <a:t>Réponse multiple :</a:t>
            </a:r>
            <a:r>
              <a:rPr lang="fr-FR" dirty="0" err="1" smtClean="0">
                <a:solidFill>
                  <a:srgbClr val="FF0000"/>
                </a:solidFill>
              </a:rPr>
              <a:t>acde</a:t>
            </a:r>
            <a:endParaRPr lang="fr-FR" dirty="0" smtClean="0">
              <a:solidFill>
                <a:srgbClr val="FF0000"/>
              </a:solidFill>
            </a:endParaRP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77500" lnSpcReduction="20000"/>
          </a:bodyPr>
          <a:lstStyle/>
          <a:p>
            <a:pPr>
              <a:buNone/>
            </a:pPr>
            <a:r>
              <a:rPr lang="fr-FR" b="1" dirty="0" smtClean="0"/>
              <a:t>Concernant </a:t>
            </a:r>
            <a:r>
              <a:rPr lang="fr-FR" b="1" i="1" dirty="0" err="1" smtClean="0"/>
              <a:t>Mycobacterium</a:t>
            </a:r>
            <a:r>
              <a:rPr lang="fr-FR" b="1" i="1" dirty="0" smtClean="0"/>
              <a:t> </a:t>
            </a:r>
            <a:r>
              <a:rPr lang="fr-FR" b="1" i="1" dirty="0" err="1" smtClean="0"/>
              <a:t>tuberculosis</a:t>
            </a:r>
            <a:r>
              <a:rPr lang="fr-FR" b="1" dirty="0" smtClean="0"/>
              <a:t>, quelle est la proposition inexacte :</a:t>
            </a:r>
          </a:p>
          <a:p>
            <a:pPr>
              <a:buNone/>
            </a:pPr>
            <a:endParaRPr lang="fr-FR" dirty="0" smtClean="0"/>
          </a:p>
          <a:p>
            <a:r>
              <a:rPr lang="fr-FR" dirty="0" smtClean="0"/>
              <a:t>a) Le réservoir de cette bactérie est humain</a:t>
            </a:r>
          </a:p>
          <a:p>
            <a:r>
              <a:rPr lang="fr-FR" dirty="0" smtClean="0"/>
              <a:t>b) Elle touche surtout les pays en voie de développement</a:t>
            </a:r>
          </a:p>
          <a:p>
            <a:r>
              <a:rPr lang="fr-FR" dirty="0" smtClean="0"/>
              <a:t>c) Elle se multiplie mieux dans les organes mal oxygénés</a:t>
            </a:r>
          </a:p>
          <a:p>
            <a:r>
              <a:rPr lang="fr-FR" dirty="0" smtClean="0"/>
              <a:t>d) Son pouvoir pathogène est faible</a:t>
            </a:r>
          </a:p>
          <a:p>
            <a:r>
              <a:rPr lang="fr-FR" dirty="0" smtClean="0"/>
              <a:t>e) Sa mise en évidence nécessite des techniques spécifiques</a:t>
            </a:r>
          </a:p>
          <a:p>
            <a:pPr>
              <a:buNone/>
            </a:pPr>
            <a:r>
              <a:rPr lang="fr-FR" dirty="0" smtClean="0">
                <a:solidFill>
                  <a:srgbClr val="FF0000"/>
                </a:solidFill>
              </a:rPr>
              <a:t>Réponse simple :c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a:bodyPr>
          <a:lstStyle/>
          <a:p>
            <a:pPr>
              <a:buNone/>
            </a:pPr>
            <a:r>
              <a:rPr lang="fr-FR" b="1" dirty="0" smtClean="0"/>
              <a:t>Quelle(s) bactérie(s) parmi les suivantes font partie du spectre de l’</a:t>
            </a:r>
            <a:r>
              <a:rPr lang="fr-FR" b="1" dirty="0" err="1" smtClean="0"/>
              <a:t>amoxicilline</a:t>
            </a:r>
            <a:r>
              <a:rPr lang="fr-FR" b="1" dirty="0" smtClean="0"/>
              <a:t> ?</a:t>
            </a:r>
          </a:p>
          <a:p>
            <a:r>
              <a:rPr lang="fr-FR" dirty="0" smtClean="0"/>
              <a:t>a) Staphylocoque à </a:t>
            </a:r>
            <a:r>
              <a:rPr lang="fr-FR" dirty="0" err="1" smtClean="0"/>
              <a:t>coagulase</a:t>
            </a:r>
            <a:r>
              <a:rPr lang="fr-FR" dirty="0" smtClean="0"/>
              <a:t> négative</a:t>
            </a:r>
          </a:p>
          <a:p>
            <a:r>
              <a:rPr lang="fr-FR" dirty="0" smtClean="0"/>
              <a:t>b) Méningocoque</a:t>
            </a:r>
          </a:p>
          <a:p>
            <a:r>
              <a:rPr lang="en-US" dirty="0" smtClean="0"/>
              <a:t>c) </a:t>
            </a:r>
            <a:r>
              <a:rPr lang="en-US" i="1" dirty="0" err="1" smtClean="0"/>
              <a:t>Listeria</a:t>
            </a:r>
            <a:r>
              <a:rPr lang="en-US" i="1" dirty="0" smtClean="0"/>
              <a:t> </a:t>
            </a:r>
            <a:r>
              <a:rPr lang="en-US" i="1" dirty="0" err="1" smtClean="0"/>
              <a:t>monocytogenes</a:t>
            </a:r>
            <a:endParaRPr lang="fr-FR" i="1" dirty="0" smtClean="0"/>
          </a:p>
          <a:p>
            <a:r>
              <a:rPr lang="en-US" dirty="0" smtClean="0"/>
              <a:t>d) </a:t>
            </a:r>
            <a:r>
              <a:rPr lang="en-US" i="1" dirty="0" smtClean="0"/>
              <a:t>Streptococcus </a:t>
            </a:r>
            <a:r>
              <a:rPr lang="en-US" i="1" dirty="0" err="1" smtClean="0"/>
              <a:t>pyogenes</a:t>
            </a:r>
            <a:endParaRPr lang="fr-FR" i="1" dirty="0" smtClean="0"/>
          </a:p>
          <a:p>
            <a:r>
              <a:rPr lang="fr-FR" dirty="0" smtClean="0"/>
              <a:t>e) Staphylocoque doré résistant à la </a:t>
            </a:r>
            <a:r>
              <a:rPr lang="fr-FR" dirty="0" err="1" smtClean="0"/>
              <a:t>méticilline</a:t>
            </a:r>
            <a:endParaRPr lang="fr-FR" dirty="0" smtClean="0"/>
          </a:p>
          <a:p>
            <a:pPr>
              <a:buNone/>
            </a:pPr>
            <a:r>
              <a:rPr lang="fr-FR" dirty="0" smtClean="0">
                <a:solidFill>
                  <a:srgbClr val="FF0000"/>
                </a:solidFill>
              </a:rPr>
              <a:t>Réponse multiple :</a:t>
            </a:r>
            <a:r>
              <a:rPr lang="fr-FR" dirty="0" err="1" smtClean="0">
                <a:solidFill>
                  <a:srgbClr val="FF0000"/>
                </a:solidFill>
              </a:rPr>
              <a:t>abcd</a:t>
            </a:r>
            <a:endParaRPr lang="fr-FR" dirty="0" smtClean="0">
              <a:solidFill>
                <a:srgbClr val="FF0000"/>
              </a:solidFill>
            </a:endParaRPr>
          </a:p>
          <a:p>
            <a:endParaRPr lang="fr-FR"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TotalTime>
  <Words>1979</Words>
  <Application>Microsoft Office PowerPoint</Application>
  <PresentationFormat>Affichage à l'écran (4:3)</PresentationFormat>
  <Paragraphs>535</Paragraphs>
  <Slides>65</Slides>
  <Notes>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65</vt:i4>
      </vt:variant>
    </vt:vector>
  </HeadingPairs>
  <TitlesOfParts>
    <vt:vector size="71" baseType="lpstr">
      <vt:lpstr>Arial</vt:lpstr>
      <vt:lpstr>Calibri</vt:lpstr>
      <vt:lpstr>Symbol</vt:lpstr>
      <vt:lpstr>Times New Roman</vt:lpstr>
      <vt:lpstr>Wingdings</vt:lpstr>
      <vt:lpstr>Thème Office</vt:lpstr>
      <vt:lpstr>Atelier de microbiologie</vt:lpstr>
      <vt:lpstr>Présentation PowerPoint</vt:lpstr>
      <vt:lpstr>Présentation PowerPoint</vt:lpstr>
      <vt:lpstr>Présentation PowerPoint</vt:lpstr>
      <vt:lpstr>Diagnostic bactériologique </vt:lpstr>
      <vt:lpstr>Apport des méthodes moléculaires au diagnostic </vt:lpstr>
      <vt:lpstr>Présentation PowerPoint</vt:lpstr>
      <vt:lpstr>Présentation PowerPoint</vt:lpstr>
      <vt:lpstr>Présentation PowerPoint</vt:lpstr>
      <vt:lpstr>Présentation PowerPoint</vt:lpstr>
      <vt:lpstr>Présentation PowerPoint</vt:lpstr>
      <vt:lpstr>Structure des virus </vt:lpstr>
      <vt:lpstr>Structure des virus </vt:lpstr>
      <vt:lpstr>Structure des virus </vt:lpstr>
      <vt:lpstr>Présentation PowerPoint</vt:lpstr>
      <vt:lpstr>Présentation PowerPoint</vt:lpstr>
      <vt:lpstr>Méthodes de diagnostic en virologie </vt:lpstr>
      <vt:lpstr>Diagnostic direct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h</dc:creator>
  <cp:lastModifiedBy>x</cp:lastModifiedBy>
  <cp:revision>121</cp:revision>
  <dcterms:created xsi:type="dcterms:W3CDTF">2020-05-05T22:13:09Z</dcterms:created>
  <dcterms:modified xsi:type="dcterms:W3CDTF">2023-10-06T08:47:12Z</dcterms:modified>
</cp:coreProperties>
</file>