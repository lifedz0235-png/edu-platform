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1" r:id="rId5"/>
    <p:sldId id="259" r:id="rId6"/>
    <p:sldId id="272" r:id="rId7"/>
    <p:sldId id="274" r:id="rId8"/>
    <p:sldId id="260" r:id="rId9"/>
    <p:sldId id="275" r:id="rId10"/>
    <p:sldId id="276" r:id="rId11"/>
    <p:sldId id="261" r:id="rId12"/>
    <p:sldId id="277" r:id="rId13"/>
    <p:sldId id="262" r:id="rId14"/>
    <p:sldId id="279" r:id="rId15"/>
    <p:sldId id="278" r:id="rId16"/>
    <p:sldId id="263" r:id="rId17"/>
    <p:sldId id="280" r:id="rId18"/>
    <p:sldId id="264" r:id="rId19"/>
    <p:sldId id="265" r:id="rId20"/>
    <p:sldId id="281" r:id="rId21"/>
    <p:sldId id="266" r:id="rId22"/>
    <p:sldId id="282" r:id="rId23"/>
    <p:sldId id="283" r:id="rId24"/>
    <p:sldId id="267" r:id="rId25"/>
    <p:sldId id="268" r:id="rId26"/>
    <p:sldId id="284" r:id="rId27"/>
    <p:sldId id="269" r:id="rId28"/>
    <p:sldId id="285" r:id="rId29"/>
    <p:sldId id="270" r:id="rId30"/>
    <p:sldId id="287" r:id="rId31"/>
    <p:sldId id="288" r:id="rId32"/>
    <p:sldId id="289" r:id="rId33"/>
    <p:sldId id="290" r:id="rId34"/>
    <p:sldId id="291" r:id="rId35"/>
    <p:sldId id="292" r:id="rId36"/>
    <p:sldId id="297" r:id="rId37"/>
    <p:sldId id="293" r:id="rId38"/>
    <p:sldId id="298" r:id="rId39"/>
    <p:sldId id="294" r:id="rId40"/>
    <p:sldId id="296" r:id="rId41"/>
    <p:sldId id="299" r:id="rId42"/>
    <p:sldId id="303" r:id="rId43"/>
    <p:sldId id="295" r:id="rId44"/>
    <p:sldId id="304" r:id="rId45"/>
    <p:sldId id="300" r:id="rId46"/>
    <p:sldId id="305" r:id="rId47"/>
    <p:sldId id="307" r:id="rId48"/>
    <p:sldId id="301" r:id="rId49"/>
    <p:sldId id="306" r:id="rId50"/>
    <p:sldId id="302" r:id="rId51"/>
    <p:sldId id="308" r:id="rId52"/>
    <p:sldId id="309" r:id="rId53"/>
    <p:sldId id="313" r:id="rId54"/>
    <p:sldId id="319" r:id="rId55"/>
    <p:sldId id="314" r:id="rId56"/>
    <p:sldId id="320" r:id="rId57"/>
    <p:sldId id="315" r:id="rId58"/>
    <p:sldId id="317" r:id="rId59"/>
    <p:sldId id="318" r:id="rId60"/>
    <p:sldId id="312" r:id="rId61"/>
    <p:sldId id="316" r:id="rId62"/>
    <p:sldId id="286" r:id="rId63"/>
    <p:sldId id="321" r:id="rId64"/>
    <p:sldId id="322" r:id="rId65"/>
    <p:sldId id="323" r:id="rId66"/>
    <p:sldId id="324" r:id="rId67"/>
    <p:sldId id="325" r:id="rId68"/>
    <p:sldId id="326" r:id="rId69"/>
    <p:sldId id="327" r:id="rId70"/>
    <p:sldId id="328" r:id="rId71"/>
    <p:sldId id="329" r:id="rId72"/>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089" autoAdjust="0"/>
    <p:restoredTop sz="94660"/>
  </p:normalViewPr>
  <p:slideViewPr>
    <p:cSldViewPr>
      <p:cViewPr>
        <p:scale>
          <a:sx n="60" d="100"/>
          <a:sy n="60" d="100"/>
        </p:scale>
        <p:origin x="-708" y="33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D629F2E3-A17F-47DA-909F-927163EC1212}" type="datetimeFigureOut">
              <a:rPr lang="fr-FR" smtClean="0"/>
              <a:t>14/10/2019</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9C24069-FC83-4B47-AB28-B2317F6B2CCC}" type="slidenum">
              <a:rPr lang="fr-FR" smtClean="0"/>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629F2E3-A17F-47DA-909F-927163EC1212}" type="datetimeFigureOut">
              <a:rPr lang="fr-FR" smtClean="0"/>
              <a:t>14/10/2019</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9C24069-FC83-4B47-AB28-B2317F6B2CCC}" type="slidenum">
              <a:rPr lang="fr-FR" smtClean="0"/>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D629F2E3-A17F-47DA-909F-927163EC1212}" type="datetimeFigureOut">
              <a:rPr lang="fr-FR" smtClean="0"/>
              <a:t>14/10/2019</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9C24069-FC83-4B47-AB28-B2317F6B2CCC}" type="slidenum">
              <a:rPr lang="fr-FR" smtClean="0"/>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D629F2E3-A17F-47DA-909F-927163EC1212}" type="datetimeFigureOut">
              <a:rPr lang="fr-FR" smtClean="0"/>
              <a:t>14/10/2019</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9C24069-FC83-4B47-AB28-B2317F6B2CCC}" type="slidenum">
              <a:rPr lang="fr-FR" smtClean="0"/>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D629F2E3-A17F-47DA-909F-927163EC1212}" type="datetimeFigureOut">
              <a:rPr lang="fr-FR" smtClean="0"/>
              <a:t>14/10/2019</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E9C24069-FC83-4B47-AB28-B2317F6B2CCC}" type="slidenum">
              <a:rPr lang="fr-FR" smtClean="0"/>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D629F2E3-A17F-47DA-909F-927163EC1212}" type="datetimeFigureOut">
              <a:rPr lang="fr-FR" smtClean="0"/>
              <a:t>14/10/2019</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E9C24069-FC83-4B47-AB28-B2317F6B2CCC}" type="slidenum">
              <a:rPr lang="fr-FR" smtClean="0"/>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629F2E3-A17F-47DA-909F-927163EC1212}" type="datetimeFigureOut">
              <a:rPr lang="fr-FR" smtClean="0"/>
              <a:t>14/10/2019</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E9C24069-FC83-4B47-AB28-B2317F6B2CCC}" type="slidenum">
              <a:rPr lang="fr-FR" smtClean="0"/>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D629F2E3-A17F-47DA-909F-927163EC1212}" type="datetimeFigureOut">
              <a:rPr lang="fr-FR" smtClean="0"/>
              <a:t>14/10/2019</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9C24069-FC83-4B47-AB28-B2317F6B2CCC}" type="slidenum">
              <a:rPr lang="fr-FR" smtClean="0"/>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D629F2E3-A17F-47DA-909F-927163EC1212}" type="datetimeFigureOut">
              <a:rPr lang="fr-FR" smtClean="0"/>
              <a:t>14/10/2019</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9C24069-FC83-4B47-AB28-B2317F6B2CCC}" type="slidenum">
              <a:rPr lang="fr-FR" smtClean="0"/>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629F2E3-A17F-47DA-909F-927163EC1212}" type="datetimeFigureOut">
              <a:rPr lang="fr-FR" smtClean="0"/>
              <a:t>14/10/2019</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9C24069-FC83-4B47-AB28-B2317F6B2CCC}" type="slidenum">
              <a:rPr lang="fr-FR" smtClean="0"/>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629F2E3-A17F-47DA-909F-927163EC1212}" type="datetimeFigureOut">
              <a:rPr lang="fr-FR" smtClean="0"/>
              <a:t>14/10/2019</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9C24069-FC83-4B47-AB28-B2317F6B2CCC}" type="slidenum">
              <a:rPr lang="fr-FR" smtClean="0"/>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29F2E3-A17F-47DA-909F-927163EC1212}" type="datetimeFigureOut">
              <a:rPr lang="fr-FR" smtClean="0"/>
              <a:t>14/10/2019</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C24069-FC83-4B47-AB28-B2317F6B2CCC}" type="slidenum">
              <a:rPr lang="fr-FR" smtClean="0"/>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t>Cas cliniques </a:t>
            </a:r>
            <a:r>
              <a:rPr lang="fr-FR" dirty="0" err="1" smtClean="0"/>
              <a:t>rhumato</a:t>
            </a:r>
            <a:endParaRPr lang="fr-FR" dirty="0"/>
          </a:p>
        </p:txBody>
      </p:sp>
      <p:sp>
        <p:nvSpPr>
          <p:cNvPr id="3" name="Sous-titre 2"/>
          <p:cNvSpPr>
            <a:spLocks noGrp="1"/>
          </p:cNvSpPr>
          <p:nvPr>
            <p:ph type="subTitle" idx="1"/>
          </p:nvPr>
        </p:nvSpPr>
        <p:spPr/>
        <p:txBody>
          <a:bodyPr/>
          <a:lstStyle/>
          <a:p>
            <a:r>
              <a:rPr lang="fr-FR" dirty="0" smtClean="0"/>
              <a:t>Dr Bengana</a:t>
            </a:r>
            <a:endParaRPr lang="fr-F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Cas clinique 1 : Sciatique</a:t>
            </a:r>
            <a:endParaRPr lang="fr-FR" dirty="0"/>
          </a:p>
        </p:txBody>
      </p:sp>
      <p:sp>
        <p:nvSpPr>
          <p:cNvPr id="3" name="Espace réservé du contenu 2"/>
          <p:cNvSpPr>
            <a:spLocks noGrp="1"/>
          </p:cNvSpPr>
          <p:nvPr>
            <p:ph idx="1"/>
          </p:nvPr>
        </p:nvSpPr>
        <p:spPr/>
        <p:txBody>
          <a:bodyPr>
            <a:normAutofit fontScale="70000" lnSpcReduction="20000"/>
          </a:bodyPr>
          <a:lstStyle/>
          <a:p>
            <a:pPr algn="just">
              <a:buNone/>
            </a:pPr>
            <a:r>
              <a:rPr lang="fr-FR" dirty="0" smtClean="0"/>
              <a:t>      Vous recevez aux urgences Monsieur F., 45  ans, manutentionnaire, pour lombalgies et douleurs du membre inférieur droit. Ce patient n'a pas d'antécédents particuliers en dehors d'épisodes de lumbagos et ne prend aucun traitement. Les douleurs sont apparues brutalement il y a 24 heures, alors qu'il jardinait. Les douleurs sont lombaires basses, mécaniques, et irradient vers la fesse, la face latérale de cuisse, de genou, mollet droit, jusqu'à l'</a:t>
            </a:r>
            <a:r>
              <a:rPr lang="fr-FR" dirty="0" err="1" smtClean="0"/>
              <a:t>hallux</a:t>
            </a:r>
            <a:r>
              <a:rPr lang="fr-FR" dirty="0" smtClean="0"/>
              <a:t>. En même temps que les douleurs, le patient a développé des difficultés à marcher, avec nécessité de lever plus haut le genou droit pour passer le pas. À l'examen, vous retrouvez une raideur du rachis lombaire, un signe de Lasègue droit à 30°, un déficit moteur sur les chefs musculaires concernés par l'atteinte radiculaire, le patient n'arrivant pas à faire les mouvements contre résistance ni pesanteur. Il n'y a pas de troubles sphinctériens. </a:t>
            </a:r>
            <a:endParaRPr lang="fr-F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Que met en évidence le signe de Lasègue ? </a:t>
            </a:r>
          </a:p>
          <a:p>
            <a:pPr>
              <a:buNone/>
            </a:pPr>
            <a:r>
              <a:rPr lang="fr-FR" dirty="0" smtClean="0"/>
              <a:t>A un déficit moteur sur le territoire L5 ou S1 </a:t>
            </a:r>
          </a:p>
          <a:p>
            <a:pPr>
              <a:buNone/>
            </a:pPr>
            <a:r>
              <a:rPr lang="fr-FR" dirty="0" smtClean="0"/>
              <a:t>B une raideur du rachis lombaire </a:t>
            </a:r>
          </a:p>
          <a:p>
            <a:pPr>
              <a:buNone/>
            </a:pPr>
            <a:r>
              <a:rPr lang="fr-FR" dirty="0" smtClean="0"/>
              <a:t>C une raideur de hanche </a:t>
            </a:r>
          </a:p>
          <a:p>
            <a:pPr>
              <a:buNone/>
            </a:pPr>
            <a:r>
              <a:rPr lang="fr-FR" dirty="0" smtClean="0"/>
              <a:t>D un conflit </a:t>
            </a:r>
            <a:r>
              <a:rPr lang="fr-FR" dirty="0" err="1" smtClean="0"/>
              <a:t>discoradiculaire</a:t>
            </a:r>
            <a:r>
              <a:rPr lang="fr-FR" dirty="0" smtClean="0"/>
              <a:t> </a:t>
            </a:r>
          </a:p>
          <a:p>
            <a:pPr>
              <a:buNone/>
            </a:pPr>
            <a:r>
              <a:rPr lang="fr-FR" dirty="0" smtClean="0"/>
              <a:t>E une douleur au niveau des articulations sacro-iliaques</a:t>
            </a:r>
            <a:endParaRPr lang="fr-F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Que met en évidence le signe de Lasègue ? </a:t>
            </a:r>
          </a:p>
          <a:p>
            <a:pPr>
              <a:buNone/>
            </a:pPr>
            <a:r>
              <a:rPr lang="fr-FR" dirty="0" smtClean="0"/>
              <a:t>A un déficit moteur sur le territoire L5 ou S1 </a:t>
            </a:r>
          </a:p>
          <a:p>
            <a:pPr>
              <a:buNone/>
            </a:pPr>
            <a:r>
              <a:rPr lang="fr-FR" dirty="0" smtClean="0"/>
              <a:t>B une raideur du rachis lombaire </a:t>
            </a:r>
          </a:p>
          <a:p>
            <a:pPr>
              <a:buNone/>
            </a:pPr>
            <a:r>
              <a:rPr lang="fr-FR" dirty="0" smtClean="0"/>
              <a:t>C une raideur de hanche </a:t>
            </a:r>
          </a:p>
          <a:p>
            <a:pPr>
              <a:buNone/>
            </a:pPr>
            <a:r>
              <a:rPr lang="fr-FR" dirty="0" smtClean="0">
                <a:solidFill>
                  <a:srgbClr val="FF0000"/>
                </a:solidFill>
              </a:rPr>
              <a:t>D un conflit </a:t>
            </a:r>
            <a:r>
              <a:rPr lang="fr-FR" dirty="0" err="1" smtClean="0">
                <a:solidFill>
                  <a:srgbClr val="FF0000"/>
                </a:solidFill>
              </a:rPr>
              <a:t>discoradiculaire</a:t>
            </a:r>
            <a:r>
              <a:rPr lang="fr-FR" dirty="0" smtClean="0">
                <a:solidFill>
                  <a:srgbClr val="FF0000"/>
                </a:solidFill>
              </a:rPr>
              <a:t> </a:t>
            </a:r>
          </a:p>
          <a:p>
            <a:pPr>
              <a:buNone/>
            </a:pPr>
            <a:r>
              <a:rPr lang="fr-FR" dirty="0" smtClean="0"/>
              <a:t>E une douleur au niveau des articulations sacro-iliaques</a:t>
            </a:r>
            <a:endParaRPr lang="fr-F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À combien cotez-vous le déficit moteur? </a:t>
            </a:r>
          </a:p>
          <a:p>
            <a:pPr>
              <a:buNone/>
            </a:pPr>
            <a:endParaRPr lang="fr-FR" dirty="0"/>
          </a:p>
          <a:p>
            <a:pPr>
              <a:buNone/>
            </a:pPr>
            <a:r>
              <a:rPr lang="fr-FR" dirty="0" smtClean="0"/>
              <a:t>A 0/5 </a:t>
            </a:r>
          </a:p>
          <a:p>
            <a:pPr>
              <a:buNone/>
            </a:pPr>
            <a:r>
              <a:rPr lang="fr-FR" dirty="0" smtClean="0"/>
              <a:t>B 1/5 </a:t>
            </a:r>
          </a:p>
          <a:p>
            <a:pPr>
              <a:buNone/>
            </a:pPr>
            <a:r>
              <a:rPr lang="fr-FR" dirty="0" smtClean="0"/>
              <a:t>C 2/5 </a:t>
            </a:r>
          </a:p>
          <a:p>
            <a:pPr>
              <a:buNone/>
            </a:pPr>
            <a:r>
              <a:rPr lang="fr-FR" dirty="0" smtClean="0"/>
              <a:t>D 3/5 </a:t>
            </a:r>
          </a:p>
          <a:p>
            <a:pPr>
              <a:buNone/>
            </a:pPr>
            <a:r>
              <a:rPr lang="fr-FR" dirty="0" smtClean="0"/>
              <a:t>E 4/5</a:t>
            </a:r>
            <a:endParaRPr lang="fr-F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À combien cotez-vous le déficit moteur? </a:t>
            </a:r>
          </a:p>
          <a:p>
            <a:pPr>
              <a:buNone/>
            </a:pPr>
            <a:endParaRPr lang="fr-FR" dirty="0"/>
          </a:p>
          <a:p>
            <a:pPr>
              <a:buNone/>
            </a:pPr>
            <a:r>
              <a:rPr lang="fr-FR" dirty="0" smtClean="0"/>
              <a:t>A 0/5 </a:t>
            </a:r>
          </a:p>
          <a:p>
            <a:pPr>
              <a:buNone/>
            </a:pPr>
            <a:r>
              <a:rPr lang="fr-FR" dirty="0" smtClean="0"/>
              <a:t>B 1/5 </a:t>
            </a:r>
          </a:p>
          <a:p>
            <a:pPr>
              <a:buNone/>
            </a:pPr>
            <a:r>
              <a:rPr lang="fr-FR" dirty="0" smtClean="0">
                <a:solidFill>
                  <a:srgbClr val="FF0000"/>
                </a:solidFill>
              </a:rPr>
              <a:t>C 2/5 </a:t>
            </a:r>
          </a:p>
          <a:p>
            <a:pPr>
              <a:buNone/>
            </a:pPr>
            <a:r>
              <a:rPr lang="fr-FR" dirty="0" smtClean="0"/>
              <a:t>D 3/5 </a:t>
            </a:r>
          </a:p>
          <a:p>
            <a:pPr>
              <a:buNone/>
            </a:pPr>
            <a:r>
              <a:rPr lang="fr-FR" dirty="0" smtClean="0"/>
              <a:t>E 4/5</a:t>
            </a:r>
            <a:endParaRPr lang="fr-F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sp>
        <p:nvSpPr>
          <p:cNvPr id="4" name="Rectangle 3"/>
          <p:cNvSpPr/>
          <p:nvPr/>
        </p:nvSpPr>
        <p:spPr>
          <a:xfrm>
            <a:off x="1142976" y="1997838"/>
            <a:ext cx="7143800" cy="2308324"/>
          </a:xfrm>
          <a:prstGeom prst="rect">
            <a:avLst/>
          </a:prstGeom>
        </p:spPr>
        <p:txBody>
          <a:bodyPr wrap="square">
            <a:spAutoFit/>
          </a:bodyPr>
          <a:lstStyle/>
          <a:p>
            <a:r>
              <a:rPr lang="fr-FR" dirty="0" smtClean="0"/>
              <a:t>Rappel : Échelle de cotation de la force motrice : </a:t>
            </a:r>
          </a:p>
          <a:p>
            <a:r>
              <a:rPr lang="fr-FR" dirty="0" smtClean="0"/>
              <a:t>• 5 : Force musculaire normale. </a:t>
            </a:r>
          </a:p>
          <a:p>
            <a:r>
              <a:rPr lang="fr-FR" dirty="0" smtClean="0"/>
              <a:t>• 4 : Capacité de lutter contre la pesanteur et contre une résistance. </a:t>
            </a:r>
          </a:p>
          <a:p>
            <a:r>
              <a:rPr lang="fr-FR" dirty="0" smtClean="0"/>
              <a:t>• 3 : Capacité de lutter contre la pesanteur mais non contre résistance. </a:t>
            </a:r>
          </a:p>
          <a:p>
            <a:r>
              <a:rPr lang="fr-FR" dirty="0" smtClean="0"/>
              <a:t>• 2 : Possibilité de mouvement après élimination de l'effet de la pesanteur. • 1  : Contraction sans déplacement perceptible (contraction palpable, visible). </a:t>
            </a:r>
          </a:p>
          <a:p>
            <a:r>
              <a:rPr lang="fr-FR" dirty="0" smtClean="0"/>
              <a:t>• 0 : Aucune contraction.</a:t>
            </a:r>
            <a:endParaRPr lang="fr-F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Sur quels chefs musculaires peut-il vraisemblablement exister un déficit moteur? A le quadriceps </a:t>
            </a:r>
          </a:p>
          <a:p>
            <a:pPr>
              <a:buNone/>
            </a:pPr>
            <a:r>
              <a:rPr lang="fr-FR" dirty="0"/>
              <a:t> </a:t>
            </a:r>
            <a:r>
              <a:rPr lang="fr-FR" dirty="0" smtClean="0"/>
              <a:t>   B le releveur du pied </a:t>
            </a:r>
          </a:p>
          <a:p>
            <a:pPr>
              <a:buNone/>
            </a:pPr>
            <a:r>
              <a:rPr lang="fr-FR" dirty="0"/>
              <a:t> </a:t>
            </a:r>
            <a:r>
              <a:rPr lang="fr-FR" dirty="0" smtClean="0"/>
              <a:t>   C les muscles long et court </a:t>
            </a:r>
            <a:r>
              <a:rPr lang="fr-FR" dirty="0" err="1" smtClean="0"/>
              <a:t>fibulaires</a:t>
            </a:r>
            <a:r>
              <a:rPr lang="fr-FR" dirty="0" smtClean="0"/>
              <a:t> (péroniers latéraux) </a:t>
            </a:r>
          </a:p>
          <a:p>
            <a:pPr>
              <a:buNone/>
            </a:pPr>
            <a:r>
              <a:rPr lang="fr-FR" dirty="0"/>
              <a:t> </a:t>
            </a:r>
            <a:r>
              <a:rPr lang="fr-FR" dirty="0" smtClean="0"/>
              <a:t>   D le triceps sural </a:t>
            </a:r>
          </a:p>
          <a:p>
            <a:pPr>
              <a:buNone/>
            </a:pPr>
            <a:r>
              <a:rPr lang="fr-FR" dirty="0"/>
              <a:t> </a:t>
            </a:r>
            <a:r>
              <a:rPr lang="fr-FR" dirty="0" smtClean="0"/>
              <a:t>   E le moyen fessier</a:t>
            </a:r>
            <a:endParaRPr lang="fr-F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Sur quels chefs musculaires peut-il vraisemblablement exister un déficit moteur? A le quadriceps </a:t>
            </a:r>
          </a:p>
          <a:p>
            <a:pPr>
              <a:buNone/>
            </a:pPr>
            <a:r>
              <a:rPr lang="fr-FR" dirty="0">
                <a:solidFill>
                  <a:srgbClr val="FF0000"/>
                </a:solidFill>
              </a:rPr>
              <a:t> </a:t>
            </a:r>
            <a:r>
              <a:rPr lang="fr-FR" dirty="0" smtClean="0">
                <a:solidFill>
                  <a:srgbClr val="FF0000"/>
                </a:solidFill>
              </a:rPr>
              <a:t>   B le releveur du pied </a:t>
            </a:r>
          </a:p>
          <a:p>
            <a:pPr>
              <a:buNone/>
            </a:pPr>
            <a:r>
              <a:rPr lang="fr-FR" dirty="0">
                <a:solidFill>
                  <a:srgbClr val="FF0000"/>
                </a:solidFill>
              </a:rPr>
              <a:t> </a:t>
            </a:r>
            <a:r>
              <a:rPr lang="fr-FR" dirty="0" smtClean="0">
                <a:solidFill>
                  <a:srgbClr val="FF0000"/>
                </a:solidFill>
              </a:rPr>
              <a:t>   C les muscles long et court </a:t>
            </a:r>
            <a:r>
              <a:rPr lang="fr-FR" dirty="0" err="1" smtClean="0">
                <a:solidFill>
                  <a:srgbClr val="FF0000"/>
                </a:solidFill>
              </a:rPr>
              <a:t>fibulaires</a:t>
            </a:r>
            <a:r>
              <a:rPr lang="fr-FR" dirty="0" smtClean="0">
                <a:solidFill>
                  <a:srgbClr val="FF0000"/>
                </a:solidFill>
              </a:rPr>
              <a:t> (péroniers latéraux) </a:t>
            </a:r>
          </a:p>
          <a:p>
            <a:pPr>
              <a:buNone/>
            </a:pPr>
            <a:r>
              <a:rPr lang="fr-FR" dirty="0"/>
              <a:t> </a:t>
            </a:r>
            <a:r>
              <a:rPr lang="fr-FR" dirty="0" smtClean="0"/>
              <a:t>   D le triceps sural </a:t>
            </a:r>
          </a:p>
          <a:p>
            <a:pPr>
              <a:buNone/>
            </a:pPr>
            <a:r>
              <a:rPr lang="fr-FR" dirty="0">
                <a:solidFill>
                  <a:srgbClr val="FF0000"/>
                </a:solidFill>
              </a:rPr>
              <a:t> </a:t>
            </a:r>
            <a:r>
              <a:rPr lang="fr-FR" dirty="0" smtClean="0">
                <a:solidFill>
                  <a:srgbClr val="FF0000"/>
                </a:solidFill>
              </a:rPr>
              <a:t>   E le moyen fessier</a:t>
            </a:r>
            <a:endParaRPr lang="fr-FR" dirty="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endParaRPr lang="fr-FR" dirty="0"/>
          </a:p>
        </p:txBody>
      </p:sp>
      <p:sp>
        <p:nvSpPr>
          <p:cNvPr id="4" name="Rectangle 3"/>
          <p:cNvSpPr/>
          <p:nvPr/>
        </p:nvSpPr>
        <p:spPr>
          <a:xfrm>
            <a:off x="571472" y="2857496"/>
            <a:ext cx="8001056" cy="1200329"/>
          </a:xfrm>
          <a:prstGeom prst="rect">
            <a:avLst/>
          </a:prstGeom>
        </p:spPr>
        <p:txBody>
          <a:bodyPr wrap="square">
            <a:spAutoFit/>
          </a:bodyPr>
          <a:lstStyle/>
          <a:p>
            <a:r>
              <a:rPr lang="fr-FR" dirty="0" smtClean="0"/>
              <a:t>chefs musculaires concernés par l'atteinte radiculaire L5, à droite : • releveur des orteils ; • releveur de l'</a:t>
            </a:r>
            <a:r>
              <a:rPr lang="fr-FR" dirty="0" err="1" smtClean="0"/>
              <a:t>hallux</a:t>
            </a:r>
            <a:r>
              <a:rPr lang="fr-FR" dirty="0" smtClean="0"/>
              <a:t> ; • releveur du pied : muscle tibial antérieur (ou jambier antérieur) ; • muscles long et court </a:t>
            </a:r>
            <a:r>
              <a:rPr lang="fr-FR" dirty="0" err="1" smtClean="0"/>
              <a:t>fibulaires</a:t>
            </a:r>
            <a:r>
              <a:rPr lang="fr-FR" dirty="0" smtClean="0"/>
              <a:t> (ou péroniers latéraux) ; • moyen fessier</a:t>
            </a:r>
            <a:endParaRPr lang="fr-F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Quelle(s) anomalie(s) à la marche pouvez-vous retrouver chez ce patient ? </a:t>
            </a:r>
          </a:p>
          <a:p>
            <a:pPr>
              <a:buNone/>
            </a:pPr>
            <a:r>
              <a:rPr lang="fr-FR" dirty="0" smtClean="0"/>
              <a:t>A marche ataxique </a:t>
            </a:r>
          </a:p>
          <a:p>
            <a:pPr>
              <a:buNone/>
            </a:pPr>
            <a:r>
              <a:rPr lang="fr-FR" dirty="0" smtClean="0"/>
              <a:t>B marche </a:t>
            </a:r>
            <a:r>
              <a:rPr lang="fr-FR" dirty="0" err="1" smtClean="0"/>
              <a:t>fauchante</a:t>
            </a:r>
            <a:r>
              <a:rPr lang="fr-FR" dirty="0" smtClean="0"/>
              <a:t> </a:t>
            </a:r>
          </a:p>
          <a:p>
            <a:pPr>
              <a:buNone/>
            </a:pPr>
            <a:r>
              <a:rPr lang="fr-FR" dirty="0" smtClean="0"/>
              <a:t>C steppage </a:t>
            </a:r>
          </a:p>
          <a:p>
            <a:pPr>
              <a:buNone/>
            </a:pPr>
            <a:r>
              <a:rPr lang="fr-FR" dirty="0" smtClean="0"/>
              <a:t>D marche </a:t>
            </a:r>
            <a:r>
              <a:rPr lang="fr-FR" dirty="0" err="1" smtClean="0"/>
              <a:t>dandinante</a:t>
            </a:r>
            <a:r>
              <a:rPr lang="fr-FR" dirty="0" smtClean="0"/>
              <a:t> </a:t>
            </a:r>
          </a:p>
          <a:p>
            <a:pPr>
              <a:buNone/>
            </a:pPr>
            <a:r>
              <a:rPr lang="fr-FR" dirty="0" smtClean="0"/>
              <a:t>E marche à petits pas (</a:t>
            </a:r>
            <a:r>
              <a:rPr lang="fr-FR" dirty="0" err="1" smtClean="0"/>
              <a:t>hypokinétique</a:t>
            </a:r>
            <a:r>
              <a:rPr lang="fr-FR" dirty="0" smtClean="0"/>
              <a:t>)</a:t>
            </a:r>
            <a:endParaRPr lang="fr-F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Quelle(s) anomalie(s) à la marche pouvez-vous retrouver chez ce patient ? </a:t>
            </a:r>
          </a:p>
          <a:p>
            <a:pPr>
              <a:buNone/>
            </a:pPr>
            <a:r>
              <a:rPr lang="fr-FR" dirty="0" smtClean="0"/>
              <a:t>A marche ataxique </a:t>
            </a:r>
          </a:p>
          <a:p>
            <a:pPr>
              <a:buNone/>
            </a:pPr>
            <a:r>
              <a:rPr lang="fr-FR" dirty="0" smtClean="0"/>
              <a:t>B marche </a:t>
            </a:r>
            <a:r>
              <a:rPr lang="fr-FR" dirty="0" err="1" smtClean="0"/>
              <a:t>fauchante</a:t>
            </a:r>
            <a:r>
              <a:rPr lang="fr-FR" dirty="0" smtClean="0"/>
              <a:t> </a:t>
            </a:r>
          </a:p>
          <a:p>
            <a:pPr>
              <a:buNone/>
            </a:pPr>
            <a:r>
              <a:rPr lang="fr-FR" dirty="0" smtClean="0">
                <a:solidFill>
                  <a:srgbClr val="FF0000"/>
                </a:solidFill>
              </a:rPr>
              <a:t>C steppage </a:t>
            </a:r>
          </a:p>
          <a:p>
            <a:pPr>
              <a:buNone/>
            </a:pPr>
            <a:r>
              <a:rPr lang="fr-FR" dirty="0" smtClean="0">
                <a:solidFill>
                  <a:srgbClr val="FF0000"/>
                </a:solidFill>
              </a:rPr>
              <a:t>D marche </a:t>
            </a:r>
            <a:r>
              <a:rPr lang="fr-FR" dirty="0" err="1" smtClean="0">
                <a:solidFill>
                  <a:srgbClr val="FF0000"/>
                </a:solidFill>
              </a:rPr>
              <a:t>dandinante</a:t>
            </a:r>
            <a:r>
              <a:rPr lang="fr-FR" dirty="0" smtClean="0">
                <a:solidFill>
                  <a:srgbClr val="FF0000"/>
                </a:solidFill>
              </a:rPr>
              <a:t> </a:t>
            </a:r>
          </a:p>
          <a:p>
            <a:pPr>
              <a:buNone/>
            </a:pPr>
            <a:r>
              <a:rPr lang="fr-FR" dirty="0" smtClean="0"/>
              <a:t>E marche à petits pas (</a:t>
            </a:r>
            <a:r>
              <a:rPr lang="fr-FR" dirty="0" err="1" smtClean="0"/>
              <a:t>hypokinétique</a:t>
            </a:r>
            <a:r>
              <a:rPr lang="fr-FR" dirty="0" smtClean="0"/>
              <a:t>)</a:t>
            </a:r>
            <a:endParaRPr lang="fr-F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a:bodyPr>
          <a:lstStyle/>
          <a:p>
            <a:pPr>
              <a:buNone/>
            </a:pPr>
            <a:r>
              <a:rPr lang="fr-FR" dirty="0" smtClean="0"/>
              <a:t>Vous suspectez une sciatique par hernie discale. Quelles sont les localisations possibles d'une hernie pouvant expliquer la symptomatologie ? </a:t>
            </a:r>
          </a:p>
          <a:p>
            <a:pPr>
              <a:buNone/>
            </a:pPr>
            <a:r>
              <a:rPr lang="fr-FR" dirty="0" smtClean="0"/>
              <a:t>A </a:t>
            </a:r>
            <a:r>
              <a:rPr lang="fr-FR" dirty="0" err="1" smtClean="0"/>
              <a:t>foraminale</a:t>
            </a:r>
            <a:r>
              <a:rPr lang="fr-FR" dirty="0" smtClean="0"/>
              <a:t> L5S1 droite </a:t>
            </a:r>
          </a:p>
          <a:p>
            <a:pPr>
              <a:buNone/>
            </a:pPr>
            <a:r>
              <a:rPr lang="fr-FR" dirty="0" smtClean="0"/>
              <a:t>B </a:t>
            </a:r>
            <a:r>
              <a:rPr lang="fr-FR" dirty="0" err="1" smtClean="0"/>
              <a:t>postérolatérale</a:t>
            </a:r>
            <a:r>
              <a:rPr lang="fr-FR" dirty="0" smtClean="0"/>
              <a:t> L5S1 droite </a:t>
            </a:r>
          </a:p>
          <a:p>
            <a:pPr>
              <a:buNone/>
            </a:pPr>
            <a:r>
              <a:rPr lang="fr-FR" dirty="0" smtClean="0"/>
              <a:t>C </a:t>
            </a:r>
            <a:r>
              <a:rPr lang="fr-FR" dirty="0" err="1" smtClean="0"/>
              <a:t>foraminale</a:t>
            </a:r>
            <a:r>
              <a:rPr lang="fr-FR" dirty="0" smtClean="0"/>
              <a:t> L4L5 droite </a:t>
            </a:r>
          </a:p>
          <a:p>
            <a:pPr>
              <a:buNone/>
            </a:pPr>
            <a:r>
              <a:rPr lang="fr-FR" dirty="0" smtClean="0"/>
              <a:t>D </a:t>
            </a:r>
            <a:r>
              <a:rPr lang="fr-FR" dirty="0" err="1" smtClean="0"/>
              <a:t>postéromédiane</a:t>
            </a:r>
            <a:r>
              <a:rPr lang="fr-FR" dirty="0" smtClean="0"/>
              <a:t> L4L5 droite </a:t>
            </a:r>
          </a:p>
          <a:p>
            <a:pPr>
              <a:buNone/>
            </a:pPr>
            <a:r>
              <a:rPr lang="fr-FR" dirty="0" smtClean="0"/>
              <a:t>E médiane L4L5</a:t>
            </a:r>
            <a:endParaRPr lang="fr-F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a:bodyPr>
          <a:lstStyle/>
          <a:p>
            <a:pPr>
              <a:buNone/>
            </a:pPr>
            <a:r>
              <a:rPr lang="fr-FR" dirty="0" smtClean="0"/>
              <a:t>Vous suspectez une sciatique par hernie discale. Quelles sont les localisations possibles d'une hernie pouvant expliquer la symptomatologie ? </a:t>
            </a:r>
          </a:p>
          <a:p>
            <a:pPr>
              <a:buNone/>
            </a:pPr>
            <a:r>
              <a:rPr lang="fr-FR" dirty="0" smtClean="0"/>
              <a:t>A </a:t>
            </a:r>
            <a:r>
              <a:rPr lang="fr-FR" dirty="0" err="1" smtClean="0"/>
              <a:t>foraminale</a:t>
            </a:r>
            <a:r>
              <a:rPr lang="fr-FR" dirty="0" smtClean="0"/>
              <a:t> L5S1 droite </a:t>
            </a:r>
          </a:p>
          <a:p>
            <a:pPr>
              <a:buNone/>
            </a:pPr>
            <a:r>
              <a:rPr lang="fr-FR" dirty="0" smtClean="0"/>
              <a:t>B </a:t>
            </a:r>
            <a:r>
              <a:rPr lang="fr-FR" dirty="0" err="1" smtClean="0"/>
              <a:t>postérolatérale</a:t>
            </a:r>
            <a:r>
              <a:rPr lang="fr-FR" dirty="0" smtClean="0"/>
              <a:t> L5S1 droite </a:t>
            </a:r>
          </a:p>
          <a:p>
            <a:pPr>
              <a:buNone/>
            </a:pPr>
            <a:r>
              <a:rPr lang="fr-FR" dirty="0" smtClean="0"/>
              <a:t>C </a:t>
            </a:r>
            <a:r>
              <a:rPr lang="fr-FR" dirty="0" err="1" smtClean="0"/>
              <a:t>foraminale</a:t>
            </a:r>
            <a:r>
              <a:rPr lang="fr-FR" dirty="0" smtClean="0"/>
              <a:t> L4L5 droite </a:t>
            </a:r>
          </a:p>
          <a:p>
            <a:pPr>
              <a:buNone/>
            </a:pPr>
            <a:r>
              <a:rPr lang="fr-FR" dirty="0" smtClean="0"/>
              <a:t>D </a:t>
            </a:r>
            <a:r>
              <a:rPr lang="fr-FR" dirty="0" err="1" smtClean="0"/>
              <a:t>postéromédiane</a:t>
            </a:r>
            <a:r>
              <a:rPr lang="fr-FR" dirty="0" smtClean="0"/>
              <a:t> L4L5 droite </a:t>
            </a:r>
          </a:p>
          <a:p>
            <a:pPr>
              <a:buNone/>
            </a:pPr>
            <a:r>
              <a:rPr lang="fr-FR" dirty="0" smtClean="0"/>
              <a:t>E médiane L4L5</a:t>
            </a:r>
            <a:endParaRPr lang="fr-F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a:bodyPr>
          <a:lstStyle/>
          <a:p>
            <a:pPr>
              <a:buNone/>
            </a:pPr>
            <a:r>
              <a:rPr lang="fr-FR" dirty="0" smtClean="0"/>
              <a:t>Vous suspectez une sciatique par hernie discale. Quelles sont les localisations possibles d'une hernie pouvant expliquer la symptomatologie ? </a:t>
            </a:r>
          </a:p>
          <a:p>
            <a:pPr>
              <a:buNone/>
            </a:pPr>
            <a:r>
              <a:rPr lang="fr-FR" dirty="0" smtClean="0">
                <a:solidFill>
                  <a:srgbClr val="FF0000"/>
                </a:solidFill>
              </a:rPr>
              <a:t>A </a:t>
            </a:r>
            <a:r>
              <a:rPr lang="fr-FR" dirty="0" err="1" smtClean="0">
                <a:solidFill>
                  <a:srgbClr val="FF0000"/>
                </a:solidFill>
              </a:rPr>
              <a:t>foraminale</a:t>
            </a:r>
            <a:r>
              <a:rPr lang="fr-FR" dirty="0" smtClean="0">
                <a:solidFill>
                  <a:srgbClr val="FF0000"/>
                </a:solidFill>
              </a:rPr>
              <a:t> L5S1 droite </a:t>
            </a:r>
          </a:p>
          <a:p>
            <a:pPr>
              <a:buNone/>
            </a:pPr>
            <a:r>
              <a:rPr lang="fr-FR" dirty="0" smtClean="0"/>
              <a:t>B </a:t>
            </a:r>
            <a:r>
              <a:rPr lang="fr-FR" dirty="0" err="1" smtClean="0"/>
              <a:t>postérolatérale</a:t>
            </a:r>
            <a:r>
              <a:rPr lang="fr-FR" dirty="0" smtClean="0"/>
              <a:t> L5S1 droite </a:t>
            </a:r>
          </a:p>
          <a:p>
            <a:pPr>
              <a:buNone/>
            </a:pPr>
            <a:r>
              <a:rPr lang="fr-FR" dirty="0" smtClean="0"/>
              <a:t>C </a:t>
            </a:r>
            <a:r>
              <a:rPr lang="fr-FR" dirty="0" err="1" smtClean="0"/>
              <a:t>foraminale</a:t>
            </a:r>
            <a:r>
              <a:rPr lang="fr-FR" dirty="0" smtClean="0"/>
              <a:t> L4L5 droite </a:t>
            </a:r>
          </a:p>
          <a:p>
            <a:pPr>
              <a:buNone/>
            </a:pPr>
            <a:r>
              <a:rPr lang="fr-FR" dirty="0" smtClean="0">
                <a:solidFill>
                  <a:srgbClr val="FF0000"/>
                </a:solidFill>
              </a:rPr>
              <a:t>D </a:t>
            </a:r>
            <a:r>
              <a:rPr lang="fr-FR" dirty="0" err="1" smtClean="0">
                <a:solidFill>
                  <a:srgbClr val="FF0000"/>
                </a:solidFill>
              </a:rPr>
              <a:t>postéromédiane</a:t>
            </a:r>
            <a:r>
              <a:rPr lang="fr-FR" dirty="0" smtClean="0">
                <a:solidFill>
                  <a:srgbClr val="FF0000"/>
                </a:solidFill>
              </a:rPr>
              <a:t> L4L5 droite </a:t>
            </a:r>
          </a:p>
          <a:p>
            <a:pPr>
              <a:buNone/>
            </a:pPr>
            <a:r>
              <a:rPr lang="fr-FR" dirty="0" smtClean="0">
                <a:solidFill>
                  <a:srgbClr val="FF0000"/>
                </a:solidFill>
              </a:rPr>
              <a:t>E médiane L4L5</a:t>
            </a:r>
            <a:endParaRPr lang="fr-FR"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Quel(s) examen(s) d'imagerie demandez-vous?</a:t>
            </a:r>
          </a:p>
          <a:p>
            <a:pPr>
              <a:buNone/>
            </a:pPr>
            <a:r>
              <a:rPr lang="fr-FR" dirty="0" smtClean="0"/>
              <a:t>A aucun examen </a:t>
            </a:r>
          </a:p>
          <a:p>
            <a:pPr>
              <a:buNone/>
            </a:pPr>
            <a:r>
              <a:rPr lang="fr-FR" dirty="0" smtClean="0"/>
              <a:t>B électromyogramme des membres inférieurs </a:t>
            </a:r>
          </a:p>
          <a:p>
            <a:pPr>
              <a:buNone/>
            </a:pPr>
            <a:r>
              <a:rPr lang="fr-FR" dirty="0" smtClean="0"/>
              <a:t>C scanner du rachis lombaire </a:t>
            </a:r>
          </a:p>
          <a:p>
            <a:pPr>
              <a:buNone/>
            </a:pPr>
            <a:r>
              <a:rPr lang="fr-FR" dirty="0" smtClean="0"/>
              <a:t>D IRM du rachis lombaire </a:t>
            </a:r>
          </a:p>
          <a:p>
            <a:pPr>
              <a:buNone/>
            </a:pPr>
            <a:r>
              <a:rPr lang="fr-FR" dirty="0" smtClean="0"/>
              <a:t>E </a:t>
            </a:r>
            <a:r>
              <a:rPr lang="fr-FR" dirty="0" err="1" smtClean="0"/>
              <a:t>saccoradiculographie</a:t>
            </a:r>
            <a:endParaRPr lang="fr-F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Quel(s) examen(s) d'imagerie demandez-vous?</a:t>
            </a:r>
          </a:p>
          <a:p>
            <a:pPr>
              <a:buNone/>
            </a:pPr>
            <a:r>
              <a:rPr lang="fr-FR" dirty="0" smtClean="0"/>
              <a:t>A aucun examen </a:t>
            </a:r>
          </a:p>
          <a:p>
            <a:pPr>
              <a:buNone/>
            </a:pPr>
            <a:r>
              <a:rPr lang="fr-FR" dirty="0" smtClean="0"/>
              <a:t>B électromyogramme des membres inférieurs </a:t>
            </a:r>
          </a:p>
          <a:p>
            <a:pPr>
              <a:buNone/>
            </a:pPr>
            <a:r>
              <a:rPr lang="fr-FR" dirty="0" smtClean="0">
                <a:solidFill>
                  <a:srgbClr val="FF0000"/>
                </a:solidFill>
              </a:rPr>
              <a:t>C scanner du rachis lombaire </a:t>
            </a:r>
          </a:p>
          <a:p>
            <a:pPr>
              <a:buNone/>
            </a:pPr>
            <a:r>
              <a:rPr lang="fr-FR" dirty="0" smtClean="0">
                <a:solidFill>
                  <a:srgbClr val="FF0000"/>
                </a:solidFill>
              </a:rPr>
              <a:t>D IRM du rachis lombaire </a:t>
            </a:r>
          </a:p>
          <a:p>
            <a:pPr>
              <a:buNone/>
            </a:pPr>
            <a:r>
              <a:rPr lang="fr-FR" dirty="0" smtClean="0"/>
              <a:t>E </a:t>
            </a:r>
            <a:r>
              <a:rPr lang="fr-FR" dirty="0" err="1" smtClean="0"/>
              <a:t>saccoradiculographie</a:t>
            </a:r>
            <a:endParaRPr lang="fr-F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Le patient a en fait bénéficié d'un examen d'imagerie le matin même. Une coupe en L5S1 est présentée ci-dessous.</a:t>
            </a:r>
            <a:endParaRPr lang="fr-FR" dirty="0"/>
          </a:p>
        </p:txBody>
      </p:sp>
      <p:pic>
        <p:nvPicPr>
          <p:cNvPr id="1026" name="Picture 2"/>
          <p:cNvPicPr>
            <a:picLocks noChangeAspect="1" noChangeArrowheads="1"/>
          </p:cNvPicPr>
          <p:nvPr/>
        </p:nvPicPr>
        <p:blipFill>
          <a:blip r:embed="rId2"/>
          <a:srcRect/>
          <a:stretch>
            <a:fillRect/>
          </a:stretch>
        </p:blipFill>
        <p:spPr bwMode="auto">
          <a:xfrm>
            <a:off x="3000364" y="3286124"/>
            <a:ext cx="3214710" cy="321471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De quel examen s'agit-il ? </a:t>
            </a:r>
          </a:p>
          <a:p>
            <a:pPr>
              <a:buNone/>
            </a:pPr>
            <a:r>
              <a:rPr lang="fr-FR" dirty="0" smtClean="0"/>
              <a:t>A scanner du rachis lombaire </a:t>
            </a:r>
          </a:p>
          <a:p>
            <a:pPr>
              <a:buNone/>
            </a:pPr>
            <a:r>
              <a:rPr lang="fr-FR" dirty="0" smtClean="0"/>
              <a:t>B IRM de rachis lombaire </a:t>
            </a:r>
          </a:p>
          <a:p>
            <a:pPr>
              <a:buNone/>
            </a:pPr>
            <a:r>
              <a:rPr lang="fr-FR" dirty="0" smtClean="0"/>
              <a:t>C radiographies de rachis lombaire </a:t>
            </a:r>
          </a:p>
          <a:p>
            <a:pPr>
              <a:buNone/>
            </a:pPr>
            <a:r>
              <a:rPr lang="fr-FR" dirty="0" smtClean="0"/>
              <a:t>D scintigraphie osseuse </a:t>
            </a:r>
          </a:p>
          <a:p>
            <a:pPr>
              <a:buNone/>
            </a:pPr>
            <a:r>
              <a:rPr lang="fr-FR" dirty="0" smtClean="0"/>
              <a:t>E </a:t>
            </a:r>
            <a:r>
              <a:rPr lang="fr-FR" dirty="0" err="1" smtClean="0"/>
              <a:t>ostéodensitométrie</a:t>
            </a:r>
            <a:r>
              <a:rPr lang="fr-FR" dirty="0" smtClean="0"/>
              <a:t> par </a:t>
            </a:r>
            <a:r>
              <a:rPr lang="fr-FR" dirty="0" err="1" smtClean="0"/>
              <a:t>absorptiométrie</a:t>
            </a:r>
            <a:r>
              <a:rPr lang="fr-FR" dirty="0" smtClean="0"/>
              <a:t> </a:t>
            </a:r>
            <a:r>
              <a:rPr lang="fr-FR" dirty="0" err="1" smtClean="0"/>
              <a:t>biphoto</a:t>
            </a:r>
            <a:r>
              <a:rPr lang="fr-FR" dirty="0" smtClean="0"/>
              <a:t> - nique aux rayons X</a:t>
            </a:r>
            <a:endParaRPr lang="fr-F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De quel examen s'agit-il ? </a:t>
            </a:r>
          </a:p>
          <a:p>
            <a:pPr>
              <a:buNone/>
            </a:pPr>
            <a:r>
              <a:rPr lang="fr-FR" dirty="0" smtClean="0">
                <a:solidFill>
                  <a:srgbClr val="FF0000"/>
                </a:solidFill>
              </a:rPr>
              <a:t>A scanner du rachis lombaire </a:t>
            </a:r>
          </a:p>
          <a:p>
            <a:pPr>
              <a:buNone/>
            </a:pPr>
            <a:r>
              <a:rPr lang="fr-FR" dirty="0" smtClean="0"/>
              <a:t>B IRM de rachis lombaire </a:t>
            </a:r>
          </a:p>
          <a:p>
            <a:pPr>
              <a:buNone/>
            </a:pPr>
            <a:r>
              <a:rPr lang="fr-FR" dirty="0" smtClean="0"/>
              <a:t>C radiographies de rachis lombaire </a:t>
            </a:r>
          </a:p>
          <a:p>
            <a:pPr>
              <a:buNone/>
            </a:pPr>
            <a:r>
              <a:rPr lang="fr-FR" dirty="0" smtClean="0"/>
              <a:t>D scintigraphie osseuse </a:t>
            </a:r>
          </a:p>
          <a:p>
            <a:pPr>
              <a:buNone/>
            </a:pPr>
            <a:r>
              <a:rPr lang="fr-FR" dirty="0" smtClean="0"/>
              <a:t>E </a:t>
            </a:r>
            <a:r>
              <a:rPr lang="fr-FR" dirty="0" err="1" smtClean="0"/>
              <a:t>ostéodensitométrie</a:t>
            </a:r>
            <a:r>
              <a:rPr lang="fr-FR" dirty="0" smtClean="0"/>
              <a:t> par </a:t>
            </a:r>
            <a:r>
              <a:rPr lang="fr-FR" dirty="0" err="1" smtClean="0"/>
              <a:t>absorptiométrie</a:t>
            </a:r>
            <a:r>
              <a:rPr lang="fr-FR" dirty="0" smtClean="0"/>
              <a:t> </a:t>
            </a:r>
            <a:r>
              <a:rPr lang="fr-FR" dirty="0" err="1" smtClean="0"/>
              <a:t>biphoto</a:t>
            </a:r>
            <a:r>
              <a:rPr lang="fr-FR" dirty="0" smtClean="0"/>
              <a:t> - nique aux rayons X</a:t>
            </a:r>
            <a:endParaRPr lang="fr-F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85000" lnSpcReduction="10000"/>
          </a:bodyPr>
          <a:lstStyle/>
          <a:p>
            <a:pPr>
              <a:buNone/>
            </a:pPr>
            <a:r>
              <a:rPr lang="fr-FR" dirty="0" smtClean="0"/>
              <a:t>Quel est votre diagnostic ? </a:t>
            </a:r>
          </a:p>
          <a:p>
            <a:pPr>
              <a:buNone/>
            </a:pPr>
            <a:r>
              <a:rPr lang="fr-FR" dirty="0" smtClean="0"/>
              <a:t>A lombosciatique L5 droite sur hernie discale </a:t>
            </a:r>
            <a:r>
              <a:rPr lang="fr-FR" dirty="0" err="1" smtClean="0"/>
              <a:t>forami</a:t>
            </a:r>
            <a:r>
              <a:rPr lang="fr-FR" dirty="0" smtClean="0"/>
              <a:t> - </a:t>
            </a:r>
            <a:r>
              <a:rPr lang="fr-FR" dirty="0" err="1" smtClean="0"/>
              <a:t>nale</a:t>
            </a:r>
            <a:r>
              <a:rPr lang="fr-FR" dirty="0" smtClean="0"/>
              <a:t> L5S1 droite </a:t>
            </a:r>
          </a:p>
          <a:p>
            <a:pPr>
              <a:buNone/>
            </a:pPr>
            <a:r>
              <a:rPr lang="fr-FR" dirty="0" smtClean="0"/>
              <a:t>B lombosciatique L5 droite sur hernie discale posté - </a:t>
            </a:r>
            <a:r>
              <a:rPr lang="fr-FR" dirty="0" err="1" smtClean="0"/>
              <a:t>rolatérale</a:t>
            </a:r>
            <a:r>
              <a:rPr lang="fr-FR" dirty="0" smtClean="0"/>
              <a:t> L4L5 droite </a:t>
            </a:r>
          </a:p>
          <a:p>
            <a:pPr>
              <a:buNone/>
            </a:pPr>
            <a:r>
              <a:rPr lang="fr-FR" dirty="0" smtClean="0"/>
              <a:t>C lombosciatique L5 gauche sur canal lombaire rétréci </a:t>
            </a:r>
          </a:p>
          <a:p>
            <a:pPr>
              <a:buNone/>
            </a:pPr>
            <a:r>
              <a:rPr lang="fr-FR" dirty="0" smtClean="0"/>
              <a:t>D sciatique L5 gauche sur tumeur nerveuse développée aux dépens de la racine L5 gauche </a:t>
            </a:r>
          </a:p>
          <a:p>
            <a:pPr>
              <a:buNone/>
            </a:pPr>
            <a:r>
              <a:rPr lang="fr-FR" dirty="0" smtClean="0"/>
              <a:t>E lombosciatique S1 gauche sur hernie discale </a:t>
            </a:r>
            <a:r>
              <a:rPr lang="fr-FR" dirty="0" err="1" smtClean="0"/>
              <a:t>postérolatérale</a:t>
            </a:r>
            <a:r>
              <a:rPr lang="fr-FR" dirty="0" smtClean="0"/>
              <a:t> L5S1 gauche</a:t>
            </a:r>
            <a:endParaRPr lang="fr-F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85000" lnSpcReduction="10000"/>
          </a:bodyPr>
          <a:lstStyle/>
          <a:p>
            <a:pPr>
              <a:buNone/>
            </a:pPr>
            <a:r>
              <a:rPr lang="fr-FR" dirty="0" smtClean="0"/>
              <a:t>Quel est votre diagnostic ? </a:t>
            </a:r>
          </a:p>
          <a:p>
            <a:pPr>
              <a:buNone/>
            </a:pPr>
            <a:r>
              <a:rPr lang="fr-FR" dirty="0" smtClean="0">
                <a:solidFill>
                  <a:srgbClr val="FF0000"/>
                </a:solidFill>
              </a:rPr>
              <a:t>A lombosciatique L5 droite sur hernie discale </a:t>
            </a:r>
            <a:r>
              <a:rPr lang="fr-FR" dirty="0" err="1" smtClean="0">
                <a:solidFill>
                  <a:srgbClr val="FF0000"/>
                </a:solidFill>
              </a:rPr>
              <a:t>forami</a:t>
            </a:r>
            <a:r>
              <a:rPr lang="fr-FR" dirty="0" smtClean="0">
                <a:solidFill>
                  <a:srgbClr val="FF0000"/>
                </a:solidFill>
              </a:rPr>
              <a:t> - </a:t>
            </a:r>
            <a:r>
              <a:rPr lang="fr-FR" dirty="0" err="1" smtClean="0">
                <a:solidFill>
                  <a:srgbClr val="FF0000"/>
                </a:solidFill>
              </a:rPr>
              <a:t>nale</a:t>
            </a:r>
            <a:r>
              <a:rPr lang="fr-FR" dirty="0" smtClean="0">
                <a:solidFill>
                  <a:srgbClr val="FF0000"/>
                </a:solidFill>
              </a:rPr>
              <a:t> L5S1 droite </a:t>
            </a:r>
          </a:p>
          <a:p>
            <a:pPr>
              <a:buNone/>
            </a:pPr>
            <a:r>
              <a:rPr lang="fr-FR" dirty="0" smtClean="0"/>
              <a:t>B lombosciatique L5 droite sur hernie discale posté - </a:t>
            </a:r>
            <a:r>
              <a:rPr lang="fr-FR" dirty="0" err="1" smtClean="0"/>
              <a:t>rolatérale</a:t>
            </a:r>
            <a:r>
              <a:rPr lang="fr-FR" dirty="0" smtClean="0"/>
              <a:t> L4L5 droite </a:t>
            </a:r>
          </a:p>
          <a:p>
            <a:pPr>
              <a:buNone/>
            </a:pPr>
            <a:r>
              <a:rPr lang="fr-FR" dirty="0" smtClean="0"/>
              <a:t>C lombosciatique L5 gauche sur canal lombaire rétréci </a:t>
            </a:r>
          </a:p>
          <a:p>
            <a:pPr>
              <a:buNone/>
            </a:pPr>
            <a:r>
              <a:rPr lang="fr-FR" dirty="0" smtClean="0"/>
              <a:t>D sciatique L5 gauche sur tumeur nerveuse développée aux dépens de la racine L5 gauche </a:t>
            </a:r>
          </a:p>
          <a:p>
            <a:pPr>
              <a:buNone/>
            </a:pPr>
            <a:r>
              <a:rPr lang="fr-FR" dirty="0" smtClean="0"/>
              <a:t>E lombosciatique S1 gauche sur hernie discale </a:t>
            </a:r>
            <a:r>
              <a:rPr lang="fr-FR" dirty="0" err="1" smtClean="0"/>
              <a:t>postérolatérale</a:t>
            </a:r>
            <a:r>
              <a:rPr lang="fr-FR" dirty="0" smtClean="0"/>
              <a:t> L5S1 gauche</a:t>
            </a:r>
            <a:endParaRPr lang="fr-F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Quelle prise en charge thérapeutique proposez-vous à ce stade ? </a:t>
            </a:r>
          </a:p>
          <a:p>
            <a:pPr>
              <a:buNone/>
            </a:pPr>
            <a:r>
              <a:rPr lang="fr-FR" dirty="0" smtClean="0"/>
              <a:t>A infiltration épidurale </a:t>
            </a:r>
          </a:p>
          <a:p>
            <a:pPr>
              <a:buNone/>
            </a:pPr>
            <a:r>
              <a:rPr lang="fr-FR" dirty="0" smtClean="0"/>
              <a:t>B kinésithérapie </a:t>
            </a:r>
          </a:p>
          <a:p>
            <a:pPr>
              <a:buNone/>
            </a:pPr>
            <a:r>
              <a:rPr lang="fr-FR" dirty="0" smtClean="0"/>
              <a:t>C </a:t>
            </a:r>
            <a:r>
              <a:rPr lang="fr-FR" dirty="0" err="1" smtClean="0"/>
              <a:t>discectomie</a:t>
            </a:r>
            <a:endParaRPr lang="fr-FR" dirty="0" smtClean="0"/>
          </a:p>
          <a:p>
            <a:pPr>
              <a:buNone/>
            </a:pPr>
            <a:r>
              <a:rPr lang="fr-FR" dirty="0" smtClean="0"/>
              <a:t>D antalgiques </a:t>
            </a:r>
          </a:p>
          <a:p>
            <a:pPr>
              <a:buNone/>
            </a:pPr>
            <a:r>
              <a:rPr lang="fr-FR" dirty="0" smtClean="0"/>
              <a:t>E AINS</a:t>
            </a:r>
            <a:endParaRPr lang="fr-F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Quelle prise en charge thérapeutique proposez-vous à ce stade ? </a:t>
            </a:r>
          </a:p>
          <a:p>
            <a:pPr>
              <a:buNone/>
            </a:pPr>
            <a:r>
              <a:rPr lang="fr-FR" dirty="0" smtClean="0"/>
              <a:t>A infiltration épidurale </a:t>
            </a:r>
          </a:p>
          <a:p>
            <a:pPr>
              <a:buNone/>
            </a:pPr>
            <a:r>
              <a:rPr lang="fr-FR" dirty="0" smtClean="0"/>
              <a:t>B kinésithérapie </a:t>
            </a:r>
          </a:p>
          <a:p>
            <a:pPr>
              <a:buNone/>
            </a:pPr>
            <a:r>
              <a:rPr lang="fr-FR" dirty="0" smtClean="0">
                <a:solidFill>
                  <a:srgbClr val="FF0000"/>
                </a:solidFill>
              </a:rPr>
              <a:t>C </a:t>
            </a:r>
            <a:r>
              <a:rPr lang="fr-FR" dirty="0" err="1" smtClean="0">
                <a:solidFill>
                  <a:srgbClr val="FF0000"/>
                </a:solidFill>
              </a:rPr>
              <a:t>discectomie</a:t>
            </a:r>
            <a:endParaRPr lang="fr-FR" dirty="0" smtClean="0">
              <a:solidFill>
                <a:srgbClr val="FF0000"/>
              </a:solidFill>
            </a:endParaRPr>
          </a:p>
          <a:p>
            <a:pPr>
              <a:buNone/>
            </a:pPr>
            <a:r>
              <a:rPr lang="fr-FR" dirty="0" smtClean="0">
                <a:solidFill>
                  <a:srgbClr val="FF0000"/>
                </a:solidFill>
              </a:rPr>
              <a:t>D antalgiques </a:t>
            </a:r>
          </a:p>
          <a:p>
            <a:pPr>
              <a:buNone/>
            </a:pPr>
            <a:r>
              <a:rPr lang="fr-FR" dirty="0" smtClean="0">
                <a:solidFill>
                  <a:srgbClr val="FF0000"/>
                </a:solidFill>
              </a:rPr>
              <a:t>E AINS</a:t>
            </a:r>
            <a:endParaRPr lang="fr-FR" dirty="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Malgré votre prise en charge, il persiste un steppage. Quels en sont les principaux risques ? </a:t>
            </a:r>
          </a:p>
          <a:p>
            <a:pPr>
              <a:buNone/>
            </a:pPr>
            <a:r>
              <a:rPr lang="fr-FR" dirty="0" smtClean="0"/>
              <a:t>A chute </a:t>
            </a:r>
          </a:p>
          <a:p>
            <a:pPr>
              <a:buNone/>
            </a:pPr>
            <a:r>
              <a:rPr lang="fr-FR" dirty="0" smtClean="0"/>
              <a:t>B tendinite achilléenne </a:t>
            </a:r>
          </a:p>
          <a:p>
            <a:pPr>
              <a:buNone/>
            </a:pPr>
            <a:r>
              <a:rPr lang="fr-FR" dirty="0" smtClean="0"/>
              <a:t>C entorse de cheville </a:t>
            </a:r>
          </a:p>
          <a:p>
            <a:pPr>
              <a:buNone/>
            </a:pPr>
            <a:r>
              <a:rPr lang="fr-FR" dirty="0" smtClean="0"/>
              <a:t>D gonarthrose </a:t>
            </a:r>
          </a:p>
          <a:p>
            <a:pPr>
              <a:buNone/>
            </a:pPr>
            <a:r>
              <a:rPr lang="fr-FR" dirty="0" smtClean="0"/>
              <a:t>E pathologie méniscale </a:t>
            </a:r>
            <a:endParaRPr lang="fr-F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Malgré votre prise en charge, il persiste un steppage. Quels en sont les principaux risques ? </a:t>
            </a:r>
          </a:p>
          <a:p>
            <a:pPr>
              <a:buNone/>
            </a:pPr>
            <a:r>
              <a:rPr lang="fr-FR" dirty="0" smtClean="0">
                <a:solidFill>
                  <a:srgbClr val="FF0000"/>
                </a:solidFill>
              </a:rPr>
              <a:t>A chute </a:t>
            </a:r>
          </a:p>
          <a:p>
            <a:pPr>
              <a:buNone/>
            </a:pPr>
            <a:r>
              <a:rPr lang="fr-FR" dirty="0" smtClean="0"/>
              <a:t>B tendinite achilléenne </a:t>
            </a:r>
          </a:p>
          <a:p>
            <a:pPr>
              <a:buNone/>
            </a:pPr>
            <a:r>
              <a:rPr lang="fr-FR" dirty="0" smtClean="0"/>
              <a:t>C entorse de cheville </a:t>
            </a:r>
          </a:p>
          <a:p>
            <a:pPr>
              <a:buNone/>
            </a:pPr>
            <a:r>
              <a:rPr lang="fr-FR" dirty="0" smtClean="0"/>
              <a:t>D gonarthrose </a:t>
            </a:r>
          </a:p>
          <a:p>
            <a:pPr>
              <a:buNone/>
            </a:pPr>
            <a:r>
              <a:rPr lang="fr-FR" dirty="0" smtClean="0"/>
              <a:t>E pathologie méniscale </a:t>
            </a:r>
            <a:endParaRPr lang="fr-F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10000"/>
          </a:bodyPr>
          <a:lstStyle/>
          <a:p>
            <a:pPr>
              <a:buNone/>
            </a:pPr>
            <a:r>
              <a:rPr lang="fr-FR" dirty="0" smtClean="0"/>
              <a:t>Que pouvez-vous proposer au patient compte tenu du steppage ? </a:t>
            </a:r>
          </a:p>
          <a:p>
            <a:pPr>
              <a:buNone/>
            </a:pPr>
            <a:r>
              <a:rPr lang="fr-FR" dirty="0" smtClean="0"/>
              <a:t>A une infiltration épidurale </a:t>
            </a:r>
          </a:p>
          <a:p>
            <a:pPr>
              <a:buNone/>
            </a:pPr>
            <a:r>
              <a:rPr lang="fr-FR" dirty="0" smtClean="0"/>
              <a:t>B une prise en charge en kinésithérapie avec renforcement musculaire, travail proprioceptif </a:t>
            </a:r>
          </a:p>
          <a:p>
            <a:pPr>
              <a:buNone/>
            </a:pPr>
            <a:r>
              <a:rPr lang="fr-FR" dirty="0" smtClean="0"/>
              <a:t>C une attelle de releveur du pied </a:t>
            </a:r>
          </a:p>
          <a:p>
            <a:pPr>
              <a:buNone/>
            </a:pPr>
            <a:r>
              <a:rPr lang="fr-FR" dirty="0" smtClean="0"/>
              <a:t>D une exploration chirurgicale pour vérifier l'absence de fragment herniaire persistant </a:t>
            </a:r>
          </a:p>
          <a:p>
            <a:pPr>
              <a:buNone/>
            </a:pPr>
            <a:r>
              <a:rPr lang="fr-FR" dirty="0" smtClean="0"/>
              <a:t>E une attelle de cheville</a:t>
            </a:r>
            <a:endParaRPr lang="fr-F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10000"/>
          </a:bodyPr>
          <a:lstStyle/>
          <a:p>
            <a:pPr>
              <a:buNone/>
            </a:pPr>
            <a:r>
              <a:rPr lang="fr-FR" dirty="0" smtClean="0"/>
              <a:t>Que pouvez-vous proposer au patient compte tenu du steppage ? </a:t>
            </a:r>
          </a:p>
          <a:p>
            <a:pPr>
              <a:buNone/>
            </a:pPr>
            <a:r>
              <a:rPr lang="fr-FR" dirty="0" smtClean="0"/>
              <a:t>A une infiltration épidurale </a:t>
            </a:r>
          </a:p>
          <a:p>
            <a:pPr>
              <a:buNone/>
            </a:pPr>
            <a:r>
              <a:rPr lang="fr-FR" dirty="0" smtClean="0">
                <a:solidFill>
                  <a:srgbClr val="FF0000"/>
                </a:solidFill>
              </a:rPr>
              <a:t>B une prise en charge en kinésithérapie avec renforcement musculaire, travail proprioceptif </a:t>
            </a:r>
          </a:p>
          <a:p>
            <a:pPr>
              <a:buNone/>
            </a:pPr>
            <a:r>
              <a:rPr lang="fr-FR" dirty="0" smtClean="0">
                <a:solidFill>
                  <a:srgbClr val="FF0000"/>
                </a:solidFill>
              </a:rPr>
              <a:t>C une attelle de releveur du pied </a:t>
            </a:r>
          </a:p>
          <a:p>
            <a:pPr>
              <a:buNone/>
            </a:pPr>
            <a:r>
              <a:rPr lang="fr-FR" dirty="0" smtClean="0"/>
              <a:t>D une exploration chirurgicale pour vérifier l'absence de fragment herniaire persistant </a:t>
            </a:r>
          </a:p>
          <a:p>
            <a:pPr>
              <a:buNone/>
            </a:pPr>
            <a:r>
              <a:rPr lang="fr-FR" dirty="0" smtClean="0"/>
              <a:t>E une attelle de cheville</a:t>
            </a:r>
            <a:endParaRPr lang="fr-F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8229600" cy="1143000"/>
          </a:xfrm>
        </p:spPr>
        <p:txBody>
          <a:bodyPr/>
          <a:lstStyle/>
          <a:p>
            <a:r>
              <a:rPr lang="fr-FR" dirty="0" smtClean="0"/>
              <a:t>Cas clinique 2: RIC</a:t>
            </a:r>
            <a:endParaRPr lang="fr-FR" dirty="0"/>
          </a:p>
        </p:txBody>
      </p:sp>
      <p:sp>
        <p:nvSpPr>
          <p:cNvPr id="3" name="Espace réservé du contenu 2"/>
          <p:cNvSpPr>
            <a:spLocks noGrp="1"/>
          </p:cNvSpPr>
          <p:nvPr>
            <p:ph idx="1"/>
          </p:nvPr>
        </p:nvSpPr>
        <p:spPr>
          <a:xfrm>
            <a:off x="428596" y="1260491"/>
            <a:ext cx="8229600" cy="4525963"/>
          </a:xfrm>
        </p:spPr>
        <p:txBody>
          <a:bodyPr>
            <a:noAutofit/>
          </a:bodyPr>
          <a:lstStyle/>
          <a:p>
            <a:pPr>
              <a:buNone/>
            </a:pPr>
            <a:r>
              <a:rPr lang="fr-FR" sz="2000" dirty="0" smtClean="0"/>
              <a:t>       Vous recevez en consultation une institutrice de 60 ans adressée par son médecin traitant pour des douleurs des mains, poignets et pieds évoluant depuis 3  mois. Les douleurs sont responsables de plusieurs réveils nocturnes et d'un dérouillage matinal de 2 heures. Elles s'accompagnent parfois de gonflements articulaires. Elle n'a pas d'</a:t>
            </a:r>
            <a:r>
              <a:rPr lang="fr-FR" sz="2000" dirty="0" err="1" smtClean="0"/>
              <a:t>anté</a:t>
            </a:r>
            <a:r>
              <a:rPr lang="fr-FR" sz="2000" dirty="0" smtClean="0"/>
              <a:t> - </a:t>
            </a:r>
            <a:r>
              <a:rPr lang="fr-FR" sz="2000" dirty="0" err="1" smtClean="0"/>
              <a:t>cédent</a:t>
            </a:r>
            <a:r>
              <a:rPr lang="fr-FR" sz="2000" dirty="0" smtClean="0"/>
              <a:t> ; elle décrit simplement trois épisodes de rougeurs et douleurs oculaires ces 6  derniers mois, avec une sensation de gêne persistante au niveau des yeux, comme si « elle avait du sable dans l'œil ». Il n'y avait pas de baisse d'acuité visuelle. Il n'y a pas d'autre signe fonctionnel et la patiente ne prend aucun traitement. Au niveau des mains, vous constatez des </a:t>
            </a:r>
            <a:r>
              <a:rPr lang="fr-FR" sz="2000" dirty="0" err="1" smtClean="0"/>
              <a:t>tuméfac</a:t>
            </a:r>
            <a:r>
              <a:rPr lang="fr-FR" sz="2000" dirty="0" smtClean="0"/>
              <a:t> - </a:t>
            </a:r>
            <a:r>
              <a:rPr lang="fr-FR" sz="2000" dirty="0" err="1" smtClean="0"/>
              <a:t>tions</a:t>
            </a:r>
            <a:r>
              <a:rPr lang="fr-FR" sz="2000" dirty="0" smtClean="0"/>
              <a:t> douloureuses, rénitentes, au niveau de quatre articulations </a:t>
            </a:r>
            <a:r>
              <a:rPr lang="fr-FR" sz="2000" dirty="0" err="1" smtClean="0"/>
              <a:t>métacarpophalangiennes</a:t>
            </a:r>
            <a:r>
              <a:rPr lang="fr-FR" sz="2000" dirty="0" smtClean="0"/>
              <a:t> (MCP) et trois </a:t>
            </a:r>
            <a:r>
              <a:rPr lang="fr-FR" sz="2000" dirty="0" err="1" smtClean="0"/>
              <a:t>interphalangiennes</a:t>
            </a:r>
            <a:r>
              <a:rPr lang="fr-FR" sz="2000" dirty="0" smtClean="0"/>
              <a:t> proximales (IPP). Certaines inter - phalangiennes distales (IPD) sont déformées, avec des nodosités fermes, non rénitentes, évoluant depuis plusieurs années et rarement douloureuses d'après la patiente. </a:t>
            </a:r>
            <a:endParaRPr lang="fr-FR"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10000"/>
          </a:bodyPr>
          <a:lstStyle/>
          <a:p>
            <a:pPr>
              <a:buNone/>
            </a:pPr>
            <a:r>
              <a:rPr lang="fr-FR" dirty="0" smtClean="0"/>
              <a:t>    Il y a quelques années, son médecin traitant lui avait parlé d'arthrose digitale. Le reste de l'examen clinique est sans particularité. Les radiographies des mains et poignets réalisées la semaine précédente montrent un pincement de l'interligne articulaire de plusieurs IPD associé à des constructions osseuses latérales. Il n'y a pas d'autres anomalies. Le bilan biologique dont vous disposez retrouve un hémogramme normal, une CRP à 35 mg/l.</a:t>
            </a:r>
            <a:endParaRPr lang="fr-F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85000" lnSpcReduction="20000"/>
          </a:bodyPr>
          <a:lstStyle/>
          <a:p>
            <a:pPr>
              <a:buNone/>
            </a:pPr>
            <a:r>
              <a:rPr lang="fr-FR" dirty="0" smtClean="0"/>
              <a:t>Question 1 – QRM Que pensez-vous du diagnostic d'arthrose digitale pour expliquer l'atteinte des IPD ?</a:t>
            </a:r>
          </a:p>
          <a:p>
            <a:pPr>
              <a:buNone/>
            </a:pPr>
            <a:r>
              <a:rPr lang="fr-FR" dirty="0" smtClean="0"/>
              <a:t> A vous confirmez le diagnostic sur les éléments </a:t>
            </a:r>
            <a:r>
              <a:rPr lang="fr-FR" dirty="0" err="1" smtClean="0"/>
              <a:t>cli</a:t>
            </a:r>
            <a:r>
              <a:rPr lang="fr-FR" dirty="0" smtClean="0"/>
              <a:t> - niques et radiographiques </a:t>
            </a:r>
          </a:p>
          <a:p>
            <a:pPr>
              <a:buNone/>
            </a:pPr>
            <a:r>
              <a:rPr lang="fr-FR" dirty="0" smtClean="0"/>
              <a:t>B compte tenu de l'atteinte inflammatoire récente, vous excluez le diagnostic d'arthrose digitale </a:t>
            </a:r>
          </a:p>
          <a:p>
            <a:pPr>
              <a:buNone/>
            </a:pPr>
            <a:r>
              <a:rPr lang="fr-FR" dirty="0" smtClean="0"/>
              <a:t>C vous pensez qu'il ne s'agit pas d'arthrose </a:t>
            </a:r>
            <a:r>
              <a:rPr lang="fr-FR" dirty="0" err="1" smtClean="0"/>
              <a:t>digi</a:t>
            </a:r>
            <a:r>
              <a:rPr lang="fr-FR" dirty="0" smtClean="0"/>
              <a:t> - tale mais qu'il pourrait s'agir d'un rhumatisme psoriasique </a:t>
            </a:r>
          </a:p>
          <a:p>
            <a:pPr>
              <a:buNone/>
            </a:pPr>
            <a:r>
              <a:rPr lang="fr-FR" dirty="0" smtClean="0"/>
              <a:t>D l'examen physique est en effet évocateur de nodosités d'Heberden et donc d'arthrose digitale </a:t>
            </a:r>
          </a:p>
          <a:p>
            <a:pPr>
              <a:buNone/>
            </a:pPr>
            <a:r>
              <a:rPr lang="fr-FR" dirty="0" smtClean="0"/>
              <a:t>E vous pensez qu'il ne s'agit pas d'arthrose </a:t>
            </a:r>
            <a:r>
              <a:rPr lang="fr-FR" dirty="0" err="1" smtClean="0"/>
              <a:t>digi</a:t>
            </a:r>
            <a:r>
              <a:rPr lang="fr-FR" dirty="0" smtClean="0"/>
              <a:t> - tale, mais qu'il pourrait s'agir d'une polyarthrite rhumatoïde</a:t>
            </a:r>
            <a:endParaRPr lang="fr-F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85000" lnSpcReduction="20000"/>
          </a:bodyPr>
          <a:lstStyle/>
          <a:p>
            <a:pPr>
              <a:buNone/>
            </a:pPr>
            <a:r>
              <a:rPr lang="fr-FR" dirty="0" smtClean="0"/>
              <a:t>Question 1 – QRM Que pensez-vous du diagnostic d'arthrose digitale pour expliquer l'atteinte des IPD ?</a:t>
            </a:r>
          </a:p>
          <a:p>
            <a:pPr>
              <a:buNone/>
            </a:pPr>
            <a:r>
              <a:rPr lang="fr-FR" dirty="0" smtClean="0"/>
              <a:t> </a:t>
            </a:r>
            <a:r>
              <a:rPr lang="fr-FR" dirty="0" smtClean="0">
                <a:solidFill>
                  <a:srgbClr val="FF0000"/>
                </a:solidFill>
              </a:rPr>
              <a:t>A vous confirmez le diagnostic sur les éléments </a:t>
            </a:r>
            <a:r>
              <a:rPr lang="fr-FR" dirty="0" err="1" smtClean="0">
                <a:solidFill>
                  <a:srgbClr val="FF0000"/>
                </a:solidFill>
              </a:rPr>
              <a:t>cli</a:t>
            </a:r>
            <a:r>
              <a:rPr lang="fr-FR" dirty="0" smtClean="0">
                <a:solidFill>
                  <a:srgbClr val="FF0000"/>
                </a:solidFill>
              </a:rPr>
              <a:t> - niques et radiographiques </a:t>
            </a:r>
          </a:p>
          <a:p>
            <a:pPr>
              <a:buNone/>
            </a:pPr>
            <a:r>
              <a:rPr lang="fr-FR" dirty="0" smtClean="0"/>
              <a:t>B compte tenu de l'atteinte inflammatoire récente, vous excluez le diagnostic d'arthrose digitale </a:t>
            </a:r>
          </a:p>
          <a:p>
            <a:pPr>
              <a:buNone/>
            </a:pPr>
            <a:r>
              <a:rPr lang="fr-FR" dirty="0" smtClean="0"/>
              <a:t>C vous pensez qu'il ne s'agit pas d'arthrose </a:t>
            </a:r>
            <a:r>
              <a:rPr lang="fr-FR" dirty="0" err="1" smtClean="0"/>
              <a:t>digi</a:t>
            </a:r>
            <a:r>
              <a:rPr lang="fr-FR" dirty="0" smtClean="0"/>
              <a:t> - tale mais qu'il pourrait s'agir d'un rhumatisme psoriasique </a:t>
            </a:r>
          </a:p>
          <a:p>
            <a:pPr>
              <a:buNone/>
            </a:pPr>
            <a:r>
              <a:rPr lang="fr-FR" dirty="0" smtClean="0">
                <a:solidFill>
                  <a:srgbClr val="FF0000"/>
                </a:solidFill>
              </a:rPr>
              <a:t>D l'examen physique est en effet évocateur de nodosités d'Heberden et donc d'arthrose digitale </a:t>
            </a:r>
          </a:p>
          <a:p>
            <a:pPr>
              <a:buNone/>
            </a:pPr>
            <a:r>
              <a:rPr lang="fr-FR" dirty="0" smtClean="0"/>
              <a:t>E vous pensez qu'il ne s'agit pas d'arthrose </a:t>
            </a:r>
            <a:r>
              <a:rPr lang="fr-FR" dirty="0" err="1" smtClean="0"/>
              <a:t>digi</a:t>
            </a:r>
            <a:r>
              <a:rPr lang="fr-FR" dirty="0" smtClean="0"/>
              <a:t> - tale, mais qu'il pourrait s'agir d'une polyarthrite rhumatoïde</a:t>
            </a:r>
            <a:endParaRPr lang="fr-F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10000"/>
          </a:bodyPr>
          <a:lstStyle/>
          <a:p>
            <a:pPr>
              <a:buNone/>
            </a:pPr>
            <a:r>
              <a:rPr lang="fr-FR" dirty="0" smtClean="0"/>
              <a:t>Question 2 – QRM Quelles hypothèses diagnostiques vous semblent les plus probables pour expliquer les manifestations </a:t>
            </a:r>
            <a:r>
              <a:rPr lang="fr-FR" dirty="0" err="1" smtClean="0"/>
              <a:t>rhu</a:t>
            </a:r>
            <a:r>
              <a:rPr lang="fr-FR" dirty="0" smtClean="0"/>
              <a:t> - </a:t>
            </a:r>
            <a:r>
              <a:rPr lang="fr-FR" dirty="0" err="1" smtClean="0"/>
              <a:t>matologiques</a:t>
            </a:r>
            <a:r>
              <a:rPr lang="fr-FR" dirty="0" smtClean="0"/>
              <a:t> et ophtalmologiques récentes ? </a:t>
            </a:r>
          </a:p>
          <a:p>
            <a:pPr>
              <a:buNone/>
            </a:pPr>
            <a:r>
              <a:rPr lang="fr-FR" dirty="0" smtClean="0"/>
              <a:t>A rhumatisme psoriasique </a:t>
            </a:r>
          </a:p>
          <a:p>
            <a:pPr>
              <a:buNone/>
            </a:pPr>
            <a:r>
              <a:rPr lang="fr-FR" dirty="0" smtClean="0"/>
              <a:t>B polyarthrite rhumatoïde </a:t>
            </a:r>
          </a:p>
          <a:p>
            <a:pPr>
              <a:buNone/>
            </a:pPr>
            <a:r>
              <a:rPr lang="fr-FR" dirty="0" smtClean="0"/>
              <a:t>C </a:t>
            </a:r>
            <a:r>
              <a:rPr lang="fr-FR" dirty="0" err="1" smtClean="0"/>
              <a:t>pseudopolyarthrite</a:t>
            </a:r>
            <a:r>
              <a:rPr lang="fr-FR" dirty="0" smtClean="0"/>
              <a:t> </a:t>
            </a:r>
            <a:r>
              <a:rPr lang="fr-FR" dirty="0" err="1" smtClean="0"/>
              <a:t>rhizomélique</a:t>
            </a:r>
            <a:r>
              <a:rPr lang="fr-FR" dirty="0" smtClean="0"/>
              <a:t> </a:t>
            </a:r>
          </a:p>
          <a:p>
            <a:pPr>
              <a:buNone/>
            </a:pPr>
            <a:r>
              <a:rPr lang="fr-FR" dirty="0" smtClean="0"/>
              <a:t>D chondrocalcinose articulaire </a:t>
            </a:r>
          </a:p>
          <a:p>
            <a:pPr>
              <a:buNone/>
            </a:pPr>
            <a:r>
              <a:rPr lang="fr-FR" dirty="0" smtClean="0"/>
              <a:t>E syndrome de </a:t>
            </a:r>
            <a:r>
              <a:rPr lang="fr-FR" dirty="0" err="1" smtClean="0"/>
              <a:t>Gougerot</a:t>
            </a:r>
            <a:r>
              <a:rPr lang="fr-FR" dirty="0" smtClean="0"/>
              <a:t>-</a:t>
            </a:r>
            <a:r>
              <a:rPr lang="fr-FR" dirty="0" err="1" smtClean="0"/>
              <a:t>Sjögren</a:t>
            </a:r>
            <a:endParaRPr lang="fr-F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10000"/>
          </a:bodyPr>
          <a:lstStyle/>
          <a:p>
            <a:pPr>
              <a:buNone/>
            </a:pPr>
            <a:r>
              <a:rPr lang="fr-FR" dirty="0" smtClean="0"/>
              <a:t>Question 2 – QRM Quelles hypothèses diagnostiques vous semblent les plus probables pour expliquer les manifestations </a:t>
            </a:r>
            <a:r>
              <a:rPr lang="fr-FR" dirty="0" err="1" smtClean="0"/>
              <a:t>rhu</a:t>
            </a:r>
            <a:r>
              <a:rPr lang="fr-FR" dirty="0" smtClean="0"/>
              <a:t> - </a:t>
            </a:r>
            <a:r>
              <a:rPr lang="fr-FR" dirty="0" err="1" smtClean="0"/>
              <a:t>matologiques</a:t>
            </a:r>
            <a:r>
              <a:rPr lang="fr-FR" dirty="0" smtClean="0"/>
              <a:t> et ophtalmologiques récentes ? </a:t>
            </a:r>
          </a:p>
          <a:p>
            <a:pPr>
              <a:buNone/>
            </a:pPr>
            <a:r>
              <a:rPr lang="fr-FR" dirty="0" smtClean="0"/>
              <a:t>A rhumatisme psoriasique </a:t>
            </a:r>
          </a:p>
          <a:p>
            <a:pPr>
              <a:buNone/>
            </a:pPr>
            <a:r>
              <a:rPr lang="fr-FR" dirty="0" smtClean="0">
                <a:solidFill>
                  <a:srgbClr val="FF0000"/>
                </a:solidFill>
              </a:rPr>
              <a:t>B polyarthrite rhumatoïde </a:t>
            </a:r>
          </a:p>
          <a:p>
            <a:pPr>
              <a:buNone/>
            </a:pPr>
            <a:r>
              <a:rPr lang="fr-FR" dirty="0" smtClean="0"/>
              <a:t>C </a:t>
            </a:r>
            <a:r>
              <a:rPr lang="fr-FR" dirty="0" err="1" smtClean="0"/>
              <a:t>pseudopolyarthrite</a:t>
            </a:r>
            <a:r>
              <a:rPr lang="fr-FR" dirty="0" smtClean="0"/>
              <a:t> </a:t>
            </a:r>
            <a:r>
              <a:rPr lang="fr-FR" dirty="0" err="1" smtClean="0"/>
              <a:t>rhizomélique</a:t>
            </a:r>
            <a:r>
              <a:rPr lang="fr-FR" dirty="0" smtClean="0"/>
              <a:t> </a:t>
            </a:r>
          </a:p>
          <a:p>
            <a:pPr>
              <a:buNone/>
            </a:pPr>
            <a:r>
              <a:rPr lang="fr-FR" dirty="0" smtClean="0"/>
              <a:t>D chondrocalcinose articulaire </a:t>
            </a:r>
          </a:p>
          <a:p>
            <a:pPr>
              <a:buNone/>
            </a:pPr>
            <a:r>
              <a:rPr lang="fr-FR" dirty="0" smtClean="0">
                <a:solidFill>
                  <a:srgbClr val="FF0000"/>
                </a:solidFill>
              </a:rPr>
              <a:t>E syndrome de </a:t>
            </a:r>
            <a:r>
              <a:rPr lang="fr-FR" dirty="0" err="1" smtClean="0">
                <a:solidFill>
                  <a:srgbClr val="FF0000"/>
                </a:solidFill>
              </a:rPr>
              <a:t>Gougerot</a:t>
            </a:r>
            <a:r>
              <a:rPr lang="fr-FR" dirty="0" smtClean="0">
                <a:solidFill>
                  <a:srgbClr val="FF0000"/>
                </a:solidFill>
              </a:rPr>
              <a:t>-</a:t>
            </a:r>
            <a:r>
              <a:rPr lang="fr-FR" dirty="0" err="1" smtClean="0">
                <a:solidFill>
                  <a:srgbClr val="FF0000"/>
                </a:solidFill>
              </a:rPr>
              <a:t>Sjögren</a:t>
            </a:r>
            <a:endParaRPr lang="fr-FR"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a:bodyPr>
          <a:lstStyle/>
          <a:p>
            <a:pPr>
              <a:buNone/>
            </a:pPr>
            <a:r>
              <a:rPr lang="fr-FR" dirty="0" smtClean="0"/>
              <a:t>Question 3 – QRM Parmi les examens d'imagerie suivants, lequel (les - quels) demandez-vous ? </a:t>
            </a:r>
          </a:p>
          <a:p>
            <a:pPr>
              <a:buNone/>
            </a:pPr>
            <a:r>
              <a:rPr lang="fr-FR" dirty="0" smtClean="0"/>
              <a:t>A radiographies des sacro-iliaques </a:t>
            </a:r>
          </a:p>
          <a:p>
            <a:pPr>
              <a:buNone/>
            </a:pPr>
            <a:r>
              <a:rPr lang="fr-FR" dirty="0" smtClean="0"/>
              <a:t>B radiographies de pieds de face et avant-pieds de trois quarts </a:t>
            </a:r>
          </a:p>
          <a:p>
            <a:pPr>
              <a:buNone/>
            </a:pPr>
            <a:r>
              <a:rPr lang="fr-FR" dirty="0" smtClean="0"/>
              <a:t>C radiographie de thorax de face </a:t>
            </a:r>
          </a:p>
          <a:p>
            <a:pPr>
              <a:buNone/>
            </a:pPr>
            <a:r>
              <a:rPr lang="fr-FR" dirty="0" smtClean="0"/>
              <a:t>D radiographies de rachis cervical de face et profil </a:t>
            </a:r>
          </a:p>
          <a:p>
            <a:pPr>
              <a:buNone/>
            </a:pPr>
            <a:r>
              <a:rPr lang="fr-FR" dirty="0" smtClean="0"/>
              <a:t>E IRM des mains</a:t>
            </a:r>
            <a:endParaRPr lang="fr-F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a:bodyPr>
          <a:lstStyle/>
          <a:p>
            <a:pPr>
              <a:buNone/>
            </a:pPr>
            <a:r>
              <a:rPr lang="fr-FR" dirty="0" smtClean="0"/>
              <a:t>Question 3 – QRM Parmi les examens d'imagerie suivants, lequel (les - quels) demandez-vous ? </a:t>
            </a:r>
          </a:p>
          <a:p>
            <a:pPr>
              <a:buNone/>
            </a:pPr>
            <a:r>
              <a:rPr lang="fr-FR" dirty="0" smtClean="0"/>
              <a:t>A radiographies des sacro-iliaques </a:t>
            </a:r>
          </a:p>
          <a:p>
            <a:pPr>
              <a:buNone/>
            </a:pPr>
            <a:r>
              <a:rPr lang="fr-FR" dirty="0" smtClean="0">
                <a:solidFill>
                  <a:srgbClr val="FF0000"/>
                </a:solidFill>
              </a:rPr>
              <a:t>B radiographies de pieds de face et avant-pieds de trois quarts </a:t>
            </a:r>
          </a:p>
          <a:p>
            <a:pPr>
              <a:buNone/>
            </a:pPr>
            <a:r>
              <a:rPr lang="fr-FR" dirty="0" smtClean="0">
                <a:solidFill>
                  <a:srgbClr val="FF0000"/>
                </a:solidFill>
              </a:rPr>
              <a:t>C radiographie de thorax de face </a:t>
            </a:r>
          </a:p>
          <a:p>
            <a:pPr>
              <a:buNone/>
            </a:pPr>
            <a:r>
              <a:rPr lang="fr-FR" dirty="0" smtClean="0"/>
              <a:t>D radiographies de rachis cervical de face et profil </a:t>
            </a:r>
          </a:p>
          <a:p>
            <a:pPr>
              <a:buNone/>
            </a:pPr>
            <a:r>
              <a:rPr lang="fr-FR" dirty="0" smtClean="0"/>
              <a:t>E IRM des mains</a:t>
            </a:r>
            <a:endParaRPr lang="fr-F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Question 4 – QRM Parmi les examens biologiques suivants, lequel (les - quels) demandez-vous ? </a:t>
            </a:r>
          </a:p>
          <a:p>
            <a:pPr>
              <a:buNone/>
            </a:pPr>
            <a:r>
              <a:rPr lang="fr-FR" dirty="0" smtClean="0"/>
              <a:t>A facteurs rhumatoïdes </a:t>
            </a:r>
          </a:p>
          <a:p>
            <a:pPr>
              <a:buNone/>
            </a:pPr>
            <a:r>
              <a:rPr lang="fr-FR" dirty="0" smtClean="0"/>
              <a:t>B anticorps anti-CCP </a:t>
            </a:r>
          </a:p>
          <a:p>
            <a:pPr>
              <a:buNone/>
            </a:pPr>
            <a:r>
              <a:rPr lang="fr-FR" dirty="0" smtClean="0"/>
              <a:t>C anticorps antinucléaires </a:t>
            </a:r>
          </a:p>
          <a:p>
            <a:pPr>
              <a:buNone/>
            </a:pPr>
            <a:r>
              <a:rPr lang="fr-FR" dirty="0" smtClean="0"/>
              <a:t>D ANCA </a:t>
            </a:r>
          </a:p>
          <a:p>
            <a:pPr>
              <a:buNone/>
            </a:pPr>
            <a:r>
              <a:rPr lang="fr-FR" dirty="0" smtClean="0"/>
              <a:t>E HLA-B27</a:t>
            </a:r>
            <a:endParaRPr lang="fr-F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Question 4 – QRM Parmi les examens biologiques suivants, lequel (les - quels) demandez-vous ? </a:t>
            </a:r>
          </a:p>
          <a:p>
            <a:pPr>
              <a:buNone/>
            </a:pPr>
            <a:r>
              <a:rPr lang="fr-FR" dirty="0" smtClean="0">
                <a:solidFill>
                  <a:srgbClr val="FF0000"/>
                </a:solidFill>
              </a:rPr>
              <a:t>A facteurs rhumatoïdes </a:t>
            </a:r>
          </a:p>
          <a:p>
            <a:pPr>
              <a:buNone/>
            </a:pPr>
            <a:r>
              <a:rPr lang="fr-FR" dirty="0" smtClean="0">
                <a:solidFill>
                  <a:srgbClr val="FF0000"/>
                </a:solidFill>
              </a:rPr>
              <a:t>B anticorps anti-CCP </a:t>
            </a:r>
          </a:p>
          <a:p>
            <a:pPr>
              <a:buNone/>
            </a:pPr>
            <a:r>
              <a:rPr lang="fr-FR" dirty="0" smtClean="0">
                <a:solidFill>
                  <a:srgbClr val="FF0000"/>
                </a:solidFill>
              </a:rPr>
              <a:t>C anticorps antinucléaires </a:t>
            </a:r>
          </a:p>
          <a:p>
            <a:pPr>
              <a:buNone/>
            </a:pPr>
            <a:r>
              <a:rPr lang="fr-FR" dirty="0" smtClean="0"/>
              <a:t>D ANCA </a:t>
            </a:r>
          </a:p>
          <a:p>
            <a:pPr>
              <a:buNone/>
            </a:pPr>
            <a:r>
              <a:rPr lang="fr-FR" dirty="0" smtClean="0"/>
              <a:t>E HLA-B27</a:t>
            </a:r>
            <a:endParaRPr lang="fr-F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dirty="0" smtClean="0"/>
              <a:t>5 – QRM Le bilan biologique retrouve la présence de facteurs rhumatoïdes et d'anticorps anti-CCP à taux élevés. La radiographie thoracique est normale.</a:t>
            </a:r>
          </a:p>
          <a:p>
            <a:pPr>
              <a:buNone/>
            </a:pPr>
            <a:r>
              <a:rPr lang="fr-FR" dirty="0" smtClean="0"/>
              <a:t>Que pensez-vous des radiographies des pieds de face suivantes ?</a:t>
            </a:r>
            <a:endParaRPr lang="fr-F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2050" name="Picture 2"/>
          <p:cNvPicPr>
            <a:picLocks noChangeAspect="1" noChangeArrowheads="1"/>
          </p:cNvPicPr>
          <p:nvPr/>
        </p:nvPicPr>
        <p:blipFill>
          <a:blip r:embed="rId2"/>
          <a:srcRect/>
          <a:stretch>
            <a:fillRect/>
          </a:stretch>
        </p:blipFill>
        <p:spPr bwMode="auto">
          <a:xfrm>
            <a:off x="1500166" y="1000108"/>
            <a:ext cx="5784101" cy="5195887"/>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lnSpcReduction="10000"/>
          </a:bodyPr>
          <a:lstStyle/>
          <a:p>
            <a:pPr>
              <a:buNone/>
            </a:pPr>
            <a:r>
              <a:rPr lang="fr-FR" dirty="0" smtClean="0"/>
              <a:t>A radiographies normales </a:t>
            </a:r>
          </a:p>
          <a:p>
            <a:pPr>
              <a:buNone/>
            </a:pPr>
            <a:r>
              <a:rPr lang="fr-FR" dirty="0" smtClean="0"/>
              <a:t>B présence d'érosion sur la tête du 5e métatarsien </a:t>
            </a:r>
          </a:p>
          <a:p>
            <a:pPr>
              <a:buNone/>
            </a:pPr>
            <a:r>
              <a:rPr lang="fr-FR" dirty="0" smtClean="0"/>
              <a:t>C présence d'une </a:t>
            </a:r>
            <a:r>
              <a:rPr lang="fr-FR" dirty="0" err="1" smtClean="0"/>
              <a:t>enthésopathie</a:t>
            </a:r>
            <a:r>
              <a:rPr lang="fr-FR" dirty="0" smtClean="0"/>
              <a:t> à l'insertion de l'aponévrose plantaire </a:t>
            </a:r>
          </a:p>
          <a:p>
            <a:pPr>
              <a:buNone/>
            </a:pPr>
            <a:r>
              <a:rPr lang="fr-FR" dirty="0" smtClean="0"/>
              <a:t>D radiographies compatibles avec une polyarthrite rhumatoïde au début</a:t>
            </a:r>
          </a:p>
          <a:p>
            <a:pPr>
              <a:buNone/>
            </a:pPr>
            <a:r>
              <a:rPr lang="fr-FR" dirty="0" smtClean="0"/>
              <a:t>E radiographies permettant d'exclure le diagnostic de polyarthrite rhumatoïde</a:t>
            </a:r>
            <a:endParaRPr lang="fr-F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lnSpcReduction="10000"/>
          </a:bodyPr>
          <a:lstStyle/>
          <a:p>
            <a:pPr>
              <a:buNone/>
            </a:pPr>
            <a:r>
              <a:rPr lang="fr-FR" dirty="0" smtClean="0">
                <a:solidFill>
                  <a:srgbClr val="FF0000"/>
                </a:solidFill>
              </a:rPr>
              <a:t>A radiographies normales </a:t>
            </a:r>
          </a:p>
          <a:p>
            <a:pPr>
              <a:buNone/>
            </a:pPr>
            <a:r>
              <a:rPr lang="fr-FR" dirty="0" smtClean="0"/>
              <a:t>B présence d'érosion sur la tête du 5e métatarsien </a:t>
            </a:r>
          </a:p>
          <a:p>
            <a:pPr>
              <a:buNone/>
            </a:pPr>
            <a:r>
              <a:rPr lang="fr-FR" dirty="0" smtClean="0"/>
              <a:t>C présence d'une </a:t>
            </a:r>
            <a:r>
              <a:rPr lang="fr-FR" dirty="0" err="1" smtClean="0"/>
              <a:t>enthésopathie</a:t>
            </a:r>
            <a:r>
              <a:rPr lang="fr-FR" dirty="0" smtClean="0"/>
              <a:t> à l'insertion de l'aponévrose plantaire </a:t>
            </a:r>
          </a:p>
          <a:p>
            <a:pPr>
              <a:buNone/>
            </a:pPr>
            <a:r>
              <a:rPr lang="fr-FR" dirty="0" smtClean="0"/>
              <a:t>D </a:t>
            </a:r>
            <a:r>
              <a:rPr lang="fr-FR" dirty="0" smtClean="0">
                <a:solidFill>
                  <a:srgbClr val="FF0000"/>
                </a:solidFill>
              </a:rPr>
              <a:t>radiographies compatibles avec une polyarthrite rhumatoïde au début</a:t>
            </a:r>
          </a:p>
          <a:p>
            <a:pPr>
              <a:buNone/>
            </a:pPr>
            <a:r>
              <a:rPr lang="fr-FR" dirty="0" smtClean="0"/>
              <a:t>E radiographies permettant d'exclure le diagnostic de polyarthrite rhumatoïde</a:t>
            </a:r>
            <a:endParaRPr lang="fr-F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85000" lnSpcReduction="10000"/>
          </a:bodyPr>
          <a:lstStyle/>
          <a:p>
            <a:pPr>
              <a:buNone/>
            </a:pPr>
            <a:r>
              <a:rPr lang="fr-FR" dirty="0" smtClean="0"/>
              <a:t>Question 6 – QRM Vous retenez le diagnostic de polyarthrite rhumatoïde associée à un syndrome de </a:t>
            </a:r>
            <a:r>
              <a:rPr lang="fr-FR" dirty="0" err="1" smtClean="0"/>
              <a:t>Gougerot</a:t>
            </a:r>
            <a:r>
              <a:rPr lang="fr-FR" dirty="0" smtClean="0"/>
              <a:t>-</a:t>
            </a:r>
            <a:r>
              <a:rPr lang="fr-FR" dirty="0" err="1" smtClean="0"/>
              <a:t>Sjögren</a:t>
            </a:r>
            <a:r>
              <a:rPr lang="fr-FR" dirty="0" smtClean="0"/>
              <a:t> secondaire. Parmi les traitements suivants, quel(s) traitement(s) de fond pouvez-vous proposer à votre patiente à ce stade ? </a:t>
            </a:r>
          </a:p>
          <a:p>
            <a:pPr>
              <a:buNone/>
            </a:pPr>
            <a:r>
              <a:rPr lang="fr-FR" dirty="0" smtClean="0"/>
              <a:t>A corticothérapie </a:t>
            </a:r>
          </a:p>
          <a:p>
            <a:pPr>
              <a:buNone/>
            </a:pPr>
            <a:r>
              <a:rPr lang="fr-FR" dirty="0" smtClean="0"/>
              <a:t>B AINS </a:t>
            </a:r>
          </a:p>
          <a:p>
            <a:pPr>
              <a:buNone/>
            </a:pPr>
            <a:r>
              <a:rPr lang="fr-FR" dirty="0" smtClean="0"/>
              <a:t>C </a:t>
            </a:r>
            <a:r>
              <a:rPr lang="fr-FR" dirty="0" err="1" smtClean="0"/>
              <a:t>méthotrexate</a:t>
            </a:r>
            <a:r>
              <a:rPr lang="fr-FR" dirty="0" smtClean="0"/>
              <a:t> </a:t>
            </a:r>
          </a:p>
          <a:p>
            <a:pPr>
              <a:buNone/>
            </a:pPr>
            <a:r>
              <a:rPr lang="fr-FR" dirty="0" smtClean="0"/>
              <a:t>D </a:t>
            </a:r>
            <a:r>
              <a:rPr lang="fr-FR" dirty="0" err="1" smtClean="0"/>
              <a:t>léflunomide</a:t>
            </a:r>
            <a:r>
              <a:rPr lang="fr-FR" dirty="0" smtClean="0"/>
              <a:t> </a:t>
            </a:r>
          </a:p>
          <a:p>
            <a:pPr>
              <a:buNone/>
            </a:pPr>
            <a:r>
              <a:rPr lang="fr-FR" dirty="0" smtClean="0"/>
              <a:t>E gel-larmes oculaires</a:t>
            </a:r>
            <a:endParaRPr lang="fr-F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85000" lnSpcReduction="10000"/>
          </a:bodyPr>
          <a:lstStyle/>
          <a:p>
            <a:pPr>
              <a:buNone/>
            </a:pPr>
            <a:r>
              <a:rPr lang="fr-FR" dirty="0" smtClean="0"/>
              <a:t>Question 6 – QRM Vous retenez le diagnostic de polyarthrite rhumatoïde associée à un syndrome de </a:t>
            </a:r>
            <a:r>
              <a:rPr lang="fr-FR" dirty="0" err="1" smtClean="0"/>
              <a:t>Gougerot</a:t>
            </a:r>
            <a:r>
              <a:rPr lang="fr-FR" dirty="0" smtClean="0"/>
              <a:t>-</a:t>
            </a:r>
            <a:r>
              <a:rPr lang="fr-FR" dirty="0" err="1" smtClean="0"/>
              <a:t>Sjögren</a:t>
            </a:r>
            <a:r>
              <a:rPr lang="fr-FR" dirty="0" smtClean="0"/>
              <a:t> secondaire. Parmi les traitements suivants, quel(s) traitement(s) de fond pouvez-vous proposer à votre patiente à ce stade ? </a:t>
            </a:r>
          </a:p>
          <a:p>
            <a:pPr>
              <a:buNone/>
            </a:pPr>
            <a:r>
              <a:rPr lang="fr-FR" dirty="0" smtClean="0"/>
              <a:t>A corticothérapie </a:t>
            </a:r>
          </a:p>
          <a:p>
            <a:pPr>
              <a:buNone/>
            </a:pPr>
            <a:r>
              <a:rPr lang="fr-FR" dirty="0" smtClean="0"/>
              <a:t>B AINS </a:t>
            </a:r>
          </a:p>
          <a:p>
            <a:pPr>
              <a:buNone/>
            </a:pPr>
            <a:r>
              <a:rPr lang="fr-FR" dirty="0" smtClean="0">
                <a:solidFill>
                  <a:srgbClr val="FF0000"/>
                </a:solidFill>
              </a:rPr>
              <a:t>C </a:t>
            </a:r>
            <a:r>
              <a:rPr lang="fr-FR" dirty="0" err="1" smtClean="0">
                <a:solidFill>
                  <a:srgbClr val="FF0000"/>
                </a:solidFill>
              </a:rPr>
              <a:t>méthotrexate</a:t>
            </a:r>
            <a:r>
              <a:rPr lang="fr-FR" dirty="0" smtClean="0">
                <a:solidFill>
                  <a:srgbClr val="FF0000"/>
                </a:solidFill>
              </a:rPr>
              <a:t> </a:t>
            </a:r>
          </a:p>
          <a:p>
            <a:pPr>
              <a:buNone/>
            </a:pPr>
            <a:r>
              <a:rPr lang="fr-FR" dirty="0" smtClean="0">
                <a:solidFill>
                  <a:srgbClr val="FF0000"/>
                </a:solidFill>
              </a:rPr>
              <a:t>D </a:t>
            </a:r>
            <a:r>
              <a:rPr lang="fr-FR" dirty="0" err="1" smtClean="0">
                <a:solidFill>
                  <a:srgbClr val="FF0000"/>
                </a:solidFill>
              </a:rPr>
              <a:t>léflunomide</a:t>
            </a:r>
            <a:r>
              <a:rPr lang="fr-FR" dirty="0" smtClean="0">
                <a:solidFill>
                  <a:srgbClr val="FF0000"/>
                </a:solidFill>
              </a:rPr>
              <a:t> </a:t>
            </a:r>
          </a:p>
          <a:p>
            <a:pPr>
              <a:buNone/>
            </a:pPr>
            <a:r>
              <a:rPr lang="fr-FR" dirty="0" smtClean="0"/>
              <a:t>E gel-larmes oculaires</a:t>
            </a:r>
            <a:endParaRPr lang="fr-F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77500" lnSpcReduction="20000"/>
          </a:bodyPr>
          <a:lstStyle/>
          <a:p>
            <a:pPr>
              <a:buNone/>
            </a:pPr>
            <a:r>
              <a:rPr lang="fr-FR" dirty="0" smtClean="0"/>
              <a:t>Question 7 – QRM Vous revoyez votre patiente 3  mois plus tard. Son médecin traitant lui a prescrit une corticothérapie per os à 10 mg par jour d'équivalent </a:t>
            </a:r>
            <a:r>
              <a:rPr lang="fr-FR" dirty="0" err="1" smtClean="0"/>
              <a:t>prednisone</a:t>
            </a:r>
            <a:r>
              <a:rPr lang="fr-FR" dirty="0" smtClean="0"/>
              <a:t>, que la patiente prend en plus du </a:t>
            </a:r>
            <a:r>
              <a:rPr lang="fr-FR" dirty="0" err="1" smtClean="0"/>
              <a:t>méthotrexate</a:t>
            </a:r>
            <a:r>
              <a:rPr lang="fr-FR" dirty="0" smtClean="0"/>
              <a:t> depuis 3 mois. Quel(s) élément(s) recherchez-vous pour évaluer l'efficacité du traitement? </a:t>
            </a:r>
          </a:p>
          <a:p>
            <a:pPr>
              <a:buNone/>
            </a:pPr>
            <a:r>
              <a:rPr lang="fr-FR" dirty="0" smtClean="0"/>
              <a:t>A absence de syndrome inflammatoire biologique </a:t>
            </a:r>
          </a:p>
          <a:p>
            <a:pPr>
              <a:buNone/>
            </a:pPr>
            <a:r>
              <a:rPr lang="fr-FR" dirty="0" smtClean="0"/>
              <a:t>B absence de facteur rhumatoïde ou anticorps anti-CCP </a:t>
            </a:r>
          </a:p>
          <a:p>
            <a:pPr>
              <a:buNone/>
            </a:pPr>
            <a:r>
              <a:rPr lang="fr-FR" dirty="0" smtClean="0"/>
              <a:t>C scores de BASDAI et BASFI </a:t>
            </a:r>
          </a:p>
          <a:p>
            <a:pPr>
              <a:buNone/>
            </a:pPr>
            <a:r>
              <a:rPr lang="fr-FR" dirty="0" smtClean="0"/>
              <a:t>D absence d'évolution structurale sur les radiographies standards </a:t>
            </a:r>
          </a:p>
          <a:p>
            <a:pPr>
              <a:buNone/>
            </a:pPr>
            <a:r>
              <a:rPr lang="fr-FR" dirty="0" smtClean="0"/>
              <a:t>E score DAS 28 faible</a:t>
            </a:r>
            <a:endParaRPr lang="fr-F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77500" lnSpcReduction="20000"/>
          </a:bodyPr>
          <a:lstStyle/>
          <a:p>
            <a:pPr>
              <a:buNone/>
            </a:pPr>
            <a:r>
              <a:rPr lang="fr-FR" dirty="0" smtClean="0"/>
              <a:t>Question 7 – QRM Vous revoyez votre patiente 3  mois plus tard. Son médecin traitant lui a prescrit une corticothérapie per os à 10 mg par jour d'équivalent </a:t>
            </a:r>
            <a:r>
              <a:rPr lang="fr-FR" dirty="0" err="1" smtClean="0"/>
              <a:t>prednisone</a:t>
            </a:r>
            <a:r>
              <a:rPr lang="fr-FR" dirty="0" smtClean="0"/>
              <a:t>, que la patiente prend en plus du </a:t>
            </a:r>
            <a:r>
              <a:rPr lang="fr-FR" dirty="0" err="1" smtClean="0"/>
              <a:t>méthotrexate</a:t>
            </a:r>
            <a:r>
              <a:rPr lang="fr-FR" dirty="0" smtClean="0"/>
              <a:t> depuis 3 mois. Quel(s) élément(s) recherchez-vous pour évaluer l'efficacité du traitement? </a:t>
            </a:r>
          </a:p>
          <a:p>
            <a:pPr>
              <a:buNone/>
            </a:pPr>
            <a:r>
              <a:rPr lang="fr-FR" dirty="0" smtClean="0">
                <a:solidFill>
                  <a:srgbClr val="FF0000"/>
                </a:solidFill>
              </a:rPr>
              <a:t>A absence de syndrome inflammatoire biologique </a:t>
            </a:r>
          </a:p>
          <a:p>
            <a:pPr>
              <a:buNone/>
            </a:pPr>
            <a:r>
              <a:rPr lang="fr-FR" dirty="0" smtClean="0"/>
              <a:t>B absence de facteur rhumatoïde ou anticorps anti-CCP </a:t>
            </a:r>
          </a:p>
          <a:p>
            <a:pPr>
              <a:buNone/>
            </a:pPr>
            <a:r>
              <a:rPr lang="fr-FR" dirty="0" smtClean="0"/>
              <a:t>C scores de BASDAI et BASFI </a:t>
            </a:r>
          </a:p>
          <a:p>
            <a:pPr>
              <a:buNone/>
            </a:pPr>
            <a:r>
              <a:rPr lang="fr-FR" dirty="0" smtClean="0"/>
              <a:t>D absence d'évolution structurale sur les radiographies standards </a:t>
            </a:r>
          </a:p>
          <a:p>
            <a:pPr>
              <a:buNone/>
            </a:pPr>
            <a:r>
              <a:rPr lang="fr-FR" dirty="0" smtClean="0">
                <a:solidFill>
                  <a:srgbClr val="FF0000"/>
                </a:solidFill>
              </a:rPr>
              <a:t>E score DAS 28 faible</a:t>
            </a:r>
            <a:endParaRPr lang="fr-FR"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70000" lnSpcReduction="20000"/>
          </a:bodyPr>
          <a:lstStyle/>
          <a:p>
            <a:pPr>
              <a:buNone/>
            </a:pPr>
            <a:r>
              <a:rPr lang="fr-FR" dirty="0" smtClean="0"/>
              <a:t>• éléments de suivi d'efficacité thérapeutique : </a:t>
            </a:r>
          </a:p>
          <a:p>
            <a:pPr>
              <a:buNone/>
            </a:pPr>
            <a:r>
              <a:rPr lang="fr-FR" dirty="0" smtClean="0"/>
              <a:t>– radiographies standards pour vérifier l'absence d'apparition d'érosions tous les 6 mois la </a:t>
            </a:r>
            <a:r>
              <a:rPr lang="fr-FR" dirty="0" err="1" smtClean="0"/>
              <a:t>pre</a:t>
            </a:r>
            <a:r>
              <a:rPr lang="fr-FR" dirty="0" smtClean="0"/>
              <a:t> - </a:t>
            </a:r>
            <a:r>
              <a:rPr lang="fr-FR" dirty="0" err="1" smtClean="0"/>
              <a:t>mière</a:t>
            </a:r>
            <a:r>
              <a:rPr lang="fr-FR" dirty="0" smtClean="0"/>
              <a:t> année puis tous les ans ; </a:t>
            </a:r>
          </a:p>
          <a:p>
            <a:pPr>
              <a:buNone/>
            </a:pPr>
            <a:r>
              <a:rPr lang="fr-FR" dirty="0" smtClean="0"/>
              <a:t>– biologie : vérifier l'évolution du syndrome </a:t>
            </a:r>
            <a:r>
              <a:rPr lang="fr-FR" dirty="0" err="1" smtClean="0"/>
              <a:t>inflam</a:t>
            </a:r>
            <a:r>
              <a:rPr lang="fr-FR" dirty="0" smtClean="0"/>
              <a:t> - </a:t>
            </a:r>
            <a:r>
              <a:rPr lang="fr-FR" dirty="0" err="1" smtClean="0"/>
              <a:t>matoire</a:t>
            </a:r>
            <a:r>
              <a:rPr lang="fr-FR" dirty="0" smtClean="0"/>
              <a:t> ; jamais de dosage des FR et anti-CCP au cours du suivi d'une polyarthrite rhumatoïde (intérêt uniquement dans le cadre du diagnostic) ; </a:t>
            </a:r>
          </a:p>
          <a:p>
            <a:pPr>
              <a:buNone/>
            </a:pPr>
            <a:r>
              <a:rPr lang="fr-FR" dirty="0" smtClean="0"/>
              <a:t>– clinique  : EVA douleur, EVA globale, durée du dérouillage matinal, nombre de réveils nocturnes, nombre d'articulations tuméfiées et </a:t>
            </a:r>
            <a:r>
              <a:rPr lang="fr-FR" dirty="0" err="1" smtClean="0"/>
              <a:t>doulou</a:t>
            </a:r>
            <a:r>
              <a:rPr lang="fr-FR" dirty="0" smtClean="0"/>
              <a:t> - </a:t>
            </a:r>
            <a:r>
              <a:rPr lang="fr-FR" dirty="0" err="1" smtClean="0"/>
              <a:t>reuses</a:t>
            </a:r>
            <a:r>
              <a:rPr lang="fr-FR" dirty="0" smtClean="0"/>
              <a:t>, posologie de la corticothérapie, DAS 28 </a:t>
            </a:r>
            <a:r>
              <a:rPr lang="fr-FR" smtClean="0"/>
              <a:t>; • </a:t>
            </a:r>
            <a:r>
              <a:rPr lang="fr-FR" dirty="0" smtClean="0"/>
              <a:t>BASFI et BASDAI : scores d'activité et de retentisse - ment fonctionnel des </a:t>
            </a:r>
            <a:r>
              <a:rPr lang="fr-FR" dirty="0" err="1" smtClean="0"/>
              <a:t>spondyloarthrites</a:t>
            </a:r>
            <a:r>
              <a:rPr lang="fr-FR" dirty="0" smtClean="0"/>
              <a:t>.</a:t>
            </a:r>
            <a:endParaRPr lang="fr-F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20000"/>
          </a:bodyPr>
          <a:lstStyle/>
          <a:p>
            <a:pPr>
              <a:buNone/>
            </a:pPr>
            <a:r>
              <a:rPr lang="fr-FR" dirty="0" smtClean="0"/>
              <a:t>Question 8 – QRM Si vous poursuivez cette corticothérapie pour plusieurs mois, quelle(s) mesure(s) y associez-vous ? </a:t>
            </a:r>
          </a:p>
          <a:p>
            <a:pPr>
              <a:buNone/>
            </a:pPr>
            <a:r>
              <a:rPr lang="fr-FR" dirty="0" smtClean="0"/>
              <a:t>A réalisation d'une </a:t>
            </a:r>
            <a:r>
              <a:rPr lang="fr-FR" dirty="0" err="1" smtClean="0"/>
              <a:t>ostéodensitométrie</a:t>
            </a:r>
            <a:r>
              <a:rPr lang="fr-FR" dirty="0" smtClean="0"/>
              <a:t> </a:t>
            </a:r>
          </a:p>
          <a:p>
            <a:pPr>
              <a:buNone/>
            </a:pPr>
            <a:r>
              <a:rPr lang="fr-FR" dirty="0" smtClean="0"/>
              <a:t>B supplémentation par vitamine D </a:t>
            </a:r>
          </a:p>
          <a:p>
            <a:pPr>
              <a:buNone/>
            </a:pPr>
            <a:r>
              <a:rPr lang="fr-FR" dirty="0" smtClean="0"/>
              <a:t>C introduction d'un traitement par bisphosphonates </a:t>
            </a:r>
          </a:p>
          <a:p>
            <a:pPr>
              <a:buNone/>
            </a:pPr>
            <a:r>
              <a:rPr lang="fr-FR" dirty="0" smtClean="0"/>
              <a:t>D introduction d'un traitement par </a:t>
            </a:r>
            <a:r>
              <a:rPr lang="fr-FR" dirty="0" err="1" smtClean="0"/>
              <a:t>tériparatide</a:t>
            </a:r>
            <a:r>
              <a:rPr lang="fr-FR" dirty="0" smtClean="0"/>
              <a:t> (</a:t>
            </a:r>
            <a:r>
              <a:rPr lang="fr-FR" dirty="0" err="1" smtClean="0"/>
              <a:t>Forsteo</a:t>
            </a:r>
            <a:r>
              <a:rPr lang="fr-FR" dirty="0" smtClean="0"/>
              <a:t>®) </a:t>
            </a:r>
          </a:p>
          <a:p>
            <a:pPr>
              <a:buNone/>
            </a:pPr>
            <a:r>
              <a:rPr lang="fr-FR" dirty="0" smtClean="0"/>
              <a:t>E surveillance de l'</a:t>
            </a:r>
            <a:r>
              <a:rPr lang="fr-FR" dirty="0" err="1" smtClean="0"/>
              <a:t>ostéodensitométrie</a:t>
            </a:r>
            <a:r>
              <a:rPr lang="fr-FR" dirty="0" smtClean="0"/>
              <a:t> tous les 6 mois</a:t>
            </a:r>
            <a:endParaRPr lang="fr-F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idx="1"/>
          </p:nvPr>
        </p:nvSpPr>
        <p:spPr/>
        <p:txBody>
          <a:bodyPr>
            <a:normAutofit fontScale="92500" lnSpcReduction="20000"/>
          </a:bodyPr>
          <a:lstStyle/>
          <a:p>
            <a:pPr>
              <a:buNone/>
            </a:pPr>
            <a:r>
              <a:rPr lang="fr-FR" dirty="0" smtClean="0"/>
              <a:t>Question 8 – QRM Si vous poursuivez cette corticothérapie pour plusieurs mois, quelle(s) mesure(s) y associez-vous ? </a:t>
            </a:r>
          </a:p>
          <a:p>
            <a:pPr>
              <a:buNone/>
            </a:pPr>
            <a:r>
              <a:rPr lang="fr-FR" dirty="0" smtClean="0">
                <a:solidFill>
                  <a:srgbClr val="FF0000"/>
                </a:solidFill>
              </a:rPr>
              <a:t>A réalisation d'une </a:t>
            </a:r>
            <a:r>
              <a:rPr lang="fr-FR" dirty="0" err="1" smtClean="0">
                <a:solidFill>
                  <a:srgbClr val="FF0000"/>
                </a:solidFill>
              </a:rPr>
              <a:t>ostéodensitométrie</a:t>
            </a:r>
            <a:r>
              <a:rPr lang="fr-FR" dirty="0" smtClean="0">
                <a:solidFill>
                  <a:srgbClr val="FF0000"/>
                </a:solidFill>
              </a:rPr>
              <a:t> </a:t>
            </a:r>
          </a:p>
          <a:p>
            <a:pPr>
              <a:buNone/>
            </a:pPr>
            <a:r>
              <a:rPr lang="fr-FR" dirty="0" smtClean="0">
                <a:solidFill>
                  <a:srgbClr val="FF0000"/>
                </a:solidFill>
              </a:rPr>
              <a:t>B supplémentation par vitamine D </a:t>
            </a:r>
          </a:p>
          <a:p>
            <a:pPr>
              <a:buNone/>
            </a:pPr>
            <a:r>
              <a:rPr lang="fr-FR" dirty="0" smtClean="0">
                <a:solidFill>
                  <a:srgbClr val="FF0000"/>
                </a:solidFill>
              </a:rPr>
              <a:t>C introduction d'un traitement par bisphosphonates </a:t>
            </a:r>
          </a:p>
          <a:p>
            <a:pPr>
              <a:buNone/>
            </a:pPr>
            <a:r>
              <a:rPr lang="fr-FR" dirty="0" smtClean="0"/>
              <a:t>D introduction d'un traitement par </a:t>
            </a:r>
            <a:r>
              <a:rPr lang="fr-FR" dirty="0" err="1" smtClean="0"/>
              <a:t>tériparatide</a:t>
            </a:r>
            <a:r>
              <a:rPr lang="fr-FR" dirty="0" smtClean="0"/>
              <a:t> (</a:t>
            </a:r>
            <a:r>
              <a:rPr lang="fr-FR" dirty="0" err="1" smtClean="0"/>
              <a:t>Forsteo</a:t>
            </a:r>
            <a:r>
              <a:rPr lang="fr-FR" dirty="0" smtClean="0"/>
              <a:t>®) </a:t>
            </a:r>
          </a:p>
          <a:p>
            <a:pPr>
              <a:buNone/>
            </a:pPr>
            <a:r>
              <a:rPr lang="fr-FR" dirty="0" smtClean="0"/>
              <a:t>E surveillance de l'</a:t>
            </a:r>
            <a:r>
              <a:rPr lang="fr-FR" dirty="0" err="1" smtClean="0"/>
              <a:t>ostéodensitométrie</a:t>
            </a:r>
            <a:r>
              <a:rPr lang="fr-FR" dirty="0" smtClean="0"/>
              <a:t> tous les 6 mois</a:t>
            </a:r>
            <a:endParaRPr lang="fr-F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20000"/>
          </a:bodyPr>
          <a:lstStyle/>
          <a:p>
            <a:pPr>
              <a:buNone/>
            </a:pPr>
            <a:r>
              <a:rPr lang="fr-FR" dirty="0" smtClean="0"/>
              <a:t>Question 9 – QRM Vous revoyez votre patiente 3 mois plus tard. Le </a:t>
            </a:r>
            <a:r>
              <a:rPr lang="fr-FR" dirty="0" err="1" smtClean="0"/>
              <a:t>méthotrexate</a:t>
            </a:r>
            <a:r>
              <a:rPr lang="fr-FR" dirty="0" smtClean="0"/>
              <a:t> est poursuivi à dose maximale, en association à une corticothérapie à posologie stable (10 mg par jour). Le dérouillage matinal est d'une quinzaine de minutes; il n'y a pas de réveils nocturnes. Vous retrouvez trois articulations douloureuses à la pression, deux tuméfiées. La CRP est à 10 mg/l. Le DAS 28 est à 3,89. Les radiographies des mains et poignets sont inchangées; celles des pieds de face sont laissées à votre interprétation (aspect comparable sur l'incidence de trois quarts).</a:t>
            </a:r>
            <a:endParaRPr lang="fr-F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3074" name="Picture 2"/>
          <p:cNvPicPr>
            <a:picLocks noChangeAspect="1" noChangeArrowheads="1"/>
          </p:cNvPicPr>
          <p:nvPr/>
        </p:nvPicPr>
        <p:blipFill>
          <a:blip r:embed="rId2"/>
          <a:srcRect/>
          <a:stretch>
            <a:fillRect/>
          </a:stretch>
        </p:blipFill>
        <p:spPr bwMode="auto">
          <a:xfrm>
            <a:off x="2285984" y="1571612"/>
            <a:ext cx="4071966" cy="4370498"/>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10000"/>
          </a:bodyPr>
          <a:lstStyle/>
          <a:p>
            <a:pPr>
              <a:buNone/>
            </a:pPr>
            <a:r>
              <a:rPr lang="fr-FR" dirty="0" smtClean="0"/>
              <a:t>Que proposez-vous sur le plan thérapeutique? </a:t>
            </a:r>
          </a:p>
          <a:p>
            <a:pPr>
              <a:buNone/>
            </a:pPr>
            <a:r>
              <a:rPr lang="fr-FR" dirty="0" smtClean="0"/>
              <a:t>A pas de modification thérapeutique </a:t>
            </a:r>
          </a:p>
          <a:p>
            <a:pPr>
              <a:buNone/>
            </a:pPr>
            <a:r>
              <a:rPr lang="fr-FR" dirty="0" smtClean="0"/>
              <a:t>B poursuite du </a:t>
            </a:r>
            <a:r>
              <a:rPr lang="fr-FR" dirty="0" err="1" smtClean="0"/>
              <a:t>méthotrexate</a:t>
            </a:r>
            <a:r>
              <a:rPr lang="fr-FR" dirty="0" smtClean="0"/>
              <a:t> à la même posologie, majoration de la corticothérapie </a:t>
            </a:r>
          </a:p>
          <a:p>
            <a:pPr>
              <a:buNone/>
            </a:pPr>
            <a:r>
              <a:rPr lang="fr-FR" dirty="0" smtClean="0"/>
              <a:t>C ajout d'une biothérapie </a:t>
            </a:r>
          </a:p>
          <a:p>
            <a:pPr>
              <a:buNone/>
            </a:pPr>
            <a:r>
              <a:rPr lang="fr-FR" dirty="0" smtClean="0"/>
              <a:t>D poursuite du </a:t>
            </a:r>
            <a:r>
              <a:rPr lang="fr-FR" dirty="0" err="1" smtClean="0"/>
              <a:t>méthotrexate</a:t>
            </a:r>
            <a:r>
              <a:rPr lang="fr-FR" dirty="0" smtClean="0"/>
              <a:t>, diminution de la corticothérapie </a:t>
            </a:r>
          </a:p>
          <a:p>
            <a:pPr>
              <a:buNone/>
            </a:pPr>
            <a:r>
              <a:rPr lang="fr-FR" dirty="0" smtClean="0"/>
              <a:t>E arrêt du </a:t>
            </a:r>
            <a:r>
              <a:rPr lang="fr-FR" dirty="0" err="1" smtClean="0"/>
              <a:t>méthotrexate</a:t>
            </a:r>
            <a:r>
              <a:rPr lang="fr-FR" dirty="0" smtClean="0"/>
              <a:t>, poursuite de la corticothérapie seule</a:t>
            </a:r>
            <a:endParaRPr lang="fr-F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10000"/>
          </a:bodyPr>
          <a:lstStyle/>
          <a:p>
            <a:pPr>
              <a:buNone/>
            </a:pPr>
            <a:r>
              <a:rPr lang="fr-FR" dirty="0" smtClean="0"/>
              <a:t>Que proposez-vous sur le plan thérapeutique? </a:t>
            </a:r>
          </a:p>
          <a:p>
            <a:pPr>
              <a:buNone/>
            </a:pPr>
            <a:r>
              <a:rPr lang="fr-FR" dirty="0" smtClean="0"/>
              <a:t>A pas de modification thérapeutique </a:t>
            </a:r>
          </a:p>
          <a:p>
            <a:pPr>
              <a:buNone/>
            </a:pPr>
            <a:r>
              <a:rPr lang="fr-FR" dirty="0" smtClean="0"/>
              <a:t>B poursuite du </a:t>
            </a:r>
            <a:r>
              <a:rPr lang="fr-FR" dirty="0" err="1" smtClean="0"/>
              <a:t>méthotrexate</a:t>
            </a:r>
            <a:r>
              <a:rPr lang="fr-FR" dirty="0" smtClean="0"/>
              <a:t> à la même posologie, majoration de la corticothérapie </a:t>
            </a:r>
          </a:p>
          <a:p>
            <a:pPr>
              <a:buNone/>
            </a:pPr>
            <a:r>
              <a:rPr lang="fr-FR" dirty="0" smtClean="0"/>
              <a:t>C ajout d'une biothérapie </a:t>
            </a:r>
          </a:p>
          <a:p>
            <a:pPr>
              <a:buNone/>
            </a:pPr>
            <a:r>
              <a:rPr lang="fr-FR" dirty="0" smtClean="0"/>
              <a:t>D poursuite du </a:t>
            </a:r>
            <a:r>
              <a:rPr lang="fr-FR" dirty="0" err="1" smtClean="0"/>
              <a:t>méthotrexate</a:t>
            </a:r>
            <a:r>
              <a:rPr lang="fr-FR" dirty="0" smtClean="0"/>
              <a:t>, diminution de la corticothérapie </a:t>
            </a:r>
          </a:p>
          <a:p>
            <a:pPr>
              <a:buNone/>
            </a:pPr>
            <a:r>
              <a:rPr lang="fr-FR" dirty="0" smtClean="0"/>
              <a:t>E arrêt du </a:t>
            </a:r>
            <a:r>
              <a:rPr lang="fr-FR" dirty="0" err="1" smtClean="0"/>
              <a:t>méthotrexate</a:t>
            </a:r>
            <a:r>
              <a:rPr lang="fr-FR" dirty="0" smtClean="0"/>
              <a:t>, poursuite de la corticothérapie seule</a:t>
            </a:r>
            <a:endParaRPr lang="fr-F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a:buNone/>
            </a:pPr>
            <a:r>
              <a:rPr lang="fr-FR" dirty="0" smtClean="0"/>
              <a:t>Question 10 – QRU Vous proposez d'ajouter une biothérapie au </a:t>
            </a:r>
            <a:r>
              <a:rPr lang="fr-FR" dirty="0" err="1" smtClean="0"/>
              <a:t>méthotrexate</a:t>
            </a:r>
            <a:r>
              <a:rPr lang="fr-FR" dirty="0" smtClean="0"/>
              <a:t>. Quel est le principal risque des biothérapies? </a:t>
            </a:r>
          </a:p>
          <a:p>
            <a:pPr>
              <a:buNone/>
            </a:pPr>
            <a:r>
              <a:rPr lang="fr-FR" dirty="0" smtClean="0"/>
              <a:t>A apparition de cancers du tube digestif </a:t>
            </a:r>
          </a:p>
          <a:p>
            <a:pPr>
              <a:buNone/>
            </a:pPr>
            <a:r>
              <a:rPr lang="fr-FR" dirty="0" smtClean="0"/>
              <a:t>B apparition d'hémopathies </a:t>
            </a:r>
          </a:p>
          <a:p>
            <a:pPr>
              <a:buNone/>
            </a:pPr>
            <a:r>
              <a:rPr lang="fr-FR" dirty="0" smtClean="0"/>
              <a:t>C risque infectieux </a:t>
            </a:r>
          </a:p>
          <a:p>
            <a:pPr>
              <a:buNone/>
            </a:pPr>
            <a:r>
              <a:rPr lang="fr-FR" dirty="0" smtClean="0"/>
              <a:t>D risque d'insuffisance rénale </a:t>
            </a:r>
          </a:p>
          <a:p>
            <a:pPr>
              <a:buNone/>
            </a:pPr>
            <a:r>
              <a:rPr lang="fr-FR" dirty="0" smtClean="0"/>
              <a:t>E risque allergique</a:t>
            </a:r>
            <a:endParaRPr lang="fr-F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a:buNone/>
            </a:pPr>
            <a:r>
              <a:rPr lang="fr-FR" dirty="0" smtClean="0"/>
              <a:t>Question 10 – QRU Vous proposez d'ajouter une biothérapie au </a:t>
            </a:r>
            <a:r>
              <a:rPr lang="fr-FR" dirty="0" err="1" smtClean="0"/>
              <a:t>méthotrexate</a:t>
            </a:r>
            <a:r>
              <a:rPr lang="fr-FR" dirty="0" smtClean="0"/>
              <a:t>. Quel est le principal risque des biothérapies? </a:t>
            </a:r>
          </a:p>
          <a:p>
            <a:pPr>
              <a:buNone/>
            </a:pPr>
            <a:r>
              <a:rPr lang="fr-FR" dirty="0" smtClean="0"/>
              <a:t>A apparition de cancers du tube digestif </a:t>
            </a:r>
          </a:p>
          <a:p>
            <a:pPr>
              <a:buNone/>
            </a:pPr>
            <a:r>
              <a:rPr lang="fr-FR" dirty="0" smtClean="0"/>
              <a:t>B apparition d'hémopathies </a:t>
            </a:r>
          </a:p>
          <a:p>
            <a:pPr>
              <a:buNone/>
            </a:pPr>
            <a:r>
              <a:rPr lang="fr-FR" dirty="0" smtClean="0"/>
              <a:t>C </a:t>
            </a:r>
            <a:r>
              <a:rPr lang="fr-FR" dirty="0" smtClean="0">
                <a:solidFill>
                  <a:srgbClr val="FF0000"/>
                </a:solidFill>
              </a:rPr>
              <a:t>risque infectieux </a:t>
            </a:r>
          </a:p>
          <a:p>
            <a:pPr>
              <a:buNone/>
            </a:pPr>
            <a:r>
              <a:rPr lang="fr-FR" dirty="0" smtClean="0"/>
              <a:t>D risque d'insuffisance rénale </a:t>
            </a:r>
          </a:p>
          <a:p>
            <a:pPr>
              <a:buNone/>
            </a:pPr>
            <a:r>
              <a:rPr lang="fr-FR" dirty="0" smtClean="0"/>
              <a:t>E risque allergique</a:t>
            </a:r>
            <a:endParaRPr lang="fr-F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10000"/>
          </a:bodyPr>
          <a:lstStyle/>
          <a:p>
            <a:pPr>
              <a:buNone/>
            </a:pPr>
            <a:r>
              <a:rPr lang="fr-FR" dirty="0" smtClean="0"/>
              <a:t>Question 11 – QRM Pour limiter le risque infectieux, quelle(s) mesure(s) prenez-vous ? </a:t>
            </a:r>
          </a:p>
          <a:p>
            <a:pPr>
              <a:buNone/>
            </a:pPr>
            <a:r>
              <a:rPr lang="fr-FR" dirty="0" smtClean="0"/>
              <a:t>A dépistage systématique d'une tuberculose latente </a:t>
            </a:r>
          </a:p>
          <a:p>
            <a:pPr>
              <a:buNone/>
            </a:pPr>
            <a:r>
              <a:rPr lang="fr-FR" dirty="0" smtClean="0"/>
              <a:t>B mise à jour des vaccinations avant de débuter le traitement </a:t>
            </a:r>
          </a:p>
          <a:p>
            <a:pPr>
              <a:buNone/>
            </a:pPr>
            <a:r>
              <a:rPr lang="fr-FR" dirty="0" smtClean="0"/>
              <a:t>C vaccination </a:t>
            </a:r>
            <a:r>
              <a:rPr lang="fr-FR" dirty="0" err="1" smtClean="0"/>
              <a:t>antipneumococcique</a:t>
            </a:r>
            <a:r>
              <a:rPr lang="fr-FR" dirty="0" smtClean="0"/>
              <a:t> </a:t>
            </a:r>
          </a:p>
          <a:p>
            <a:pPr>
              <a:buNone/>
            </a:pPr>
            <a:r>
              <a:rPr lang="fr-FR" dirty="0" smtClean="0"/>
              <a:t>D suivi dentaire régulier </a:t>
            </a:r>
          </a:p>
          <a:p>
            <a:pPr>
              <a:buNone/>
            </a:pPr>
            <a:r>
              <a:rPr lang="fr-FR" dirty="0" smtClean="0"/>
              <a:t>E dépistage systématique des hépatites virales B et C </a:t>
            </a:r>
            <a:endParaRPr lang="fr-F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10000"/>
          </a:bodyPr>
          <a:lstStyle/>
          <a:p>
            <a:pPr>
              <a:buNone/>
            </a:pPr>
            <a:r>
              <a:rPr lang="fr-FR" dirty="0" smtClean="0"/>
              <a:t>Question 11 – QRM Pour limiter le risque infectieux, quelle(s) mesure(s) prenez-vous ? </a:t>
            </a:r>
          </a:p>
          <a:p>
            <a:pPr>
              <a:buNone/>
            </a:pPr>
            <a:r>
              <a:rPr lang="fr-FR" dirty="0" smtClean="0">
                <a:solidFill>
                  <a:srgbClr val="FF0000"/>
                </a:solidFill>
              </a:rPr>
              <a:t>A dépistage systématique d'une tuberculose latente </a:t>
            </a:r>
          </a:p>
          <a:p>
            <a:pPr>
              <a:buNone/>
            </a:pPr>
            <a:r>
              <a:rPr lang="fr-FR" dirty="0" smtClean="0">
                <a:solidFill>
                  <a:srgbClr val="FF0000"/>
                </a:solidFill>
              </a:rPr>
              <a:t>B mise à jour des vaccinations avant de débuter le traitement </a:t>
            </a:r>
          </a:p>
          <a:p>
            <a:pPr>
              <a:buNone/>
            </a:pPr>
            <a:r>
              <a:rPr lang="fr-FR" dirty="0" smtClean="0">
                <a:solidFill>
                  <a:srgbClr val="FF0000"/>
                </a:solidFill>
              </a:rPr>
              <a:t>C vaccination </a:t>
            </a:r>
            <a:r>
              <a:rPr lang="fr-FR" dirty="0" err="1" smtClean="0">
                <a:solidFill>
                  <a:srgbClr val="FF0000"/>
                </a:solidFill>
              </a:rPr>
              <a:t>antipneumococcique</a:t>
            </a:r>
            <a:r>
              <a:rPr lang="fr-FR" dirty="0" smtClean="0">
                <a:solidFill>
                  <a:srgbClr val="FF0000"/>
                </a:solidFill>
              </a:rPr>
              <a:t> </a:t>
            </a:r>
          </a:p>
          <a:p>
            <a:pPr>
              <a:buNone/>
            </a:pPr>
            <a:r>
              <a:rPr lang="fr-FR" dirty="0" smtClean="0">
                <a:solidFill>
                  <a:srgbClr val="FF0000"/>
                </a:solidFill>
              </a:rPr>
              <a:t>D suivi dentaire régulier </a:t>
            </a:r>
          </a:p>
          <a:p>
            <a:pPr>
              <a:buNone/>
            </a:pPr>
            <a:r>
              <a:rPr lang="fr-FR" dirty="0" smtClean="0">
                <a:solidFill>
                  <a:srgbClr val="FF0000"/>
                </a:solidFill>
              </a:rPr>
              <a:t>E dépistage systématique des hépatites virales B et C </a:t>
            </a:r>
            <a:endParaRPr lang="fr-FR" dirty="0">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70000" lnSpcReduction="20000"/>
          </a:bodyPr>
          <a:lstStyle/>
          <a:p>
            <a:pPr>
              <a:buNone/>
            </a:pPr>
            <a:r>
              <a:rPr lang="fr-FR" dirty="0" smtClean="0"/>
              <a:t>Question 12 – QRM La patiente est également gênée par des paresthésies des trois premiers doigts de la main droite. À l'</a:t>
            </a:r>
            <a:r>
              <a:rPr lang="fr-FR" dirty="0" err="1" smtClean="0"/>
              <a:t>exa</a:t>
            </a:r>
            <a:r>
              <a:rPr lang="fr-FR" dirty="0" smtClean="0"/>
              <a:t> - men, vous retrouvez une tuméfaction rénitente à la face antérieure du poignet droit, douloureuse à la pression, dont la percussion réveille les paresthésies des trois premiers doigts. L'examen neurologique est normal. Quelle(s) est (sont) votre (vos) principale(s) hypothèse(s) diagnostique(s) ? </a:t>
            </a:r>
          </a:p>
          <a:p>
            <a:pPr>
              <a:buNone/>
            </a:pPr>
            <a:r>
              <a:rPr lang="fr-FR" dirty="0" smtClean="0"/>
              <a:t>A </a:t>
            </a:r>
            <a:r>
              <a:rPr lang="fr-FR" dirty="0" err="1" smtClean="0"/>
              <a:t>mononévrite</a:t>
            </a:r>
            <a:r>
              <a:rPr lang="fr-FR" dirty="0" smtClean="0"/>
              <a:t> liée au </a:t>
            </a:r>
            <a:r>
              <a:rPr lang="fr-FR" dirty="0" err="1" smtClean="0"/>
              <a:t>Gougerot</a:t>
            </a:r>
            <a:r>
              <a:rPr lang="fr-FR" dirty="0" smtClean="0"/>
              <a:t>-</a:t>
            </a:r>
            <a:r>
              <a:rPr lang="fr-FR" dirty="0" err="1" smtClean="0"/>
              <a:t>Sjögren</a:t>
            </a:r>
            <a:r>
              <a:rPr lang="fr-FR" dirty="0" smtClean="0"/>
              <a:t> </a:t>
            </a:r>
          </a:p>
          <a:p>
            <a:pPr>
              <a:buNone/>
            </a:pPr>
            <a:r>
              <a:rPr lang="fr-FR" dirty="0" smtClean="0"/>
              <a:t>B syndrome du canal carpien compliquant une </a:t>
            </a:r>
            <a:r>
              <a:rPr lang="fr-FR" dirty="0" err="1" smtClean="0"/>
              <a:t>téno</a:t>
            </a:r>
            <a:r>
              <a:rPr lang="fr-FR" dirty="0" smtClean="0"/>
              <a:t> - synovites des fléchisseurs </a:t>
            </a:r>
          </a:p>
          <a:p>
            <a:pPr>
              <a:buNone/>
            </a:pPr>
            <a:r>
              <a:rPr lang="fr-FR" dirty="0" smtClean="0"/>
              <a:t>C synovite de poignet compliquée de compression du nerf ulnaire</a:t>
            </a:r>
          </a:p>
          <a:p>
            <a:pPr>
              <a:buNone/>
            </a:pPr>
            <a:r>
              <a:rPr lang="fr-FR" dirty="0" smtClean="0"/>
              <a:t> D synovite de la gaine du nerf médian </a:t>
            </a:r>
          </a:p>
          <a:p>
            <a:pPr>
              <a:buNone/>
            </a:pPr>
            <a:r>
              <a:rPr lang="fr-FR" dirty="0" smtClean="0"/>
              <a:t>E névralgie </a:t>
            </a:r>
            <a:r>
              <a:rPr lang="fr-FR" dirty="0" err="1" smtClean="0"/>
              <a:t>cervicobrachiale</a:t>
            </a:r>
            <a:endParaRPr lang="fr-F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70000" lnSpcReduction="20000"/>
          </a:bodyPr>
          <a:lstStyle/>
          <a:p>
            <a:pPr>
              <a:buNone/>
            </a:pPr>
            <a:r>
              <a:rPr lang="fr-FR" dirty="0" smtClean="0"/>
              <a:t>Question 12 – QRM La patiente est également gênée par des paresthésies des trois premiers doigts de la main droite. À l'</a:t>
            </a:r>
            <a:r>
              <a:rPr lang="fr-FR" dirty="0" err="1" smtClean="0"/>
              <a:t>exa</a:t>
            </a:r>
            <a:r>
              <a:rPr lang="fr-FR" dirty="0" smtClean="0"/>
              <a:t> - men, vous retrouvez une tuméfaction rénitente à la face antérieure du poignet droit, douloureuse à la pression, dont la percussion réveille les paresthésies des trois premiers doigts. L'examen neurologique est normal. Quelle(s) est (sont) votre (vos) principale(s) hypothèse(s) diagnostique(s) ? </a:t>
            </a:r>
          </a:p>
          <a:p>
            <a:pPr>
              <a:buNone/>
            </a:pPr>
            <a:r>
              <a:rPr lang="fr-FR" dirty="0" smtClean="0"/>
              <a:t>A </a:t>
            </a:r>
            <a:r>
              <a:rPr lang="fr-FR" dirty="0" err="1" smtClean="0"/>
              <a:t>mononévrite</a:t>
            </a:r>
            <a:r>
              <a:rPr lang="fr-FR" dirty="0" smtClean="0"/>
              <a:t> liée au </a:t>
            </a:r>
            <a:r>
              <a:rPr lang="fr-FR" dirty="0" err="1" smtClean="0"/>
              <a:t>Gougerot</a:t>
            </a:r>
            <a:r>
              <a:rPr lang="fr-FR" dirty="0" smtClean="0"/>
              <a:t>-</a:t>
            </a:r>
            <a:r>
              <a:rPr lang="fr-FR" dirty="0" err="1" smtClean="0"/>
              <a:t>Sjögren</a:t>
            </a:r>
            <a:r>
              <a:rPr lang="fr-FR" dirty="0" smtClean="0"/>
              <a:t> </a:t>
            </a:r>
          </a:p>
          <a:p>
            <a:pPr>
              <a:buNone/>
            </a:pPr>
            <a:r>
              <a:rPr lang="fr-FR" dirty="0" smtClean="0">
                <a:solidFill>
                  <a:srgbClr val="FF0000"/>
                </a:solidFill>
              </a:rPr>
              <a:t>B syndrome du canal carpien compliquant une </a:t>
            </a:r>
            <a:r>
              <a:rPr lang="fr-FR" dirty="0" err="1" smtClean="0">
                <a:solidFill>
                  <a:srgbClr val="FF0000"/>
                </a:solidFill>
              </a:rPr>
              <a:t>téno</a:t>
            </a:r>
            <a:r>
              <a:rPr lang="fr-FR" dirty="0" smtClean="0">
                <a:solidFill>
                  <a:srgbClr val="FF0000"/>
                </a:solidFill>
              </a:rPr>
              <a:t> - synovites des fléchisseurs </a:t>
            </a:r>
          </a:p>
          <a:p>
            <a:pPr>
              <a:buNone/>
            </a:pPr>
            <a:r>
              <a:rPr lang="fr-FR" dirty="0" smtClean="0"/>
              <a:t>C synovite de poignet compliquée de compression du nerf ulnaire</a:t>
            </a:r>
          </a:p>
          <a:p>
            <a:pPr>
              <a:buNone/>
            </a:pPr>
            <a:r>
              <a:rPr lang="fr-FR" dirty="0" smtClean="0"/>
              <a:t> D synovite de la gaine du nerf médian </a:t>
            </a:r>
          </a:p>
          <a:p>
            <a:pPr>
              <a:buNone/>
            </a:pPr>
            <a:r>
              <a:rPr lang="fr-FR" dirty="0" smtClean="0"/>
              <a:t>E névralgie </a:t>
            </a:r>
            <a:r>
              <a:rPr lang="fr-FR" dirty="0" err="1" smtClean="0"/>
              <a:t>cervicobrachiale</a:t>
            </a:r>
            <a:endParaRPr lang="fr-F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77500" lnSpcReduction="20000"/>
          </a:bodyPr>
          <a:lstStyle/>
          <a:p>
            <a:pPr>
              <a:buNone/>
            </a:pPr>
            <a:r>
              <a:rPr lang="fr-FR" dirty="0" smtClean="0"/>
              <a:t>Question 13 – QRM Vous introduisez un traitement anti-TNF α en associa - </a:t>
            </a:r>
            <a:r>
              <a:rPr lang="fr-FR" dirty="0" err="1" smtClean="0"/>
              <a:t>tion</a:t>
            </a:r>
            <a:r>
              <a:rPr lang="fr-FR" dirty="0" smtClean="0"/>
              <a:t> au </a:t>
            </a:r>
            <a:r>
              <a:rPr lang="fr-FR" dirty="0" err="1" smtClean="0"/>
              <a:t>méthotrexate</a:t>
            </a:r>
            <a:r>
              <a:rPr lang="fr-FR" dirty="0" smtClean="0"/>
              <a:t>. Lors d'une consultation un an plus tard, vous </a:t>
            </a:r>
            <a:r>
              <a:rPr lang="fr-FR" dirty="0" err="1" smtClean="0"/>
              <a:t>retrou</a:t>
            </a:r>
            <a:r>
              <a:rPr lang="fr-FR" dirty="0" smtClean="0"/>
              <a:t> - </a:t>
            </a:r>
            <a:r>
              <a:rPr lang="fr-FR" dirty="0" err="1" smtClean="0"/>
              <a:t>vez</a:t>
            </a:r>
            <a:r>
              <a:rPr lang="fr-FR" dirty="0" smtClean="0"/>
              <a:t> une patiente légèrement dyspnéique, qui tousse et présente des </a:t>
            </a:r>
            <a:r>
              <a:rPr lang="fr-FR" dirty="0" err="1" smtClean="0"/>
              <a:t>crépitants</a:t>
            </a:r>
            <a:r>
              <a:rPr lang="fr-FR" dirty="0" smtClean="0"/>
              <a:t> aux deux bases à l'</a:t>
            </a:r>
            <a:r>
              <a:rPr lang="fr-FR" dirty="0" err="1" smtClean="0"/>
              <a:t>auscul</a:t>
            </a:r>
            <a:r>
              <a:rPr lang="fr-FR" dirty="0" smtClean="0"/>
              <a:t> - </a:t>
            </a:r>
            <a:r>
              <a:rPr lang="fr-FR" dirty="0" err="1" smtClean="0"/>
              <a:t>tation</a:t>
            </a:r>
            <a:r>
              <a:rPr lang="fr-FR" dirty="0" smtClean="0"/>
              <a:t> pulmonaire. Quelles sont vos principales hypo - thèses diagnostiques ? </a:t>
            </a:r>
          </a:p>
          <a:p>
            <a:pPr>
              <a:buNone/>
            </a:pPr>
            <a:r>
              <a:rPr lang="fr-FR" dirty="0" smtClean="0"/>
              <a:t>A pneumopathie bilatérale à pyogènes </a:t>
            </a:r>
          </a:p>
          <a:p>
            <a:pPr>
              <a:buNone/>
            </a:pPr>
            <a:r>
              <a:rPr lang="fr-FR" dirty="0" smtClean="0"/>
              <a:t>B pneumopathie </a:t>
            </a:r>
            <a:r>
              <a:rPr lang="fr-FR" dirty="0" err="1" smtClean="0"/>
              <a:t>immunoallergique</a:t>
            </a:r>
            <a:r>
              <a:rPr lang="fr-FR" dirty="0" smtClean="0"/>
              <a:t> au </a:t>
            </a:r>
            <a:r>
              <a:rPr lang="fr-FR" dirty="0" err="1" smtClean="0"/>
              <a:t>méthot</a:t>
            </a:r>
            <a:r>
              <a:rPr lang="fr-FR" dirty="0" smtClean="0"/>
              <a:t> - </a:t>
            </a:r>
            <a:r>
              <a:rPr lang="fr-FR" dirty="0" err="1" smtClean="0"/>
              <a:t>rexate</a:t>
            </a:r>
            <a:r>
              <a:rPr lang="fr-FR" dirty="0" smtClean="0"/>
              <a:t> </a:t>
            </a:r>
          </a:p>
          <a:p>
            <a:pPr>
              <a:buNone/>
            </a:pPr>
            <a:r>
              <a:rPr lang="fr-FR" dirty="0" smtClean="0"/>
              <a:t>C pneumopathie interstitielle non spécifique en rap - port avec la polyarthrite rhumatoïde </a:t>
            </a:r>
          </a:p>
          <a:p>
            <a:pPr>
              <a:buNone/>
            </a:pPr>
            <a:r>
              <a:rPr lang="fr-FR" dirty="0" smtClean="0"/>
              <a:t>D décompensation cardiaque gauche sur myocardite liée à la polyarthrite rhumatoïde </a:t>
            </a:r>
          </a:p>
          <a:p>
            <a:pPr>
              <a:buNone/>
            </a:pPr>
            <a:r>
              <a:rPr lang="fr-FR" dirty="0" smtClean="0"/>
              <a:t>E pleurésie rhumatoïde</a:t>
            </a:r>
            <a:endParaRPr lang="fr-FR"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77500" lnSpcReduction="20000"/>
          </a:bodyPr>
          <a:lstStyle/>
          <a:p>
            <a:pPr>
              <a:buNone/>
            </a:pPr>
            <a:r>
              <a:rPr lang="fr-FR" dirty="0" smtClean="0"/>
              <a:t>Question 13 – QRM Vous introduisez un traitement anti-TNF α en associa - </a:t>
            </a:r>
            <a:r>
              <a:rPr lang="fr-FR" dirty="0" err="1" smtClean="0"/>
              <a:t>tion</a:t>
            </a:r>
            <a:r>
              <a:rPr lang="fr-FR" dirty="0" smtClean="0"/>
              <a:t> au </a:t>
            </a:r>
            <a:r>
              <a:rPr lang="fr-FR" dirty="0" err="1" smtClean="0"/>
              <a:t>méthotrexate</a:t>
            </a:r>
            <a:r>
              <a:rPr lang="fr-FR" dirty="0" smtClean="0"/>
              <a:t>. Lors d'une consultation un an plus tard, vous </a:t>
            </a:r>
            <a:r>
              <a:rPr lang="fr-FR" dirty="0" err="1" smtClean="0"/>
              <a:t>retrou</a:t>
            </a:r>
            <a:r>
              <a:rPr lang="fr-FR" dirty="0" smtClean="0"/>
              <a:t> - </a:t>
            </a:r>
            <a:r>
              <a:rPr lang="fr-FR" dirty="0" err="1" smtClean="0"/>
              <a:t>vez</a:t>
            </a:r>
            <a:r>
              <a:rPr lang="fr-FR" dirty="0" smtClean="0"/>
              <a:t> une patiente légèrement dyspnéique, qui tousse et présente des </a:t>
            </a:r>
            <a:r>
              <a:rPr lang="fr-FR" dirty="0" err="1" smtClean="0"/>
              <a:t>crépitants</a:t>
            </a:r>
            <a:r>
              <a:rPr lang="fr-FR" dirty="0" smtClean="0"/>
              <a:t> aux deux bases à l'</a:t>
            </a:r>
            <a:r>
              <a:rPr lang="fr-FR" dirty="0" err="1" smtClean="0"/>
              <a:t>auscul</a:t>
            </a:r>
            <a:r>
              <a:rPr lang="fr-FR" dirty="0" smtClean="0"/>
              <a:t> - </a:t>
            </a:r>
            <a:r>
              <a:rPr lang="fr-FR" dirty="0" err="1" smtClean="0"/>
              <a:t>tation</a:t>
            </a:r>
            <a:r>
              <a:rPr lang="fr-FR" dirty="0" smtClean="0"/>
              <a:t> pulmonaire. Quelles sont vos principales hypo - thèses diagnostiques ? </a:t>
            </a:r>
          </a:p>
          <a:p>
            <a:pPr>
              <a:buNone/>
            </a:pPr>
            <a:r>
              <a:rPr lang="fr-FR" dirty="0" smtClean="0">
                <a:solidFill>
                  <a:srgbClr val="FF0000"/>
                </a:solidFill>
              </a:rPr>
              <a:t>A pneumopathie bilatérale à pyogènes </a:t>
            </a:r>
          </a:p>
          <a:p>
            <a:pPr>
              <a:buNone/>
            </a:pPr>
            <a:r>
              <a:rPr lang="fr-FR" dirty="0" smtClean="0">
                <a:solidFill>
                  <a:srgbClr val="FF0000"/>
                </a:solidFill>
              </a:rPr>
              <a:t>B pneumopathie </a:t>
            </a:r>
            <a:r>
              <a:rPr lang="fr-FR" dirty="0" err="1" smtClean="0">
                <a:solidFill>
                  <a:srgbClr val="FF0000"/>
                </a:solidFill>
              </a:rPr>
              <a:t>immunoallergique</a:t>
            </a:r>
            <a:r>
              <a:rPr lang="fr-FR" dirty="0" smtClean="0">
                <a:solidFill>
                  <a:srgbClr val="FF0000"/>
                </a:solidFill>
              </a:rPr>
              <a:t> au </a:t>
            </a:r>
            <a:r>
              <a:rPr lang="fr-FR" dirty="0" err="1" smtClean="0">
                <a:solidFill>
                  <a:srgbClr val="FF0000"/>
                </a:solidFill>
              </a:rPr>
              <a:t>méthot</a:t>
            </a:r>
            <a:r>
              <a:rPr lang="fr-FR" dirty="0" smtClean="0">
                <a:solidFill>
                  <a:srgbClr val="FF0000"/>
                </a:solidFill>
              </a:rPr>
              <a:t> - </a:t>
            </a:r>
            <a:r>
              <a:rPr lang="fr-FR" dirty="0" err="1" smtClean="0">
                <a:solidFill>
                  <a:srgbClr val="FF0000"/>
                </a:solidFill>
              </a:rPr>
              <a:t>rexate</a:t>
            </a:r>
            <a:r>
              <a:rPr lang="fr-FR" dirty="0" smtClean="0">
                <a:solidFill>
                  <a:srgbClr val="FF0000"/>
                </a:solidFill>
              </a:rPr>
              <a:t> </a:t>
            </a:r>
          </a:p>
          <a:p>
            <a:pPr>
              <a:buNone/>
            </a:pPr>
            <a:r>
              <a:rPr lang="fr-FR" dirty="0" smtClean="0">
                <a:solidFill>
                  <a:srgbClr val="FF0000"/>
                </a:solidFill>
              </a:rPr>
              <a:t>C pneumopathie interstitielle non spécifique en rap - port avec la polyarthrite rhumatoïde </a:t>
            </a:r>
          </a:p>
          <a:p>
            <a:pPr>
              <a:buNone/>
            </a:pPr>
            <a:r>
              <a:rPr lang="fr-FR" dirty="0" smtClean="0"/>
              <a:t>D décompensation cardiaque gauche sur myocardite liée à la polyarthrite rhumatoïde </a:t>
            </a:r>
          </a:p>
          <a:p>
            <a:pPr>
              <a:buNone/>
            </a:pPr>
            <a:r>
              <a:rPr lang="fr-FR" dirty="0" smtClean="0"/>
              <a:t>E pleurésie rhumatoïde</a:t>
            </a:r>
            <a:endParaRPr lang="fr-FR"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CAS CLINIQUE: RHUMATISME METABOLIQUE</a:t>
            </a:r>
            <a:endParaRPr lang="fr-FR" dirty="0"/>
          </a:p>
        </p:txBody>
      </p:sp>
      <p:pic>
        <p:nvPicPr>
          <p:cNvPr id="4098" name="Picture 2"/>
          <p:cNvPicPr>
            <a:picLocks noGrp="1" noChangeAspect="1" noChangeArrowheads="1"/>
          </p:cNvPicPr>
          <p:nvPr>
            <p:ph idx="1"/>
          </p:nvPr>
        </p:nvPicPr>
        <p:blipFill>
          <a:blip r:embed="rId2"/>
          <a:srcRect/>
          <a:stretch>
            <a:fillRect/>
          </a:stretch>
        </p:blipFill>
        <p:spPr bwMode="auto">
          <a:xfrm>
            <a:off x="1714480" y="1670903"/>
            <a:ext cx="5286412" cy="4055713"/>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5122" name="Picture 2"/>
          <p:cNvPicPr>
            <a:picLocks noGrp="1" noChangeAspect="1" noChangeArrowheads="1"/>
          </p:cNvPicPr>
          <p:nvPr>
            <p:ph idx="1"/>
          </p:nvPr>
        </p:nvPicPr>
        <p:blipFill>
          <a:blip r:embed="rId2"/>
          <a:srcRect/>
          <a:stretch>
            <a:fillRect/>
          </a:stretch>
        </p:blipFill>
        <p:spPr bwMode="auto">
          <a:xfrm>
            <a:off x="1857356" y="2500306"/>
            <a:ext cx="4929222" cy="1977238"/>
          </a:xfrm>
          <a:prstGeom prst="rect">
            <a:avLst/>
          </a:prstGeom>
          <a:noFill/>
          <a:ln w="9525">
            <a:noFill/>
            <a:miter lim="800000"/>
            <a:headEnd/>
            <a:tailEnd/>
          </a:ln>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6146" name="Picture 2"/>
          <p:cNvPicPr>
            <a:picLocks noGrp="1" noChangeAspect="1" noChangeArrowheads="1"/>
          </p:cNvPicPr>
          <p:nvPr>
            <p:ph idx="1"/>
          </p:nvPr>
        </p:nvPicPr>
        <p:blipFill>
          <a:blip r:embed="rId2"/>
          <a:srcRect/>
          <a:stretch>
            <a:fillRect/>
          </a:stretch>
        </p:blipFill>
        <p:spPr bwMode="auto">
          <a:xfrm>
            <a:off x="2000232" y="2714621"/>
            <a:ext cx="4857784" cy="1896274"/>
          </a:xfrm>
          <a:prstGeom prst="rect">
            <a:avLst/>
          </a:prstGeom>
          <a:noFill/>
          <a:ln w="9525">
            <a:noFill/>
            <a:miter lim="800000"/>
            <a:headEnd/>
            <a:tailEnd/>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7170" name="Picture 2"/>
          <p:cNvPicPr>
            <a:picLocks noChangeAspect="1" noChangeArrowheads="1"/>
          </p:cNvPicPr>
          <p:nvPr/>
        </p:nvPicPr>
        <p:blipFill>
          <a:blip r:embed="rId2"/>
          <a:srcRect/>
          <a:stretch>
            <a:fillRect/>
          </a:stretch>
        </p:blipFill>
        <p:spPr bwMode="auto">
          <a:xfrm>
            <a:off x="2214546" y="2071688"/>
            <a:ext cx="4091004" cy="3357576"/>
          </a:xfrm>
          <a:prstGeom prst="rect">
            <a:avLst/>
          </a:prstGeom>
          <a:no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dirty="0"/>
          </a:p>
        </p:txBody>
      </p:sp>
      <p:pic>
        <p:nvPicPr>
          <p:cNvPr id="8194" name="Picture 2"/>
          <p:cNvPicPr>
            <a:picLocks noChangeAspect="1" noChangeArrowheads="1"/>
          </p:cNvPicPr>
          <p:nvPr/>
        </p:nvPicPr>
        <p:blipFill>
          <a:blip r:embed="rId2"/>
          <a:srcRect/>
          <a:stretch>
            <a:fillRect/>
          </a:stretch>
        </p:blipFill>
        <p:spPr bwMode="auto">
          <a:xfrm>
            <a:off x="2018316" y="1905000"/>
            <a:ext cx="4311048" cy="3738578"/>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9218" name="Picture 2"/>
          <p:cNvPicPr>
            <a:picLocks noChangeAspect="1" noChangeArrowheads="1"/>
          </p:cNvPicPr>
          <p:nvPr/>
        </p:nvPicPr>
        <p:blipFill>
          <a:blip r:embed="rId2"/>
          <a:srcRect/>
          <a:stretch>
            <a:fillRect/>
          </a:stretch>
        </p:blipFill>
        <p:spPr bwMode="auto">
          <a:xfrm>
            <a:off x="2143108" y="1857364"/>
            <a:ext cx="4322722" cy="4243406"/>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dirty="0"/>
          </a:p>
        </p:txBody>
      </p:sp>
      <p:pic>
        <p:nvPicPr>
          <p:cNvPr id="10242" name="Picture 2"/>
          <p:cNvPicPr>
            <a:picLocks noChangeAspect="1" noChangeArrowheads="1"/>
          </p:cNvPicPr>
          <p:nvPr/>
        </p:nvPicPr>
        <p:blipFill>
          <a:blip r:embed="rId2"/>
          <a:srcRect/>
          <a:stretch>
            <a:fillRect/>
          </a:stretch>
        </p:blipFill>
        <p:spPr bwMode="auto">
          <a:xfrm>
            <a:off x="2143108" y="1857364"/>
            <a:ext cx="4861269" cy="4291032"/>
          </a:xfrm>
          <a:prstGeom prst="rect">
            <a:avLst/>
          </a:prstGeom>
          <a:noFill/>
          <a:ln w="9525">
            <a:noFill/>
            <a:miter lim="800000"/>
            <a:headEnd/>
            <a:tailEnd/>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1266" name="Picture 2"/>
          <p:cNvPicPr>
            <a:picLocks noChangeAspect="1" noChangeArrowheads="1"/>
          </p:cNvPicPr>
          <p:nvPr/>
        </p:nvPicPr>
        <p:blipFill>
          <a:blip r:embed="rId2"/>
          <a:srcRect/>
          <a:stretch>
            <a:fillRect/>
          </a:stretch>
        </p:blipFill>
        <p:spPr bwMode="auto">
          <a:xfrm>
            <a:off x="2071670" y="1785926"/>
            <a:ext cx="4468622" cy="4729183"/>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12290" name="Picture 2"/>
          <p:cNvPicPr>
            <a:picLocks noGrp="1" noChangeAspect="1" noChangeArrowheads="1"/>
          </p:cNvPicPr>
          <p:nvPr>
            <p:ph idx="1"/>
          </p:nvPr>
        </p:nvPicPr>
        <p:blipFill>
          <a:blip r:embed="rId2"/>
          <a:srcRect/>
          <a:stretch>
            <a:fillRect/>
          </a:stretch>
        </p:blipFill>
        <p:spPr bwMode="auto">
          <a:xfrm>
            <a:off x="1928794" y="1456796"/>
            <a:ext cx="5214974" cy="4747736"/>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dirty="0"/>
          </a:p>
        </p:txBody>
      </p:sp>
      <p:pic>
        <p:nvPicPr>
          <p:cNvPr id="13314" name="Picture 2"/>
          <p:cNvPicPr>
            <a:picLocks noChangeAspect="1" noChangeArrowheads="1"/>
          </p:cNvPicPr>
          <p:nvPr/>
        </p:nvPicPr>
        <p:blipFill>
          <a:blip r:embed="rId2"/>
          <a:srcRect/>
          <a:stretch>
            <a:fillRect/>
          </a:stretch>
        </p:blipFill>
        <p:spPr bwMode="auto">
          <a:xfrm>
            <a:off x="2857488" y="2214554"/>
            <a:ext cx="4122601" cy="3348052"/>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TotalTime>
  <Words>1780</Words>
  <Application>Microsoft Office PowerPoint</Application>
  <PresentationFormat>Affichage à l'écran (4:3)</PresentationFormat>
  <Paragraphs>315</Paragraphs>
  <Slides>71</Slides>
  <Notes>0</Notes>
  <HiddenSlides>0</HiddenSlides>
  <MMClips>0</MMClips>
  <ScaleCrop>false</ScaleCrop>
  <HeadingPairs>
    <vt:vector size="4" baseType="variant">
      <vt:variant>
        <vt:lpstr>Thème</vt:lpstr>
      </vt:variant>
      <vt:variant>
        <vt:i4>1</vt:i4>
      </vt:variant>
      <vt:variant>
        <vt:lpstr>Titres des diapositives</vt:lpstr>
      </vt:variant>
      <vt:variant>
        <vt:i4>71</vt:i4>
      </vt:variant>
    </vt:vector>
  </HeadingPairs>
  <TitlesOfParts>
    <vt:vector size="72" baseType="lpstr">
      <vt:lpstr>Thème Office</vt:lpstr>
      <vt:lpstr>Cas cliniques rhumato</vt:lpstr>
      <vt:lpstr>Cas clinique 1 : Sciatique</vt:lpstr>
      <vt:lpstr>Diapositive 3</vt:lpstr>
      <vt:lpstr>Diapositive 4</vt:lpstr>
      <vt:lpstr>Diapositive 5</vt:lpstr>
      <vt:lpstr>Diapositive 6</vt:lpstr>
      <vt:lpstr>Diapositive 7</vt:lpstr>
      <vt:lpstr>Diapositive 8</vt:lpstr>
      <vt:lpstr>Diapositive 9</vt:lpstr>
      <vt:lpstr>Diapositive 10</vt:lpstr>
      <vt:lpstr>Diapositive 11</vt:lpstr>
      <vt:lpstr>Diapositive 12</vt:lpstr>
      <vt:lpstr>Diapositive 13</vt:lpstr>
      <vt:lpstr>Diapositive 14</vt:lpstr>
      <vt:lpstr>Diapositive 15</vt:lpstr>
      <vt:lpstr>Diapositive 16</vt:lpstr>
      <vt:lpstr>Diapositive 17</vt:lpstr>
      <vt:lpstr>Diapositive 18</vt:lpstr>
      <vt:lpstr>Diapositive 19</vt:lpstr>
      <vt:lpstr>Diapositive 20</vt:lpstr>
      <vt:lpstr>Diapositive 21</vt:lpstr>
      <vt:lpstr>Diapositive 22</vt:lpstr>
      <vt:lpstr>Diapositive 23</vt:lpstr>
      <vt:lpstr>Diapositive 24</vt:lpstr>
      <vt:lpstr>Diapositive 25</vt:lpstr>
      <vt:lpstr>Diapositive 26</vt:lpstr>
      <vt:lpstr>Diapositive 27</vt:lpstr>
      <vt:lpstr>Diapositive 28</vt:lpstr>
      <vt:lpstr>Cas clinique 2: RIC</vt:lpstr>
      <vt:lpstr>Diapositive 30</vt:lpstr>
      <vt:lpstr>Diapositive 31</vt:lpstr>
      <vt:lpstr>Diapositive 32</vt:lpstr>
      <vt:lpstr>Diapositive 33</vt:lpstr>
      <vt:lpstr>Diapositive 34</vt:lpstr>
      <vt:lpstr>Diapositive 35</vt:lpstr>
      <vt:lpstr>Diapositive 36</vt:lpstr>
      <vt:lpstr>Diapositive 37</vt:lpstr>
      <vt:lpstr>Diapositive 38</vt:lpstr>
      <vt:lpstr>Diapositive 39</vt:lpstr>
      <vt:lpstr>Diapositive 40</vt:lpstr>
      <vt:lpstr>Diapositive 41</vt:lpstr>
      <vt:lpstr>Diapositive 42</vt:lpstr>
      <vt:lpstr>Diapositive 43</vt:lpstr>
      <vt:lpstr>Diapositive 44</vt:lpstr>
      <vt:lpstr>Diapositive 45</vt:lpstr>
      <vt:lpstr>Diapositive 46</vt:lpstr>
      <vt:lpstr>Diapositive 47</vt:lpstr>
      <vt:lpstr>Diapositive 48</vt:lpstr>
      <vt:lpstr>Diapositive 49</vt:lpstr>
      <vt:lpstr>Diapositive 50</vt:lpstr>
      <vt:lpstr>Diapositive 51</vt:lpstr>
      <vt:lpstr>Diapositive 52</vt:lpstr>
      <vt:lpstr>Diapositive 53</vt:lpstr>
      <vt:lpstr>Diapositive 54</vt:lpstr>
      <vt:lpstr>Diapositive 55</vt:lpstr>
      <vt:lpstr>Diapositive 56</vt:lpstr>
      <vt:lpstr>Diapositive 57</vt:lpstr>
      <vt:lpstr>Diapositive 58</vt:lpstr>
      <vt:lpstr>Diapositive 59</vt:lpstr>
      <vt:lpstr>Diapositive 60</vt:lpstr>
      <vt:lpstr>Diapositive 61</vt:lpstr>
      <vt:lpstr>CAS CLINIQUE: RHUMATISME METABOLIQUE</vt:lpstr>
      <vt:lpstr>Diapositive 63</vt:lpstr>
      <vt:lpstr>Diapositive 64</vt:lpstr>
      <vt:lpstr>Diapositive 65</vt:lpstr>
      <vt:lpstr>Diapositive 66</vt:lpstr>
      <vt:lpstr>Diapositive 67</vt:lpstr>
      <vt:lpstr>Diapositive 68</vt:lpstr>
      <vt:lpstr>Diapositive 69</vt:lpstr>
      <vt:lpstr>Diapositive 70</vt:lpstr>
      <vt:lpstr>Diapositive 71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 cliniques rhumato</dc:title>
  <dc:creator>lenovo</dc:creator>
  <cp:lastModifiedBy>lenovo</cp:lastModifiedBy>
  <cp:revision>3</cp:revision>
  <dcterms:created xsi:type="dcterms:W3CDTF">2019-10-14T14:11:08Z</dcterms:created>
  <dcterms:modified xsi:type="dcterms:W3CDTF">2019-10-14T16:06:15Z</dcterms:modified>
</cp:coreProperties>
</file>