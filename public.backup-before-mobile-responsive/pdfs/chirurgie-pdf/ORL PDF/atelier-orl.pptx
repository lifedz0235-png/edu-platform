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60.xml" ContentType="application/vnd.openxmlformats-officedocument.presentationml.slide+xml"/>
  <Override PartName="/ppt/slides/slide18.xml" ContentType="application/vnd.openxmlformats-officedocument.presentationml.slide+xml"/>
  <Override PartName="/ppt/slides/slide61.xml" ContentType="application/vnd.openxmlformats-officedocument.presentationml.slide+xml"/>
  <Override PartName="/ppt/slides/slide19.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_rels/slide13.xml.rels" ContentType="application/vnd.openxmlformats-package.relationships+xml"/>
  <Override PartName="/ppt/slides/_rels/slide5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5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57.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82.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62.xml.rels" ContentType="application/vnd.openxmlformats-package.relationships+xml"/>
  <Override PartName="/ppt/slides/_rels/slide61.xml.rels" ContentType="application/vnd.openxmlformats-package.relationships+xml"/>
  <Override PartName="/ppt/slides/_rels/slide19.xml.rels" ContentType="application/vnd.openxmlformats-package.relationships+xml"/>
  <Override PartName="/ppt/slides/_rels/slide60.xml.rels" ContentType="application/vnd.openxmlformats-package.relationships+xml"/>
  <Override PartName="/ppt/slides/_rels/slide18.xml.rels" ContentType="application/vnd.openxmlformats-package.relationships+xml"/>
  <Override PartName="/ppt/slides/_rels/slide30.xml.rels" ContentType="application/vnd.openxmlformats-package.relationships+xml"/>
  <Override PartName="/ppt/slides/_rels/slide67.xml.rels" ContentType="application/vnd.openxmlformats-package.relationships+xml"/>
  <Override PartName="/ppt/slides/_rels/slide31.xml.rels" ContentType="application/vnd.openxmlformats-package.relationships+xml"/>
  <Override PartName="/ppt/slides/_rels/slide68.xml.rels" ContentType="application/vnd.openxmlformats-package.relationships+xml"/>
  <Override PartName="/ppt/slides/_rels/slide32.xml.rels" ContentType="application/vnd.openxmlformats-package.relationships+xml"/>
  <Override PartName="/ppt/slides/_rels/slide69.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79.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78.xml.rels" ContentType="application/vnd.openxmlformats-package.relationships+xml"/>
  <Override PartName="/ppt/slides/_rels/slide5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77.xml.rels" ContentType="application/vnd.openxmlformats-package.relationships+xml"/>
  <Override PartName="/ppt/slides/_rels/slide14.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63.xml.rels" ContentType="application/vnd.openxmlformats-package.relationships+xml"/>
  <Override PartName="/ppt/slides/_rels/slide27.xml.rels" ContentType="application/vnd.openxmlformats-package.relationships+xml"/>
  <Override PartName="/ppt/slides/_rels/slide64.xml.rels" ContentType="application/vnd.openxmlformats-package.relationships+xml"/>
  <Override PartName="/ppt/slides/_rels/slide28.xml.rels" ContentType="application/vnd.openxmlformats-package.relationships+xml"/>
  <Override PartName="/ppt/slides/_rels/slide70.xml.rels" ContentType="application/vnd.openxmlformats-package.relationships+xml"/>
  <Override PartName="/ppt/slides/_rels/slide65.xml.rels" ContentType="application/vnd.openxmlformats-package.relationships+xml"/>
  <Override PartName="/ppt/slides/_rels/slide71.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66.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80.xml.rels" ContentType="application/vnd.openxmlformats-package.relationships+xml"/>
  <Override PartName="/ppt/slides/_rels/slide15.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46.xml.rels" ContentType="application/vnd.openxmlformats-package.relationships+xml"/>
  <Override PartName="/ppt/slides/slide71.xml" ContentType="application/vnd.openxmlformats-officedocument.presentationml.slide+xml"/>
  <Override PartName="/ppt/slides/slide66.xml" ContentType="application/vnd.openxmlformats-officedocument.presentationml.slide+xml"/>
  <Override PartName="/ppt/slides/slide79.xml" ContentType="application/vnd.openxmlformats-officedocument.presentationml.slide+xml"/>
  <Override PartName="/ppt/slides/slide67.xml" ContentType="application/vnd.openxmlformats-officedocument.presentationml.slide+xml"/>
  <Override PartName="/ppt/slides/slide15.xml" ContentType="application/vnd.openxmlformats-officedocument.presentationml.slide+xml"/>
  <Override PartName="/ppt/slides/slide80.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8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_rels/presentation.xml.rels" ContentType="application/vnd.openxmlformats-package.relationships+xml"/>
  <Override PartName="/ppt/media/image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2" r:id="rId89"/>
    <p:sldId id="333" r:id="rId90"/>
    <p:sldId id="334" r:id="rId91"/>
    <p:sldId id="335" r:id="rId92"/>
    <p:sldId id="336" r:id="rId93"/>
    <p:sldId id="337" r:id="rId9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indent="0" algn="ctr">
              <a:buNone/>
            </a:pPr>
            <a:endParaRPr b="0" lang="fr-FR"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64E9A93-4FE7-4725-BEB1-D36B965500A1}" type="slidenum">
              <a:t>&lt;#&gt;</a:t>
            </a:fld>
          </a:p>
        </p:txBody>
      </p:sp>
      <p:sp>
        <p:nvSpPr>
          <p:cNvPr id="6" name="PlaceHolder 5"/>
          <p:cNvSpPr>
            <a:spLocks noGrp="1"/>
          </p:cNvSpPr>
          <p:nvPr>
            <p:ph type="dt" idx="1"/>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8873DCCE-5E6C-4D07-A65C-5E96B514DB4D}" type="slidenum">
              <a:t>&lt;#&gt;</a:t>
            </a:fld>
          </a:p>
        </p:txBody>
      </p:sp>
      <p:sp>
        <p:nvSpPr>
          <p:cNvPr id="4" name="PlaceHolder 3"/>
          <p:cNvSpPr>
            <a:spLocks noGrp="1"/>
          </p:cNvSpPr>
          <p:nvPr>
            <p:ph type="dt" idx="4"/>
          </p:nvPr>
        </p:nvSpPr>
        <p:spPr/>
        <p:txBody>
          <a:bodyPr/>
          <a:p>
            <a:r>
              <a:rPr lang="fr-F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67CFFC2-8884-41F6-A76B-775752A33A85}" type="slidenum">
              <a:t>&lt;#&gt;</a:t>
            </a:fld>
          </a:p>
        </p:txBody>
      </p:sp>
      <p:sp>
        <p:nvSpPr>
          <p:cNvPr id="4" name="PlaceHolder 3"/>
          <p:cNvSpPr>
            <a:spLocks noGrp="1"/>
          </p:cNvSpPr>
          <p:nvPr>
            <p:ph type="dt" idx="7"/>
          </p:nvPr>
        </p:nvSpPr>
        <p:spPr/>
        <p:txBody>
          <a:bodyPr/>
          <a:p>
            <a:r>
              <a:rPr lang="fr-F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Calibri"/>
            </a:endParaRPr>
          </a:p>
        </p:txBody>
      </p:sp>
      <p:sp>
        <p:nvSpPr>
          <p:cNvPr id="23"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fr-FR" sz="28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28505AAD-9474-4AD0-9A48-52BEF9B0318B}" type="slidenum">
              <a:t>&lt;#&gt;</a:t>
            </a:fld>
          </a:p>
        </p:txBody>
      </p:sp>
      <p:sp>
        <p:nvSpPr>
          <p:cNvPr id="6" name="PlaceHolder 5"/>
          <p:cNvSpPr>
            <a:spLocks noGrp="1"/>
          </p:cNvSpPr>
          <p:nvPr>
            <p:ph type="dt" idx="10"/>
          </p:nvPr>
        </p:nvSpPr>
        <p:spPr/>
        <p:txBody>
          <a:bodyPr/>
          <a:p>
            <a:r>
              <a:rPr lang="fr-F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32AAAF76-3A7A-42AF-8DDE-860EFB32F0D2}" type="slidenum">
              <a:t>&lt;#&gt;</a:t>
            </a:fld>
          </a:p>
        </p:txBody>
      </p:sp>
      <p:sp>
        <p:nvSpPr>
          <p:cNvPr id="4" name="PlaceHolder 3"/>
          <p:cNvSpPr>
            <a:spLocks noGrp="1"/>
          </p:cNvSpPr>
          <p:nvPr>
            <p:ph type="dt" idx="13"/>
          </p:nvPr>
        </p:nvSpPr>
        <p:spPr/>
        <p:txBody>
          <a:bodyPr/>
          <a:p>
            <a:r>
              <a:rPr lang="fr-F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Calibri"/>
            </a:endParaRPr>
          </a:p>
        </p:txBody>
      </p:sp>
      <p:sp>
        <p:nvSpPr>
          <p:cNvPr id="36"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fr-FR" sz="2800" spc="-1" strike="noStrike">
              <a:solidFill>
                <a:schemeClr val="dk1"/>
              </a:solidFill>
              <a:latin typeface="Calibri"/>
            </a:endParaRPr>
          </a:p>
        </p:txBody>
      </p:sp>
      <p:sp>
        <p:nvSpPr>
          <p:cNvPr id="3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fr-FR" sz="28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22682951-1951-4FE9-BC46-6C00870F0843}" type="slidenum">
              <a:t>&lt;#&gt;</a:t>
            </a:fld>
          </a:p>
        </p:txBody>
      </p:sp>
      <p:sp>
        <p:nvSpPr>
          <p:cNvPr id="7" name="PlaceHolder 6"/>
          <p:cNvSpPr>
            <a:spLocks noGrp="1"/>
          </p:cNvSpPr>
          <p:nvPr>
            <p:ph type="dt" idx="16"/>
          </p:nvPr>
        </p:nvSpPr>
        <p:spPr/>
        <p:txBody>
          <a:bodyPr/>
          <a:p>
            <a:r>
              <a:rPr lang="fr-F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9CDC29A8-AE07-4367-991F-2622750DA618}" type="slidenum">
              <a:t>&lt;#&gt;</a:t>
            </a:fld>
          </a:p>
        </p:txBody>
      </p:sp>
      <p:sp>
        <p:nvSpPr>
          <p:cNvPr id="4" name="PlaceHolder 3"/>
          <p:cNvSpPr>
            <a:spLocks noGrp="1"/>
          </p:cNvSpPr>
          <p:nvPr>
            <p:ph type="dt" idx="19"/>
          </p:nvPr>
        </p:nvSpPr>
        <p:spPr/>
        <p:txBody>
          <a:bodyPr/>
          <a:p>
            <a:r>
              <a:rPr lang="fr-F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628E310E-BDA6-4D16-96C0-0E6FE32212FD}" type="slidenum">
              <a:t>&lt;#&gt;</a:t>
            </a:fld>
          </a:p>
        </p:txBody>
      </p:sp>
      <p:sp>
        <p:nvSpPr>
          <p:cNvPr id="5" name="PlaceHolder 4"/>
          <p:cNvSpPr>
            <a:spLocks noGrp="1"/>
          </p:cNvSpPr>
          <p:nvPr>
            <p:ph type="dt" idx="22"/>
          </p:nvPr>
        </p:nvSpPr>
        <p:spPr/>
        <p:txBody>
          <a:bodyPr/>
          <a:p>
            <a:r>
              <a:rPr lang="fr-F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2B6C1566-E9A8-4B2D-95BF-020698DCFD6D}" type="slidenum">
              <a:t>&lt;#&gt;</a:t>
            </a:fld>
          </a:p>
        </p:txBody>
      </p:sp>
      <p:sp>
        <p:nvSpPr>
          <p:cNvPr id="4" name="PlaceHolder 3"/>
          <p:cNvSpPr>
            <a:spLocks noGrp="1"/>
          </p:cNvSpPr>
          <p:nvPr>
            <p:ph type="dt" idx="25"/>
          </p:nvPr>
        </p:nvSpPr>
        <p:spPr/>
        <p:txBody>
          <a:bodyPr/>
          <a:p>
            <a:r>
              <a:rPr lang="fr-F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7D17FB26-A7BB-4171-AA90-977F65BD45E1}" type="slidenum">
              <a:t>&lt;#&gt;</a:t>
            </a:fld>
          </a:p>
        </p:txBody>
      </p:sp>
      <p:sp>
        <p:nvSpPr>
          <p:cNvPr id="4" name="PlaceHolder 3"/>
          <p:cNvSpPr>
            <a:spLocks noGrp="1"/>
          </p:cNvSpPr>
          <p:nvPr>
            <p:ph type="dt" idx="28"/>
          </p:nvPr>
        </p:nvSpPr>
        <p:spPr/>
        <p:txBody>
          <a:bodyPr/>
          <a:p>
            <a:r>
              <a:rPr lang="fr-F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992BA4F2-124D-468A-B983-593294CDB0C1}" type="slidenum">
              <a:t>&lt;#&gt;</a:t>
            </a:fld>
          </a:p>
        </p:txBody>
      </p:sp>
      <p:sp>
        <p:nvSpPr>
          <p:cNvPr id="4" name="PlaceHolder 3"/>
          <p:cNvSpPr>
            <a:spLocks noGrp="1"/>
          </p:cNvSpPr>
          <p:nvPr>
            <p:ph type="dt" idx="31"/>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pc="-1" strike="noStrike">
                <a:solidFill>
                  <a:schemeClr val="dk1"/>
                </a:solidFill>
                <a:latin typeface="Calibri Light"/>
              </a:rPr>
              <a:t>Click to edit Master title </a:t>
            </a:r>
            <a:r>
              <a:rPr b="0" lang="en-US" sz="6000" spc="-1" strike="noStrike">
                <a:solidFill>
                  <a:schemeClr val="dk1"/>
                </a:solidFill>
                <a:latin typeface="Calibri Light"/>
              </a:rPr>
              <a:t>style</a:t>
            </a:r>
            <a:endParaRPr b="0" lang="fr-FR" sz="6000" spc="-1" strike="noStrike">
              <a:solidFill>
                <a:schemeClr val="dk1"/>
              </a:solidFill>
              <a:latin typeface="Calibri"/>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fr-FR" sz="1200" spc="-1" strike="noStrike">
                <a:solidFill>
                  <a:schemeClr val="dk1">
                    <a:tint val="75000"/>
                  </a:schemeClr>
                </a:solidFill>
                <a:latin typeface="Calibri"/>
              </a:defRPr>
            </a:lvl1pPr>
          </a:lstStyle>
          <a:p>
            <a:pPr indent="0" defTabSz="914400">
              <a:lnSpc>
                <a:spcPct val="100000"/>
              </a:lnSpc>
              <a:buNone/>
            </a:pPr>
            <a:r>
              <a:rPr b="0" lang="fr-FR"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fr-FR" sz="1200" spc="-1" strike="noStrike">
                <a:solidFill>
                  <a:schemeClr val="dk1">
                    <a:tint val="75000"/>
                  </a:schemeClr>
                </a:solidFill>
                <a:latin typeface="Calibri"/>
              </a:defRPr>
            </a:lvl1pPr>
          </a:lstStyle>
          <a:p>
            <a:pPr indent="0" algn="r" defTabSz="914400">
              <a:lnSpc>
                <a:spcPct val="100000"/>
              </a:lnSpc>
              <a:buNone/>
            </a:pPr>
            <a:fld id="{6BE2B49A-E3B7-49CA-8F97-A19FCA3A97AA}" type="slidenum">
              <a:rPr b="0" lang="fr-FR"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fr-FR" sz="2800" spc="-1" strike="noStrike">
                <a:solidFill>
                  <a:schemeClr val="dk1"/>
                </a:solidFill>
                <a:latin typeface="Calibri"/>
              </a:rPr>
              <a:t>Cliquez pour éditer le format du plan de texte</a:t>
            </a:r>
            <a:endParaRPr b="0" lang="fr-FR"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fr-FR" sz="2000" spc="-1" strike="noStrike">
                <a:solidFill>
                  <a:schemeClr val="dk1"/>
                </a:solidFill>
                <a:latin typeface="Calibri"/>
              </a:rPr>
              <a:t>Second niveau de plan</a:t>
            </a:r>
            <a:endParaRPr b="0" lang="fr-FR"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fr-FR" sz="1800" spc="-1" strike="noStrike">
                <a:solidFill>
                  <a:schemeClr val="dk1"/>
                </a:solidFill>
                <a:latin typeface="Calibri"/>
              </a:rPr>
              <a:t>Troisième niveau de plan</a:t>
            </a:r>
            <a:endParaRPr b="0" lang="fr-FR"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fr-FR" sz="1800" spc="-1" strike="noStrike">
                <a:solidFill>
                  <a:schemeClr val="dk1"/>
                </a:solidFill>
                <a:latin typeface="Calibri"/>
              </a:rPr>
              <a:t>Quatrième niveau de plan</a:t>
            </a:r>
            <a:endParaRPr b="0" lang="fr-FR"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fr-FR" sz="2000" spc="-1" strike="noStrike">
                <a:solidFill>
                  <a:schemeClr val="dk1"/>
                </a:solidFill>
                <a:latin typeface="Calibri"/>
              </a:rPr>
              <a:t>Cinquième niveau de plan</a:t>
            </a:r>
            <a:endParaRPr b="0" lang="fr-FR"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fr-FR" sz="2000" spc="-1" strike="noStrike">
                <a:solidFill>
                  <a:schemeClr val="dk1"/>
                </a:solidFill>
                <a:latin typeface="Calibri"/>
              </a:rPr>
              <a:t>Sixième niveau de plan</a:t>
            </a:r>
            <a:endParaRPr b="0" lang="fr-FR"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fr-FR" sz="2000" spc="-1" strike="noStrike">
                <a:solidFill>
                  <a:schemeClr val="dk1"/>
                </a:solidFill>
                <a:latin typeface="Calibri"/>
              </a:rPr>
              <a:t>Septième niveau de plan</a:t>
            </a:r>
            <a:endParaRPr b="0" lang="fr-FR"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fr-FR" sz="4400" spc="-1" strike="noStrike">
              <a:solidFill>
                <a:schemeClr val="dk1"/>
              </a:solidFill>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fr-FR"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fr-FR"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fr-FR"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fr-FR"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fr-FR" sz="1800" spc="-1" strike="noStrike">
              <a:solidFill>
                <a:schemeClr val="dk1"/>
              </a:solidFill>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fr-FR" sz="1200" spc="-1" strike="noStrike">
                <a:solidFill>
                  <a:schemeClr val="dk1">
                    <a:tint val="75000"/>
                  </a:schemeClr>
                </a:solidFill>
                <a:latin typeface="Calibri"/>
              </a:defRPr>
            </a:lvl1pPr>
          </a:lstStyle>
          <a:p>
            <a:pPr indent="0" defTabSz="914400">
              <a:lnSpc>
                <a:spcPct val="100000"/>
              </a:lnSpc>
              <a:buNone/>
            </a:pPr>
            <a:r>
              <a:rPr b="0" lang="fr-FR"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fr-FR" sz="1200" spc="-1" strike="noStrike">
                <a:solidFill>
                  <a:schemeClr val="dk1">
                    <a:tint val="75000"/>
                  </a:schemeClr>
                </a:solidFill>
                <a:latin typeface="Calibri"/>
              </a:defRPr>
            </a:lvl1pPr>
          </a:lstStyle>
          <a:p>
            <a:pPr indent="0" algn="r" defTabSz="914400">
              <a:lnSpc>
                <a:spcPct val="100000"/>
              </a:lnSpc>
              <a:buNone/>
            </a:pPr>
            <a:fld id="{9371CC3E-A92B-4931-9E4D-F4349545F1B2}" type="slidenum">
              <a:rPr b="0" lang="fr-FR"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en-US" sz="4400" spc="-1" strike="noStrike">
                <a:solidFill>
                  <a:schemeClr val="dk1"/>
                </a:solidFill>
                <a:latin typeface="Calibri Light"/>
              </a:rPr>
              <a:t>Click to edit Master title style</a:t>
            </a:r>
            <a:endParaRPr b="0" lang="fr-FR" sz="4400" spc="-1" strike="noStrike">
              <a:solidFill>
                <a:schemeClr val="dk1"/>
              </a:solidFill>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fr-FR"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fr-FR"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fr-FR"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fr-FR"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fr-FR" sz="1800" spc="-1" strike="noStrike">
              <a:solidFill>
                <a:schemeClr val="dk1"/>
              </a:solidFill>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fr-FR" sz="1200" spc="-1" strike="noStrike">
                <a:solidFill>
                  <a:schemeClr val="dk1">
                    <a:tint val="75000"/>
                  </a:schemeClr>
                </a:solidFill>
                <a:latin typeface="Calibri"/>
              </a:defRPr>
            </a:lvl1pPr>
          </a:lstStyle>
          <a:p>
            <a:pPr indent="0" defTabSz="914400">
              <a:lnSpc>
                <a:spcPct val="100000"/>
              </a:lnSpc>
              <a:buNone/>
            </a:pPr>
            <a:r>
              <a:rPr b="0" lang="fr-FR"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fr-FR" sz="1200" spc="-1" strike="noStrike">
                <a:solidFill>
                  <a:schemeClr val="dk1">
                    <a:tint val="75000"/>
                  </a:schemeClr>
                </a:solidFill>
                <a:latin typeface="Calibri"/>
              </a:defRPr>
            </a:lvl1pPr>
          </a:lstStyle>
          <a:p>
            <a:pPr indent="0" algn="r" defTabSz="914400">
              <a:lnSpc>
                <a:spcPct val="100000"/>
              </a:lnSpc>
              <a:buNone/>
            </a:pPr>
            <a:fld id="{550CD856-83B1-4FAF-8855-D87482CF7419}" type="slidenum">
              <a:rPr b="0" lang="fr-FR"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fr-FR" sz="4400" spc="-1" strike="noStrike">
              <a:solidFill>
                <a:schemeClr val="dk1"/>
              </a:solidFill>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fr-FR"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fr-FR"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fr-FR"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fr-FR"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fr-FR" sz="1800" spc="-1" strike="noStrike">
              <a:solidFill>
                <a:schemeClr val="dk1"/>
              </a:solidFill>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fr-FR" sz="1200" spc="-1" strike="noStrike">
                <a:solidFill>
                  <a:schemeClr val="dk1">
                    <a:tint val="75000"/>
                  </a:schemeClr>
                </a:solidFill>
                <a:latin typeface="Calibri"/>
              </a:defRPr>
            </a:lvl1pPr>
          </a:lstStyle>
          <a:p>
            <a:pPr indent="0" defTabSz="914400">
              <a:lnSpc>
                <a:spcPct val="100000"/>
              </a:lnSpc>
              <a:buNone/>
            </a:pPr>
            <a:r>
              <a:rPr b="0" lang="fr-FR"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fr-FR" sz="1200" spc="-1" strike="noStrike">
                <a:solidFill>
                  <a:schemeClr val="dk1">
                    <a:tint val="75000"/>
                  </a:schemeClr>
                </a:solidFill>
                <a:latin typeface="Calibri"/>
              </a:defRPr>
            </a:lvl1pPr>
          </a:lstStyle>
          <a:p>
            <a:pPr indent="0" algn="r" defTabSz="914400">
              <a:lnSpc>
                <a:spcPct val="100000"/>
              </a:lnSpc>
              <a:buNone/>
            </a:pPr>
            <a:fld id="{D8BDB306-584C-4230-930E-3CD0C26DFF87}" type="slidenum">
              <a:rPr b="0" lang="fr-FR"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en-US" sz="6000" spc="-1" strike="noStrike">
                <a:solidFill>
                  <a:schemeClr val="dk1"/>
                </a:solidFill>
                <a:latin typeface="Calibri Light"/>
              </a:rPr>
              <a:t>Click to edit Master title style</a:t>
            </a:r>
            <a:endParaRPr b="0" lang="fr-FR" sz="6000" spc="-1" strike="noStrike">
              <a:solidFill>
                <a:schemeClr val="dk1"/>
              </a:solidFill>
              <a:latin typeface="Calibri"/>
            </a:endParaRPr>
          </a:p>
        </p:txBody>
      </p:sp>
      <p:sp>
        <p:nvSpPr>
          <p:cNvPr id="25"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pc="-1" strike="noStrike">
                <a:solidFill>
                  <a:schemeClr val="dk1">
                    <a:tint val="75000"/>
                  </a:schemeClr>
                </a:solidFill>
                <a:latin typeface="Calibri"/>
              </a:rPr>
              <a:t>Click to edit Master text styles</a:t>
            </a:r>
            <a:endParaRPr b="0" lang="fr-FR" sz="2400" spc="-1" strike="noStrike">
              <a:solidFill>
                <a:schemeClr val="dk1"/>
              </a:solidFill>
              <a:latin typeface="Calibri"/>
            </a:endParaRPr>
          </a:p>
        </p:txBody>
      </p:sp>
      <p:sp>
        <p:nvSpPr>
          <p:cNvPr id="26"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fr-FR" sz="1200" spc="-1" strike="noStrike">
                <a:solidFill>
                  <a:schemeClr val="dk1">
                    <a:tint val="75000"/>
                  </a:schemeClr>
                </a:solidFill>
                <a:latin typeface="Calibri"/>
              </a:defRPr>
            </a:lvl1pPr>
          </a:lstStyle>
          <a:p>
            <a:pPr indent="0" defTabSz="914400">
              <a:lnSpc>
                <a:spcPct val="100000"/>
              </a:lnSpc>
              <a:buNone/>
            </a:pPr>
            <a:r>
              <a:rPr b="0" lang="fr-FR"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27"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8"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fr-FR" sz="1200" spc="-1" strike="noStrike">
                <a:solidFill>
                  <a:schemeClr val="dk1">
                    <a:tint val="75000"/>
                  </a:schemeClr>
                </a:solidFill>
                <a:latin typeface="Calibri"/>
              </a:defRPr>
            </a:lvl1pPr>
          </a:lstStyle>
          <a:p>
            <a:pPr indent="0" algn="r" defTabSz="914400">
              <a:lnSpc>
                <a:spcPct val="100000"/>
              </a:lnSpc>
              <a:buNone/>
            </a:pPr>
            <a:fld id="{8AC0972E-317F-4266-9813-E1F1C25651FF}" type="slidenum">
              <a:rPr b="0" lang="fr-FR"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fr-FR" sz="4400" spc="-1" strike="noStrike">
              <a:solidFill>
                <a:schemeClr val="dk1"/>
              </a:solidFill>
              <a:latin typeface="Calibri"/>
            </a:endParaRPr>
          </a:p>
        </p:txBody>
      </p:sp>
      <p:sp>
        <p:nvSpPr>
          <p:cNvPr id="30"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fr-FR"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fr-FR"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fr-FR"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fr-FR"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fr-FR" sz="1800" spc="-1" strike="noStrike">
              <a:solidFill>
                <a:schemeClr val="dk1"/>
              </a:solidFill>
              <a:latin typeface="Calibri"/>
            </a:endParaRPr>
          </a:p>
        </p:txBody>
      </p:sp>
      <p:sp>
        <p:nvSpPr>
          <p:cNvPr id="31"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fr-FR"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fr-FR"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fr-FR"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fr-FR"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fr-FR" sz="1800" spc="-1" strike="noStrike">
              <a:solidFill>
                <a:schemeClr val="dk1"/>
              </a:solidFill>
              <a:latin typeface="Calibri"/>
            </a:endParaRPr>
          </a:p>
        </p:txBody>
      </p:sp>
      <p:sp>
        <p:nvSpPr>
          <p:cNvPr id="32"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fr-FR" sz="1200" spc="-1" strike="noStrike">
                <a:solidFill>
                  <a:schemeClr val="dk1">
                    <a:tint val="75000"/>
                  </a:schemeClr>
                </a:solidFill>
                <a:latin typeface="Calibri"/>
              </a:defRPr>
            </a:lvl1pPr>
          </a:lstStyle>
          <a:p>
            <a:pPr indent="0" defTabSz="914400">
              <a:lnSpc>
                <a:spcPct val="100000"/>
              </a:lnSpc>
              <a:buNone/>
            </a:pPr>
            <a:r>
              <a:rPr b="0" lang="fr-FR"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33"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4"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fr-FR" sz="1200" spc="-1" strike="noStrike">
                <a:solidFill>
                  <a:schemeClr val="dk1">
                    <a:tint val="75000"/>
                  </a:schemeClr>
                </a:solidFill>
                <a:latin typeface="Calibri"/>
              </a:defRPr>
            </a:lvl1pPr>
          </a:lstStyle>
          <a:p>
            <a:pPr indent="0" algn="r" defTabSz="914400">
              <a:lnSpc>
                <a:spcPct val="100000"/>
              </a:lnSpc>
              <a:buNone/>
            </a:pPr>
            <a:fld id="{D65F4106-84A1-43AB-B6FF-B0D007E1792D}" type="slidenum">
              <a:rPr b="0" lang="fr-FR"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fr-FR" sz="4400" spc="-1" strike="noStrike">
              <a:solidFill>
                <a:schemeClr val="dk1"/>
              </a:solidFill>
              <a:latin typeface="Calibri"/>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pc="-1" strike="noStrike">
                <a:solidFill>
                  <a:schemeClr val="dk1"/>
                </a:solidFill>
                <a:latin typeface="Calibri"/>
              </a:rPr>
              <a:t>Click to edit Master text styles</a:t>
            </a:r>
            <a:endParaRPr b="0" lang="fr-FR" sz="2400" spc="-1" strike="noStrike">
              <a:solidFill>
                <a:schemeClr val="dk1"/>
              </a:solidFill>
              <a:latin typeface="Calibri"/>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fr-FR"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fr-FR"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fr-FR"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fr-FR"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fr-FR" sz="1800" spc="-1" strike="noStrike">
              <a:solidFill>
                <a:schemeClr val="dk1"/>
              </a:solidFill>
              <a:latin typeface="Calibri"/>
            </a:endParaRP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pc="-1" strike="noStrike">
                <a:solidFill>
                  <a:schemeClr val="dk1"/>
                </a:solidFill>
                <a:latin typeface="Calibri"/>
              </a:rPr>
              <a:t>Click to edit Master text styles</a:t>
            </a:r>
            <a:endParaRPr b="0" lang="fr-FR" sz="2400" spc="-1" strike="noStrike">
              <a:solidFill>
                <a:schemeClr val="dk1"/>
              </a:solidFill>
              <a:latin typeface="Calibri"/>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fr-FR"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fr-FR"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fr-FR"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fr-FR"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fr-FR" sz="1800" spc="-1" strike="noStrike">
              <a:solidFill>
                <a:schemeClr val="dk1"/>
              </a:solidFill>
              <a:latin typeface="Calibri"/>
            </a:endParaRP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fr-FR" sz="1200" spc="-1" strike="noStrike">
                <a:solidFill>
                  <a:schemeClr val="dk1">
                    <a:tint val="75000"/>
                  </a:schemeClr>
                </a:solidFill>
                <a:latin typeface="Calibri"/>
              </a:defRPr>
            </a:lvl1pPr>
          </a:lstStyle>
          <a:p>
            <a:pPr indent="0" defTabSz="914400">
              <a:lnSpc>
                <a:spcPct val="100000"/>
              </a:lnSpc>
              <a:buNone/>
            </a:pPr>
            <a:r>
              <a:rPr b="0" lang="fr-FR"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fr-FR" sz="1200" spc="-1" strike="noStrike">
                <a:solidFill>
                  <a:schemeClr val="dk1">
                    <a:tint val="75000"/>
                  </a:schemeClr>
                </a:solidFill>
                <a:latin typeface="Calibri"/>
              </a:defRPr>
            </a:lvl1pPr>
          </a:lstStyle>
          <a:p>
            <a:pPr indent="0" algn="r" defTabSz="914400">
              <a:lnSpc>
                <a:spcPct val="100000"/>
              </a:lnSpc>
              <a:buNone/>
            </a:pPr>
            <a:fld id="{0B86952F-A889-4636-8FB9-A07ECF70DB9F}" type="slidenum">
              <a:rPr b="0" lang="fr-FR"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fr-FR" sz="4400" spc="-1" strike="noStrike">
              <a:solidFill>
                <a:schemeClr val="dk1"/>
              </a:solidFill>
              <a:latin typeface="Calibri"/>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fr-FR" sz="1200" spc="-1" strike="noStrike">
                <a:solidFill>
                  <a:schemeClr val="dk1">
                    <a:tint val="75000"/>
                  </a:schemeClr>
                </a:solidFill>
                <a:latin typeface="Calibri"/>
              </a:defRPr>
            </a:lvl1pPr>
          </a:lstStyle>
          <a:p>
            <a:pPr indent="0" defTabSz="914400">
              <a:lnSpc>
                <a:spcPct val="100000"/>
              </a:lnSpc>
              <a:buNone/>
            </a:pPr>
            <a:r>
              <a:rPr b="0" lang="fr-FR"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fr-FR" sz="1200" spc="-1" strike="noStrike">
                <a:solidFill>
                  <a:schemeClr val="dk1">
                    <a:tint val="75000"/>
                  </a:schemeClr>
                </a:solidFill>
                <a:latin typeface="Calibri"/>
              </a:defRPr>
            </a:lvl1pPr>
          </a:lstStyle>
          <a:p>
            <a:pPr indent="0" algn="r" defTabSz="914400">
              <a:lnSpc>
                <a:spcPct val="100000"/>
              </a:lnSpc>
              <a:buNone/>
            </a:pPr>
            <a:fld id="{C089FF4C-172E-4B49-91D2-713280C6E218}" type="slidenum">
              <a:rPr b="0" lang="fr-FR"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fr-FR" sz="1200" spc="-1" strike="noStrike">
                <a:solidFill>
                  <a:schemeClr val="dk1">
                    <a:tint val="75000"/>
                  </a:schemeClr>
                </a:solidFill>
                <a:latin typeface="Calibri"/>
              </a:defRPr>
            </a:lvl1pPr>
          </a:lstStyle>
          <a:p>
            <a:pPr indent="0" defTabSz="914400">
              <a:lnSpc>
                <a:spcPct val="100000"/>
              </a:lnSpc>
              <a:buNone/>
            </a:pPr>
            <a:r>
              <a:rPr b="0" lang="fr-FR"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52"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53"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fr-FR" sz="1200" spc="-1" strike="noStrike">
                <a:solidFill>
                  <a:schemeClr val="dk1">
                    <a:tint val="75000"/>
                  </a:schemeClr>
                </a:solidFill>
                <a:latin typeface="Calibri"/>
              </a:defRPr>
            </a:lvl1pPr>
          </a:lstStyle>
          <a:p>
            <a:pPr indent="0" algn="r" defTabSz="914400">
              <a:lnSpc>
                <a:spcPct val="100000"/>
              </a:lnSpc>
              <a:buNone/>
            </a:pPr>
            <a:fld id="{C7BAC0C8-7325-4E78-9084-52893D82B02B}" type="slidenum">
              <a:rPr b="0" lang="fr-FR"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chemeClr val="dk1"/>
                </a:solidFill>
                <a:latin typeface="Calibri Light"/>
              </a:rPr>
              <a:t>Click to edit Master title style</a:t>
            </a:r>
            <a:endParaRPr b="0" lang="fr-FR" sz="3200" spc="-1" strike="noStrike">
              <a:solidFill>
                <a:schemeClr val="dk1"/>
              </a:solidFill>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Click to edit Master text styles</a:t>
            </a:r>
            <a:endParaRPr b="0" lang="fr-FR" sz="32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Second level</a:t>
            </a:r>
            <a:endParaRPr b="0" lang="fr-FR" sz="28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Third level</a:t>
            </a:r>
            <a:endParaRPr b="0" lang="fr-FR" sz="24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Fourth level</a:t>
            </a:r>
            <a:endParaRPr b="0" lang="fr-FR" sz="20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Fifth level</a:t>
            </a:r>
            <a:endParaRPr b="0" lang="fr-FR" sz="2000" spc="-1" strike="noStrike">
              <a:solidFill>
                <a:schemeClr val="dk1"/>
              </a:solidFill>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chemeClr val="dk1"/>
                </a:solidFill>
                <a:latin typeface="Calibri"/>
              </a:rPr>
              <a:t>Click to edit Master text styles</a:t>
            </a:r>
            <a:endParaRPr b="0" lang="fr-FR" sz="1600" spc="-1" strike="noStrike">
              <a:solidFill>
                <a:schemeClr val="dk1"/>
              </a:solidFill>
              <a:latin typeface="Calibri"/>
            </a:endParaRPr>
          </a:p>
        </p:txBody>
      </p:sp>
      <p:sp>
        <p:nvSpPr>
          <p:cNvPr id="57"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fr-FR" sz="1200" spc="-1" strike="noStrike">
                <a:solidFill>
                  <a:schemeClr val="dk1">
                    <a:tint val="75000"/>
                  </a:schemeClr>
                </a:solidFill>
                <a:latin typeface="Calibri"/>
              </a:defRPr>
            </a:lvl1pPr>
          </a:lstStyle>
          <a:p>
            <a:pPr indent="0" defTabSz="914400">
              <a:lnSpc>
                <a:spcPct val="100000"/>
              </a:lnSpc>
              <a:buNone/>
            </a:pPr>
            <a:r>
              <a:rPr b="0" lang="fr-FR"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58"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59"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fr-FR" sz="1200" spc="-1" strike="noStrike">
                <a:solidFill>
                  <a:schemeClr val="dk1">
                    <a:tint val="75000"/>
                  </a:schemeClr>
                </a:solidFill>
                <a:latin typeface="Calibri"/>
              </a:defRPr>
            </a:lvl1pPr>
          </a:lstStyle>
          <a:p>
            <a:pPr indent="0" algn="r" defTabSz="914400">
              <a:lnSpc>
                <a:spcPct val="100000"/>
              </a:lnSpc>
              <a:buNone/>
            </a:pPr>
            <a:fld id="{45CAF295-A5E2-4752-B841-C80AA09BFFC1}" type="slidenum">
              <a:rPr b="0" lang="fr-FR"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chemeClr val="dk1"/>
                </a:solidFill>
                <a:latin typeface="Calibri Light"/>
              </a:rPr>
              <a:t>Click to edit Master title style</a:t>
            </a:r>
            <a:endParaRPr b="0" lang="fr-FR" sz="3200" spc="-1" strike="noStrike">
              <a:solidFill>
                <a:schemeClr val="dk1"/>
              </a:solidFill>
              <a:latin typeface="Calibri"/>
            </a:endParaRPr>
          </a:p>
        </p:txBody>
      </p:sp>
      <p:sp>
        <p:nvSpPr>
          <p:cNvPr id="61"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fr-FR" sz="3200" spc="-1" strike="noStrike">
                <a:solidFill>
                  <a:schemeClr val="dk1"/>
                </a:solidFill>
                <a:latin typeface="Calibri"/>
              </a:rPr>
              <a:t>Cliquez pour éditer le format du plan de texte</a:t>
            </a:r>
            <a:endParaRPr b="0" lang="fr-FR" sz="32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fr-FR" sz="3200" spc="-1" strike="noStrike">
                <a:solidFill>
                  <a:schemeClr val="dk1"/>
                </a:solidFill>
                <a:latin typeface="Calibri"/>
              </a:rPr>
              <a:t>Second niveau de plan</a:t>
            </a:r>
            <a:endParaRPr b="0" lang="fr-FR" sz="32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fr-FR" sz="3200" spc="-1" strike="noStrike">
                <a:solidFill>
                  <a:schemeClr val="dk1"/>
                </a:solidFill>
                <a:latin typeface="Calibri"/>
              </a:rPr>
              <a:t>Troisième niveau de plan</a:t>
            </a:r>
            <a:endParaRPr b="0" lang="fr-FR" sz="32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fr-FR" sz="3200" spc="-1" strike="noStrike">
                <a:solidFill>
                  <a:schemeClr val="dk1"/>
                </a:solidFill>
                <a:latin typeface="Calibri"/>
              </a:rPr>
              <a:t>Quatrième niveau de plan</a:t>
            </a:r>
            <a:endParaRPr b="0" lang="fr-FR" sz="32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fr-FR" sz="3200" spc="-1" strike="noStrike">
                <a:solidFill>
                  <a:schemeClr val="dk1"/>
                </a:solidFill>
                <a:latin typeface="Calibri"/>
              </a:rPr>
              <a:t>Cinquième niveau de plan</a:t>
            </a:r>
            <a:endParaRPr b="0" lang="fr-FR" sz="32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fr-FR" sz="3200" spc="-1" strike="noStrike">
                <a:solidFill>
                  <a:schemeClr val="dk1"/>
                </a:solidFill>
                <a:latin typeface="Calibri"/>
              </a:rPr>
              <a:t>Sixième niveau de plan</a:t>
            </a:r>
            <a:endParaRPr b="0" lang="fr-FR" sz="32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fr-FR" sz="3200" spc="-1" strike="noStrike">
                <a:solidFill>
                  <a:schemeClr val="dk1"/>
                </a:solidFill>
                <a:latin typeface="Calibri"/>
              </a:rPr>
              <a:t>Septième niveau de plan</a:t>
            </a:r>
            <a:endParaRPr b="0" lang="fr-FR" sz="3200" spc="-1" strike="noStrike">
              <a:solidFill>
                <a:schemeClr val="dk1"/>
              </a:solidFill>
              <a:latin typeface="Calibri"/>
            </a:endParaRPr>
          </a:p>
        </p:txBody>
      </p:sp>
      <p:sp>
        <p:nvSpPr>
          <p:cNvPr id="62"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chemeClr val="dk1"/>
                </a:solidFill>
                <a:latin typeface="Calibri"/>
              </a:rPr>
              <a:t>Click to edit Master text styles</a:t>
            </a:r>
            <a:endParaRPr b="0" lang="fr-FR" sz="1600" spc="-1" strike="noStrike">
              <a:solidFill>
                <a:schemeClr val="dk1"/>
              </a:solidFill>
              <a:latin typeface="Calibri"/>
            </a:endParaRPr>
          </a:p>
        </p:txBody>
      </p:sp>
      <p:sp>
        <p:nvSpPr>
          <p:cNvPr id="63"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fr-FR" sz="1200" spc="-1" strike="noStrike">
                <a:solidFill>
                  <a:schemeClr val="dk1">
                    <a:tint val="75000"/>
                  </a:schemeClr>
                </a:solidFill>
                <a:latin typeface="Calibri"/>
              </a:defRPr>
            </a:lvl1pPr>
          </a:lstStyle>
          <a:p>
            <a:pPr indent="0" defTabSz="914400">
              <a:lnSpc>
                <a:spcPct val="100000"/>
              </a:lnSpc>
              <a:buNone/>
            </a:pPr>
            <a:r>
              <a:rPr b="0" lang="fr-FR"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64"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5"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fr-FR" sz="1200" spc="-1" strike="noStrike">
                <a:solidFill>
                  <a:schemeClr val="dk1">
                    <a:tint val="75000"/>
                  </a:schemeClr>
                </a:solidFill>
                <a:latin typeface="Calibri"/>
              </a:defRPr>
            </a:lvl1pPr>
          </a:lstStyle>
          <a:p>
            <a:pPr indent="0" algn="r" defTabSz="914400">
              <a:lnSpc>
                <a:spcPct val="100000"/>
              </a:lnSpc>
              <a:buNone/>
            </a:pPr>
            <a:fld id="{48B6A962-ADEE-43D2-AF95-31FC76DAC8BD}" type="slidenum">
              <a:rPr b="0" lang="fr-FR"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fr-FR" sz="6000" spc="-1" strike="noStrike">
                <a:solidFill>
                  <a:schemeClr val="dk1"/>
                </a:solidFill>
                <a:latin typeface="Calibri Light"/>
              </a:rPr>
              <a:t>Atelier ORL</a:t>
            </a:r>
            <a:endParaRPr b="0" lang="fr-FR" sz="6000" spc="-1" strike="noStrike">
              <a:solidFill>
                <a:schemeClr val="dk1"/>
              </a:solidFill>
              <a:latin typeface="Calibri"/>
            </a:endParaRPr>
          </a:p>
        </p:txBody>
      </p:sp>
      <p:sp>
        <p:nvSpPr>
          <p:cNvPr id="67" name="PlaceHolder 2"/>
          <p:cNvSpPr>
            <a:spLocks noGrp="1"/>
          </p:cNvSpPr>
          <p:nvPr>
            <p:ph type="subTitle"/>
          </p:nvPr>
        </p:nvSpPr>
        <p:spPr>
          <a:xfrm>
            <a:off x="1523880" y="3602160"/>
            <a:ext cx="9143640" cy="1655280"/>
          </a:xfrm>
          <a:prstGeom prst="rect">
            <a:avLst/>
          </a:prstGeom>
          <a:noFill/>
          <a:ln w="0">
            <a:noFill/>
          </a:ln>
        </p:spPr>
        <p:txBody>
          <a:bodyPr lIns="91440" rIns="91440" tIns="45720" bIns="45720" anchor="t">
            <a:noAutofit/>
          </a:bodyPr>
          <a:p>
            <a:pPr indent="0" algn="ctr">
              <a:buNone/>
            </a:pP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a:t>
            </a:r>
            <a:endParaRPr b="0" lang="fr-FR" sz="4400" spc="-1" strike="noStrike">
              <a:solidFill>
                <a:schemeClr val="dk1"/>
              </a:solidFill>
              <a:latin typeface="Calibri"/>
            </a:endParaRPr>
          </a:p>
        </p:txBody>
      </p:sp>
      <p:pic>
        <p:nvPicPr>
          <p:cNvPr id="69" name="Content Placeholder 3" descr=""/>
          <p:cNvPicPr/>
          <p:nvPr/>
        </p:nvPicPr>
        <p:blipFill>
          <a:blip r:embed="rId1"/>
          <a:stretch/>
        </p:blipFill>
        <p:spPr>
          <a:xfrm>
            <a:off x="6795000" y="1423080"/>
            <a:ext cx="4558320" cy="4883040"/>
          </a:xfrm>
          <a:prstGeom prst="rect">
            <a:avLst/>
          </a:prstGeom>
          <a:ln w="0">
            <a:noFill/>
          </a:ln>
        </p:spPr>
      </p:pic>
      <p:sp>
        <p:nvSpPr>
          <p:cNvPr id="70" name="TextBox 4"/>
          <p:cNvSpPr/>
          <p:nvPr/>
        </p:nvSpPr>
        <p:spPr>
          <a:xfrm>
            <a:off x="-7200" y="1423080"/>
            <a:ext cx="6066720" cy="3930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fr-FR" sz="1800" spc="-1" strike="noStrike">
                <a:solidFill>
                  <a:schemeClr val="dk1"/>
                </a:solidFill>
                <a:latin typeface="Calibri"/>
              </a:rPr>
              <a:t>Cochez les réponses justes:</a:t>
            </a:r>
            <a:endParaRPr b="0" lang="fr-FR" sz="1800" spc="-1" strike="noStrike">
              <a:solidFill>
                <a:srgbClr val="000000"/>
              </a:solidFill>
              <a:latin typeface="Arial"/>
            </a:endParaRPr>
          </a:p>
          <a:p>
            <a:pPr defTabSz="914400">
              <a:lnSpc>
                <a:spcPct val="100000"/>
              </a:lnSpc>
            </a:pP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A - c’est une otoscopie d’un tympan droit</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B - c’est une otoscopie d’un tympan gauche</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C – 1 représente le manche de l’étrier</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D – 1 représente la pars tensa</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E – 3 représente la pars tensa</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F – En transparence, 3 représente la trompe d’Eustache</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G – 2 représente la Pars Flaccida  </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H – c’est une otoscopie normale</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I – c’est un aspect d’otite moyenne aigue</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J – c’est un aspect d’otite séromuqueuse</a:t>
            </a:r>
            <a:endParaRPr b="0" lang="fr-FR" sz="1800" spc="-1" strike="noStrike">
              <a:solidFill>
                <a:srgbClr val="000000"/>
              </a:solidFill>
              <a:latin typeface="Arial"/>
            </a:endParaRPr>
          </a:p>
          <a:p>
            <a:pPr defTabSz="914400">
              <a:lnSpc>
                <a:spcPct val="100000"/>
              </a:lnSpc>
            </a:pPr>
            <a:endParaRPr b="0" lang="fr-FR" sz="1800" spc="-1" strike="noStrike">
              <a:solidFill>
                <a:srgbClr val="000000"/>
              </a:solidFill>
              <a:latin typeface="Arial"/>
            </a:endParaRPr>
          </a:p>
          <a:p>
            <a:pPr defTabSz="914400">
              <a:lnSpc>
                <a:spcPct val="100000"/>
              </a:lnSpc>
            </a:pPr>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a:t>
            </a:r>
            <a:endParaRPr b="0" lang="fr-FR" sz="4400" spc="-1" strike="noStrike">
              <a:solidFill>
                <a:schemeClr val="dk1"/>
              </a:solidFill>
              <a:latin typeface="Calibri"/>
            </a:endParaRPr>
          </a:p>
        </p:txBody>
      </p:sp>
      <p:pic>
        <p:nvPicPr>
          <p:cNvPr id="72" name="Content Placeholder 3" descr=""/>
          <p:cNvPicPr/>
          <p:nvPr/>
        </p:nvPicPr>
        <p:blipFill>
          <a:blip r:embed="rId1"/>
          <a:stretch/>
        </p:blipFill>
        <p:spPr>
          <a:xfrm>
            <a:off x="6795000" y="1423080"/>
            <a:ext cx="4558320" cy="4883040"/>
          </a:xfrm>
          <a:prstGeom prst="rect">
            <a:avLst/>
          </a:prstGeom>
          <a:ln w="0">
            <a:noFill/>
          </a:ln>
        </p:spPr>
      </p:pic>
      <p:sp>
        <p:nvSpPr>
          <p:cNvPr id="73" name="TextBox 4"/>
          <p:cNvSpPr/>
          <p:nvPr/>
        </p:nvSpPr>
        <p:spPr>
          <a:xfrm>
            <a:off x="338760" y="1423080"/>
            <a:ext cx="5875560" cy="4204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1800" spc="-1" strike="noStrike">
                <a:solidFill>
                  <a:schemeClr val="dk1"/>
                </a:solidFill>
                <a:latin typeface="Calibri"/>
              </a:rPr>
              <a:t>Cochez les réponses justes:</a:t>
            </a:r>
            <a:endParaRPr b="0" lang="fr-FR" sz="1800" spc="-1" strike="noStrike">
              <a:solidFill>
                <a:srgbClr val="000000"/>
              </a:solidFill>
              <a:latin typeface="Arial"/>
            </a:endParaRPr>
          </a:p>
          <a:p>
            <a:pPr defTabSz="914400">
              <a:lnSpc>
                <a:spcPct val="100000"/>
              </a:lnSpc>
            </a:pPr>
            <a:endParaRPr b="0" lang="fr-FR" sz="1800" spc="-1" strike="noStrike">
              <a:solidFill>
                <a:srgbClr val="000000"/>
              </a:solidFill>
              <a:latin typeface="Arial"/>
            </a:endParaRPr>
          </a:p>
          <a:p>
            <a:pPr defTabSz="914400">
              <a:lnSpc>
                <a:spcPct val="100000"/>
              </a:lnSpc>
            </a:pPr>
            <a:r>
              <a:rPr b="0" lang="fr-FR" sz="1800" spc="-1" strike="noStrike">
                <a:solidFill>
                  <a:srgbClr val="ff0000"/>
                </a:solidFill>
                <a:latin typeface="Calibri"/>
              </a:rPr>
              <a:t>A - c’est une otoscopie d’un tympan droit</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B - c’est une otoscopie d’un tympan gauche</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C – 1 représente le manche de l’étrier</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D – 1 représente la pars tensa</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E – 3 représente la pars tensa</a:t>
            </a:r>
            <a:endParaRPr b="0" lang="fr-FR" sz="1800" spc="-1" strike="noStrike">
              <a:solidFill>
                <a:srgbClr val="000000"/>
              </a:solidFill>
              <a:latin typeface="Arial"/>
            </a:endParaRPr>
          </a:p>
          <a:p>
            <a:pPr defTabSz="914400">
              <a:lnSpc>
                <a:spcPct val="100000"/>
              </a:lnSpc>
            </a:pPr>
            <a:r>
              <a:rPr b="0" lang="fr-FR" sz="1800" spc="-1" strike="noStrike">
                <a:solidFill>
                  <a:srgbClr val="ff0000"/>
                </a:solidFill>
                <a:latin typeface="Calibri"/>
              </a:rPr>
              <a:t>F – En transparence, 3 représente la trompe d’Eustache</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G – 2 représente la Pars Flaccida  </a:t>
            </a:r>
            <a:endParaRPr b="0" lang="fr-FR" sz="1800" spc="-1" strike="noStrike">
              <a:solidFill>
                <a:srgbClr val="000000"/>
              </a:solidFill>
              <a:latin typeface="Arial"/>
            </a:endParaRPr>
          </a:p>
          <a:p>
            <a:pPr defTabSz="914400">
              <a:lnSpc>
                <a:spcPct val="100000"/>
              </a:lnSpc>
            </a:pPr>
            <a:r>
              <a:rPr b="0" lang="fr-FR" sz="1800" spc="-1" strike="noStrike">
                <a:solidFill>
                  <a:srgbClr val="ff0000"/>
                </a:solidFill>
                <a:latin typeface="Calibri"/>
              </a:rPr>
              <a:t>H – c’est une otoscopie normale</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I – c’est un aspect d’otite moyenne aigue</a:t>
            </a:r>
            <a:endParaRPr b="0" lang="fr-FR" sz="1800" spc="-1" strike="noStrike">
              <a:solidFill>
                <a:srgbClr val="000000"/>
              </a:solidFill>
              <a:latin typeface="Arial"/>
            </a:endParaRPr>
          </a:p>
          <a:p>
            <a:pPr defTabSz="914400">
              <a:lnSpc>
                <a:spcPct val="100000"/>
              </a:lnSpc>
            </a:pPr>
            <a:r>
              <a:rPr b="0" lang="fr-FR" sz="1800" spc="-1" strike="noStrike">
                <a:solidFill>
                  <a:schemeClr val="dk1"/>
                </a:solidFill>
                <a:latin typeface="Calibri"/>
              </a:rPr>
              <a:t>J – c’est un aspect d’otite séromuqueuse</a:t>
            </a:r>
            <a:endParaRPr b="0" lang="fr-FR" sz="1800" spc="-1" strike="noStrike">
              <a:solidFill>
                <a:srgbClr val="000000"/>
              </a:solidFill>
              <a:latin typeface="Arial"/>
            </a:endParaRPr>
          </a:p>
          <a:p>
            <a:pPr defTabSz="914400">
              <a:lnSpc>
                <a:spcPct val="100000"/>
              </a:lnSpc>
            </a:pPr>
            <a:endParaRPr b="0" lang="fr-FR" sz="1800" spc="-1" strike="noStrike">
              <a:solidFill>
                <a:srgbClr val="000000"/>
              </a:solidFill>
              <a:latin typeface="Arial"/>
            </a:endParaRPr>
          </a:p>
          <a:p>
            <a:pPr defTabSz="914400">
              <a:lnSpc>
                <a:spcPct val="100000"/>
              </a:lnSpc>
            </a:pPr>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a:t>
            </a:r>
            <a:endParaRPr b="0" lang="fr-FR" sz="4400" spc="-1" strike="noStrike">
              <a:solidFill>
                <a:schemeClr val="dk1"/>
              </a:solidFill>
              <a:latin typeface="Calibri"/>
            </a:endParaRPr>
          </a:p>
        </p:txBody>
      </p:sp>
      <p:sp>
        <p:nvSpPr>
          <p:cNvPr id="7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68556"/>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l’otite moyenne congestive,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elle est d’origine virale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elle est d’origine bactérienne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c’est une complication fréquente de la rhinopharyngite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c’est une complication grave des infections ORL de l’enfant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cliniquement, c’est une otalgie fébrile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à l’otoscopie on voit un tympan rétracté avec disparition du triangle lumineux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le traitement comprend une antibiothérapie générale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le traitement comprend une antibiothérapie intraauriculaire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elle est à risque d’otite séromuqueuse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J- elle est à risque d’otite externe nécrosante</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a:t>
            </a:r>
            <a:endParaRPr b="0" lang="fr-FR" sz="4400" spc="-1" strike="noStrike">
              <a:solidFill>
                <a:schemeClr val="dk1"/>
              </a:solidFill>
              <a:latin typeface="Calibri"/>
            </a:endParaRPr>
          </a:p>
        </p:txBody>
      </p:sp>
      <p:sp>
        <p:nvSpPr>
          <p:cNvPr id="7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68556"/>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l’otite moyenne congestive,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elle est d’origine virale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elle est d’origine bactérienne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c’est une complication fréquente de la rhinopharyngite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c’est une complication grave des infections ORL de l’enfant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E- cliniquement, c’est une otalgie fébrile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à l’otoscopie on voit un tympan rétracté avec disparition du triangle lumineux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le traitement comprend une antibiothérapie générale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le traitement comprend une antibiothérapie intraauriculaire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elle est à risque d’otite séromuqueuse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J- elle est à risque d’otite externe nécrosante</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a:t>
            </a:r>
            <a:endParaRPr b="0" lang="fr-FR" sz="4400" spc="-1" strike="noStrike">
              <a:solidFill>
                <a:schemeClr val="dk1"/>
              </a:solidFill>
              <a:latin typeface="Calibri"/>
            </a:endParaRPr>
          </a:p>
        </p:txBody>
      </p:sp>
      <p:sp>
        <p:nvSpPr>
          <p:cNvPr id="7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68556"/>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l’otite moyenne collectée,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elle est d’origine virale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elle est d’origine bactérienne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c’est une complication fréquente de la rhinopharyngite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une fièvre élevée et des douleurs intenses orientent vers un germe particulier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cliniquement, c’est une otalgie fébrile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cliniquement, c’est parfois une otorrhée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à l’otoscopie on voit un tympan bombé et inflammatoire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à l’otoscopie on voit un exsudat blanchâtre en cas d’otite sur tympan fermé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elle est à risque d’otite séromuqueuse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J- elle est à risque d’otite externe nécrosante</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a:t>
            </a:r>
            <a:endParaRPr b="0" lang="fr-FR" sz="4400" spc="-1" strike="noStrike">
              <a:solidFill>
                <a:schemeClr val="dk1"/>
              </a:solidFill>
              <a:latin typeface="Calibri"/>
            </a:endParaRPr>
          </a:p>
        </p:txBody>
      </p:sp>
      <p:sp>
        <p:nvSpPr>
          <p:cNvPr id="8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68556"/>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l’otite moyenne collectée,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elle est d’origine virale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elle est d’origine bactérienne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c’est une complication fréquente de la rhinopharyngite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une fièvre élevée et des douleurs intenses orientent vers un germe particulier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E- cliniquement, c’est une otalgie fébrile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F- cliniquement, c’est parfois une otorrhée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G- à l’otoscopie on voit un tympan bombé et inflammatoire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à l’otoscopie on voit un exsudat blanchâtre en cas d’otite sur tympan fermé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i- elle est à risque d’otite séromuqueuse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J- elle est à risque d’otite externe nécrosante</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4</a:t>
            </a:r>
            <a:endParaRPr b="0" lang="fr-FR" sz="4400" spc="-1" strike="noStrike">
              <a:solidFill>
                <a:schemeClr val="dk1"/>
              </a:solidFill>
              <a:latin typeface="Calibri"/>
            </a:endParaRPr>
          </a:p>
        </p:txBody>
      </p:sp>
      <p:sp>
        <p:nvSpPr>
          <p:cNvPr id="8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77839"/>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Cochez les facteurs de risque de l’OMA chez l’enfant: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Antécédents familiaux d’otites à répétition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RGO</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asthme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vie en collectivité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période hivernale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période estivale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absence d’allaitement maternel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niveau socio-économique élevé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tabagisme parental</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4</a:t>
            </a:r>
            <a:endParaRPr b="0" lang="fr-FR" sz="4400" spc="-1" strike="noStrike">
              <a:solidFill>
                <a:schemeClr val="dk1"/>
              </a:solidFill>
              <a:latin typeface="Calibri"/>
            </a:endParaRPr>
          </a:p>
        </p:txBody>
      </p:sp>
      <p:sp>
        <p:nvSpPr>
          <p:cNvPr id="8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77839"/>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Cochez les facteurs de risque de l’OMA chez l’enfant: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Antécédents familiaux d’otites à répétition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RGO</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asthme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vie en collectivité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E- période hivernale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période estivale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G- absence d’allaitement maternel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niveau socio-économique élevé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i- tabagisme parental</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5</a:t>
            </a:r>
            <a:endParaRPr b="0" lang="fr-FR" sz="4400" spc="-1" strike="noStrike">
              <a:solidFill>
                <a:schemeClr val="dk1"/>
              </a:solidFill>
              <a:latin typeface="Calibri"/>
            </a:endParaRPr>
          </a:p>
        </p:txBody>
      </p:sp>
      <p:sp>
        <p:nvSpPr>
          <p:cNvPr id="8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9355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Cochez les indications de la paracentèse: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OMA collectée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OMA hyperalgique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syndrome otite-conjonctivite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OMA compliquée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OMA chez nourrisson de moins de 12 mois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OMA résistante à l’antibiothérapie de première ligne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OSM de l’adulte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OMA congestive persistante plus de 3 jours</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5</a:t>
            </a:r>
            <a:endParaRPr b="0" lang="fr-FR" sz="4400" spc="-1" strike="noStrike">
              <a:solidFill>
                <a:schemeClr val="dk1"/>
              </a:solidFill>
              <a:latin typeface="Calibri"/>
            </a:endParaRPr>
          </a:p>
        </p:txBody>
      </p:sp>
      <p:sp>
        <p:nvSpPr>
          <p:cNvPr id="8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9355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Cochez les indications de la paracentèse: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OMA collectée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OMA hyperalgique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syndrome otite-conjonctivite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OMA compliquée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OMA chez nourrisson de moins de 12 mois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F- OMA résistante à l’antibiothérapie de première ligne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OSM de l’adulte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OMA congestive persistante plus de 3 jours</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6</a:t>
            </a:r>
            <a:endParaRPr b="0" lang="fr-FR" sz="4400" spc="-1" strike="noStrike">
              <a:solidFill>
                <a:schemeClr val="dk1"/>
              </a:solidFill>
              <a:latin typeface="Calibri"/>
            </a:endParaRPr>
          </a:p>
        </p:txBody>
      </p:sp>
      <p:sp>
        <p:nvSpPr>
          <p:cNvPr id="9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l’antibiothérapie dans l’OMA collectée chez l’adulte,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elle n’est indiquée qu’en cas d’OMA secondaire à une rhinopharyngite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elle n’est indiquée qu’en cas de symptômes intenses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elle n’est indiquée que s’il existe une conjonctivite associée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c’est l’Amoxicilline forte dose pendant 8 à 10 jours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c’est l’Amoxicilline pendant 8 à 10 jours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c’est l’Amoxicilline + Acide clavulanique pendant 5 jours</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6</a:t>
            </a:r>
            <a:endParaRPr b="0" lang="fr-FR" sz="4400" spc="-1" strike="noStrike">
              <a:solidFill>
                <a:schemeClr val="dk1"/>
              </a:solidFill>
              <a:latin typeface="Calibri"/>
            </a:endParaRPr>
          </a:p>
        </p:txBody>
      </p:sp>
      <p:sp>
        <p:nvSpPr>
          <p:cNvPr id="9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l’antibiothérapie dans l’OMA collectée chez l’adulte,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elle n’est indiquée qu’en cas d’OMA secondaire à une rhinopharyngite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elle n’est indiquée qu’en cas de symptômes intenses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elle n’est indiquée que s’il existe une conjonctivite associée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c’est l’Amoxicilline forte dose pendant 8 à 10 jours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c’est l’Amoxicilline pendant 8 à 10 jours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c’est l’Amoxicilline + Acide clavulanique pendant 5 jours</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7</a:t>
            </a:r>
            <a:endParaRPr b="0" lang="fr-FR" sz="4400" spc="-1" strike="noStrike">
              <a:solidFill>
                <a:schemeClr val="dk1"/>
              </a:solidFill>
              <a:latin typeface="Calibri"/>
            </a:endParaRPr>
          </a:p>
        </p:txBody>
      </p:sp>
      <p:sp>
        <p:nvSpPr>
          <p:cNvPr id="9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81053"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l’antibiothérapie dans l’OMA collectée chez l’enfant,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elle n’est indiquée que chez l’enfant de moins de 2 ans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elle n’est indiquée qu’en cas de symptômes intenses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elle est indiquée en cas de tympan non vu</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en absence d’antibiothérapie les complications sont quasi-systématiques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c’est l’Amoxicilline pendant 8 à 10 jours après 2 ans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c’est l’Amoxicilline + Acide clavulanique en cas de conjonctivite associée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c’est l’Amoxicilline pendant 5 jours avant 2 ans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c’est l’Erythromycine en cas d’allergie au B-lactamines</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7</a:t>
            </a:r>
            <a:endParaRPr b="0" lang="fr-FR" sz="4400" spc="-1" strike="noStrike">
              <a:solidFill>
                <a:schemeClr val="dk1"/>
              </a:solidFill>
              <a:latin typeface="Calibri"/>
            </a:endParaRPr>
          </a:p>
        </p:txBody>
      </p:sp>
      <p:sp>
        <p:nvSpPr>
          <p:cNvPr id="9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81053"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l’antibiothérapie dans l’OMA collectée chez l’enfant,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elle n’est indiquée que chez l’enfant de moins de 2 ans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elle n’est indiquée qu’en cas de symptômes intenses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elle est indiquée en cas de tympan non vu</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en absence d’antibiothérapie les complications sont quasi-systématiques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c’est l’Amoxicilline pendant 8 à 10 jours après 2 ans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F- c’est l’Amoxicilline + Acide clavulanique en cas de conjonctivite associée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c’est l’Amoxicilline pendant 5 jours avant 2 ans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H- c’est l’Erythromycine en cas d’allergie au B-lactamines</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8</a:t>
            </a:r>
            <a:endParaRPr b="0" lang="fr-FR" sz="4400" spc="-1" strike="noStrike">
              <a:solidFill>
                <a:schemeClr val="dk1"/>
              </a:solidFill>
              <a:latin typeface="Calibri"/>
            </a:endParaRPr>
          </a:p>
        </p:txBody>
      </p:sp>
      <p:sp>
        <p:nvSpPr>
          <p:cNvPr id="9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77839"/>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les complications de l’OMA,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paralysie faciale périphérique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parotidite bactérienne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mastoidite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méningite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sinusite maxillaire aigue bactérienne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OSM</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labyrinthite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AVC ischémique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abcès cérébral</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8</a:t>
            </a:r>
            <a:endParaRPr b="0" lang="fr-FR" sz="4400" spc="-1" strike="noStrike">
              <a:solidFill>
                <a:schemeClr val="dk1"/>
              </a:solidFill>
              <a:latin typeface="Calibri"/>
            </a:endParaRPr>
          </a:p>
        </p:txBody>
      </p:sp>
      <p:sp>
        <p:nvSpPr>
          <p:cNvPr id="10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77839"/>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les complications de l’OMA,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paralysie faciale périphérique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parotidite bactérienne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mastoidite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méningite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sinusite maxillaire aigue bactérienne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OSM</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G- labyrinthite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AVC ischémique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i- abcès cérébral</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9</a:t>
            </a:r>
            <a:endParaRPr b="0" lang="fr-FR" sz="4400" spc="-1" strike="noStrike">
              <a:solidFill>
                <a:schemeClr val="dk1"/>
              </a:solidFill>
              <a:latin typeface="Calibri"/>
            </a:endParaRPr>
          </a:p>
        </p:txBody>
      </p:sp>
      <p:sp>
        <p:nvSpPr>
          <p:cNvPr id="10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81053"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l’équilibre normal,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l’oreille interne en est un élément indispensable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les osselets en sont des éléments indispensables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la vue en est un élément indispensable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la sensibilité spinothalamique en est un élément indispensable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le rôle du vestibule est l’adaptation de l’équilibre et de la marche face au mouvement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le nerf oculomoteur commun III véhicule les informations du vestibule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les vertiges sont tous dus à une faillite du système vestibulaire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les troubles de la marche sont tous dus à une faillite du système vestibulaire </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9</a:t>
            </a:r>
            <a:endParaRPr b="0" lang="fr-FR" sz="4400" spc="-1" strike="noStrike">
              <a:solidFill>
                <a:schemeClr val="dk1"/>
              </a:solidFill>
              <a:latin typeface="Calibri"/>
            </a:endParaRPr>
          </a:p>
        </p:txBody>
      </p:sp>
      <p:sp>
        <p:nvSpPr>
          <p:cNvPr id="10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81053"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l’équilibre normal,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l’oreille interne en est un élément indispensable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les osselets en sont des éléments indispensables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la vue en est un élément indispensable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la sensibilité spinothalamique en est un élément indispensable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E- le rôle du vestibule est l’adaptation de l’équilibre et de la marche face au mouvement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le nerf oculomoteur commun III véhicule les informations du vestibule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les vertiges sont tous dus à une faillite du système vestibulaire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les troubles de la marche sont tous dus à une faillite du système vestibulaire </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10</a:t>
            </a:r>
            <a:endParaRPr b="0" lang="fr-FR" sz="4400" spc="-1" strike="noStrike">
              <a:solidFill>
                <a:schemeClr val="dk1"/>
              </a:solidFill>
              <a:latin typeface="Calibri"/>
            </a:endParaRPr>
          </a:p>
        </p:txBody>
      </p:sp>
      <p:sp>
        <p:nvSpPr>
          <p:cNvPr id="10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74983" lnSpcReduction="2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La définition du vertige,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symptôme objectif mis en évidence par un nystagmus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symptôme objectif mis en évidence par les signes végétatifs qui peuvent l’accompagner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signe subjectif</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sensation déclenchée en dehors de tout stimulus de l’oreille interne, au repos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sensation qu’a le patient d’etre en mouvement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sensation qu’a le patient que son environnement bouge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il existe fréquemment des sensations de flou visuel très intenses, secondaires au nystagmus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une hypotension importante signe le caractère organique du vertige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un véritable vertige est le plus souvent d’origine vestibulaire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J- un véritable vertige est le plus souvent d’origine cérébélleuse </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10</a:t>
            </a:r>
            <a:endParaRPr b="0" lang="fr-FR" sz="4400" spc="-1" strike="noStrike">
              <a:solidFill>
                <a:schemeClr val="dk1"/>
              </a:solidFill>
              <a:latin typeface="Calibri"/>
            </a:endParaRPr>
          </a:p>
        </p:txBody>
      </p:sp>
      <p:sp>
        <p:nvSpPr>
          <p:cNvPr id="10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74983" lnSpcReduction="2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La définition du vertige,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symptôme objectif mis en évidence par un nystagmus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symptôme objectif mis en évidence par les signes végétatifs qui peuvent l’accompagner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signe subjectif</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sensation déclenchée en dehors de tout stimulus de l’oreille interne, au repos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E- sensation qu’a le patient d’etre en mouvement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F- sensation qu’a le patient que son environnement bouge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il existe fréquemment des sensations de flou visuel très intenses, secondaires au nystagmus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une hypotension importante signe le caractère organique du vertige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i- un véritable vertige est le plus souvent d’origine vestibulaire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J- un véritable vertige est le plus souvent d’origine cérébélleuse </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11</a:t>
            </a:r>
            <a:endParaRPr b="0" lang="fr-FR" sz="4400" spc="-1" strike="noStrike">
              <a:solidFill>
                <a:schemeClr val="dk1"/>
              </a:solidFill>
              <a:latin typeface="Calibri"/>
            </a:endParaRPr>
          </a:p>
        </p:txBody>
      </p:sp>
      <p:sp>
        <p:nvSpPr>
          <p:cNvPr id="11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68556"/>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Quels sont les symptômes associés aux vertiges à rechercher?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sueurs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perte de connaissance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acouphènes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dyspnée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surdité de transmission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surdité de perception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céphalées brutales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vomissements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impression de « jambes en coton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J- sensation de peur intense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11</a:t>
            </a:r>
            <a:endParaRPr b="0" lang="fr-FR" sz="4400" spc="-1" strike="noStrike">
              <a:solidFill>
                <a:schemeClr val="dk1"/>
              </a:solidFill>
              <a:latin typeface="Calibri"/>
            </a:endParaRPr>
          </a:p>
        </p:txBody>
      </p:sp>
      <p:sp>
        <p:nvSpPr>
          <p:cNvPr id="11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68556"/>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Quels sont les symptômes associés aux vertiges à rechercher?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sueurs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perte de connaissance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acouphènes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dyspnée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E- surdité de transmission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F- surdité de perception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G- céphalées brutales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H- vomissements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impression de « jambes en coton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J- sensation de peur intense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12</a:t>
            </a:r>
            <a:endParaRPr b="0" lang="fr-FR" sz="4400" spc="-1" strike="noStrike">
              <a:solidFill>
                <a:schemeClr val="dk1"/>
              </a:solidFill>
              <a:latin typeface="Calibri"/>
            </a:endParaRPr>
          </a:p>
        </p:txBody>
      </p:sp>
      <p:sp>
        <p:nvSpPr>
          <p:cNvPr id="11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56058"/>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le nystagmus,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un signe objectif confirmant l’atteinte vestibulaire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un signe subjectif de mouvement du regard</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il est du au fait que le vestibule a pour but la fixité du regard</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il est du au fait qu’il existe un trouble de l’équilibre qui met le patient constamment en mouvement, le regard doit alors constamment s’adapter par de petits mouvement oculaires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il est toujours unilatéral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il est toujours bilatéral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la secousse lente de rappel définit le sens du nystagmus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la secousse rapide de rappel définit le sens du nystagmus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un nystagmus est toujours pathologique</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 </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12</a:t>
            </a:r>
            <a:endParaRPr b="0" lang="fr-FR" sz="4400" spc="-1" strike="noStrike">
              <a:solidFill>
                <a:schemeClr val="dk1"/>
              </a:solidFill>
              <a:latin typeface="Calibri"/>
            </a:endParaRPr>
          </a:p>
        </p:txBody>
      </p:sp>
      <p:sp>
        <p:nvSpPr>
          <p:cNvPr id="11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56058"/>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le nystagmus,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un signe objectif confirmant l’atteinte vestibulaire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un signe subjectif de mouvement du regard</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il est du au fait que le vestibule a pour but la fixité du regard</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il est du au fait qu’il existe un trouble de l’équilibre qui met le patient constamment en mouvement, le regard doit alors constamment s’adapter par de petits mouvement oculaires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il est toujours unilatéral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il est toujours bilatéral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la secousse lente de rappel définit le sens du nystagmus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H- la secousse rapide de rappel définit le sens du nystagmus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un nystagmus est toujours pathologique</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 </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13</a:t>
            </a:r>
            <a:endParaRPr b="0" lang="fr-FR" sz="4400" spc="-1" strike="noStrike">
              <a:solidFill>
                <a:schemeClr val="dk1"/>
              </a:solidFill>
              <a:latin typeface="Calibri"/>
            </a:endParaRPr>
          </a:p>
        </p:txBody>
      </p:sp>
      <p:sp>
        <p:nvSpPr>
          <p:cNvPr id="11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74983" lnSpcReduction="2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les syndromes vestibulaires,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il est dit harmonieux lorsqu’il est périphérique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il est dit disharmonieux lorsqu’il est périphérique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il est dit harmonieux lorsqu’il est central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il est dit harmonieux lorsque la secousse lente du nystagmus et les déviations segmentaires sont du même coté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il est dit harmonieux lorsque la secousse rapide du nystagmus et les déviations segmentaires sont du même coté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il est dit harmonieux lorsque le nystagmus s’aggrave à la fixation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il est dit disharmonieux lorsque le nystagmus s’aggrave en l’absence de fixation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il est dit harmonieux lorsque le nystagmus et les déviations segmentaires sont du même coté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il est dit harmonieux lorsque le nystagmus et les déviations segmentaires sont de cotés opposés</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13</a:t>
            </a:r>
            <a:endParaRPr b="0" lang="fr-FR" sz="4400" spc="-1" strike="noStrike">
              <a:solidFill>
                <a:schemeClr val="dk1"/>
              </a:solidFill>
              <a:latin typeface="Calibri"/>
            </a:endParaRPr>
          </a:p>
        </p:txBody>
      </p:sp>
      <p:sp>
        <p:nvSpPr>
          <p:cNvPr id="12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74983" lnSpcReduction="2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les syndromes vestibulaires,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il est dit harmonieux lorsqu’il est périphérique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il est dit disharmonieux lorsqu’il est périphérique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il est dit harmonieux lorsqu’il est central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il est dit harmonieux lorsque la secousse lente du nystagmus et les déviations segmentaires sont du même coté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il est dit harmonieux lorsque la secousse rapide du nystagmus et les déviations segmentaires sont du même coté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il est dit harmonieux lorsque le nystagmus s’aggrave à la fixation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il est dit disharmonieux lorsque le nystagmus s’aggrave en l’absence de fixation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il est dit harmonieux lorsque le nystagmus et les déviations segmentaires sont du même coté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i-  il est dit harmonieux lorsque le nystagmus et les déviations segmentaires sont de cotés opposés</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14</a:t>
            </a:r>
            <a:endParaRPr b="0" lang="fr-FR" sz="4400" spc="-1" strike="noStrike">
              <a:solidFill>
                <a:schemeClr val="dk1"/>
              </a:solidFill>
              <a:latin typeface="Calibri"/>
            </a:endParaRPr>
          </a:p>
        </p:txBody>
      </p:sp>
      <p:sp>
        <p:nvSpPr>
          <p:cNvPr id="12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81053"/>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Parmi ces propositions, lesquelles peuvent etre responsables d’un syndrome vestibulaire central?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labyrinthite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syndrome de Wallenberg</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maladie de Menière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neurinome de l’acoustique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ototoxicité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infarctus cérébelleux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thrombose de l’artère auditive interne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gliome de bas grade cérébelleux </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14</a:t>
            </a:r>
            <a:endParaRPr b="0" lang="fr-FR" sz="4400" spc="-1" strike="noStrike">
              <a:solidFill>
                <a:schemeClr val="dk1"/>
              </a:solidFill>
              <a:latin typeface="Calibri"/>
            </a:endParaRPr>
          </a:p>
        </p:txBody>
      </p:sp>
      <p:sp>
        <p:nvSpPr>
          <p:cNvPr id="12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81053"/>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Parmi ces propositions, lesquelles peuvent être responsables d’un syndrome vestibulaire central?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labyrinthite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syndrome de Wallenberg</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maladie de Menière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neurinome de l’acoustique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ototoxicité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F- infarctus cérébelleux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G- thrombose de l’artère auditive interne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H- gliome de bas grade cérébelleux </a:t>
            </a:r>
            <a:endParaRPr b="0" lang="fr-FR" sz="2800" spc="-1" strike="noStrike">
              <a:solidFill>
                <a:schemeClr val="dk1"/>
              </a:solidFill>
              <a:latin typeface="Calibri"/>
            </a:endParaRPr>
          </a:p>
          <a:p>
            <a:pPr indent="0" defTabSz="914400">
              <a:lnSpc>
                <a:spcPct val="90000"/>
              </a:lnSpc>
              <a:spcBef>
                <a:spcPts val="1001"/>
              </a:spcBef>
              <a:buNone/>
              <a:tabLst>
                <a:tab algn="l" pos="0"/>
              </a:tabLst>
            </a:pP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15</a:t>
            </a:r>
            <a:endParaRPr b="0" lang="fr-FR" sz="4400" spc="-1" strike="noStrike">
              <a:solidFill>
                <a:schemeClr val="dk1"/>
              </a:solidFill>
              <a:latin typeface="Calibri"/>
            </a:endParaRPr>
          </a:p>
        </p:txBody>
      </p:sp>
      <p:sp>
        <p:nvSpPr>
          <p:cNvPr id="12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62485"/>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la maladie de Menière,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elle peut se présenter sous la forme d’un vertige durant quelques heures et récidivants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elle peut se présenter sous la forme d’une surdité de perception unilatérale avec acouphènes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elle peut se présenter sous la forme d’un grand vertige unique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elle peut se présenter sous la forme d’une sensation vertigineuse constante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elle peut se présenter sous la forme d’un vertige déclenché par la manœuvre de Dix et Hallpike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elle peut se présenter sous la forme d’un vertige déclenché par la pression du tragus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 elle est due à une hypertension endolymphatique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elle est due à une canalolithiase dans le canal semi-circulaire postérieur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le vertige de la maladie de Menière est souvent isolé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J- le vertige de la maladie de Menière est souvent associé à des signes végétatifs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K- le vertige de la maladie de Menière est souvent associé à des signes cochléaires</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15</a:t>
            </a:r>
            <a:endParaRPr b="0" lang="fr-FR" sz="4400" spc="-1" strike="noStrike">
              <a:solidFill>
                <a:schemeClr val="dk1"/>
              </a:solidFill>
              <a:latin typeface="Calibri"/>
            </a:endParaRPr>
          </a:p>
        </p:txBody>
      </p:sp>
      <p:sp>
        <p:nvSpPr>
          <p:cNvPr id="12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62485"/>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Concernant la maladie de Menière, cochez les réponses justes: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elle peut se présenter sous la forme d’un vertige durant quelques heures et récidivants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elle peut se présenter sous la forme d’une surdité de perception unilatérale avec acouphènes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elle peut se présenter sous la forme d’un grand vertige unique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elle peut se présenter sous la forme d’une sensation vertigineuse constante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elle peut se présenter sous la forme d’un vertige déclenché par la manœuvre de Dix et Hallpike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F- elle peut se présenter sous la forme d’un vertige déclenché par la pression du tragus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G- elle est due à une hypertension endolymphatique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H- elle est due à une canalolithiase dans le canal semi-circulaire postérieur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 le vertige de la maladie de Menière est souvent isolé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J- le vertige de la maladie de Menière est souvent associé à des signes végétatifs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K- le vertige de la maladie de Menière est souvent associé à des signes cochléaires</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16</a:t>
            </a:r>
            <a:endParaRPr b="0" lang="fr-FR" sz="4400" spc="-1" strike="noStrike">
              <a:solidFill>
                <a:schemeClr val="dk1"/>
              </a:solidFill>
              <a:latin typeface="Calibri"/>
            </a:endParaRPr>
          </a:p>
        </p:txBody>
      </p:sp>
      <p:sp>
        <p:nvSpPr>
          <p:cNvPr id="13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87480"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Un homme de 45 ans d’origine maghrébine, consulte pour l’apparition récente d’une tuméfaction bilatérale cervicale haute apparue depuis quelques semaines. L’état général du patient est excellent. Depuis 10 jours, il présente une plénitude auriculaire droite avec une sensation d’hypoacousie droite. La rhinoscopie antérieure montre des fosses nasales libres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1. Quel diagnostic vous parait le plus probable sur ce récit?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Otite aigué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Kyste congénital du cou</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Adénopathie inflammatoire de cause générale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Tumeur du cavum</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Aucune des propositions ci-dessus</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16</a:t>
            </a:r>
            <a:endParaRPr b="0" lang="fr-FR" sz="4400" spc="-1" strike="noStrike">
              <a:solidFill>
                <a:schemeClr val="dk1"/>
              </a:solidFill>
              <a:latin typeface="Calibri"/>
            </a:endParaRPr>
          </a:p>
        </p:txBody>
      </p:sp>
      <p:sp>
        <p:nvSpPr>
          <p:cNvPr id="13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87480"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Un homme de 45 ans d’origine maghrébine, consulte pour l’apparition récente d’une tuméfaction bilatérale cervicale haute apparue depuis quelques semaines. L’état général du patient est excellent. Depuis 10 jours, il présente une plénitude auriculaire droite avec une sensation d’hypoacousie droite. La rhinoscopie antérieure montre des fosses nasales libres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1. Quel diagnostic vous parait le plus probable sur ce récit?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Otite aigué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Kyste congénital du cou</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Adénopathie inflammatoire de cause générale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 Tumeur du cavum</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Aucune des propositions ci-dessus</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17</a:t>
            </a:r>
            <a:endParaRPr b="0" lang="fr-FR" sz="4400" spc="-1" strike="noStrike">
              <a:solidFill>
                <a:schemeClr val="dk1"/>
              </a:solidFill>
              <a:latin typeface="Calibri"/>
            </a:endParaRPr>
          </a:p>
        </p:txBody>
      </p:sp>
      <p:sp>
        <p:nvSpPr>
          <p:cNvPr id="13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2. En faveur de ce diagnostic vous retenez essentiellement: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Le bilan ionique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Le tabagisme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La présence du virus Epstein Barr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L’hémogramme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L’ensemble de ces éléments</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17</a:t>
            </a:r>
            <a:endParaRPr b="0" lang="fr-FR" sz="4400" spc="-1" strike="noStrike">
              <a:solidFill>
                <a:schemeClr val="dk1"/>
              </a:solidFill>
              <a:latin typeface="Calibri"/>
            </a:endParaRPr>
          </a:p>
        </p:txBody>
      </p:sp>
      <p:sp>
        <p:nvSpPr>
          <p:cNvPr id="13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2. En faveur de ce diagnostic vous retenez essentiellement: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Le bilan ionique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Le tabagisme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 La présence du virus Epstein Barr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L’hémogramme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L’ensemble de ces éléments</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18</a:t>
            </a:r>
            <a:endParaRPr b="0" lang="fr-FR" sz="4400" spc="-1" strike="noStrike">
              <a:solidFill>
                <a:schemeClr val="dk1"/>
              </a:solidFill>
              <a:latin typeface="Calibri"/>
            </a:endParaRPr>
          </a:p>
        </p:txBody>
      </p:sp>
      <p:sp>
        <p:nvSpPr>
          <p:cNvPr id="13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3. Parmi ces examens, deux sont susceptibles d’orienter le diagnostic de la lésion primitive. Lesquels?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Scintigraphie salivaire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Tomographies du massif facial en incidence de Hirtz</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Cliché dentaire panoramique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Echographie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Impédancemétrie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18</a:t>
            </a:r>
            <a:endParaRPr b="0" lang="fr-FR" sz="4400" spc="-1" strike="noStrike">
              <a:solidFill>
                <a:schemeClr val="dk1"/>
              </a:solidFill>
              <a:latin typeface="Calibri"/>
            </a:endParaRPr>
          </a:p>
        </p:txBody>
      </p:sp>
      <p:sp>
        <p:nvSpPr>
          <p:cNvPr id="14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3. Parmi ces examens, deux sont susceptibles d’orienter le diagnostic de la lésion primitive. Lesquels?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Scintigraphie salivaire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 Tomographies du massif facial en incidence de Hirtz</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Cliché dentaire panoramique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Echographie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E - Impédancemétrie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19</a:t>
            </a:r>
            <a:endParaRPr b="0" lang="fr-FR" sz="4400" spc="-1" strike="noStrike">
              <a:solidFill>
                <a:schemeClr val="dk1"/>
              </a:solidFill>
              <a:latin typeface="Calibri"/>
            </a:endParaRPr>
          </a:p>
        </p:txBody>
      </p:sp>
      <p:sp>
        <p:nvSpPr>
          <p:cNvPr id="14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4. La thérapeutique curatrice la plus adéquate comporte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Chirurgie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Hormonothérapie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Chimiothérapie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Corticothérapie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Radiothérapie externe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19</a:t>
            </a:r>
            <a:endParaRPr b="0" lang="fr-FR" sz="4400" spc="-1" strike="noStrike">
              <a:solidFill>
                <a:schemeClr val="dk1"/>
              </a:solidFill>
              <a:latin typeface="Calibri"/>
            </a:endParaRPr>
          </a:p>
        </p:txBody>
      </p:sp>
      <p:sp>
        <p:nvSpPr>
          <p:cNvPr id="14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4. La thérapeutique curatrice la plus adéquate comporte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Chirurgie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Hormonothérapie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Chimiothérapie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Corticothérapie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E - Radiothérapie externe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20</a:t>
            </a:r>
            <a:endParaRPr b="0" lang="fr-FR" sz="4400" spc="-1" strike="noStrike">
              <a:solidFill>
                <a:schemeClr val="dk1"/>
              </a:solidFill>
              <a:latin typeface="Calibri"/>
            </a:endParaRPr>
          </a:p>
        </p:txBody>
      </p:sp>
      <p:sp>
        <p:nvSpPr>
          <p:cNvPr id="14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74983"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Un patient de 50 ans, marchand forain, fumeur modéré, présente depuis trois mois une dysphonie quasi-permanente, non régressive, avec voix rauque et douleurs pharyngo laryngée en fin de journée. Il existe d’une façon concomitante une toux, mais pas de dysphagie, ni d’otalgie. Ce patient n’a jamais présenté auparavant de dysphonie. La palpation cervicale est normale. La radiographie pulmonaire, la numération formule sanguine, la vitesse de sédimentation sont normales.</a:t>
            </a:r>
            <a:endParaRPr b="0" lang="fr-FR"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1. Devant cette dysphonie, il faut évoquer en premier lieu:</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Une atteinte des cordes vocales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Une lésion épiglottique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Une lésion de la margelle laryngée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Une sténose trachéale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Une compression récurrentielle par une tumeur thyroïdienne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20</a:t>
            </a:r>
            <a:endParaRPr b="0" lang="fr-FR" sz="4400" spc="-1" strike="noStrike">
              <a:solidFill>
                <a:schemeClr val="dk1"/>
              </a:solidFill>
              <a:latin typeface="Calibri"/>
            </a:endParaRPr>
          </a:p>
        </p:txBody>
      </p:sp>
      <p:sp>
        <p:nvSpPr>
          <p:cNvPr id="14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74983"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Un patient de 50 ans, marchand forain, fumeur modéré, présente depuis trois mois une dysphonie quasi-permanente, non régressive, avec voix rauque et douleurs pharyngo laryngée en fin de journée. Il existe d’une façon concomitante une toux, mais pas de dysphagie, ni d’otalgie. Ce patient n’a jamais présenté auparavant de dysphonie. La palpation cervicale est normale. La radiographie pulmonaire, la numération formule sanguine, la vitesse de sédimentation sont normales.</a:t>
            </a:r>
            <a:endParaRPr b="0" lang="fr-FR"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1. Devant cette dysphonie, il faut évoquer en premier lieu:</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 Une atteinte des cordes vocales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Une lésion épiglottique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Une lésion de la margelle laryngée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Une sténose trachéale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Une compression récurrentielle par une tumeur thyroïdienne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21</a:t>
            </a:r>
            <a:endParaRPr b="0" lang="fr-FR" sz="4400" spc="-1" strike="noStrike">
              <a:solidFill>
                <a:schemeClr val="dk1"/>
              </a:solidFill>
              <a:latin typeface="Calibri"/>
            </a:endParaRPr>
          </a:p>
        </p:txBody>
      </p:sp>
      <p:sp>
        <p:nvSpPr>
          <p:cNvPr id="15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2. Le moyen le plus simple pour objectiver la lésion causale est représenté par: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La fibroscopie bronchique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Une laryngoscopie directe en suspension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Une laryngoscopie indirecte au miroir laryngé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Un examen stroboscopique pour visualiser le mouvement cordai</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Une laryngographie lipiodolée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21</a:t>
            </a:r>
            <a:endParaRPr b="0" lang="fr-FR" sz="4400" spc="-1" strike="noStrike">
              <a:solidFill>
                <a:schemeClr val="dk1"/>
              </a:solidFill>
              <a:latin typeface="Calibri"/>
            </a:endParaRPr>
          </a:p>
        </p:txBody>
      </p:sp>
      <p:sp>
        <p:nvSpPr>
          <p:cNvPr id="15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2. Le moyen le plus simple pour objectiver la lésion causale est représenté par: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La fibroscopie bronchique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Une laryngoscopie directe en suspension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 Une laryngoscopie indirecte au miroir laryngé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Un examen stroboscopique pour visualiser le mouvement cordai</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Une laryngographie lipiodolée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22</a:t>
            </a:r>
            <a:endParaRPr b="0" lang="fr-FR" sz="4400" spc="-1" strike="noStrike">
              <a:solidFill>
                <a:schemeClr val="dk1"/>
              </a:solidFill>
              <a:latin typeface="Calibri"/>
            </a:endParaRPr>
          </a:p>
        </p:txBody>
      </p:sp>
      <p:sp>
        <p:nvSpPr>
          <p:cNvPr id="15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3. Parmi les affections suivantes, 2 doivent être évoquées. Lesquelles?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Laryngite aigué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Tuberculose laryngée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Paralysie récurrentielle gauche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Cancer laryngé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Dysplasie laryngée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22</a:t>
            </a:r>
            <a:endParaRPr b="0" lang="fr-FR" sz="4400" spc="-1" strike="noStrike">
              <a:solidFill>
                <a:schemeClr val="dk1"/>
              </a:solidFill>
              <a:latin typeface="Calibri"/>
            </a:endParaRPr>
          </a:p>
        </p:txBody>
      </p:sp>
      <p:sp>
        <p:nvSpPr>
          <p:cNvPr id="15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3. Parmi les affections suivantes, 2 doivent être évoquées. Lesquelles?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Laryngite aigué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Tuberculose laryngée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Paralysie récurrentielle gauche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 Cancer laryngé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E - Dysplasie laryngée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23</a:t>
            </a:r>
            <a:endParaRPr b="0" lang="fr-FR" sz="4400" spc="-1" strike="noStrike">
              <a:solidFill>
                <a:schemeClr val="dk1"/>
              </a:solidFill>
              <a:latin typeface="Calibri"/>
            </a:endParaRPr>
          </a:p>
        </p:txBody>
      </p:sp>
      <p:sp>
        <p:nvSpPr>
          <p:cNvPr id="15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4. Quel est l’élément essentiel qui permettra le diagnostic exact de cette affection?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Tomographies du larynx de face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Biopsie laryngée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Recherche de bacille de Koch dans les crachats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Xérographie de profil du larynx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Cytologie du larynx</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23</a:t>
            </a:r>
            <a:endParaRPr b="0" lang="fr-FR" sz="4400" spc="-1" strike="noStrike">
              <a:solidFill>
                <a:schemeClr val="dk1"/>
              </a:solidFill>
              <a:latin typeface="Calibri"/>
            </a:endParaRPr>
          </a:p>
        </p:txBody>
      </p:sp>
      <p:sp>
        <p:nvSpPr>
          <p:cNvPr id="16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4. Quel est l’élément essentiel qui permettra le diagnostic exact de cette affection?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Tomographies du larynx de face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 Biopsie laryngée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Recherche de bacille de Koch dans les crachats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Xérographie de profil du larynx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Cytologie du larynx</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24</a:t>
            </a:r>
            <a:endParaRPr b="0" lang="fr-FR" sz="4400" spc="-1" strike="noStrike">
              <a:solidFill>
                <a:schemeClr val="dk1"/>
              </a:solidFill>
              <a:latin typeface="Calibri"/>
            </a:endParaRPr>
          </a:p>
        </p:txBody>
      </p:sp>
      <p:sp>
        <p:nvSpPr>
          <p:cNvPr id="16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5. Si Ion réalise une biopsie exérèse de cette lésion et que celle-ci soit histologiquement bénigne, que conseillez-vous au malade?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De moins surmener le larynx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D’arrêter le tabac</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Une surveillance laryngée très régulière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Des corticoïdes par voie générale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Une intervention chirurgicale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24</a:t>
            </a:r>
            <a:endParaRPr b="0" lang="fr-FR" sz="4400" spc="-1" strike="noStrike">
              <a:solidFill>
                <a:schemeClr val="dk1"/>
              </a:solidFill>
              <a:latin typeface="Calibri"/>
            </a:endParaRPr>
          </a:p>
        </p:txBody>
      </p:sp>
      <p:sp>
        <p:nvSpPr>
          <p:cNvPr id="16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5. Si Ion réalise une biopsie exérèse de cette lésion et que celle-ci soit histologiquement bénigne, que conseillez-vous au malade?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 De moins surmener le larynx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 D’arrêter le tabac</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Une surveillance laryngée très régulière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Des corticoïdes par voie générale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Une intervention chirurgicale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25</a:t>
            </a:r>
            <a:endParaRPr b="0" lang="fr-FR" sz="4400" spc="-1" strike="noStrike">
              <a:solidFill>
                <a:schemeClr val="dk1"/>
              </a:solidFill>
              <a:latin typeface="Calibri"/>
            </a:endParaRPr>
          </a:p>
        </p:txBody>
      </p:sp>
      <p:sp>
        <p:nvSpPr>
          <p:cNvPr id="16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96763"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6. Si au contraire, la biopsie répond carcinome spinocellulaire infiltrant, alors que la lésion est unilatérale mesure un demi-centimètre carré et que le larynx est parfaitement mobile, on peut proposer: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Une surveillance au miroir laryngé tous les mois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Une laryngoscopie en suspension 3 mois plus tard pour biopsie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Une séance de laser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Une chirurgie partielle conservatrice de la voix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Une laryngectomie totale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25</a:t>
            </a:r>
            <a:endParaRPr b="0" lang="fr-FR" sz="4400" spc="-1" strike="noStrike">
              <a:solidFill>
                <a:schemeClr val="dk1"/>
              </a:solidFill>
              <a:latin typeface="Calibri"/>
            </a:endParaRPr>
          </a:p>
        </p:txBody>
      </p:sp>
      <p:sp>
        <p:nvSpPr>
          <p:cNvPr id="16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96763"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6. Si au contraire, la biopsie répond carcinome spinocellulaire infiltrant, alors que la lésion est unilatérale mesure un demi-centimètre carré et que le larynx est parfaitement mobile, on peut proposer: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Une surveillance au miroir laryngé tous les mois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Une laryngoscopie en suspension 3 mois plus tard pour biopsie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Une séance de laser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 Une chirurgie partielle conservatrice de la voix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Une laryngectomie totale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26</a:t>
            </a:r>
            <a:endParaRPr b="0" lang="fr-FR" sz="4400" spc="-1" strike="noStrike">
              <a:solidFill>
                <a:schemeClr val="dk1"/>
              </a:solidFill>
              <a:latin typeface="Calibri"/>
            </a:endParaRPr>
          </a:p>
        </p:txBody>
      </p:sp>
      <p:sp>
        <p:nvSpPr>
          <p:cNvPr id="17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87480"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Un homme de 50 ans, grand fumeur, présente une discrète gêne pharyngée depuis quelques mois. Il a constaté récemment l’apparition d’une tuméfaction cervicale sous digastrique, haute, dure, ligneuse, mobile. L’examen laryngoscopique montre une lésion ulcéro-bourgeonnante occupant le sinus piriforme avec fixité de l’hémilarynx.</a:t>
            </a:r>
            <a:endParaRPr b="0" lang="fr-FR"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1. S’il s’agit d’un cancer, quel est le type histologique le plus fréquemment rencontré?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Un épithélioma malpighien spinocellulaire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Epithélioma glandulaire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Un fibrosarcome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Un lymphome malin non hodgkinien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Une tuberculose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26</a:t>
            </a:r>
            <a:endParaRPr b="0" lang="fr-FR" sz="4400" spc="-1" strike="noStrike">
              <a:solidFill>
                <a:schemeClr val="dk1"/>
              </a:solidFill>
              <a:latin typeface="Calibri"/>
            </a:endParaRPr>
          </a:p>
        </p:txBody>
      </p:sp>
      <p:sp>
        <p:nvSpPr>
          <p:cNvPr id="17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87480" lnSpcReduction="10000"/>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Un homme de 50 ans, grand fumeur, présente une discrète gêne pharyngée depuis quelques mois. Il a constaté récemment l’apparition d’une tuméfaction cervicale sous digastrique, haute, dure, ligneuse, mobile. L’examen laryngoscopique montre une lésion ulcéro-bourgeonnante occupant le sinus piriforme avec fixité de l’hémilarynx.</a:t>
            </a:r>
            <a:endParaRPr b="0" lang="fr-FR"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1. S’il s’agit d’un cancer, quel est le type histologique le plus fréquemment rencontré?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 Un épithélioma malpighien spinocellulaire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Epithélioma glandulaire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Un fibrosarcome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Un lymphome malin non hodgkinien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Une tuberculose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27</a:t>
            </a:r>
            <a:endParaRPr b="0" lang="fr-FR" sz="4400" spc="-1" strike="noStrike">
              <a:solidFill>
                <a:schemeClr val="dk1"/>
              </a:solidFill>
              <a:latin typeface="Calibri"/>
            </a:endParaRPr>
          </a:p>
        </p:txBody>
      </p:sp>
      <p:sp>
        <p:nvSpPr>
          <p:cNvPr id="17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2. Le bilan d’extension local de cette lésion comporte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Une radiographie des poumons face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Un transit pharyngo-oesophagien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Une radiographie de profil et des tomographies de larynx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Une fibroscopie bronchique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Une hypopharyngo-laryngoscopie directe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27</a:t>
            </a:r>
            <a:endParaRPr b="0" lang="fr-FR" sz="4400" spc="-1" strike="noStrike">
              <a:solidFill>
                <a:schemeClr val="dk1"/>
              </a:solidFill>
              <a:latin typeface="Calibri"/>
            </a:endParaRPr>
          </a:p>
        </p:txBody>
      </p:sp>
      <p:sp>
        <p:nvSpPr>
          <p:cNvPr id="17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2. Le bilan d’extension </a:t>
            </a:r>
            <a:r>
              <a:rPr b="0" lang="fr-FR" sz="2800" spc="-1" strike="noStrike">
                <a:solidFill>
                  <a:srgbClr val="ff0000"/>
                </a:solidFill>
                <a:latin typeface="Calibri"/>
              </a:rPr>
              <a:t>local</a:t>
            </a:r>
            <a:r>
              <a:rPr b="0" lang="fr-FR" sz="2800" spc="-1" strike="noStrike">
                <a:solidFill>
                  <a:schemeClr val="dk1"/>
                </a:solidFill>
                <a:latin typeface="Calibri"/>
              </a:rPr>
              <a:t> de cette lésion comporte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Une radiographie des poumons face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 Un transit pharyngo-oesophagien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 Une radiographie de profil et des tomographies de larynx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Une fibroscopie bronchique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E - Une hypopharyngo-laryngoscopie directe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28</a:t>
            </a:r>
            <a:endParaRPr b="0" lang="fr-FR" sz="4400" spc="-1" strike="noStrike">
              <a:solidFill>
                <a:schemeClr val="dk1"/>
              </a:solidFill>
              <a:latin typeface="Calibri"/>
            </a:endParaRPr>
          </a:p>
        </p:txBody>
      </p:sp>
      <p:sp>
        <p:nvSpPr>
          <p:cNvPr id="17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3. Quel(s) geste(s) thérapeutique(s) doi(ven)t être retenu(s) chez ce malade en bon état général?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Chimiothérapie seule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Radiothérapie exclusive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Laryngectomie partielle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Pharyngolaryngectomie totale avec curage et radiothérapie postopératoire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Curage ganglionnaire et radiothérapie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28</a:t>
            </a:r>
            <a:endParaRPr b="0" lang="fr-FR" sz="4400" spc="-1" strike="noStrike">
              <a:solidFill>
                <a:schemeClr val="dk1"/>
              </a:solidFill>
              <a:latin typeface="Calibri"/>
            </a:endParaRPr>
          </a:p>
        </p:txBody>
      </p:sp>
      <p:sp>
        <p:nvSpPr>
          <p:cNvPr id="18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3. Quel(s) geste(s) thérapeutique(s) doi(ven)t être retenu(s) chez ce malade en bon état général?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Chimiothérapie seule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Radiothérapie exclusive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Laryngectomie partielle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 Pharyngolaryngectomie totale avec curage et radiothérapie postopératoire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Curage ganglionnaire et radiothérapie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29</a:t>
            </a:r>
            <a:endParaRPr b="0" lang="fr-FR" sz="4400" spc="-1" strike="noStrike">
              <a:solidFill>
                <a:schemeClr val="dk1"/>
              </a:solidFill>
              <a:latin typeface="Calibri"/>
            </a:endParaRPr>
          </a:p>
        </p:txBody>
      </p:sp>
      <p:sp>
        <p:nvSpPr>
          <p:cNvPr id="18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4. Si le traitement de ce patient comporte une irradiation, quel(s) soin(s) doi(ven)t être impérativement pratiqué(s)?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Avulsion des dents cariées ou traitées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Confection de gouttières fluorées en cas de dents saines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Mise en place dune sonde naso-oesophagienne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Gastrostomie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Corticothérapie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29</a:t>
            </a:r>
            <a:endParaRPr b="0" lang="fr-FR" sz="4400" spc="-1" strike="noStrike">
              <a:solidFill>
                <a:schemeClr val="dk1"/>
              </a:solidFill>
              <a:latin typeface="Calibri"/>
            </a:endParaRPr>
          </a:p>
        </p:txBody>
      </p:sp>
      <p:sp>
        <p:nvSpPr>
          <p:cNvPr id="18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4. Si le traitement de ce patient comporte une irradiation, quel(s) soin(s) doi(ven)t être impérativement pratiqué(s)?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 Avulsion des dents cariées ou traitées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 Confection de gouttières fluorées en cas de dents saine</a:t>
            </a:r>
            <a:r>
              <a:rPr b="0" lang="fr-FR" sz="2800" spc="-1" strike="noStrike">
                <a:solidFill>
                  <a:schemeClr val="dk1"/>
                </a:solidFill>
                <a:latin typeface="Calibri"/>
              </a:rPr>
              <a:t>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Mise en place dune sonde naso-oesophagienne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Gastrostomie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Corticothérapie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30</a:t>
            </a:r>
            <a:endParaRPr b="0" lang="fr-FR" sz="4400" spc="-1" strike="noStrike">
              <a:solidFill>
                <a:schemeClr val="dk1"/>
              </a:solidFill>
              <a:latin typeface="Calibri"/>
            </a:endParaRPr>
          </a:p>
        </p:txBody>
      </p:sp>
      <p:sp>
        <p:nvSpPr>
          <p:cNvPr id="18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5. Si un traitement chirurgical est retenu, que faut-il conseiller au malade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Rééducation orthophonique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Massage et rééducation de l’épaule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Soins de canule quotidiens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Surveillance spécialisée régulière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Suppression de toute boisson alcoolisée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30</a:t>
            </a:r>
            <a:endParaRPr b="0" lang="fr-FR" sz="4400" spc="-1" strike="noStrike">
              <a:solidFill>
                <a:schemeClr val="dk1"/>
              </a:solidFill>
              <a:latin typeface="Calibri"/>
            </a:endParaRPr>
          </a:p>
        </p:txBody>
      </p:sp>
      <p:sp>
        <p:nvSpPr>
          <p:cNvPr id="18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5. Si un traitement chirurgical est retenu, que faut-il conseiller au malade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 Rééducation orthophonique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Massage et rééducation de l’épaule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 Soins de canule quotidiens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 Surveillance spécialisée régulière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E - Suppression de toute boisson alcoolisée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31</a:t>
            </a:r>
            <a:endParaRPr b="0" lang="fr-FR" sz="4400" spc="-1" strike="noStrike">
              <a:solidFill>
                <a:schemeClr val="dk1"/>
              </a:solidFill>
              <a:latin typeface="Calibri"/>
            </a:endParaRPr>
          </a:p>
        </p:txBody>
      </p:sp>
      <p:sp>
        <p:nvSpPr>
          <p:cNvPr id="19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68556" lnSpcReduction="10000"/>
          </a:bodyPr>
          <a:p>
            <a:pPr indent="0" defTabSz="914400">
              <a:lnSpc>
                <a:spcPct val="90000"/>
              </a:lnSpc>
              <a:spcBef>
                <a:spcPts val="1001"/>
              </a:spcBef>
              <a:buNone/>
              <a:tabLst>
                <a:tab algn="l" pos="0"/>
              </a:tabLst>
            </a:pPr>
            <a:r>
              <a:rPr b="0" lang="fr-FR" sz="2800" spc="-1" strike="noStrike">
                <a:solidFill>
                  <a:schemeClr val="dk1"/>
                </a:solidFill>
                <a:latin typeface="Calibri"/>
              </a:rPr>
              <a:t>Un patient de 60 ans vient consulter pour une otalgie gauche, intermittente, volontiers rythmée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par la déglutition, et dont le malade évalue l’ancienneté à trois/quatre mois.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ce patient est un ancien pilote d’aviation militaire. Il n’a jamais fumé et ne présente pas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d’intoxication alcoolique particulière.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Il a l’impression de moins entendre de l’oreille gauche, et accuse quelques acouphènes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graves, également intermittents. Par ailleurs, le malade n’allègue aucun autre symptôme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clinique O.R.L.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L’examen montre un tympan gauche rétracté. L’oropharynx et le pharyngolarynx bien visibles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sont également normaux. L’épreuve de Valsalva est négative du côté gauche. L’épreuve de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Weber montre une latéralisation à gauche, l’audiométrie tonale une discrète surdité de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transmission.</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31</a:t>
            </a:r>
            <a:endParaRPr b="0" lang="fr-FR" sz="4400" spc="-1" strike="noStrike">
              <a:solidFill>
                <a:schemeClr val="dk1"/>
              </a:solidFill>
              <a:latin typeface="Calibri"/>
            </a:endParaRPr>
          </a:p>
        </p:txBody>
      </p:sp>
      <p:sp>
        <p:nvSpPr>
          <p:cNvPr id="19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1. Sur quel(s) critère(s) faut-il impérativement poursuivre les investigations cliniques?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Otalgie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Acouphènes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Valsalva négatif à gauche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Une surdité de transmission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Le métier du patient</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31</a:t>
            </a:r>
            <a:endParaRPr b="0" lang="fr-FR" sz="4400" spc="-1" strike="noStrike">
              <a:solidFill>
                <a:schemeClr val="dk1"/>
              </a:solidFill>
              <a:latin typeface="Calibri"/>
            </a:endParaRPr>
          </a:p>
        </p:txBody>
      </p:sp>
      <p:sp>
        <p:nvSpPr>
          <p:cNvPr id="19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1. Sur quel(s) critère(s) faut-il impérativement poursuivre les investigations cliniques?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 Otalgie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Acouphènes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 Valsalva négatif à gauche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 Une surdité de transmission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Le métier du patient</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32</a:t>
            </a:r>
            <a:endParaRPr b="0" lang="fr-FR" sz="4400" spc="-1" strike="noStrike">
              <a:solidFill>
                <a:schemeClr val="dk1"/>
              </a:solidFill>
              <a:latin typeface="Calibri"/>
            </a:endParaRPr>
          </a:p>
        </p:txBody>
      </p:sp>
      <p:sp>
        <p:nvSpPr>
          <p:cNvPr id="19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2. Quelle région faut-il examiner minutieusement?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La margelle laryngée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Le sillon amygdaloglosse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Le rhinopharynx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Le voile du palais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Le sinus maxillaire gauche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32</a:t>
            </a:r>
            <a:endParaRPr b="0" lang="fr-FR" sz="4400" spc="-1" strike="noStrike">
              <a:solidFill>
                <a:schemeClr val="dk1"/>
              </a:solidFill>
              <a:latin typeface="Calibri"/>
            </a:endParaRPr>
          </a:p>
        </p:txBody>
      </p:sp>
      <p:sp>
        <p:nvSpPr>
          <p:cNvPr id="19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2. Quelle région faut-il examiner minutieusement?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La margelle laryngée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Le sillon amygdaloglosse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 Le rhinopharynx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Le voile du palais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Le sinus maxillaire gauche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33</a:t>
            </a:r>
            <a:endParaRPr b="0" lang="fr-FR" sz="4400" spc="-1" strike="noStrike">
              <a:solidFill>
                <a:schemeClr val="dk1"/>
              </a:solidFill>
              <a:latin typeface="Calibri"/>
            </a:endParaRPr>
          </a:p>
        </p:txBody>
      </p:sp>
      <p:sp>
        <p:nvSpPr>
          <p:cNvPr id="20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3. Les éléments dont vous disposez permettent dès lors d’évoquer le diagnostic de cette affection, Quel est-il?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Cancer de la margelle laryngée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Cancer du sillon amygdaloglosse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Fibrome nasopharyngien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Cancer du naso-pharynx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Polypose nasale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33</a:t>
            </a:r>
            <a:endParaRPr b="0" lang="fr-FR" sz="4400" spc="-1" strike="noStrike">
              <a:solidFill>
                <a:schemeClr val="dk1"/>
              </a:solidFill>
              <a:latin typeface="Calibri"/>
            </a:endParaRPr>
          </a:p>
        </p:txBody>
      </p:sp>
      <p:sp>
        <p:nvSpPr>
          <p:cNvPr id="20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3. Les éléments dont vous disposez permettent dès lors d’évoquer le diagnostic de cette affection, Quel est-il?</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Cancer de la margelle laryngée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Cancer du sillon amygdaloglosse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Fibrome nasopharyngien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 Cancer du naso-pharynx</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Polypose nasale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34</a:t>
            </a:r>
            <a:endParaRPr b="0" lang="fr-FR" sz="4400" spc="-1" strike="noStrike">
              <a:solidFill>
                <a:schemeClr val="dk1"/>
              </a:solidFill>
              <a:latin typeface="Calibri"/>
            </a:endParaRPr>
          </a:p>
        </p:txBody>
      </p:sp>
      <p:sp>
        <p:nvSpPr>
          <p:cNvPr id="20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4. Parmi les histologies suivantes, laquelle s’adapte le plus souvent à cette affection?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Adénome pléiomorphe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Carcinome glandulaire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Lymphome malin non hodgkinien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Carcinome spinocellulaire plus ou moins différencié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Schwanome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34</a:t>
            </a:r>
            <a:endParaRPr b="0" lang="fr-FR" sz="4400" spc="-1" strike="noStrike">
              <a:solidFill>
                <a:schemeClr val="dk1"/>
              </a:solidFill>
              <a:latin typeface="Calibri"/>
            </a:endParaRPr>
          </a:p>
        </p:txBody>
      </p:sp>
      <p:sp>
        <p:nvSpPr>
          <p:cNvPr id="20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4. Parmi les histologies suivantes, laquelle s’adapte le plus souvent à cette affection?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Adénome pléiomorphe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Carcinome glandulaire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Lymphome malin non hodgkinien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 Carcinome spinocellulaire plus ou moins différencié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Schwanome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35</a:t>
            </a:r>
            <a:endParaRPr b="0" lang="fr-FR" sz="4400" spc="-1" strike="noStrike">
              <a:solidFill>
                <a:schemeClr val="dk1"/>
              </a:solidFill>
              <a:latin typeface="Calibri"/>
            </a:endParaRPr>
          </a:p>
        </p:txBody>
      </p:sp>
      <p:sp>
        <p:nvSpPr>
          <p:cNvPr id="20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5. Le diagnostic d’extension impose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Palpation cervicale des aires ganglionnaires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Scanner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Dosage de l’antigène carcino-embryonnaire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Dosage de l’alpha-foeto-protéine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Ponction lombaire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35</a:t>
            </a:r>
            <a:endParaRPr b="0" lang="fr-FR" sz="4400" spc="-1" strike="noStrike">
              <a:solidFill>
                <a:schemeClr val="dk1"/>
              </a:solidFill>
              <a:latin typeface="Calibri"/>
            </a:endParaRPr>
          </a:p>
        </p:txBody>
      </p:sp>
      <p:sp>
        <p:nvSpPr>
          <p:cNvPr id="21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5. Le diagnostic d’extension impose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 Palpation cervicale des aires ganglionnaires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B - Scanner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Dosage de l’antigène carcino-embryonnaire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Dosage de l’alpha-foeto-protéine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Ponction lombaire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36</a:t>
            </a:r>
            <a:endParaRPr b="0" lang="fr-FR" sz="4400" spc="-1" strike="noStrike">
              <a:solidFill>
                <a:schemeClr val="dk1"/>
              </a:solidFill>
              <a:latin typeface="Calibri"/>
            </a:endParaRPr>
          </a:p>
        </p:txBody>
      </p:sp>
      <p:sp>
        <p:nvSpPr>
          <p:cNvPr id="21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6. L'impédancemétrie permet de caractériser ce type de surdité de transmission. Que doit-elle montrer?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Le pic est centré sur la pression zéro</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Le pic est centré sur la pression + 200</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Présence de deux pics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 Courbe décalée vers les pressions négatives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Courbe à compliance très élevée (en tour Eiffel)</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36</a:t>
            </a:r>
            <a:endParaRPr b="0" lang="fr-FR" sz="4400" spc="-1" strike="noStrike">
              <a:solidFill>
                <a:schemeClr val="dk1"/>
              </a:solidFill>
              <a:latin typeface="Calibri"/>
            </a:endParaRPr>
          </a:p>
        </p:txBody>
      </p:sp>
      <p:sp>
        <p:nvSpPr>
          <p:cNvPr id="21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6. L'impédancemétrie permet de caractériser ce type de surdité de transmission. Que doit-elle montrer?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 Le pic est centré sur la pression zéro</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 Le pic est centré sur la pression + 200</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 Présence de deux pics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 Courbe décalée vers les pressions négatives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 Courbe à compliance très élevée (en tour Eiffel)</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37</a:t>
            </a:r>
            <a:endParaRPr b="0" lang="fr-FR" sz="4400" spc="-1" strike="noStrike">
              <a:solidFill>
                <a:schemeClr val="dk1"/>
              </a:solidFill>
              <a:latin typeface="Calibri"/>
            </a:endParaRPr>
          </a:p>
        </p:txBody>
      </p:sp>
      <p:sp>
        <p:nvSpPr>
          <p:cNvPr id="21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1- - L'épistaxis du jeune est habituellement due à:</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Une ectasie de la tache vasculaire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Une altération du temps de saignement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Une leucose aiguë</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Une tumeur bénigne de la fosse nasale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Une rhinite chronique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37</a:t>
            </a:r>
            <a:endParaRPr b="0" lang="fr-FR" sz="4400" spc="-1" strike="noStrike">
              <a:solidFill>
                <a:schemeClr val="dk1"/>
              </a:solidFill>
              <a:latin typeface="Calibri"/>
            </a:endParaRPr>
          </a:p>
        </p:txBody>
      </p:sp>
      <p:sp>
        <p:nvSpPr>
          <p:cNvPr id="21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1- - L'épistaxis du jeune est habituellement due à:</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Une ectasie de la tache vasculaire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Une altération du temps de saignement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Une leucose aiguë</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Une tumeur bénigne de la fosse nasale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Une rhinite chronique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38</a:t>
            </a:r>
            <a:endParaRPr b="0" lang="fr-FR" sz="4400" spc="-1" strike="noStrike">
              <a:solidFill>
                <a:schemeClr val="dk1"/>
              </a:solidFill>
              <a:latin typeface="Calibri"/>
            </a:endParaRPr>
          </a:p>
        </p:txBody>
      </p:sp>
      <p:sp>
        <p:nvSpPr>
          <p:cNvPr id="22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2- Des épistaxis récidivantes chez un adulte peuvent être dûes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A un cancer de l'ethmoïde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A un polype de Killian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A un traitement anti-coagulant mal contrôlé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A une angiomatose de Rendu Osler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A une sinusite frontale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38</a:t>
            </a:r>
            <a:endParaRPr b="0" lang="fr-FR" sz="4400" spc="-1" strike="noStrike">
              <a:solidFill>
                <a:schemeClr val="dk1"/>
              </a:solidFill>
              <a:latin typeface="Calibri"/>
            </a:endParaRPr>
          </a:p>
        </p:txBody>
      </p:sp>
      <p:sp>
        <p:nvSpPr>
          <p:cNvPr id="22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2- Des épistaxis récidivantes chez un adulte peuvent être dûes :</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A un cancer de l'ethmoïde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A un polype de Killian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A un traitement anti-coagulant mal contrôlé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A une angiomatose de Rendu Osler</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A une sinusite frontale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39</a:t>
            </a:r>
            <a:endParaRPr b="0" lang="fr-FR" sz="4400" spc="-1" strike="noStrike">
              <a:solidFill>
                <a:schemeClr val="dk1"/>
              </a:solidFill>
              <a:latin typeface="Calibri"/>
            </a:endParaRPr>
          </a:p>
        </p:txBody>
      </p:sp>
      <p:sp>
        <p:nvSpPr>
          <p:cNvPr id="22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3- Des épistaxis récidivantes chez un garçon de 12 ans peuvent être dues: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A une lésion de la tache vasculaire de la cloison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A une ethmoïdite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A un fibrome naso-pharyngien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A une leucose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A une sinusite maxillaire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39</a:t>
            </a:r>
            <a:endParaRPr b="0" lang="fr-FR" sz="4400" spc="-1" strike="noStrike">
              <a:solidFill>
                <a:schemeClr val="dk1"/>
              </a:solidFill>
              <a:latin typeface="Calibri"/>
            </a:endParaRPr>
          </a:p>
        </p:txBody>
      </p:sp>
      <p:sp>
        <p:nvSpPr>
          <p:cNvPr id="22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3- Des épistaxis récidivantes chez un garçon de 12 ans peuvent être dues: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A. A une lésion de la tache vasculaire de la cloison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A une ethmoïdite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A un fibrome naso-pharyngien</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D. A une leucose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A une sinusite maxillaire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40</a:t>
            </a:r>
            <a:endParaRPr b="0" lang="fr-FR" sz="4400" spc="-1" strike="noStrike">
              <a:solidFill>
                <a:schemeClr val="dk1"/>
              </a:solidFill>
              <a:latin typeface="Calibri"/>
            </a:endParaRPr>
          </a:p>
        </p:txBody>
      </p:sp>
      <p:sp>
        <p:nvSpPr>
          <p:cNvPr id="22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4- Le fibrome naso-pharyngien est: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Plus fréquent chez le sujet âgé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Traité par la chimiothérapie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C. Révélé souvent par des épistaxis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Un carcinome épidermoïde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Développé au niveau de la cloison nasale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QCM 40</a:t>
            </a:r>
            <a:endParaRPr b="0" lang="fr-FR" sz="4400" spc="-1" strike="noStrike">
              <a:solidFill>
                <a:schemeClr val="dk1"/>
              </a:solidFill>
              <a:latin typeface="Calibri"/>
            </a:endParaRPr>
          </a:p>
        </p:txBody>
      </p:sp>
      <p:sp>
        <p:nvSpPr>
          <p:cNvPr id="23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pc="-1" strike="noStrike">
                <a:solidFill>
                  <a:schemeClr val="dk1"/>
                </a:solidFill>
                <a:latin typeface="Calibri"/>
              </a:rPr>
              <a:t>4- Le fibrome naso-pharyngien est:</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A. Plus fréquent chez le sujet âgé</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B. Traité par la chimiothérapie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rgbClr val="ff0000"/>
                </a:solidFill>
                <a:latin typeface="Calibri"/>
              </a:rPr>
              <a:t>C. Révélé souvent par des épistaxis</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D. Un carcinome épidermoïde</a:t>
            </a:r>
            <a:endParaRPr b="0" lang="fr-FR" sz="2800" spc="-1" strike="noStrike">
              <a:solidFill>
                <a:schemeClr val="dk1"/>
              </a:solidFill>
              <a:latin typeface="Calibri"/>
            </a:endParaRPr>
          </a:p>
          <a:p>
            <a:pPr indent="0" defTabSz="914400">
              <a:lnSpc>
                <a:spcPct val="90000"/>
              </a:lnSpc>
              <a:spcBef>
                <a:spcPts val="1001"/>
              </a:spcBef>
              <a:buNone/>
              <a:tabLst>
                <a:tab algn="l" pos="0"/>
              </a:tabLst>
            </a:pPr>
            <a:r>
              <a:rPr b="0" lang="fr-FR" sz="2800" spc="-1" strike="noStrike">
                <a:solidFill>
                  <a:schemeClr val="dk1"/>
                </a:solidFill>
                <a:latin typeface="Calibri"/>
              </a:rPr>
              <a:t>E. Développé au niveau de la cloison nasale</a:t>
            </a:r>
            <a:endParaRPr b="0" lang="fr-FR"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2800</TotalTime>
  <Application>LibreOffice/24.2.7.2$Linux_X86_64 LibreOffice_project/420$Build-2</Application>
  <AppVersion>15.0000</AppVersion>
  <Words>5386</Words>
  <Paragraphs>710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2023-09-15T20:40:06Z</dcterms:created>
  <dc:creator>Microsoft account</dc:creator>
  <dc:description/>
  <dc:language>fr-FR</dc:language>
  <cp:lastModifiedBy/>
  <dcterms:modified xsi:type="dcterms:W3CDTF">2026-04-17T20:51:40Z</dcterms:modified>
  <cp:revision>32</cp:revision>
  <dc:subject/>
  <dc:title>Atelier ORL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82</vt:i4>
  </property>
</Properties>
</file>